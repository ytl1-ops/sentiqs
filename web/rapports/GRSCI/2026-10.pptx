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www.linfodrome.com/societe/126925-tensions-permanentes-entre-le-district-autonome-d-abidjan-et-les-mairies-le-cpc-est-il-bel-et-bien-mort" TargetMode="External"/><Relationship Id="rId2"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www.linfodrome.com/societe/126820-projets-de-sa-mandature-le-president-sortant-de-la-jci-emeraude-dresse-un-bilan-de-95-de-taux-d-execution" TargetMode="External"/><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www.linfodrome.com/societe/126904-guiglo-etouffees-par-la-flambee-des-prix-les-vendeuses-de-poissons-en-greve" TargetMode="External"/><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www.linfodrome.com/societe/126894-lutte-contre-le-cancer-du-sein-linfodrome-combat-les-rumeurs-et-sensibilise-les-populations" TargetMode="External"/><Relationship Id="rId2" Type="http://schemas.openxmlformats.org/officeDocument/2006/relationships/hyperlink" Target="https://fr.allafrica.com/stories/202610230151.html" TargetMode="External"/><Relationship Id="rId3" Type="http://schemas.openxmlformats.org/officeDocument/2006/relationships/image" Target="../media/image-7-1.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linfodrome.com/politique/126898-hausse-des-prix-du-poisson-assale-tiemoko-revele-une-dependance-de-la-cote-d-ivoire-a-88-8-aux-importations" TargetMode="External"/><Relationship Id="rId2" Type="http://schemas.openxmlformats.org/officeDocument/2006/relationships/hyperlink" Target="https://fr.allafrica.com/stories/202610230529.html" TargetMode="External"/><Relationship Id="rId3"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www.linfodrome.com/politique/126944-charnier-de-yopougon-26-ans-apres-amadou-coulibaly-oppose-les-violences-du-passe-a-l-ere-ouattara" TargetMode="External"/><Relationship Id="rId2" Type="http://schemas.openxmlformats.org/officeDocument/2006/relationships/hyperlink" Target="https://fr.allafrica.com/stories/202610270670.html" TargetMode="External"/><Relationship Id="rId3" Type="http://schemas.openxmlformats.org/officeDocument/2006/relationships/hyperlink" Target="https://www.linfodrome.com/economie/126924-interpol-renforce-les-capacites-des-enqueteurs-ivoiriens-pour-traquer-les-avoirs-des-criminels" TargetMode="External"/><Relationship Id="rId4" Type="http://schemas.openxmlformats.org/officeDocument/2006/relationships/hyperlink" Target="https://fr.allafrica.com/stories/202610260533.html" TargetMode="External"/><Relationship Id="rId5" Type="http://schemas.openxmlformats.org/officeDocument/2006/relationships/hyperlink" Target="https://www.alwihdainfo.com/cote-divoire-securite-alimentaire-et-securisation-fonciere-le-gouvernement-soutient-les-femmes-productrices/" TargetMode="External"/><Relationship Id="rId6" Type="http://schemas.openxmlformats.org/officeDocument/2006/relationships/image" Target="../media/image-9-1.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linfodrome.com/economie/126857-prikro-la-relance-de-la-cafeiculture-et-la-promotion-du-mais-engagees-dans-l-iffou" TargetMode="External"/><Relationship Id="rId2" Type="http://schemas.openxmlformats.org/officeDocument/2006/relationships/hyperlink" Target="https://www.linfodrome.com/politique/126830-le-frere-de-tidjane-thiam-inculpe-pour-17-chefs-d-accusation-dont-l-assassinat-et-des-actes-terroristes" TargetMode="External"/><Relationship Id="rId3" Type="http://schemas.openxmlformats.org/officeDocument/2006/relationships/hyperlink" Target="https://fr.allafrica.com/stories/202610240165.html" TargetMode="External"/><Relationship Id="rId4" Type="http://schemas.openxmlformats.org/officeDocument/2006/relationships/hyperlink" Target="https://www.linfodrome.com/societe/126823-cote-d-ivoire-la-fondation-konrad-adenauer-renforce-ses-actions-en-faveur-de-la-democratie-et-de-la-securite" TargetMode="External"/><Relationship Id="rId5" Type="http://schemas.openxmlformats.org/officeDocument/2006/relationships/hyperlink" Target="https://fr.allafrica.com/stories/202610230399.html" TargetMode="External"/><Relationship Id="rId6" Type="http://schemas.openxmlformats.org/officeDocument/2006/relationships/image" Target="../media/image-10-1.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www.linfodrome.com/international/126817-avant-la-grande-marche-du-24-coctobre-emmanuel-macron-face-un-attentat" TargetMode="External"/><Relationship Id="rId2"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fr.allafrica.com/stories/202610250016.html" TargetMode="External"/><Relationship Id="rId2" Type="http://schemas.openxmlformats.org/officeDocument/2006/relationships/image" Target="../media/image-12-1.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fr.allafrica.com/stories/202610230254.html" TargetMode="External"/><Relationship Id="rId3" Type="http://schemas.openxmlformats.org/officeDocument/2006/relationships/hyperlink" Target="https://fr.allafrica.com/stories/202610230254.html" TargetMode="External"/><Relationship Id="rId4" Type="http://schemas.openxmlformats.org/officeDocument/2006/relationships/hyperlink" Target="https://fr.allafrica.com/stories/202610230254.html" TargetMode="External"/><Relationship Id="rId2" Type="http://schemas.openxmlformats.org/officeDocument/2006/relationships/image" Target="../media/image-14-1.png"/><Relationship Id="rId5" Type="http://schemas.openxmlformats.org/officeDocument/2006/relationships/image" Target="../media/image-14-2.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fr.allafrica.com/stories/202610220451.html" TargetMode="External"/><Relationship Id="rId2" Type="http://schemas.openxmlformats.org/officeDocument/2006/relationships/hyperlink" Target="https://faso7.com/2026/10/24/securite-numerique-au-burkina-la-bclcc-lance-la-2%e1%b5%89-semaine-nationale-de-lutte-contre-la-cybercriminalite/" TargetMode="External"/><Relationship Id="rId3" Type="http://schemas.openxmlformats.org/officeDocument/2006/relationships/hyperlink" Target="https://www.wakatsera.com/cooperation-le-ministre-de-la-securite-recoit-une-delegation-de-luicn/" TargetMode="External"/><Relationship Id="rId4" Type="http://schemas.openxmlformats.org/officeDocument/2006/relationships/hyperlink" Target="https://faso7.com/2026/10/23/construction-au-burkina-faso-lordre-des-ingenieurs-alerte-sur-les-risques-lies-aux-faux-professionnels/" TargetMode="External"/><Relationship Id="rId5" Type="http://schemas.openxmlformats.org/officeDocument/2006/relationships/hyperlink" Target="https://www.alwihdainfo.com/burkina-faso-turquie-une-offensive-diplomatique-denvergure-pour-consolider-la-cooperation-bilaterale/" TargetMode="External"/><Relationship Id="rId6" Type="http://schemas.openxmlformats.org/officeDocument/2006/relationships/image" Target="../media/image-15-1.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fr.allafrica.com/stories/202610170103.html" TargetMode="External"/><Relationship Id="rId2" Type="http://schemas.openxmlformats.org/officeDocument/2006/relationships/hyperlink" Target="https://www.lesahel.org/vis-dappel-a-candidatures-pour-le-recrutement-de-personnel-a-la-radio-confederale-daande-liptako/" TargetMode="External"/><Relationship Id="rId3" Type="http://schemas.openxmlformats.org/officeDocument/2006/relationships/hyperlink" Target="https://www.linfodrome.com/economie/126922-roaming-uemoa-4-pays-unissent-leurs-reseaux-pour-alleger-la-facture-des-usagers" TargetMode="External"/><Relationship Id="rId4" Type="http://schemas.openxmlformats.org/officeDocument/2006/relationships/hyperlink" Target="https://malijet.com/a_la_une_du_mali/312518-burkina-faso-rimtalba-jean-emmanuel-ouedraogo-attendu-au-s.html" TargetMode="External"/><Relationship Id="rId5" Type="http://schemas.openxmlformats.org/officeDocument/2006/relationships/image" Target="../media/image-16-1.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mali24.info/mali-ce-que-lon-sait-de-la-mort-mysterieuse-du-jeune-commercant-bocar-ly/" TargetMode="External"/><Relationship Id="rId3" Type="http://schemas.openxmlformats.org/officeDocument/2006/relationships/hyperlink" Target="https://mali24.info/mali-ce-que-lon-sait-de-la-mort-mysterieuse-du-jeune-commercant-bocar-ly/" TargetMode="External"/><Relationship Id="rId4" Type="http://schemas.openxmlformats.org/officeDocument/2006/relationships/hyperlink" Target="https://mali24.info/mali-ce-que-lon-sait-de-la-mort-mysterieuse-du-jeune-commercant-bocar-ly/" TargetMode="External"/><Relationship Id="rId2" Type="http://schemas.openxmlformats.org/officeDocument/2006/relationships/image" Target="../media/image-17-1.jpeg"/><Relationship Id="rId5" Type="http://schemas.openxmlformats.org/officeDocument/2006/relationships/image" Target="../media/image-17-2.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mali24.info/tournee-des-laureats-de-la-biennale-de-tombouctou-2025-le-coup-denvoi-donne-a-bougouni/" TargetMode="External"/><Relationship Id="rId2" Type="http://schemas.openxmlformats.org/officeDocument/2006/relationships/hyperlink" Target="https://fr.allafrica.com/stories/202610270196.html" TargetMode="External"/><Relationship Id="rId3" Type="http://schemas.openxmlformats.org/officeDocument/2006/relationships/hyperlink" Target="https://mali24.info/enlevement-de-quatre-enseignants-a-san-la-synergie-des-syndicats-de-leducation-de-la-region-exige-leur-liberation/" TargetMode="External"/><Relationship Id="rId4" Type="http://schemas.openxmlformats.org/officeDocument/2006/relationships/hyperlink" Target="https://maliactu.net/mali-disparitions-inquietantes-morts-suspectes-que-se-passe-t-il-avec-la-jeunesse-malienne/" TargetMode="External"/><Relationship Id="rId5" Type="http://schemas.openxmlformats.org/officeDocument/2006/relationships/hyperlink" Target="https://maliactu.net/attaque-de-trappes-et-la-verriere-la-qualification-du-mobile-raciste-au-coeur-du-debat-securitaire-et-societal/" TargetMode="External"/><Relationship Id="rId6" Type="http://schemas.openxmlformats.org/officeDocument/2006/relationships/image" Target="../media/image-18-1.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https://www.dakaractu.com/Mali-le-bilan-de-l-attaque-meurtriere-du-weekend-dernier-monte-a-54-morts-armee_a277413.html" TargetMode="External"/><Relationship Id="rId2" Type="http://schemas.openxmlformats.org/officeDocument/2006/relationships/hyperlink" Target="https://fr.allafrica.com/stories/202610230641.html" TargetMode="External"/><Relationship Id="rId3" Type="http://schemas.openxmlformats.org/officeDocument/2006/relationships/hyperlink" Target="https://maliactu.net/lutte-contre-le-terrorisme-a-kayes-la-police-frappe-au-coeur-des-reseaux-de-soutien-logistique-des-gat/" TargetMode="External"/><Relationship Id="rId4" Type="http://schemas.openxmlformats.org/officeDocument/2006/relationships/hyperlink" Target="https://www.hrw.org/fr/news/2026/10/22/mali-larmee-et-lafrica-corps-controle-par-la-russie-ont-commis-de-nouveaux-abus" TargetMode="External"/><Relationship Id="rId5" Type="http://schemas.openxmlformats.org/officeDocument/2006/relationships/image" Target="../media/image-19-1.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www.jeuneafrique.com/1856094/politique/tchad-niger-une-nouvelle-escalade-entre-mahamat-idriss-deby-et-abdourahamane-tiani/" TargetMode="External"/><Relationship Id="rId3" Type="http://schemas.openxmlformats.org/officeDocument/2006/relationships/hyperlink" Target="https://www.jeuneafrique.com/1856094/politique/tchad-niger-une-nouvelle-escalade-entre-mahamat-idriss-deby-et-abdourahamane-tiani/" TargetMode="External"/><Relationship Id="rId4" Type="http://schemas.openxmlformats.org/officeDocument/2006/relationships/hyperlink" Target="https://www.jeuneafrique.com/1856094/politique/tchad-niger-une-nouvelle-escalade-entre-mahamat-idriss-deby-et-abdourahamane-tiani/" TargetMode="External"/><Relationship Id="rId2" Type="http://schemas.openxmlformats.org/officeDocument/2006/relationships/image" Target="../media/image-20-1.jpeg"/><Relationship Id="rId5" Type="http://schemas.openxmlformats.org/officeDocument/2006/relationships/image" Target="../media/image-20-2.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journaldutchad.com/frappe-de-drone-au-niger-niamey-accuse-le-tchad-ndjamena-rejette-les-accusations/" TargetMode="External"/><Relationship Id="rId2" Type="http://schemas.openxmlformats.org/officeDocument/2006/relationships/hyperlink" Target="http://fr.africanews.com/2026/10/27/le-niger-affirme-quune-frappe-de-drone-du-tchad-a-tue-deux-civils/" TargetMode="External"/><Relationship Id="rId3" Type="http://schemas.openxmlformats.org/officeDocument/2006/relationships/hyperlink" Target="http://www.africanews.com/2026/10/27/niger-accuses-chad-of-deadly-drone-attack-in-which-two-civilians-died/" TargetMode="External"/><Relationship Id="rId4" Type="http://schemas.openxmlformats.org/officeDocument/2006/relationships/hyperlink" Target="https://www.rfi.fr/fr/afrique/20261027-le-niger-d%C3%A9nonce-une-attaque-de-drone-du-tchad-avec-l-appui-de-la-france" TargetMode="External"/><Relationship Id="rId5" Type="http://schemas.openxmlformats.org/officeDocument/2006/relationships/hyperlink" Target="https://anp.ne/lancement-officiel-de-la-caravane-de-sensibilisation-et-de-formation-sur-les-bonnes-pratiques-de-greffes-et-parquets-et-letablissement-des-pieces-dexecution/" TargetMode="External"/><Relationship Id="rId6" Type="http://schemas.openxmlformats.org/officeDocument/2006/relationships/image" Target="../media/image-21-1.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hyperlink" Target="https://www.studiokalangou.org/142868-en-bref-attaque-agriculture-sport-les-informations-de-la-semaine" TargetMode="External"/><Relationship Id="rId2" Type="http://schemas.openxmlformats.org/officeDocument/2006/relationships/hyperlink" Target="https://www.lesahel.org/avis-a-manifestation-dinteret-n003-ca-tafouk-tv-2026/" TargetMode="External"/><Relationship Id="rId3" Type="http://schemas.openxmlformats.org/officeDocument/2006/relationships/hyperlink" Target="https://anp.ne/agadez-le-gouverneur-preside-une-reunion-elargie-du-conseil-regional-de-securite-3/" TargetMode="External"/><Relationship Id="rId4" Type="http://schemas.openxmlformats.org/officeDocument/2006/relationships/hyperlink" Target="https://www.tsa-algerie.com/alerte-la-presidence-annonce-lenvoi-dunites-de-larmee-nationale-au-niger/" TargetMode="External"/><Relationship Id="rId5" Type="http://schemas.openxmlformats.org/officeDocument/2006/relationships/image" Target="../media/image-22-1.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https://www.myjoyonline.com/seven-shot-dead-by-gunmen-at-church-funeral-in-jordan-officials-say/" TargetMode="External"/><Relationship Id="rId3" Type="http://schemas.openxmlformats.org/officeDocument/2006/relationships/hyperlink" Target="https://www.myjoyonline.com/seven-shot-dead-by-gunmen-at-church-funeral-in-jordan-officials-say/" TargetMode="External"/><Relationship Id="rId4" Type="http://schemas.openxmlformats.org/officeDocument/2006/relationships/hyperlink" Target="https://www.myjoyonline.com/seven-shot-dead-by-gunmen-at-church-funeral-in-jordan-officials-say/" TargetMode="External"/><Relationship Id="rId2" Type="http://schemas.openxmlformats.org/officeDocument/2006/relationships/image" Target="../media/image-23-1.png"/><Relationship Id="rId5" Type="http://schemas.openxmlformats.org/officeDocument/2006/relationships/image" Target="../media/image-23-2.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www.myjoyonline.com/npp-walewale-constituency-condemns-personal-attacks-against-mp-urges-party-discipline/" TargetMode="External"/><Relationship Id="rId2" Type="http://schemas.openxmlformats.org/officeDocument/2006/relationships/hyperlink" Target="https://www.myjoyonline.com/gaf-to-stage-land-combat-firepower-demonstration-at-bundase-on-october-30/" TargetMode="External"/><Relationship Id="rId3" Type="http://schemas.openxmlformats.org/officeDocument/2006/relationships/hyperlink" Target="https://fr.allafrica.com/stories/202610160127.html" TargetMode="External"/><Relationship Id="rId4" Type="http://schemas.openxmlformats.org/officeDocument/2006/relationships/hyperlink" Target="https://www.myjoyonline.com/ghana-developing-first-national-action-plan-on-youth-peace-and-security-osman-ayariga/" TargetMode="External"/><Relationship Id="rId5" Type="http://schemas.openxmlformats.org/officeDocument/2006/relationships/hyperlink" Target="https://www.myjoyonline.com/three-arrested-in-atewa-forest-as-naimos-launches-operation-green-shield/" TargetMode="External"/><Relationship Id="rId6" Type="http://schemas.openxmlformats.org/officeDocument/2006/relationships/image" Target="../media/image-24-1.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hyperlink" Target="https://www.gbcghanaonline.com/general/ghana-challenges-un-to-turn-historical-justice-promises-into-action/2026/" TargetMode="External"/><Relationship Id="rId2" Type="http://schemas.openxmlformats.org/officeDocument/2006/relationships/hyperlink" Target="https://www.gbcghanaonline.com/news/galamsey-will-persist-if-financiers-go-untouched/2026/" TargetMode="External"/><Relationship Id="rId3" Type="http://schemas.openxmlformats.org/officeDocument/2006/relationships/hyperlink" Target="https://ghanaiantimes.com.gh/ghana-must-own-digital-infrastructure-to-ensure-data-security-apaak/" TargetMode="External"/><Relationship Id="rId4" Type="http://schemas.openxmlformats.org/officeDocument/2006/relationships/hyperlink" Target="https://www.myjoyonline.com/jamestown-fishermen-threaten-demo-over-delayed-operationalisation-of-cold-store/" TargetMode="External"/><Relationship Id="rId5" Type="http://schemas.openxmlformats.org/officeDocument/2006/relationships/image" Target="../media/image-25-1.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hyperlink" Target="https://togoweb.net/63-ans-apres-sa-mort-le-premier-president-du-togo-na-toujours-pas-de-tombe-dans-son-pays/?utm_source=rss&amp;utm_medium=rss&amp;utm_campaign=63-ans-apres-sa-mort-le-premier-president-du-togo-na-toujours-pas-de-tombe-dans-son-pays" TargetMode="External"/><Relationship Id="rId3" Type="http://schemas.openxmlformats.org/officeDocument/2006/relationships/hyperlink" Target="https://togoweb.net/63-ans-apres-sa-mort-le-premier-president-du-togo-na-toujours-pas-de-tombe-dans-son-pays/?utm_source=rss&utm_medium=rss&utm_campaign=63-ans-apres-sa-mort-le-premier-president-du-togo-na-toujours-pas-de-tombe-dans-son-pays" TargetMode="External"/><Relationship Id="rId4" Type="http://schemas.openxmlformats.org/officeDocument/2006/relationships/hyperlink" Target="https://togoweb.net/63-ans-apres-sa-mort-le-premier-president-du-togo-na-toujours-pas-de-tombe-dans-son-pays/?utm_source=rss&amp;utm_medium=rss&amp;utm_campaign=63-ans-apres-sa-mort-le-premier-president-du-togo-na-toujours-pas-de-tombe-dans-son-pays" TargetMode="External"/><Relationship Id="rId2" Type="http://schemas.openxmlformats.org/officeDocument/2006/relationships/image" Target="../media/image-26-1.png"/><Relationship Id="rId5" Type="http://schemas.openxmlformats.org/officeDocument/2006/relationships/image" Target="../media/image-26-2.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hyperlink" Target="https://lenouveaureporter.com/whatsapp-la-fausse-alerte-au-vote-pour-pirater-votre-compte-fait-son-retour/" TargetMode="External"/><Relationship Id="rId2" Type="http://schemas.openxmlformats.org/officeDocument/2006/relationships/hyperlink" Target="https://www.jeuneafrique.com/1855636/economie-entreprises/soutenu-par-lunion-africaine-le-togolais-gilbert-houngbo-reussira-t-il-a-conserver-la-tete-de-loit/" TargetMode="External"/><Relationship Id="rId3" Type="http://schemas.openxmlformats.org/officeDocument/2006/relationships/hyperlink" Target="https://fr.allafrica.com/stories/202610260692.html" TargetMode="External"/><Relationship Id="rId4" Type="http://schemas.openxmlformats.org/officeDocument/2006/relationships/hyperlink" Target="https://togoactualite.com/littoral-de-lome-un-dispositif-securitaire-renforce-apres-le-demantelement-des-installations-illegales/" TargetMode="External"/><Relationship Id="rId5" Type="http://schemas.openxmlformats.org/officeDocument/2006/relationships/hyperlink" Target="https://fr.allafrica.com/stories/202610260369.html" TargetMode="External"/><Relationship Id="rId6" Type="http://schemas.openxmlformats.org/officeDocument/2006/relationships/image" Target="../media/image-27-1.pn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fr.allafrica.com/stories/202610260367.html" TargetMode="External"/><Relationship Id="rId2" Type="http://schemas.openxmlformats.org/officeDocument/2006/relationships/hyperlink" Target="https://24heureinfo.com/politique/tsevie-les-forces-de-securite-deployees-sur-le-site-du-meeting-reporte-du-cncc/" TargetMode="External"/><Relationship Id="rId3" Type="http://schemas.openxmlformats.org/officeDocument/2006/relationships/hyperlink" Target="https://24heureinfo.com/sante/ebola-africa-cdc-convoque-les-ministres-africains-de-la-sante-en-urgence/" TargetMode="External"/><Relationship Id="rId4" Type="http://schemas.openxmlformats.org/officeDocument/2006/relationships/hyperlink" Target="https://24heureinfo.com/politique/togo-agriculture-nucleaire-les-deputes-adoptent-quatre-textes-strategiques/" TargetMode="External"/><Relationship Id="rId5" Type="http://schemas.openxmlformats.org/officeDocument/2006/relationships/image" Target="../media/image-28-1.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hyperlink" Target="https://thesun.ng/nuee-threatens-nationwide-shutdown-demands-withdrawal-of-soldiers-from-bedc-hqtrs/" TargetMode="External"/><Relationship Id="rId3" Type="http://schemas.openxmlformats.org/officeDocument/2006/relationships/hyperlink" Target="https://thesun.ng/nuee-threatens-nationwide-shutdown-demands-withdrawal-of-soldiers-from-bedc-hqtrs/" TargetMode="External"/><Relationship Id="rId4" Type="http://schemas.openxmlformats.org/officeDocument/2006/relationships/hyperlink" Target="https://thesun.ng/nuee-threatens-nationwide-shutdown-demands-withdrawal-of-soldiers-from-bedc-hqtrs/" TargetMode="External"/><Relationship Id="rId2" Type="http://schemas.openxmlformats.org/officeDocument/2006/relationships/image" Target="../media/image-29-1.jpeg"/><Relationship Id="rId5" Type="http://schemas.openxmlformats.org/officeDocument/2006/relationships/image" Target="../media/image-29-2.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hyperlink" Target="https://www.guinee7.com/2026/10/25/mort-mysterieuse-de-souleymane-toure-sa-mere-et-sa-soeur-veulent-toute-la-verite/" TargetMode="External"/><Relationship Id="rId2" Type="http://schemas.openxmlformats.org/officeDocument/2006/relationships/image" Target="../media/image-30-1.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hyperlink" Target="https://guineematin.com/2026/10/26/insecurite-a-labe-le-journaliste-boubacar-garki-diallo-victime-de-cambriolage-ses-equipements-de-travail-emporte-par-les-malfaiteurs/?utm_source=rss&amp;utm_medium=rss&amp;utm_campaign=insecurite-a-labe-le-journaliste-boubacar-garki-diallo-victime-de-cambriolage-ses-equipements-de-travail-emporte-par-les-malfaiteurs" TargetMode="External"/><Relationship Id="rId2" Type="http://schemas.openxmlformats.org/officeDocument/2006/relationships/hyperlink" Target="https://www.guinee7.com/2026/10/26/mairie-de-dixinn-pourquoi-les-femmes-balayeuses-ont-renonce-a-leur-manifestation/" TargetMode="External"/><Relationship Id="rId3" Type="http://schemas.openxmlformats.org/officeDocument/2006/relationships/hyperlink" Target="https://guineematin.com/2026/10/26/appel-a-manifestation-dinteret-pour-les-services-de-consultants-locaux-en-audit/?utm_source=rss&amp;utm_medium=rss&amp;utm_campaign=appel-a-manifestation-dinteret-pour-les-services-de-consultants-locaux-en-audit" TargetMode="External"/><Relationship Id="rId4" Type="http://schemas.openxmlformats.org/officeDocument/2006/relationships/hyperlink" Target="https://guineematin.com/2026/10/26/kankan-un-incendie-cause-dimportants-degats-au-quartier-bordo/?utm_source=rss&amp;utm_medium=rss&amp;utm_campaign=kankan-un-incendie-cause-dimportants-degats-au-quartier-bordo" TargetMode="External"/><Relationship Id="rId5" Type="http://schemas.openxmlformats.org/officeDocument/2006/relationships/hyperlink" Target="https://guineematin.com/2026/10/24/loi-de-finances-rectificative-2026-entre-crise-petroliere-et-retards-des-projets-la-ministre-de-leconomie-mariama-cire-sylla-sexplique/?utm_source=rss&amp;utm_medium=rss&amp;utm_campaign=loi-de-finances-rectificative-2026-entre-crise-petroliere-et-retards-des-projets-la-ministre-de-leconomie-mariama-cire-sylla-sexplique" TargetMode="External"/><Relationship Id="rId6" Type="http://schemas.openxmlformats.org/officeDocument/2006/relationships/image" Target="../media/image-31-1.png"/><Relationship Id="rId7" Type="http://schemas.openxmlformats.org/officeDocument/2006/relationships/slideLayout" Target="../slideLayouts/slideLayout1.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hyperlink" Target="https://www.guinee7.com/2026/10/24/election-feguifoot-comex-argent-achat-voix-sponsor-editorial/" TargetMode="External"/><Relationship Id="rId2" Type="http://schemas.openxmlformats.org/officeDocument/2006/relationships/hyperlink" Target="https://guineematin.com/2026/10/23/cellcom-guinee-la-fesatel-alerte-sur-les-salaires-impayes-et-reclame-louverture-urgente-de-negociations/?utm_source=rss&amp;utm_medium=rss&amp;utm_campaign=cellcom-guinee-la-fesatel-alerte-sur-les-salaires-impayes-et-reclame-louverture-urgente-de-negociations" TargetMode="External"/><Relationship Id="rId3" Type="http://schemas.openxmlformats.org/officeDocument/2006/relationships/hyperlink" Target="https://guineematin.com/2026/10/27/tpi-de-coyah-le-procureur-aliou-diallo-prend-officiellement-la-tete-du-parquet/?utm_source=rss&amp;utm_medium=rss&amp;utm_campaign=tpi-de-coyah-le-procureur-aliou-diallo-prend-officiellement-la-tete-du-parquet" TargetMode="External"/><Relationship Id="rId4" Type="http://schemas.openxmlformats.org/officeDocument/2006/relationships/hyperlink" Target="https://guineelive.com/2026/10/27/forecariah-friki-keita-reprend-ses-fonctions-a-la-tete-de-la-dpe-ce-mardi/" TargetMode="External"/><Relationship Id="rId5" Type="http://schemas.openxmlformats.org/officeDocument/2006/relationships/image" Target="../media/image-32-1.png"/><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hyperlink" Target="https://frontpageafricaonline.com/liberia-dolphin-killed-butchered-before-nafaa-rescue-team-arrived/" TargetMode="External"/><Relationship Id="rId2" Type="http://schemas.openxmlformats.org/officeDocument/2006/relationships/image" Target="../media/image-33-1.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hyperlink" Target="https://frontpageafricaonline.com/liberia-judge-cites-evidence-in-finding-nsa-staff-peter-bon-jallah-guilty-of-statutory-rape-kidnapping/" TargetMode="External"/><Relationship Id="rId2" Type="http://schemas.openxmlformats.org/officeDocument/2006/relationships/hyperlink" Target="https://frontpageafricaonline.com/liberia-war-victims-survivors-protest-at-court-office-capitol-as-house-chairman-pledges-to-put-court-bill-before-plenary-tuesday/" TargetMode="External"/><Relationship Id="rId3" Type="http://schemas.openxmlformats.org/officeDocument/2006/relationships/hyperlink" Target="https://frontpageafricaonline.com/a-former-security-chiefs-vision-for-liberias-immigration-service-finally-plays/" TargetMode="External"/><Relationship Id="rId4" Type="http://schemas.openxmlformats.org/officeDocument/2006/relationships/hyperlink" Target="https://gnnliberia.com/liberia-imposes-21-day-isolation-and-monitoring-rules-for-travelers-amid-regional-ebola-threat/" TargetMode="External"/><Relationship Id="rId5" Type="http://schemas.openxmlformats.org/officeDocument/2006/relationships/hyperlink" Target="https://gnnliberia.com/afl-fires-two-soldiers-over-assault/" TargetMode="External"/><Relationship Id="rId6" Type="http://schemas.openxmlformats.org/officeDocument/2006/relationships/image" Target="../media/image-34-1.png"/><Relationship Id="rId7" Type="http://schemas.openxmlformats.org/officeDocument/2006/relationships/slideLayout" Target="../slideLayouts/slideLayout1.xml"/><Relationship Id="rId8"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hyperlink" Target="https://aps.sn/immeuble-effondre-a-thies-un-mort-et-deux-blesses-selon-le-bilan-provisoire/" TargetMode="External"/><Relationship Id="rId2" Type="http://schemas.openxmlformats.org/officeDocument/2006/relationships/hyperlink" Target="https://www.pressafrik.com/Thies-un-mort-et-deux-survivants-extraits-des-decombres-apres-l-effondrement-d-un-immeuble-en-construction_a313661.html" TargetMode="External"/><Relationship Id="rId4" Type="http://schemas.openxmlformats.org/officeDocument/2006/relationships/hyperlink" Target="https://aps.sn/immeuble-effondre-a-thies-un-mort-et-deux-blesses-selon-le-bilan-provisoire/" TargetMode="External"/><Relationship Id="rId5" Type="http://schemas.openxmlformats.org/officeDocument/2006/relationships/hyperlink" Target="https://aps.sn/immeuble-effondre-a-thies-un-mort-et-deux-blesses-selon-le-bilan-provisoire/" TargetMode="External"/><Relationship Id="rId3" Type="http://schemas.openxmlformats.org/officeDocument/2006/relationships/image" Target="../media/image-35-1.jpeg"/><Relationship Id="rId6" Type="http://schemas.openxmlformats.org/officeDocument/2006/relationships/image" Target="../media/image-35-2.png"/><Relationship Id="rId7" Type="http://schemas.openxmlformats.org/officeDocument/2006/relationships/slideLayout" Target="../slideLayouts/slideLayout1.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hyperlink" Target="https://www.pressafrik.com/&#8203;Pacte-de-stabilite-sociale-le-gouvernement-vise-71-d-execution-des-engagements-en-decembre_a313655.html" TargetMode="External"/><Relationship Id="rId2" Type="http://schemas.openxmlformats.org/officeDocument/2006/relationships/hyperlink" Target="https://www.seneweb.com/fr/news/Societe/malika-un-locataire-interpelle-pour-avoir-poignarde-a-mort-son-voisin-lors-dune-altercation_n_999001887.html" TargetMode="External"/><Relationship Id="rId3" Type="http://schemas.openxmlformats.org/officeDocument/2006/relationships/hyperlink" Target="https://www.dakaractu.com/Meurtre-presume-d-Aminata-Sy-a-Podor-le-suspect-retrouve-dans-une-cachette-et-arrete-a-Mbacke_a277514.html" TargetMode="External"/><Relationship Id="rId4" Type="http://schemas.openxmlformats.org/officeDocument/2006/relationships/hyperlink" Target="https://www.senenews.com/actualites/karamo-cisse-ndiaye-avoue-pourquoi-jai-tue-aminata-sy-sa-mere-ne-voulait-pas_604186.html" TargetMode="External"/><Relationship Id="rId5" Type="http://schemas.openxmlformats.org/officeDocument/2006/relationships/hyperlink" Target="https://www.seneweb.com/fr/news/Societe/drame-a-ziguinchor-un-commercant-retrouve-mort-pendu-apres-la-perte-de-800-000-f-cfa_n_999001835.html" TargetMode="External"/><Relationship Id="rId6" Type="http://schemas.openxmlformats.org/officeDocument/2006/relationships/image" Target="../media/image-36-1.png"/><Relationship Id="rId7" Type="http://schemas.openxmlformats.org/officeDocument/2006/relationships/slideLayout" Target="../slideLayouts/slideLayout1.xml"/><Relationship Id="rId8"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hyperlink" Target="https://www.senenews.com/actualites/ils-lont-decouvert-pendu-le-grand-commercant-abdoulaye-diallo-sest-donne-la-mort-dans-sa-boutique_604123.html" TargetMode="External"/><Relationship Id="rId2" Type="http://schemas.openxmlformats.org/officeDocument/2006/relationships/hyperlink" Target="https://www.dakaractu.com/Ziguinchor-un-jeune-homme-retrouve-mort-dans-une-boutique-a-Tilene_a277479.html" TargetMode="External"/><Relationship Id="rId3" Type="http://schemas.openxmlformats.org/officeDocument/2006/relationships/hyperlink" Target="https://www.senenews.com/actualites/feminicides-au-senegal-aminata-sy-et-mame-diarra-sow-tuees-le-meme-jour-seydi-gassama-lance-un-cri-dalarme_604071.html" TargetMode="External"/><Relationship Id="rId4" Type="http://schemas.openxmlformats.org/officeDocument/2006/relationships/hyperlink" Target="https://wiwsport.com/2026/10/26/trophee-anps-le-trophee-du-meilleur-lutteur-en-lutte-avec-frappe-porte-desormais-le-nom-de-manga-ii/" TargetMode="External"/><Relationship Id="rId5" Type="http://schemas.openxmlformats.org/officeDocument/2006/relationships/image" Target="../media/image-37-1.png"/><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runner/work/SentiqS/SentiqS/scripts/assets/grsci/couverture-abidjan.jpg">    </p:cNvPr>
          <p:cNvPicPr>
            <a:picLocks noChangeAspect="1"/>
          </p:cNvPicPr>
          <p:nvPr/>
        </p:nvPicPr>
        <p:blipFill>
          <a:blip r:embed="rId1"/>
          <a:stretch>
            <a:fillRect/>
          </a:stretch>
        </p:blipFill>
        <p:spPr>
          <a:xfrm>
            <a:off x="182880" y="91440"/>
            <a:ext cx="11795760" cy="5852160"/>
          </a:xfrm>
          <a:prstGeom prst="rect">
            <a:avLst/>
          </a:prstGeom>
        </p:spPr>
      </p:pic>
      <p:sp>
        <p:nvSpPr>
          <p:cNvPr id="3" name="Text 0"/>
          <p:cNvSpPr/>
          <p:nvPr/>
        </p:nvSpPr>
        <p:spPr>
          <a:xfrm>
            <a:off x="2286000" y="228600"/>
            <a:ext cx="7589520" cy="1280160"/>
          </a:xfrm>
          <a:prstGeom prst="rect">
            <a:avLst/>
          </a:prstGeom>
          <a:noFill/>
          <a:ln/>
          <a:effectLst>
            <a:outerShdw sx="100000" sy="100000" kx="0" ky="0" algn="bl" rotWithShape="0" blurRad="76200" dist="25400" dir="2700000">
              <a:srgbClr val="000000">
                <a:alpha val="60000"/>
              </a:srgbClr>
            </a:outerShdw>
          </a:effectLst>
        </p:spPr>
        <p:txBody>
          <a:bodyPr wrap="square" rtlCol="0" anchor="ctr"/>
          <a:lstStyle/>
          <a:p>
            <a:pPr algn="ctr" indent="0" marL="0">
              <a:buNone/>
            </a:pPr>
            <a:r>
              <a:rPr lang="en-US" sz="4400" dirty="0">
                <a:solidFill>
                  <a:srgbClr val="FFFFFF"/>
                </a:solidFill>
                <a:latin typeface="Arial Narrow" pitchFamily="34" charset="0"/>
                <a:ea typeface="Arial Narrow" pitchFamily="34" charset="-122"/>
                <a:cs typeface="Arial Narrow" pitchFamily="34" charset="-120"/>
              </a:rPr>
              <a:t>RENCONTRE MENSUELLE</a:t>
            </a:r>
            <a:endParaRPr lang="en-US" sz="4400" dirty="0"/>
          </a:p>
          <a:p>
            <a:pPr algn="ctr" indent="0" marL="0">
              <a:buNone/>
            </a:pPr>
            <a:r>
              <a:rPr lang="en-US" sz="4400" dirty="0">
                <a:solidFill>
                  <a:srgbClr val="FFFFFF"/>
                </a:solidFill>
                <a:latin typeface="Arial Narrow" pitchFamily="34" charset="0"/>
                <a:ea typeface="Arial Narrow" pitchFamily="34" charset="-122"/>
                <a:cs typeface="Arial Narrow" pitchFamily="34" charset="-120"/>
              </a:rPr>
              <a:t>G.R.S.CI</a:t>
            </a:r>
            <a:endParaRPr lang="en-US" sz="4400" dirty="0"/>
          </a:p>
        </p:txBody>
      </p:sp>
      <p:sp>
        <p:nvSpPr>
          <p:cNvPr id="4" name="Shape 1"/>
          <p:cNvSpPr/>
          <p:nvPr/>
        </p:nvSpPr>
        <p:spPr>
          <a:xfrm>
            <a:off x="3200400" y="1600200"/>
            <a:ext cx="5760720" cy="0"/>
          </a:xfrm>
          <a:prstGeom prst="line">
            <a:avLst/>
          </a:prstGeom>
          <a:noFill/>
          <a:ln w="38100">
            <a:solidFill>
              <a:srgbClr val="000000"/>
            </a:solidFill>
            <a:prstDash val="solid"/>
          </a:ln>
        </p:spPr>
      </p:sp>
      <p:sp>
        <p:nvSpPr>
          <p:cNvPr id="5" name="Text 2"/>
          <p:cNvSpPr/>
          <p:nvPr/>
        </p:nvSpPr>
        <p:spPr>
          <a:xfrm>
            <a:off x="7589520" y="5074920"/>
            <a:ext cx="4297680" cy="365760"/>
          </a:xfrm>
          <a:prstGeom prst="rect">
            <a:avLst/>
          </a:prstGeom>
          <a:noFill/>
          <a:ln/>
        </p:spPr>
        <p:txBody>
          <a:bodyPr wrap="square" rtlCol="0" anchor="ctr"/>
          <a:lstStyle/>
          <a:p>
            <a:pPr algn="r" indent="0" marL="0">
              <a:buNone/>
            </a:pPr>
            <a:r>
              <a:rPr lang="en-US" sz="2000" b="1" dirty="0">
                <a:solidFill>
                  <a:srgbClr val="FFFFFF"/>
                </a:solidFill>
                <a:latin typeface="Calibri" pitchFamily="34" charset="0"/>
                <a:ea typeface="Calibri" pitchFamily="34" charset="-122"/>
                <a:cs typeface="Calibri" pitchFamily="34" charset="-120"/>
              </a:rPr>
              <a:t>27 OCTOBRE 2026</a:t>
            </a:r>
            <a:endParaRPr lang="en-US" sz="2000" dirty="0"/>
          </a:p>
        </p:txBody>
      </p:sp>
      <p:sp>
        <p:nvSpPr>
          <p:cNvPr id="6" name="Text 3"/>
          <p:cNvSpPr/>
          <p:nvPr/>
        </p:nvSpPr>
        <p:spPr>
          <a:xfrm>
            <a:off x="5760720" y="5486400"/>
            <a:ext cx="6126480" cy="320040"/>
          </a:xfrm>
          <a:prstGeom prst="rect">
            <a:avLst/>
          </a:prstGeom>
          <a:noFill/>
          <a:ln/>
          <a:effectLst>
            <a:outerShdw sx="100000" sy="100000" kx="0" ky="0" algn="bl" rotWithShape="0" blurRad="50800" dist="12700" dir="2700000">
              <a:srgbClr val="000000">
                <a:alpha val="70000"/>
              </a:srgbClr>
            </a:outerShdw>
          </a:effectLst>
        </p:spPr>
        <p:txBody>
          <a:bodyPr wrap="square" rtlCol="0" anchor="ctr"/>
          <a:lstStyle/>
          <a:p>
            <a:pPr algn="r" indent="0" marL="0">
              <a:buNone/>
            </a:pPr>
            <a:r>
              <a:rPr lang="en-US" sz="1400" dirty="0">
                <a:solidFill>
                  <a:srgbClr val="FFFFFF"/>
                </a:solidFill>
                <a:latin typeface="Calibri" pitchFamily="34" charset="0"/>
                <a:ea typeface="Calibri" pitchFamily="34" charset="-122"/>
                <a:cs typeface="Calibri" pitchFamily="34" charset="-120"/>
              </a:rPr>
              <a:t>Période du 1er au 27 octobre 2026</a:t>
            </a:r>
            <a:endParaRPr lang="en-US" sz="1400" dirty="0"/>
          </a:p>
        </p:txBody>
      </p:sp>
      <p:pic>
        <p:nvPicPr>
          <p:cNvPr id="7" name="Image 1" descr="/home/runner/work/SentiqS/SentiqS/scripts/assets/grsci/afrique.png">    </p:cNvPr>
          <p:cNvPicPr>
            <a:picLocks noChangeAspect="1"/>
          </p:cNvPicPr>
          <p:nvPr/>
        </p:nvPicPr>
        <p:blipFill>
          <a:blip r:embed="rId2"/>
          <a:stretch>
            <a:fillRect/>
          </a:stretch>
        </p:blipFill>
        <p:spPr>
          <a:xfrm>
            <a:off x="9235440" y="6172200"/>
            <a:ext cx="548640" cy="548640"/>
          </a:xfrm>
          <a:prstGeom prst="rect">
            <a:avLst/>
          </a:prstGeom>
        </p:spPr>
      </p:pic>
      <p:pic>
        <p:nvPicPr>
          <p:cNvPr id="8" name="Image 2" descr="/home/runner/work/SentiqS/SentiqS/scripts/assets/grsci/logo-grsci.png">    </p:cNvPr>
          <p:cNvPicPr>
            <a:picLocks noChangeAspect="1"/>
          </p:cNvPicPr>
          <p:nvPr/>
        </p:nvPicPr>
        <p:blipFill>
          <a:blip r:embed="rId3"/>
          <a:stretch>
            <a:fillRect/>
          </a:stretch>
        </p:blipFill>
        <p:spPr>
          <a:xfrm>
            <a:off x="411480" y="5989320"/>
            <a:ext cx="548640" cy="630936"/>
          </a:xfrm>
          <a:prstGeom prst="rect">
            <a:avLst/>
          </a:prstGeom>
        </p:spPr>
      </p:pic>
      <p:sp>
        <p:nvSpPr>
          <p:cNvPr id="9" name="Text 4"/>
          <p:cNvSpPr/>
          <p:nvPr/>
        </p:nvSpPr>
        <p:spPr>
          <a:xfrm>
            <a:off x="3108960" y="6217920"/>
            <a:ext cx="4206240" cy="329184"/>
          </a:xfrm>
          <a:prstGeom prst="rect">
            <a:avLst/>
          </a:prstGeom>
          <a:noFill/>
          <a:ln w="9525">
            <a:solidFill>
              <a:srgbClr val="1F6B5E"/>
            </a:solidFill>
          </a:ln>
        </p:spPr>
        <p:txBody>
          <a:bodyPr wrap="square"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G</a:t>
            </a:r>
            <a:pPr algn="ctr" indent="0" marL="0">
              <a:buNone/>
            </a:pPr>
            <a:r>
              <a:rPr lang="en-US" sz="1200" dirty="0">
                <a:solidFill>
                  <a:srgbClr val="1F2937"/>
                </a:solidFill>
                <a:latin typeface="Calibri" pitchFamily="34" charset="0"/>
                <a:ea typeface="Calibri" pitchFamily="34" charset="-122"/>
                <a:cs typeface="Calibri" pitchFamily="34" charset="-120"/>
              </a:rPr>
              <a:t>roupe des </a:t>
            </a:r>
            <a:pPr algn="ctr" indent="0" marL="0">
              <a:buNone/>
            </a:pPr>
            <a:r>
              <a:rPr lang="en-US" sz="1200" b="1" dirty="0">
                <a:solidFill>
                  <a:srgbClr val="1F2937"/>
                </a:solidFill>
                <a:latin typeface="Calibri" pitchFamily="34" charset="0"/>
                <a:ea typeface="Calibri" pitchFamily="34" charset="-122"/>
                <a:cs typeface="Calibri" pitchFamily="34" charset="-120"/>
              </a:rPr>
              <a:t>R</a:t>
            </a:r>
            <a:pPr algn="ctr" indent="0" marL="0">
              <a:buNone/>
            </a:pPr>
            <a:r>
              <a:rPr lang="en-US" sz="1200" dirty="0">
                <a:solidFill>
                  <a:srgbClr val="1F2937"/>
                </a:solidFill>
                <a:latin typeface="Calibri" pitchFamily="34" charset="0"/>
                <a:ea typeface="Calibri" pitchFamily="34" charset="-122"/>
                <a:cs typeface="Calibri" pitchFamily="34" charset="-120"/>
              </a:rPr>
              <a:t>esponsables </a:t>
            </a:r>
            <a:pPr algn="ctr" indent="0" marL="0">
              <a:buNone/>
            </a:pPr>
            <a:r>
              <a:rPr lang="en-US" sz="1200" b="1" dirty="0">
                <a:solidFill>
                  <a:srgbClr val="1F2937"/>
                </a:solidFill>
                <a:latin typeface="Calibri" pitchFamily="34" charset="0"/>
                <a:ea typeface="Calibri" pitchFamily="34" charset="-122"/>
                <a:cs typeface="Calibri" pitchFamily="34" charset="-120"/>
              </a:rPr>
              <a:t>S</a:t>
            </a:r>
            <a:pPr algn="ctr" indent="0" marL="0">
              <a:buNone/>
            </a:pPr>
            <a:r>
              <a:rPr lang="en-US" sz="1200" dirty="0">
                <a:solidFill>
                  <a:srgbClr val="1F2937"/>
                </a:solidFill>
                <a:latin typeface="Calibri" pitchFamily="34" charset="0"/>
                <a:ea typeface="Calibri" pitchFamily="34" charset="-122"/>
                <a:cs typeface="Calibri" pitchFamily="34" charset="-120"/>
              </a:rPr>
              <a:t>ûreté de </a:t>
            </a:r>
            <a:pPr algn="ctr" indent="0" marL="0">
              <a:buNone/>
            </a:pPr>
            <a:r>
              <a:rPr lang="en-US" sz="1200" b="1" dirty="0">
                <a:solidFill>
                  <a:srgbClr val="1F2937"/>
                </a:solidFill>
                <a:latin typeface="Calibri" pitchFamily="34" charset="0"/>
                <a:ea typeface="Calibri" pitchFamily="34" charset="-122"/>
                <a:cs typeface="Calibri" pitchFamily="34" charset="-120"/>
              </a:rPr>
              <a:t>C</a:t>
            </a:r>
            <a:pPr algn="ctr" indent="0" marL="0">
              <a:buNone/>
            </a:pPr>
            <a:r>
              <a:rPr lang="en-US" sz="1200" dirty="0">
                <a:solidFill>
                  <a:srgbClr val="1F2937"/>
                </a:solidFill>
                <a:latin typeface="Calibri" pitchFamily="34" charset="0"/>
                <a:ea typeface="Calibri" pitchFamily="34" charset="-122"/>
                <a:cs typeface="Calibri" pitchFamily="34" charset="-120"/>
              </a:rPr>
              <a:t>ôte d'</a:t>
            </a:r>
            <a:pPr algn="ctr" indent="0" marL="0">
              <a:buNone/>
            </a:pPr>
            <a:r>
              <a:rPr lang="en-US" sz="1200" b="1" dirty="0">
                <a:solidFill>
                  <a:srgbClr val="1F2937"/>
                </a:solidFill>
                <a:latin typeface="Calibri" pitchFamily="34" charset="0"/>
                <a:ea typeface="Calibri" pitchFamily="34" charset="-122"/>
                <a:cs typeface="Calibri" pitchFamily="34" charset="-120"/>
              </a:rPr>
              <a:t>I</a:t>
            </a:r>
            <a:pPr algn="ctr" indent="0" marL="0">
              <a:buNone/>
            </a:pPr>
            <a:r>
              <a:rPr lang="en-US" sz="1200" dirty="0">
                <a:solidFill>
                  <a:srgbClr val="1F2937"/>
                </a:solidFill>
                <a:latin typeface="Calibri" pitchFamily="34" charset="0"/>
                <a:ea typeface="Calibri" pitchFamily="34" charset="-122"/>
                <a:cs typeface="Calibri" pitchFamily="34" charset="-120"/>
              </a:rPr>
              <a:t>voire</a:t>
            </a:r>
            <a:endParaRPr lang="en-US" sz="1200" dirty="0"/>
          </a:p>
        </p:txBody>
      </p:sp>
      <p:sp>
        <p:nvSpPr>
          <p:cNvPr id="10" name="Text 5"/>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27/10/26   |   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0</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TABLE DES MATIÈRES</a:t>
            </a:r>
            <a:endParaRPr lang="en-US" sz="2800" dirty="0"/>
          </a:p>
        </p:txBody>
      </p:sp>
      <p:sp>
        <p:nvSpPr>
          <p:cNvPr id="4" name="Shape 2"/>
          <p:cNvSpPr/>
          <p:nvPr/>
        </p:nvSpPr>
        <p:spPr>
          <a:xfrm>
            <a:off x="457200" y="960120"/>
            <a:ext cx="11292840" cy="0"/>
          </a:xfrm>
          <a:prstGeom prst="line">
            <a:avLst/>
          </a:prstGeom>
          <a:noFill/>
          <a:ln w="6350">
            <a:solidFill>
              <a:srgbClr val="A3A3A3"/>
            </a:solidFill>
            <a:prstDash val="solid"/>
          </a:ln>
        </p:spPr>
      </p:sp>
      <p:sp>
        <p:nvSpPr>
          <p:cNvPr id="5" name="Shape 3"/>
          <p:cNvSpPr/>
          <p:nvPr/>
        </p:nvSpPr>
        <p:spPr>
          <a:xfrm>
            <a:off x="457200" y="1143000"/>
            <a:ext cx="5532120" cy="4754880"/>
          </a:xfrm>
          <a:prstGeom prst="rect">
            <a:avLst/>
          </a:prstGeom>
          <a:solidFill>
            <a:srgbClr val="FFFFFF"/>
          </a:solidFill>
          <a:ln w="9525">
            <a:solidFill>
              <a:srgbClr val="1F2937"/>
            </a:solidFill>
            <a:prstDash val="solid"/>
          </a:ln>
        </p:spPr>
      </p:sp>
      <p:sp>
        <p:nvSpPr>
          <p:cNvPr id="6" name="Text 4"/>
          <p:cNvSpPr/>
          <p:nvPr/>
        </p:nvSpPr>
        <p:spPr>
          <a:xfrm>
            <a:off x="457200" y="1188720"/>
            <a:ext cx="5532120" cy="365760"/>
          </a:xfrm>
          <a:prstGeom prst="rect">
            <a:avLst/>
          </a:prstGeom>
          <a:noFill/>
          <a:ln/>
        </p:spPr>
        <p:txBody>
          <a:bodyPr wrap="square" rtlCol="0" anchor="ctr"/>
          <a:lstStyle/>
          <a:p>
            <a:pPr algn="ctr" indent="0" marL="0">
              <a:buNone/>
            </a:pPr>
            <a:r>
              <a:rPr lang="en-US" sz="1500" dirty="0">
                <a:solidFill>
                  <a:srgbClr val="1F6B5E"/>
                </a:solidFill>
                <a:latin typeface="Arial Narrow" pitchFamily="34" charset="0"/>
                <a:ea typeface="Arial Narrow" pitchFamily="34" charset="-122"/>
                <a:cs typeface="Arial Narrow" pitchFamily="34" charset="-120"/>
              </a:rPr>
              <a:t>FAITS MARQUANTS EN CÔTE D'IVOIRE</a:t>
            </a:r>
            <a:endParaRPr lang="en-US" sz="1500" dirty="0"/>
          </a:p>
        </p:txBody>
      </p:sp>
      <p:sp>
        <p:nvSpPr>
          <p:cNvPr id="7" name="Text 5"/>
          <p:cNvSpPr/>
          <p:nvPr/>
        </p:nvSpPr>
        <p:spPr>
          <a:xfrm>
            <a:off x="640080" y="1645920"/>
            <a:ext cx="5166360" cy="4206240"/>
          </a:xfrm>
          <a:prstGeom prst="rect">
            <a:avLst/>
          </a:prstGeom>
          <a:noFill/>
          <a:ln/>
        </p:spPr>
        <p:txBody>
          <a:bodyPr wrap="square" rtlCol="0" anchor="t"/>
          <a:lstStyle/>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POLITIQUE</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TENSIONS PERMANENTES ENTRE LE DISTRICT AUTONOME D’ABIDJAN ET LES MAIRIES : LE CPC…</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PROJETS DE SA MANDATURE: LE PRÉSIDENT SORTANT DE LA JCI ÉMERAUDE DRESSE UN BILAN …</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GUIGLO : ETOUFFÉES PAR LA FLAMBÉE DES PRIX, LES VENDEUSES DE POISSONS EN GRÈVE</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LUTTE CONTRE LE CANCER DU SEIN : LINFODROME COMBAT LES RUMEURS ET SENSIBILISE LES…</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CRISE AU SEIN DU PDCI/RDA - « L'ÉLÉPHANT » SE CASSERA-T-IL UNE DEUXIÈME PATTE ?</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SOCIAL</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HAUSSE DES PRIX DU POISSON : ASSALÉ TIÉMOKO RÉVÈLE UNE DÉPENDANCE DE LA CÔTE D’IV…</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DANANÉ/CHIRURGIE HUMANITAIRE - 134 PATIENTS OPÉRÉS GRATUITEMENT, DONT 114 POUR UN…</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SÉCURITÉ</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CHARNIER DE YOPOUGON : 26 ANS APRÈS, AMADOU COULIBALY OPPOSE LES VIOLENCES DU PAS…</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PRIX NATIONAL D'EXCELLENCE 2026 - RAPHAËL DIAMALA KOUASSI HISSE M'BAHIAKRO SUR LE…</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INTERPOL RENFORCE LES CAPACITÉS DES ENQUÊTEURS IVOIRIENS POUR TRAQUER LES AVOIRS …</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QUERELLES DE SUCCESSION OU PROFANATION D'UN HÉRITAGE ?</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CÔTE D'IVOIRE : SÉCURITÉ ALIMENTAIRE ET SÉCURISATION FONCIÈRE, LE GOUVERNEMENT SO…</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PRIKRO : LA RELANCE DE LA CAFÉICULTURE ET LA PROMOTION DU MAÏS ENGAGÉES DANS L’IFFOU</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DIVERS</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AVANT LA GRANDE MARCHE DU 24 COCTOBRE ; EMMANUEL MACRON FACE UN ATTENTAT</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PRIX DU POISSON EN CÔTE D'IVOIRE - L'INTERPROFESSION PÊCHE SALUE LES MESURES GOUV…</a:t>
            </a:r>
            <a:endParaRPr lang="en-US" sz="900" dirty="0"/>
          </a:p>
        </p:txBody>
      </p:sp>
      <p:sp>
        <p:nvSpPr>
          <p:cNvPr id="8" name="Shape 6"/>
          <p:cNvSpPr/>
          <p:nvPr/>
        </p:nvSpPr>
        <p:spPr>
          <a:xfrm>
            <a:off x="6217920" y="1143000"/>
            <a:ext cx="5532120" cy="4754880"/>
          </a:xfrm>
          <a:prstGeom prst="rect">
            <a:avLst/>
          </a:prstGeom>
          <a:solidFill>
            <a:srgbClr val="FFFFFF"/>
          </a:solidFill>
          <a:ln w="9525">
            <a:solidFill>
              <a:srgbClr val="1F2937"/>
            </a:solidFill>
            <a:prstDash val="solid"/>
          </a:ln>
        </p:spPr>
      </p:sp>
      <p:sp>
        <p:nvSpPr>
          <p:cNvPr id="9" name="Text 7"/>
          <p:cNvSpPr/>
          <p:nvPr/>
        </p:nvSpPr>
        <p:spPr>
          <a:xfrm>
            <a:off x="6217920" y="1188720"/>
            <a:ext cx="5532120" cy="365760"/>
          </a:xfrm>
          <a:prstGeom prst="rect">
            <a:avLst/>
          </a:prstGeom>
          <a:noFill/>
          <a:ln/>
        </p:spPr>
        <p:txBody>
          <a:bodyPr wrap="square" rtlCol="0" anchor="ctr"/>
          <a:lstStyle/>
          <a:p>
            <a:pPr algn="ctr" indent="0" marL="0">
              <a:buNone/>
            </a:pPr>
            <a:r>
              <a:rPr lang="en-US" sz="1500" dirty="0">
                <a:solidFill>
                  <a:srgbClr val="1F6B5E"/>
                </a:solidFill>
                <a:latin typeface="Arial Narrow" pitchFamily="34" charset="0"/>
                <a:ea typeface="Arial Narrow" pitchFamily="34" charset="-122"/>
                <a:cs typeface="Arial Narrow" pitchFamily="34" charset="-120"/>
              </a:rPr>
              <a:t>DYNAMIQUES SOUS-RÉGIONALES</a:t>
            </a:r>
            <a:endParaRPr lang="en-US" sz="1500" dirty="0"/>
          </a:p>
        </p:txBody>
      </p:sp>
      <p:sp>
        <p:nvSpPr>
          <p:cNvPr id="10" name="Text 8"/>
          <p:cNvSpPr/>
          <p:nvPr/>
        </p:nvSpPr>
        <p:spPr>
          <a:xfrm>
            <a:off x="6400800" y="1645920"/>
            <a:ext cx="5166360" cy="4206240"/>
          </a:xfrm>
          <a:prstGeom prst="rect">
            <a:avLst/>
          </a:prstGeom>
          <a:noFill/>
          <a:ln/>
        </p:spPr>
        <p:txBody>
          <a:bodyPr wrap="square" rtlCol="0" anchor="t"/>
          <a:lstStyle/>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BURKINA FASO</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LA PEINE DE MORT RÉINTRODUITE POUR CERTAINS CRIMES DANS LE NOUVEAU CODE PÉNAL</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MALI</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MALI : CE QUE L’ON SAIT DE LA MORT MYSTÉRIEUSE DU JEUNE COMMERÇANT BOCAR LY</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NIGER</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TCHAD-NIGER : UNE NOUVELLE ESCALADE ENTRE MAHAMAT IDRISS DÉBY ET ABDOURAHAMANE TIANI</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GHANA</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SEVEN SHOT DEAD BY GUNMEN AT CHURCH FUNERAL IN JORDAN, OFFICIALS SAY</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TOGO</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63 ANS APRÈS SA MORT, LE PREMIER PRÉSIDENT DU TOGO N’A TOUJOURS PAS DE TOMBE DANS…</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BÉNIN</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NUEE THREATENS NATIONWIDE SHUTDOWN, DEMANDS WITHDRAWAL OF SOLDIERS FROM BEDC HQTRS</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GUINÉE</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MORT MYSTÉRIEUSE DE SOULEYMANE TOURÉ : SA MÈRE ET SA SŒUR VEULENT TOUTE LA VÉRITÉ</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LIBERIA</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(EN) LIBERIA: DOLPHIN KILLED, BUTCHERED BEFORE NAFAA RESCUE TEAM ARRIVED</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SÉNÉGAL</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IMMEUBLE EFFONDRÉ À THIÈS : UN MORT ET DEUX BLESSÉS, SELON LE BILAN PROVISOIRE</a:t>
            </a:r>
            <a:endParaRPr lang="en-US" sz="900" dirty="0"/>
          </a:p>
        </p:txBody>
      </p:sp>
      <p:pic>
        <p:nvPicPr>
          <p:cNvPr id="11" name="Image 0" descr="/home/runner/work/SentiqS/SentiqS/scripts/assets/grsci/logo-grsci.png">    </p:cNvPr>
          <p:cNvPicPr>
            <a:picLocks noChangeAspect="1"/>
          </p:cNvPicPr>
          <p:nvPr/>
        </p:nvPicPr>
        <p:blipFill>
          <a:blip r:embed="rId1"/>
          <a:stretch>
            <a:fillRect/>
          </a:stretch>
        </p:blipFill>
        <p:spPr>
          <a:xfrm>
            <a:off x="411480" y="5989320"/>
            <a:ext cx="548640" cy="630936"/>
          </a:xfrm>
          <a:prstGeom prst="rect">
            <a:avLst/>
          </a:prstGeom>
        </p:spPr>
      </p:pic>
      <p:sp>
        <p:nvSpPr>
          <p:cNvPr id="12" name="Text 9"/>
          <p:cNvSpPr/>
          <p:nvPr/>
        </p:nvSpPr>
        <p:spPr>
          <a:xfrm>
            <a:off x="3108960" y="6217920"/>
            <a:ext cx="4206240" cy="329184"/>
          </a:xfrm>
          <a:prstGeom prst="rect">
            <a:avLst/>
          </a:prstGeom>
          <a:noFill/>
          <a:ln w="9525">
            <a:solidFill>
              <a:srgbClr val="1F6B5E"/>
            </a:solidFill>
          </a:ln>
        </p:spPr>
        <p:txBody>
          <a:bodyPr wrap="square"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G</a:t>
            </a:r>
            <a:pPr algn="ctr" indent="0" marL="0">
              <a:buNone/>
            </a:pPr>
            <a:r>
              <a:rPr lang="en-US" sz="1200" dirty="0">
                <a:solidFill>
                  <a:srgbClr val="1F2937"/>
                </a:solidFill>
                <a:latin typeface="Calibri" pitchFamily="34" charset="0"/>
                <a:ea typeface="Calibri" pitchFamily="34" charset="-122"/>
                <a:cs typeface="Calibri" pitchFamily="34" charset="-120"/>
              </a:rPr>
              <a:t>roupe des </a:t>
            </a:r>
            <a:pPr algn="ctr" indent="0" marL="0">
              <a:buNone/>
            </a:pPr>
            <a:r>
              <a:rPr lang="en-US" sz="1200" b="1" dirty="0">
                <a:solidFill>
                  <a:srgbClr val="1F2937"/>
                </a:solidFill>
                <a:latin typeface="Calibri" pitchFamily="34" charset="0"/>
                <a:ea typeface="Calibri" pitchFamily="34" charset="-122"/>
                <a:cs typeface="Calibri" pitchFamily="34" charset="-120"/>
              </a:rPr>
              <a:t>R</a:t>
            </a:r>
            <a:pPr algn="ctr" indent="0" marL="0">
              <a:buNone/>
            </a:pPr>
            <a:r>
              <a:rPr lang="en-US" sz="1200" dirty="0">
                <a:solidFill>
                  <a:srgbClr val="1F2937"/>
                </a:solidFill>
                <a:latin typeface="Calibri" pitchFamily="34" charset="0"/>
                <a:ea typeface="Calibri" pitchFamily="34" charset="-122"/>
                <a:cs typeface="Calibri" pitchFamily="34" charset="-120"/>
              </a:rPr>
              <a:t>esponsables </a:t>
            </a:r>
            <a:pPr algn="ctr" indent="0" marL="0">
              <a:buNone/>
            </a:pPr>
            <a:r>
              <a:rPr lang="en-US" sz="1200" b="1" dirty="0">
                <a:solidFill>
                  <a:srgbClr val="1F2937"/>
                </a:solidFill>
                <a:latin typeface="Calibri" pitchFamily="34" charset="0"/>
                <a:ea typeface="Calibri" pitchFamily="34" charset="-122"/>
                <a:cs typeface="Calibri" pitchFamily="34" charset="-120"/>
              </a:rPr>
              <a:t>S</a:t>
            </a:r>
            <a:pPr algn="ctr" indent="0" marL="0">
              <a:buNone/>
            </a:pPr>
            <a:r>
              <a:rPr lang="en-US" sz="1200" dirty="0">
                <a:solidFill>
                  <a:srgbClr val="1F2937"/>
                </a:solidFill>
                <a:latin typeface="Calibri" pitchFamily="34" charset="0"/>
                <a:ea typeface="Calibri" pitchFamily="34" charset="-122"/>
                <a:cs typeface="Calibri" pitchFamily="34" charset="-120"/>
              </a:rPr>
              <a:t>ûreté de </a:t>
            </a:r>
            <a:pPr algn="ctr" indent="0" marL="0">
              <a:buNone/>
            </a:pPr>
            <a:r>
              <a:rPr lang="en-US" sz="1200" b="1" dirty="0">
                <a:solidFill>
                  <a:srgbClr val="1F2937"/>
                </a:solidFill>
                <a:latin typeface="Calibri" pitchFamily="34" charset="0"/>
                <a:ea typeface="Calibri" pitchFamily="34" charset="-122"/>
                <a:cs typeface="Calibri" pitchFamily="34" charset="-120"/>
              </a:rPr>
              <a:t>C</a:t>
            </a:r>
            <a:pPr algn="ctr" indent="0" marL="0">
              <a:buNone/>
            </a:pPr>
            <a:r>
              <a:rPr lang="en-US" sz="1200" dirty="0">
                <a:solidFill>
                  <a:srgbClr val="1F2937"/>
                </a:solidFill>
                <a:latin typeface="Calibri" pitchFamily="34" charset="0"/>
                <a:ea typeface="Calibri" pitchFamily="34" charset="-122"/>
                <a:cs typeface="Calibri" pitchFamily="34" charset="-120"/>
              </a:rPr>
              <a:t>ôte d'</a:t>
            </a:r>
            <a:pPr algn="ctr" indent="0" marL="0">
              <a:buNone/>
            </a:pPr>
            <a:r>
              <a:rPr lang="en-US" sz="1200" b="1" dirty="0">
                <a:solidFill>
                  <a:srgbClr val="1F2937"/>
                </a:solidFill>
                <a:latin typeface="Calibri" pitchFamily="34" charset="0"/>
                <a:ea typeface="Calibri" pitchFamily="34" charset="-122"/>
                <a:cs typeface="Calibri" pitchFamily="34" charset="-120"/>
              </a:rPr>
              <a:t>I</a:t>
            </a:r>
            <a:pPr algn="ctr" indent="0" marL="0">
              <a:buNone/>
            </a:pPr>
            <a:r>
              <a:rPr lang="en-US" sz="1200" dirty="0">
                <a:solidFill>
                  <a:srgbClr val="1F2937"/>
                </a:solidFill>
                <a:latin typeface="Calibri" pitchFamily="34" charset="0"/>
                <a:ea typeface="Calibri" pitchFamily="34" charset="-122"/>
                <a:cs typeface="Calibri" pitchFamily="34" charset="-120"/>
              </a:rPr>
              <a:t>voire</a:t>
            </a:r>
            <a:endParaRPr lang="en-US" sz="1200" dirty="0"/>
          </a:p>
        </p:txBody>
      </p:sp>
      <p:sp>
        <p:nvSpPr>
          <p:cNvPr id="13" name="Text 10"/>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27/10/26   |   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CDCDCD"/>
        </a:solidFill>
      </p:bgPr>
    </p:bg>
    <p:spTree>
      <p:nvGrpSpPr>
        <p:cNvPr id="1" name=""/>
        <p:cNvGrpSpPr/>
        <p:nvPr/>
      </p:nvGrpSpPr>
      <p:grpSpPr>
        <a:xfrm>
          <a:off x="0" y="0"/>
          <a:ext cx="0" cy="0"/>
          <a:chOff x="0" y="0"/>
          <a:chExt cx="0" cy="0"/>
        </a:xfrm>
      </p:grpSpPr>
      <p:pic>
        <p:nvPicPr>
          <p:cNvPr id="2" name="Image 0" descr="/home/runner/work/SentiqS/SentiqS/scripts/assets/grsci/carte-ci.jpg">    </p:cNvPr>
          <p:cNvPicPr>
            <a:picLocks noChangeAspect="1"/>
          </p:cNvPicPr>
          <p:nvPr/>
        </p:nvPicPr>
        <p:blipFill>
          <a:blip r:embed="rId1"/>
          <a:stretch>
            <a:fillRect/>
          </a:stretch>
        </p:blipFill>
        <p:spPr>
          <a:xfrm>
            <a:off x="4754880" y="640080"/>
            <a:ext cx="2926080" cy="2926080"/>
          </a:xfrm>
          <a:prstGeom prst="rect">
            <a:avLst/>
          </a:prstGeom>
        </p:spPr>
      </p:pic>
      <p:sp>
        <p:nvSpPr>
          <p:cNvPr id="3" name="Text 0"/>
          <p:cNvSpPr/>
          <p:nvPr/>
        </p:nvSpPr>
        <p:spPr>
          <a:xfrm>
            <a:off x="457200" y="4023360"/>
            <a:ext cx="11247120" cy="822960"/>
          </a:xfrm>
          <a:prstGeom prst="rect">
            <a:avLst/>
          </a:prstGeom>
          <a:noFill/>
          <a:ln/>
        </p:spPr>
        <p:txBody>
          <a:bodyPr wrap="square" rtlCol="0" anchor="ctr"/>
          <a:lstStyle/>
          <a:p>
            <a:pPr algn="ctr" indent="0" marL="0">
              <a:buNone/>
            </a:pPr>
            <a:r>
              <a:rPr lang="en-US" sz="4400" dirty="0">
                <a:solidFill>
                  <a:srgbClr val="111111"/>
                </a:solidFill>
                <a:latin typeface="Arial Narrow" pitchFamily="34" charset="0"/>
                <a:ea typeface="Arial Narrow" pitchFamily="34" charset="-122"/>
                <a:cs typeface="Arial Narrow" pitchFamily="34" charset="-120"/>
              </a:rPr>
              <a:t>FAITS MARQUANTS EN CÔTE D'IVOIRE</a:t>
            </a:r>
            <a:endParaRPr lang="en-US" sz="4400" dirty="0"/>
          </a:p>
        </p:txBody>
      </p:sp>
      <p:sp>
        <p:nvSpPr>
          <p:cNvPr id="4" name="Shape 1"/>
          <p:cNvSpPr/>
          <p:nvPr/>
        </p:nvSpPr>
        <p:spPr>
          <a:xfrm>
            <a:off x="4206240" y="4846320"/>
            <a:ext cx="3749040" cy="0"/>
          </a:xfrm>
          <a:prstGeom prst="line">
            <a:avLst/>
          </a:prstGeom>
          <a:noFill/>
          <a:ln w="50800">
            <a:solidFill>
              <a:srgbClr val="000000"/>
            </a:solidFill>
            <a:prstDash val="solid"/>
          </a:ln>
        </p:spPr>
      </p:sp>
      <p:sp>
        <p:nvSpPr>
          <p:cNvPr id="5" name="Text 2"/>
          <p:cNvSpPr/>
          <p:nvPr/>
        </p:nvSpPr>
        <p:spPr>
          <a:xfrm>
            <a:off x="1371600" y="5074920"/>
            <a:ext cx="9418320" cy="640080"/>
          </a:xfrm>
          <a:prstGeom prst="rect">
            <a:avLst/>
          </a:prstGeom>
          <a:noFill/>
          <a:ln/>
        </p:spPr>
        <p:txBody>
          <a:bodyPr wrap="square" rtlCol="0" anchor="ctr"/>
          <a:lstStyle/>
          <a:p>
            <a:pPr algn="ctr" indent="0" marL="0">
              <a:buNone/>
            </a:pPr>
            <a:r>
              <a:rPr lang="en-US" sz="1100" i="1" dirty="0">
                <a:solidFill>
                  <a:srgbClr val="333333"/>
                </a:solidFill>
                <a:latin typeface="Calibri" pitchFamily="34" charset="0"/>
                <a:ea typeface="Calibri" pitchFamily="34" charset="-122"/>
                <a:cs typeface="Calibri" pitchFamily="34" charset="-120"/>
              </a:rPr>
              <a:t>Faits marquants : textes établis à partir des médias cités, dont les chapôs sont reproduits entre guillemets. Les « enjeux sûreté » sont des repères par type d'événement, à valider et compléter par l'analyste.</a:t>
            </a:r>
            <a:endParaRPr lang="en-US" sz="1100" dirty="0"/>
          </a:p>
        </p:txBody>
      </p:sp>
      <p:pic>
        <p:nvPicPr>
          <p:cNvPr id="6" name="Image 1" descr="/home/runner/work/SentiqS/SentiqS/scripts/assets/grsci/logo-grsci.png">    </p:cNvPr>
          <p:cNvPicPr>
            <a:picLocks noChangeAspect="1"/>
          </p:cNvPicPr>
          <p:nvPr/>
        </p:nvPicPr>
        <p:blipFill>
          <a:blip r:embed="rId2"/>
          <a:stretch>
            <a:fillRect/>
          </a:stretch>
        </p:blipFill>
        <p:spPr>
          <a:xfrm>
            <a:off x="411480" y="5989320"/>
            <a:ext cx="548640" cy="630936"/>
          </a:xfrm>
          <a:prstGeom prst="rect">
            <a:avLst/>
          </a:prstGeom>
        </p:spPr>
      </p:pic>
      <p:sp>
        <p:nvSpPr>
          <p:cNvPr id="7" name="Text 3"/>
          <p:cNvSpPr/>
          <p:nvPr/>
        </p:nvSpPr>
        <p:spPr>
          <a:xfrm>
            <a:off x="3108960" y="6217920"/>
            <a:ext cx="4206240" cy="329184"/>
          </a:xfrm>
          <a:prstGeom prst="rect">
            <a:avLst/>
          </a:prstGeom>
          <a:noFill/>
          <a:ln w="9525">
            <a:solidFill>
              <a:srgbClr val="1F6B5E"/>
            </a:solidFill>
          </a:ln>
        </p:spPr>
        <p:txBody>
          <a:bodyPr wrap="square"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G</a:t>
            </a:r>
            <a:pPr algn="ctr" indent="0" marL="0">
              <a:buNone/>
            </a:pPr>
            <a:r>
              <a:rPr lang="en-US" sz="1200" dirty="0">
                <a:solidFill>
                  <a:srgbClr val="1F2937"/>
                </a:solidFill>
                <a:latin typeface="Calibri" pitchFamily="34" charset="0"/>
                <a:ea typeface="Calibri" pitchFamily="34" charset="-122"/>
                <a:cs typeface="Calibri" pitchFamily="34" charset="-120"/>
              </a:rPr>
              <a:t>roupe des </a:t>
            </a:r>
            <a:pPr algn="ctr" indent="0" marL="0">
              <a:buNone/>
            </a:pPr>
            <a:r>
              <a:rPr lang="en-US" sz="1200" b="1" dirty="0">
                <a:solidFill>
                  <a:srgbClr val="1F2937"/>
                </a:solidFill>
                <a:latin typeface="Calibri" pitchFamily="34" charset="0"/>
                <a:ea typeface="Calibri" pitchFamily="34" charset="-122"/>
                <a:cs typeface="Calibri" pitchFamily="34" charset="-120"/>
              </a:rPr>
              <a:t>R</a:t>
            </a:r>
            <a:pPr algn="ctr" indent="0" marL="0">
              <a:buNone/>
            </a:pPr>
            <a:r>
              <a:rPr lang="en-US" sz="1200" dirty="0">
                <a:solidFill>
                  <a:srgbClr val="1F2937"/>
                </a:solidFill>
                <a:latin typeface="Calibri" pitchFamily="34" charset="0"/>
                <a:ea typeface="Calibri" pitchFamily="34" charset="-122"/>
                <a:cs typeface="Calibri" pitchFamily="34" charset="-120"/>
              </a:rPr>
              <a:t>esponsables </a:t>
            </a:r>
            <a:pPr algn="ctr" indent="0" marL="0">
              <a:buNone/>
            </a:pPr>
            <a:r>
              <a:rPr lang="en-US" sz="1200" b="1" dirty="0">
                <a:solidFill>
                  <a:srgbClr val="1F2937"/>
                </a:solidFill>
                <a:latin typeface="Calibri" pitchFamily="34" charset="0"/>
                <a:ea typeface="Calibri" pitchFamily="34" charset="-122"/>
                <a:cs typeface="Calibri" pitchFamily="34" charset="-120"/>
              </a:rPr>
              <a:t>S</a:t>
            </a:r>
            <a:pPr algn="ctr" indent="0" marL="0">
              <a:buNone/>
            </a:pPr>
            <a:r>
              <a:rPr lang="en-US" sz="1200" dirty="0">
                <a:solidFill>
                  <a:srgbClr val="1F2937"/>
                </a:solidFill>
                <a:latin typeface="Calibri" pitchFamily="34" charset="0"/>
                <a:ea typeface="Calibri" pitchFamily="34" charset="-122"/>
                <a:cs typeface="Calibri" pitchFamily="34" charset="-120"/>
              </a:rPr>
              <a:t>ûreté de </a:t>
            </a:r>
            <a:pPr algn="ctr" indent="0" marL="0">
              <a:buNone/>
            </a:pPr>
            <a:r>
              <a:rPr lang="en-US" sz="1200" b="1" dirty="0">
                <a:solidFill>
                  <a:srgbClr val="1F2937"/>
                </a:solidFill>
                <a:latin typeface="Calibri" pitchFamily="34" charset="0"/>
                <a:ea typeface="Calibri" pitchFamily="34" charset="-122"/>
                <a:cs typeface="Calibri" pitchFamily="34" charset="-120"/>
              </a:rPr>
              <a:t>C</a:t>
            </a:r>
            <a:pPr algn="ctr" indent="0" marL="0">
              <a:buNone/>
            </a:pPr>
            <a:r>
              <a:rPr lang="en-US" sz="1200" dirty="0">
                <a:solidFill>
                  <a:srgbClr val="1F2937"/>
                </a:solidFill>
                <a:latin typeface="Calibri" pitchFamily="34" charset="0"/>
                <a:ea typeface="Calibri" pitchFamily="34" charset="-122"/>
                <a:cs typeface="Calibri" pitchFamily="34" charset="-120"/>
              </a:rPr>
              <a:t>ôte d'</a:t>
            </a:r>
            <a:pPr algn="ctr" indent="0" marL="0">
              <a:buNone/>
            </a:pPr>
            <a:r>
              <a:rPr lang="en-US" sz="1200" b="1" dirty="0">
                <a:solidFill>
                  <a:srgbClr val="1F2937"/>
                </a:solidFill>
                <a:latin typeface="Calibri" pitchFamily="34" charset="0"/>
                <a:ea typeface="Calibri" pitchFamily="34" charset="-122"/>
                <a:cs typeface="Calibri" pitchFamily="34" charset="-120"/>
              </a:rPr>
              <a:t>I</a:t>
            </a:r>
            <a:pPr algn="ctr" indent="0" marL="0">
              <a:buNone/>
            </a:pPr>
            <a:r>
              <a:rPr lang="en-US" sz="1200" dirty="0">
                <a:solidFill>
                  <a:srgbClr val="1F2937"/>
                </a:solidFill>
                <a:latin typeface="Calibri" pitchFamily="34" charset="0"/>
                <a:ea typeface="Calibri" pitchFamily="34" charset="-122"/>
                <a:cs typeface="Calibri" pitchFamily="34" charset="-120"/>
              </a:rPr>
              <a:t>voire</a:t>
            </a:r>
            <a:endParaRPr lang="en-US" sz="1200" dirty="0"/>
          </a:p>
        </p:txBody>
      </p:sp>
      <p:sp>
        <p:nvSpPr>
          <p:cNvPr id="8" name="Text 4"/>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27/10/26   |   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POLITIQUE</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moyenne (incident vérifié le plus récent : 120 jours ; 2 signaux du jour)</a:t>
            </a:r>
            <a:endParaRPr lang="en-US" sz="1100" dirty="0"/>
          </a:p>
        </p:txBody>
      </p:sp>
      <p:sp>
        <p:nvSpPr>
          <p:cNvPr id="10" name="Text 8"/>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Tensions permanentes entre le District Autonome d’Abidjan et les Mairies : le CPC est-il bel et bien mort</a:t>
            </a:r>
            <a:endParaRPr lang="en-US" sz="2200" dirty="0"/>
          </a:p>
        </p:txBody>
      </p:sp>
      <p:sp>
        <p:nvSpPr>
          <p:cNvPr id="11" name="Text 9"/>
          <p:cNvSpPr/>
          <p:nvPr/>
        </p:nvSpPr>
        <p:spPr>
          <a:xfrm>
            <a:off x="640080" y="2029968"/>
            <a:ext cx="1097280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mardi 27 octobre 2026. Lieu : Côte d'Ivoire. Actualité politique. Une seule source à ce stade (Linfodrome)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i="1" dirty="0">
                <a:solidFill>
                  <a:srgbClr val="6B7280"/>
                </a:solidFill>
                <a:latin typeface="Calibri" pitchFamily="34" charset="0"/>
                <a:ea typeface="Calibri" pitchFamily="34" charset="-122"/>
                <a:cs typeface="Calibri" pitchFamily="34" charset="-120"/>
              </a:rPr>
              <a:t>Les médias n'en publient que le titre dans leur flux : le détail est à lire dans l'article (lien ci-dessous).</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Climat politique à suivre : en mesurer l'incidence sur la stabilité locale et les déplacements.</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300"/>
              </a:spcAft>
              <a:buNone/>
            </a:pPr>
            <a:r>
              <a:rPr lang="en-US" sz="1400" dirty="0">
                <a:solidFill>
                  <a:srgbClr val="1F2937"/>
                </a:solidFill>
                <a:latin typeface="Calibri" pitchFamily="34" charset="0"/>
                <a:ea typeface="Calibri" pitchFamily="34" charset="-122"/>
                <a:cs typeface="Calibri" pitchFamily="34" charset="-120"/>
              </a:rPr>
              <a:t> — 27 octobre 2026, 13 h UTC</a:t>
            </a:r>
            <a:endParaRPr lang="en-US" sz="1400" dirty="0"/>
          </a:p>
        </p:txBody>
      </p:sp>
      <p:pic>
        <p:nvPicPr>
          <p:cNvPr id="12" name="Image 0" descr="/home/runner/work/SentiqS/SentiqS/scripts/assets/grsci/logo-grsci.png">    </p:cNvPr>
          <p:cNvPicPr>
            <a:picLocks noChangeAspect="1"/>
          </p:cNvPicPr>
          <p:nvPr/>
        </p:nvPicPr>
        <p:blipFill>
          <a:blip r:embed="rId2"/>
          <a:stretch>
            <a:fillRect/>
          </a:stretch>
        </p:blipFill>
        <p:spPr>
          <a:xfrm>
            <a:off x="411480" y="5989320"/>
            <a:ext cx="548640" cy="630936"/>
          </a:xfrm>
          <a:prstGeom prst="rect">
            <a:avLst/>
          </a:prstGeom>
        </p:spPr>
      </p:pic>
      <p:sp>
        <p:nvSpPr>
          <p:cNvPr id="13" name="Text 10"/>
          <p:cNvSpPr/>
          <p:nvPr/>
        </p:nvSpPr>
        <p:spPr>
          <a:xfrm>
            <a:off x="3108960" y="6217920"/>
            <a:ext cx="4206240" cy="329184"/>
          </a:xfrm>
          <a:prstGeom prst="rect">
            <a:avLst/>
          </a:prstGeom>
          <a:noFill/>
          <a:ln w="9525">
            <a:solidFill>
              <a:srgbClr val="1F6B5E"/>
            </a:solidFill>
          </a:ln>
        </p:spPr>
        <p:txBody>
          <a:bodyPr wrap="square"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G</a:t>
            </a:r>
            <a:pPr algn="ctr" indent="0" marL="0">
              <a:buNone/>
            </a:pPr>
            <a:r>
              <a:rPr lang="en-US" sz="1200" dirty="0">
                <a:solidFill>
                  <a:srgbClr val="1F2937"/>
                </a:solidFill>
                <a:latin typeface="Calibri" pitchFamily="34" charset="0"/>
                <a:ea typeface="Calibri" pitchFamily="34" charset="-122"/>
                <a:cs typeface="Calibri" pitchFamily="34" charset="-120"/>
              </a:rPr>
              <a:t>roupe des </a:t>
            </a:r>
            <a:pPr algn="ctr" indent="0" marL="0">
              <a:buNone/>
            </a:pPr>
            <a:r>
              <a:rPr lang="en-US" sz="1200" b="1" dirty="0">
                <a:solidFill>
                  <a:srgbClr val="1F2937"/>
                </a:solidFill>
                <a:latin typeface="Calibri" pitchFamily="34" charset="0"/>
                <a:ea typeface="Calibri" pitchFamily="34" charset="-122"/>
                <a:cs typeface="Calibri" pitchFamily="34" charset="-120"/>
              </a:rPr>
              <a:t>R</a:t>
            </a:r>
            <a:pPr algn="ctr" indent="0" marL="0">
              <a:buNone/>
            </a:pPr>
            <a:r>
              <a:rPr lang="en-US" sz="1200" dirty="0">
                <a:solidFill>
                  <a:srgbClr val="1F2937"/>
                </a:solidFill>
                <a:latin typeface="Calibri" pitchFamily="34" charset="0"/>
                <a:ea typeface="Calibri" pitchFamily="34" charset="-122"/>
                <a:cs typeface="Calibri" pitchFamily="34" charset="-120"/>
              </a:rPr>
              <a:t>esponsables </a:t>
            </a:r>
            <a:pPr algn="ctr" indent="0" marL="0">
              <a:buNone/>
            </a:pPr>
            <a:r>
              <a:rPr lang="en-US" sz="1200" b="1" dirty="0">
                <a:solidFill>
                  <a:srgbClr val="1F2937"/>
                </a:solidFill>
                <a:latin typeface="Calibri" pitchFamily="34" charset="0"/>
                <a:ea typeface="Calibri" pitchFamily="34" charset="-122"/>
                <a:cs typeface="Calibri" pitchFamily="34" charset="-120"/>
              </a:rPr>
              <a:t>S</a:t>
            </a:r>
            <a:pPr algn="ctr" indent="0" marL="0">
              <a:buNone/>
            </a:pPr>
            <a:r>
              <a:rPr lang="en-US" sz="1200" dirty="0">
                <a:solidFill>
                  <a:srgbClr val="1F2937"/>
                </a:solidFill>
                <a:latin typeface="Calibri" pitchFamily="34" charset="0"/>
                <a:ea typeface="Calibri" pitchFamily="34" charset="-122"/>
                <a:cs typeface="Calibri" pitchFamily="34" charset="-120"/>
              </a:rPr>
              <a:t>ûreté de </a:t>
            </a:r>
            <a:pPr algn="ctr" indent="0" marL="0">
              <a:buNone/>
            </a:pPr>
            <a:r>
              <a:rPr lang="en-US" sz="1200" b="1" dirty="0">
                <a:solidFill>
                  <a:srgbClr val="1F2937"/>
                </a:solidFill>
                <a:latin typeface="Calibri" pitchFamily="34" charset="0"/>
                <a:ea typeface="Calibri" pitchFamily="34" charset="-122"/>
                <a:cs typeface="Calibri" pitchFamily="34" charset="-120"/>
              </a:rPr>
              <a:t>C</a:t>
            </a:r>
            <a:pPr algn="ctr" indent="0" marL="0">
              <a:buNone/>
            </a:pPr>
            <a:r>
              <a:rPr lang="en-US" sz="1200" dirty="0">
                <a:solidFill>
                  <a:srgbClr val="1F2937"/>
                </a:solidFill>
                <a:latin typeface="Calibri" pitchFamily="34" charset="0"/>
                <a:ea typeface="Calibri" pitchFamily="34" charset="-122"/>
                <a:cs typeface="Calibri" pitchFamily="34" charset="-120"/>
              </a:rPr>
              <a:t>ôte d'</a:t>
            </a:r>
            <a:pPr algn="ctr" indent="0" marL="0">
              <a:buNone/>
            </a:pPr>
            <a:r>
              <a:rPr lang="en-US" sz="1200" b="1" dirty="0">
                <a:solidFill>
                  <a:srgbClr val="1F2937"/>
                </a:solidFill>
                <a:latin typeface="Calibri" pitchFamily="34" charset="0"/>
                <a:ea typeface="Calibri" pitchFamily="34" charset="-122"/>
                <a:cs typeface="Calibri" pitchFamily="34" charset="-120"/>
              </a:rPr>
              <a:t>I</a:t>
            </a:r>
            <a:pPr algn="ctr" indent="0" marL="0">
              <a:buNone/>
            </a:pPr>
            <a:r>
              <a:rPr lang="en-US" sz="1200" dirty="0">
                <a:solidFill>
                  <a:srgbClr val="1F2937"/>
                </a:solidFill>
                <a:latin typeface="Calibri" pitchFamily="34" charset="0"/>
                <a:ea typeface="Calibri" pitchFamily="34" charset="-122"/>
                <a:cs typeface="Calibri" pitchFamily="34" charset="-120"/>
              </a:rPr>
              <a:t>voire</a:t>
            </a:r>
            <a:endParaRPr lang="en-US" sz="1200" dirty="0"/>
          </a:p>
        </p:txBody>
      </p:sp>
      <p:sp>
        <p:nvSpPr>
          <p:cNvPr id="14" name="Text 11"/>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27/10/26   |   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POLITIQUE</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Projets de sa mandature: le président sortant de la JCI Émeraude dresse un bilan de 95% de taux d’exécution</a:t>
            </a:r>
            <a:endParaRPr lang="en-US" sz="2200" dirty="0"/>
          </a:p>
        </p:txBody>
      </p:sp>
      <p:sp>
        <p:nvSpPr>
          <p:cNvPr id="10" name="Text 8"/>
          <p:cNvSpPr/>
          <p:nvPr/>
        </p:nvSpPr>
        <p:spPr>
          <a:xfrm>
            <a:off x="640080" y="1755648"/>
            <a:ext cx="10972800" cy="414223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samedi 24 octobre 2026. Lieu : Côte d'Ivoire. Actualité politique. Une seule source à ce stade (Linfodrome)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i="1" dirty="0">
                <a:solidFill>
                  <a:srgbClr val="6B7280"/>
                </a:solidFill>
                <a:latin typeface="Calibri" pitchFamily="34" charset="0"/>
                <a:ea typeface="Calibri" pitchFamily="34" charset="-122"/>
                <a:cs typeface="Calibri" pitchFamily="34" charset="-120"/>
              </a:rPr>
              <a:t>Les médias n'en publient que le titre dans leur flux : le détail est à lire dans l'article (lien ci-dessous).</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Climat politique à suivre : tensions possibles autour des échéances et des décisions institutionnelles. Adapter la veille et les déplacements aux dates sensibles.</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300"/>
              </a:spcAft>
              <a:buNone/>
            </a:pPr>
            <a:r>
              <a:rPr lang="en-US" sz="1400" dirty="0">
                <a:solidFill>
                  <a:srgbClr val="1F2937"/>
                </a:solidFill>
                <a:latin typeface="Calibri" pitchFamily="34" charset="0"/>
                <a:ea typeface="Calibri" pitchFamily="34" charset="-122"/>
                <a:cs typeface="Calibri" pitchFamily="34" charset="-120"/>
              </a:rPr>
              <a:t> — 24 octobre 2026, 6 h UTC</a:t>
            </a:r>
            <a:endParaRPr lang="en-US" sz="1400" dirty="0"/>
          </a:p>
        </p:txBody>
      </p:sp>
      <p:pic>
        <p:nvPicPr>
          <p:cNvPr id="11" name="Image 0" descr="/home/runner/work/SentiqS/SentiqS/scripts/assets/grsci/logo-grsci.png">    </p:cNvPr>
          <p:cNvPicPr>
            <a:picLocks noChangeAspect="1"/>
          </p:cNvPicPr>
          <p:nvPr/>
        </p:nvPicPr>
        <p:blipFill>
          <a:blip r:embed="rId2"/>
          <a:stretch>
            <a:fillRect/>
          </a:stretch>
        </p:blipFill>
        <p:spPr>
          <a:xfrm>
            <a:off x="411480" y="5989320"/>
            <a:ext cx="548640" cy="630936"/>
          </a:xfrm>
          <a:prstGeom prst="rect">
            <a:avLst/>
          </a:prstGeom>
        </p:spPr>
      </p:pic>
      <p:sp>
        <p:nvSpPr>
          <p:cNvPr id="12" name="Text 9"/>
          <p:cNvSpPr/>
          <p:nvPr/>
        </p:nvSpPr>
        <p:spPr>
          <a:xfrm>
            <a:off x="3108960" y="6217920"/>
            <a:ext cx="4206240" cy="329184"/>
          </a:xfrm>
          <a:prstGeom prst="rect">
            <a:avLst/>
          </a:prstGeom>
          <a:noFill/>
          <a:ln w="9525">
            <a:solidFill>
              <a:srgbClr val="1F6B5E"/>
            </a:solidFill>
          </a:ln>
        </p:spPr>
        <p:txBody>
          <a:bodyPr wrap="square"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G</a:t>
            </a:r>
            <a:pPr algn="ctr" indent="0" marL="0">
              <a:buNone/>
            </a:pPr>
            <a:r>
              <a:rPr lang="en-US" sz="1200" dirty="0">
                <a:solidFill>
                  <a:srgbClr val="1F2937"/>
                </a:solidFill>
                <a:latin typeface="Calibri" pitchFamily="34" charset="0"/>
                <a:ea typeface="Calibri" pitchFamily="34" charset="-122"/>
                <a:cs typeface="Calibri" pitchFamily="34" charset="-120"/>
              </a:rPr>
              <a:t>roupe des </a:t>
            </a:r>
            <a:pPr algn="ctr" indent="0" marL="0">
              <a:buNone/>
            </a:pPr>
            <a:r>
              <a:rPr lang="en-US" sz="1200" b="1" dirty="0">
                <a:solidFill>
                  <a:srgbClr val="1F2937"/>
                </a:solidFill>
                <a:latin typeface="Calibri" pitchFamily="34" charset="0"/>
                <a:ea typeface="Calibri" pitchFamily="34" charset="-122"/>
                <a:cs typeface="Calibri" pitchFamily="34" charset="-120"/>
              </a:rPr>
              <a:t>R</a:t>
            </a:r>
            <a:pPr algn="ctr" indent="0" marL="0">
              <a:buNone/>
            </a:pPr>
            <a:r>
              <a:rPr lang="en-US" sz="1200" dirty="0">
                <a:solidFill>
                  <a:srgbClr val="1F2937"/>
                </a:solidFill>
                <a:latin typeface="Calibri" pitchFamily="34" charset="0"/>
                <a:ea typeface="Calibri" pitchFamily="34" charset="-122"/>
                <a:cs typeface="Calibri" pitchFamily="34" charset="-120"/>
              </a:rPr>
              <a:t>esponsables </a:t>
            </a:r>
            <a:pPr algn="ctr" indent="0" marL="0">
              <a:buNone/>
            </a:pPr>
            <a:r>
              <a:rPr lang="en-US" sz="1200" b="1" dirty="0">
                <a:solidFill>
                  <a:srgbClr val="1F2937"/>
                </a:solidFill>
                <a:latin typeface="Calibri" pitchFamily="34" charset="0"/>
                <a:ea typeface="Calibri" pitchFamily="34" charset="-122"/>
                <a:cs typeface="Calibri" pitchFamily="34" charset="-120"/>
              </a:rPr>
              <a:t>S</a:t>
            </a:r>
            <a:pPr algn="ctr" indent="0" marL="0">
              <a:buNone/>
            </a:pPr>
            <a:r>
              <a:rPr lang="en-US" sz="1200" dirty="0">
                <a:solidFill>
                  <a:srgbClr val="1F2937"/>
                </a:solidFill>
                <a:latin typeface="Calibri" pitchFamily="34" charset="0"/>
                <a:ea typeface="Calibri" pitchFamily="34" charset="-122"/>
                <a:cs typeface="Calibri" pitchFamily="34" charset="-120"/>
              </a:rPr>
              <a:t>ûreté de </a:t>
            </a:r>
            <a:pPr algn="ctr" indent="0" marL="0">
              <a:buNone/>
            </a:pPr>
            <a:r>
              <a:rPr lang="en-US" sz="1200" b="1" dirty="0">
                <a:solidFill>
                  <a:srgbClr val="1F2937"/>
                </a:solidFill>
                <a:latin typeface="Calibri" pitchFamily="34" charset="0"/>
                <a:ea typeface="Calibri" pitchFamily="34" charset="-122"/>
                <a:cs typeface="Calibri" pitchFamily="34" charset="-120"/>
              </a:rPr>
              <a:t>C</a:t>
            </a:r>
            <a:pPr algn="ctr" indent="0" marL="0">
              <a:buNone/>
            </a:pPr>
            <a:r>
              <a:rPr lang="en-US" sz="1200" dirty="0">
                <a:solidFill>
                  <a:srgbClr val="1F2937"/>
                </a:solidFill>
                <a:latin typeface="Calibri" pitchFamily="34" charset="0"/>
                <a:ea typeface="Calibri" pitchFamily="34" charset="-122"/>
                <a:cs typeface="Calibri" pitchFamily="34" charset="-120"/>
              </a:rPr>
              <a:t>ôte d'</a:t>
            </a:r>
            <a:pPr algn="ctr" indent="0" marL="0">
              <a:buNone/>
            </a:pPr>
            <a:r>
              <a:rPr lang="en-US" sz="1200" b="1" dirty="0">
                <a:solidFill>
                  <a:srgbClr val="1F2937"/>
                </a:solidFill>
                <a:latin typeface="Calibri" pitchFamily="34" charset="0"/>
                <a:ea typeface="Calibri" pitchFamily="34" charset="-122"/>
                <a:cs typeface="Calibri" pitchFamily="34" charset="-120"/>
              </a:rPr>
              <a:t>I</a:t>
            </a:r>
            <a:pPr algn="ctr" indent="0" marL="0">
              <a:buNone/>
            </a:pPr>
            <a:r>
              <a:rPr lang="en-US" sz="1200" dirty="0">
                <a:solidFill>
                  <a:srgbClr val="1F2937"/>
                </a:solidFill>
                <a:latin typeface="Calibri" pitchFamily="34" charset="0"/>
                <a:ea typeface="Calibri" pitchFamily="34" charset="-122"/>
                <a:cs typeface="Calibri" pitchFamily="34" charset="-120"/>
              </a:rPr>
              <a:t>voire</a:t>
            </a:r>
            <a:endParaRPr lang="en-US" sz="1200" dirty="0"/>
          </a:p>
        </p:txBody>
      </p:sp>
      <p:sp>
        <p:nvSpPr>
          <p:cNvPr id="13" name="Text 10"/>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27/10/26   |   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POLITIQUE</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Guiglo : Etouffées par la flambée des prix, les vendeuses de poissons en grève</a:t>
            </a:r>
            <a:endParaRPr lang="en-US" sz="2200" dirty="0"/>
          </a:p>
        </p:txBody>
      </p:sp>
      <p:sp>
        <p:nvSpPr>
          <p:cNvPr id="10" name="Text 8"/>
          <p:cNvSpPr/>
          <p:nvPr/>
        </p:nvSpPr>
        <p:spPr>
          <a:xfrm>
            <a:off x="640080" y="1755648"/>
            <a:ext cx="10972800" cy="414223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lundi 26 octobre 2026. Lieu : Côte d'Ivoire. Actualité politique. Une seule source à ce stade (Linfodrome)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i="1" dirty="0">
                <a:solidFill>
                  <a:srgbClr val="6B7280"/>
                </a:solidFill>
                <a:latin typeface="Calibri" pitchFamily="34" charset="0"/>
                <a:ea typeface="Calibri" pitchFamily="34" charset="-122"/>
                <a:cs typeface="Calibri" pitchFamily="34" charset="-120"/>
              </a:rPr>
              <a:t>Les médias n'en publient que le titre dans leur flux : le détail est à lire dans l'article (lien ci-dessous).</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Perturbations possibles de l'activité et de la circulation : éviter les rassemblements, prévoir des horaires décalés ou le travail à distance, informer les personnels.</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300"/>
              </a:spcAft>
              <a:buNone/>
            </a:pPr>
            <a:r>
              <a:rPr lang="en-US" sz="1400" dirty="0">
                <a:solidFill>
                  <a:srgbClr val="1F2937"/>
                </a:solidFill>
                <a:latin typeface="Calibri" pitchFamily="34" charset="0"/>
                <a:ea typeface="Calibri" pitchFamily="34" charset="-122"/>
                <a:cs typeface="Calibri" pitchFamily="34" charset="-120"/>
              </a:rPr>
              <a:t> — 26 octobre 2026, 18 h UTC</a:t>
            </a:r>
            <a:endParaRPr lang="en-US" sz="1400" dirty="0"/>
          </a:p>
        </p:txBody>
      </p:sp>
      <p:pic>
        <p:nvPicPr>
          <p:cNvPr id="11" name="Image 0" descr="/home/runner/work/SentiqS/SentiqS/scripts/assets/grsci/logo-grsci.png">    </p:cNvPr>
          <p:cNvPicPr>
            <a:picLocks noChangeAspect="1"/>
          </p:cNvPicPr>
          <p:nvPr/>
        </p:nvPicPr>
        <p:blipFill>
          <a:blip r:embed="rId2"/>
          <a:stretch>
            <a:fillRect/>
          </a:stretch>
        </p:blipFill>
        <p:spPr>
          <a:xfrm>
            <a:off x="411480" y="5989320"/>
            <a:ext cx="548640" cy="630936"/>
          </a:xfrm>
          <a:prstGeom prst="rect">
            <a:avLst/>
          </a:prstGeom>
        </p:spPr>
      </p:pic>
      <p:sp>
        <p:nvSpPr>
          <p:cNvPr id="12" name="Text 9"/>
          <p:cNvSpPr/>
          <p:nvPr/>
        </p:nvSpPr>
        <p:spPr>
          <a:xfrm>
            <a:off x="3108960" y="6217920"/>
            <a:ext cx="4206240" cy="329184"/>
          </a:xfrm>
          <a:prstGeom prst="rect">
            <a:avLst/>
          </a:prstGeom>
          <a:noFill/>
          <a:ln w="9525">
            <a:solidFill>
              <a:srgbClr val="1F6B5E"/>
            </a:solidFill>
          </a:ln>
        </p:spPr>
        <p:txBody>
          <a:bodyPr wrap="square"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G</a:t>
            </a:r>
            <a:pPr algn="ctr" indent="0" marL="0">
              <a:buNone/>
            </a:pPr>
            <a:r>
              <a:rPr lang="en-US" sz="1200" dirty="0">
                <a:solidFill>
                  <a:srgbClr val="1F2937"/>
                </a:solidFill>
                <a:latin typeface="Calibri" pitchFamily="34" charset="0"/>
                <a:ea typeface="Calibri" pitchFamily="34" charset="-122"/>
                <a:cs typeface="Calibri" pitchFamily="34" charset="-120"/>
              </a:rPr>
              <a:t>roupe des </a:t>
            </a:r>
            <a:pPr algn="ctr" indent="0" marL="0">
              <a:buNone/>
            </a:pPr>
            <a:r>
              <a:rPr lang="en-US" sz="1200" b="1" dirty="0">
                <a:solidFill>
                  <a:srgbClr val="1F2937"/>
                </a:solidFill>
                <a:latin typeface="Calibri" pitchFamily="34" charset="0"/>
                <a:ea typeface="Calibri" pitchFamily="34" charset="-122"/>
                <a:cs typeface="Calibri" pitchFamily="34" charset="-120"/>
              </a:rPr>
              <a:t>R</a:t>
            </a:r>
            <a:pPr algn="ctr" indent="0" marL="0">
              <a:buNone/>
            </a:pPr>
            <a:r>
              <a:rPr lang="en-US" sz="1200" dirty="0">
                <a:solidFill>
                  <a:srgbClr val="1F2937"/>
                </a:solidFill>
                <a:latin typeface="Calibri" pitchFamily="34" charset="0"/>
                <a:ea typeface="Calibri" pitchFamily="34" charset="-122"/>
                <a:cs typeface="Calibri" pitchFamily="34" charset="-120"/>
              </a:rPr>
              <a:t>esponsables </a:t>
            </a:r>
            <a:pPr algn="ctr" indent="0" marL="0">
              <a:buNone/>
            </a:pPr>
            <a:r>
              <a:rPr lang="en-US" sz="1200" b="1" dirty="0">
                <a:solidFill>
                  <a:srgbClr val="1F2937"/>
                </a:solidFill>
                <a:latin typeface="Calibri" pitchFamily="34" charset="0"/>
                <a:ea typeface="Calibri" pitchFamily="34" charset="-122"/>
                <a:cs typeface="Calibri" pitchFamily="34" charset="-120"/>
              </a:rPr>
              <a:t>S</a:t>
            </a:r>
            <a:pPr algn="ctr" indent="0" marL="0">
              <a:buNone/>
            </a:pPr>
            <a:r>
              <a:rPr lang="en-US" sz="1200" dirty="0">
                <a:solidFill>
                  <a:srgbClr val="1F2937"/>
                </a:solidFill>
                <a:latin typeface="Calibri" pitchFamily="34" charset="0"/>
                <a:ea typeface="Calibri" pitchFamily="34" charset="-122"/>
                <a:cs typeface="Calibri" pitchFamily="34" charset="-120"/>
              </a:rPr>
              <a:t>ûreté de </a:t>
            </a:r>
            <a:pPr algn="ctr" indent="0" marL="0">
              <a:buNone/>
            </a:pPr>
            <a:r>
              <a:rPr lang="en-US" sz="1200" b="1" dirty="0">
                <a:solidFill>
                  <a:srgbClr val="1F2937"/>
                </a:solidFill>
                <a:latin typeface="Calibri" pitchFamily="34" charset="0"/>
                <a:ea typeface="Calibri" pitchFamily="34" charset="-122"/>
                <a:cs typeface="Calibri" pitchFamily="34" charset="-120"/>
              </a:rPr>
              <a:t>C</a:t>
            </a:r>
            <a:pPr algn="ctr" indent="0" marL="0">
              <a:buNone/>
            </a:pPr>
            <a:r>
              <a:rPr lang="en-US" sz="1200" dirty="0">
                <a:solidFill>
                  <a:srgbClr val="1F2937"/>
                </a:solidFill>
                <a:latin typeface="Calibri" pitchFamily="34" charset="0"/>
                <a:ea typeface="Calibri" pitchFamily="34" charset="-122"/>
                <a:cs typeface="Calibri" pitchFamily="34" charset="-120"/>
              </a:rPr>
              <a:t>ôte d'</a:t>
            </a:r>
            <a:pPr algn="ctr" indent="0" marL="0">
              <a:buNone/>
            </a:pPr>
            <a:r>
              <a:rPr lang="en-US" sz="1200" b="1" dirty="0">
                <a:solidFill>
                  <a:srgbClr val="1F2937"/>
                </a:solidFill>
                <a:latin typeface="Calibri" pitchFamily="34" charset="0"/>
                <a:ea typeface="Calibri" pitchFamily="34" charset="-122"/>
                <a:cs typeface="Calibri" pitchFamily="34" charset="-120"/>
              </a:rPr>
              <a:t>I</a:t>
            </a:r>
            <a:pPr algn="ctr" indent="0" marL="0">
              <a:buNone/>
            </a:pPr>
            <a:r>
              <a:rPr lang="en-US" sz="1200" dirty="0">
                <a:solidFill>
                  <a:srgbClr val="1F2937"/>
                </a:solidFill>
                <a:latin typeface="Calibri" pitchFamily="34" charset="0"/>
                <a:ea typeface="Calibri" pitchFamily="34" charset="-122"/>
                <a:cs typeface="Calibri" pitchFamily="34" charset="-120"/>
              </a:rPr>
              <a:t>voire</a:t>
            </a:r>
            <a:endParaRPr lang="en-US" sz="1200" dirty="0"/>
          </a:p>
        </p:txBody>
      </p:sp>
      <p:sp>
        <p:nvSpPr>
          <p:cNvPr id="13" name="Text 10"/>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27/10/26   |   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POLITIQUE</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LUTTE CONTRE LE CANCER DU SEIN : LINFODROME COMBAT LES RUMEURS ET SENSIBILISE LES POPULATIONS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16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CRISE AU SEIN DU PDCI/RDA - « L'ÉLÉPHANT » SE CASSERA-T-IL UNE DEUXIÈME PATTE ?</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AllAfrica (CI)</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9 h UTC</a:t>
            </a:r>
            <a:endParaRPr lang="en-US" sz="1300" dirty="0"/>
          </a:p>
        </p:txBody>
      </p:sp>
      <p:pic>
        <p:nvPicPr>
          <p:cNvPr id="10" name="Image 0" descr="/home/runner/work/SentiqS/SentiqS/scripts/assets/grsci/logo-grsci.png">    </p:cNvPr>
          <p:cNvPicPr>
            <a:picLocks noChangeAspect="1"/>
          </p:cNvPicPr>
          <p:nvPr/>
        </p:nvPicPr>
        <p:blipFill>
          <a:blip r:embed="rId3"/>
          <a:stretch>
            <a:fillRect/>
          </a:stretch>
        </p:blipFill>
        <p:spPr>
          <a:xfrm>
            <a:off x="411480" y="5989320"/>
            <a:ext cx="548640" cy="630936"/>
          </a:xfrm>
          <a:prstGeom prst="rect">
            <a:avLst/>
          </a:prstGeom>
        </p:spPr>
      </p:pic>
      <p:sp>
        <p:nvSpPr>
          <p:cNvPr id="11" name="Text 8"/>
          <p:cNvSpPr/>
          <p:nvPr/>
        </p:nvSpPr>
        <p:spPr>
          <a:xfrm>
            <a:off x="3108960" y="6217920"/>
            <a:ext cx="4206240" cy="329184"/>
          </a:xfrm>
          <a:prstGeom prst="rect">
            <a:avLst/>
          </a:prstGeom>
          <a:noFill/>
          <a:ln w="9525">
            <a:solidFill>
              <a:srgbClr val="1F6B5E"/>
            </a:solidFill>
          </a:ln>
        </p:spPr>
        <p:txBody>
          <a:bodyPr wrap="square"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G</a:t>
            </a:r>
            <a:pPr algn="ctr" indent="0" marL="0">
              <a:buNone/>
            </a:pPr>
            <a:r>
              <a:rPr lang="en-US" sz="1200" dirty="0">
                <a:solidFill>
                  <a:srgbClr val="1F2937"/>
                </a:solidFill>
                <a:latin typeface="Calibri" pitchFamily="34" charset="0"/>
                <a:ea typeface="Calibri" pitchFamily="34" charset="-122"/>
                <a:cs typeface="Calibri" pitchFamily="34" charset="-120"/>
              </a:rPr>
              <a:t>roupe des </a:t>
            </a:r>
            <a:pPr algn="ctr" indent="0" marL="0">
              <a:buNone/>
            </a:pPr>
            <a:r>
              <a:rPr lang="en-US" sz="1200" b="1" dirty="0">
                <a:solidFill>
                  <a:srgbClr val="1F2937"/>
                </a:solidFill>
                <a:latin typeface="Calibri" pitchFamily="34" charset="0"/>
                <a:ea typeface="Calibri" pitchFamily="34" charset="-122"/>
                <a:cs typeface="Calibri" pitchFamily="34" charset="-120"/>
              </a:rPr>
              <a:t>R</a:t>
            </a:r>
            <a:pPr algn="ctr" indent="0" marL="0">
              <a:buNone/>
            </a:pPr>
            <a:r>
              <a:rPr lang="en-US" sz="1200" dirty="0">
                <a:solidFill>
                  <a:srgbClr val="1F2937"/>
                </a:solidFill>
                <a:latin typeface="Calibri" pitchFamily="34" charset="0"/>
                <a:ea typeface="Calibri" pitchFamily="34" charset="-122"/>
                <a:cs typeface="Calibri" pitchFamily="34" charset="-120"/>
              </a:rPr>
              <a:t>esponsables </a:t>
            </a:r>
            <a:pPr algn="ctr" indent="0" marL="0">
              <a:buNone/>
            </a:pPr>
            <a:r>
              <a:rPr lang="en-US" sz="1200" b="1" dirty="0">
                <a:solidFill>
                  <a:srgbClr val="1F2937"/>
                </a:solidFill>
                <a:latin typeface="Calibri" pitchFamily="34" charset="0"/>
                <a:ea typeface="Calibri" pitchFamily="34" charset="-122"/>
                <a:cs typeface="Calibri" pitchFamily="34" charset="-120"/>
              </a:rPr>
              <a:t>S</a:t>
            </a:r>
            <a:pPr algn="ctr" indent="0" marL="0">
              <a:buNone/>
            </a:pPr>
            <a:r>
              <a:rPr lang="en-US" sz="1200" dirty="0">
                <a:solidFill>
                  <a:srgbClr val="1F2937"/>
                </a:solidFill>
                <a:latin typeface="Calibri" pitchFamily="34" charset="0"/>
                <a:ea typeface="Calibri" pitchFamily="34" charset="-122"/>
                <a:cs typeface="Calibri" pitchFamily="34" charset="-120"/>
              </a:rPr>
              <a:t>ûreté de </a:t>
            </a:r>
            <a:pPr algn="ctr" indent="0" marL="0">
              <a:buNone/>
            </a:pPr>
            <a:r>
              <a:rPr lang="en-US" sz="1200" b="1" dirty="0">
                <a:solidFill>
                  <a:srgbClr val="1F2937"/>
                </a:solidFill>
                <a:latin typeface="Calibri" pitchFamily="34" charset="0"/>
                <a:ea typeface="Calibri" pitchFamily="34" charset="-122"/>
                <a:cs typeface="Calibri" pitchFamily="34" charset="-120"/>
              </a:rPr>
              <a:t>C</a:t>
            </a:r>
            <a:pPr algn="ctr" indent="0" marL="0">
              <a:buNone/>
            </a:pPr>
            <a:r>
              <a:rPr lang="en-US" sz="1200" dirty="0">
                <a:solidFill>
                  <a:srgbClr val="1F2937"/>
                </a:solidFill>
                <a:latin typeface="Calibri" pitchFamily="34" charset="0"/>
                <a:ea typeface="Calibri" pitchFamily="34" charset="-122"/>
                <a:cs typeface="Calibri" pitchFamily="34" charset="-120"/>
              </a:rPr>
              <a:t>ôte d'</a:t>
            </a:r>
            <a:pPr algn="ctr" indent="0" marL="0">
              <a:buNone/>
            </a:pPr>
            <a:r>
              <a:rPr lang="en-US" sz="1200" b="1" dirty="0">
                <a:solidFill>
                  <a:srgbClr val="1F2937"/>
                </a:solidFill>
                <a:latin typeface="Calibri" pitchFamily="34" charset="0"/>
                <a:ea typeface="Calibri" pitchFamily="34" charset="-122"/>
                <a:cs typeface="Calibri" pitchFamily="34" charset="-120"/>
              </a:rPr>
              <a:t>I</a:t>
            </a:r>
            <a:pPr algn="ctr" indent="0" marL="0">
              <a:buNone/>
            </a:pPr>
            <a:r>
              <a:rPr lang="en-US" sz="1200" dirty="0">
                <a:solidFill>
                  <a:srgbClr val="1F2937"/>
                </a:solidFill>
                <a:latin typeface="Calibri" pitchFamily="34" charset="0"/>
                <a:ea typeface="Calibri" pitchFamily="34" charset="-122"/>
                <a:cs typeface="Calibri" pitchFamily="34" charset="-120"/>
              </a:rPr>
              <a:t>voire</a:t>
            </a:r>
            <a:endParaRPr lang="en-US" sz="1200" dirty="0"/>
          </a:p>
        </p:txBody>
      </p:sp>
      <p:sp>
        <p:nvSpPr>
          <p:cNvPr id="12"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27/10/26   |   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SOCIAL</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05840"/>
            <a:ext cx="10972800" cy="292608"/>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moyenne (incident vérifié le plus récent : 120 jours ; 2 signaux du jour)</a:t>
            </a:r>
            <a:endParaRPr lang="en-US" sz="1100" dirty="0"/>
          </a:p>
        </p:txBody>
      </p:sp>
      <p:sp>
        <p:nvSpPr>
          <p:cNvPr id="10" name="Text 8"/>
          <p:cNvSpPr/>
          <p:nvPr/>
        </p:nvSpPr>
        <p:spPr>
          <a:xfrm>
            <a:off x="640080" y="1325880"/>
            <a:ext cx="10972800" cy="452628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HAUSSE DES PRIX DU POISSON : ASSALÉ TIÉMOKO RÉVÈLE UNE DÉPENDANCE DE LA CÔTE D’IVOIRE À 88,8 % AUX IMPORTATIONS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9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DANANÉ/CHIRURGIE HUMANITAIRE - 134 PATIENTS OPÉRÉS GRATUITEMENT, DONT 114 POUR UNE HERNIE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AllAfrica (CI)</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17 h UTC</a:t>
            </a:r>
            <a:endParaRPr lang="en-US" sz="1300" dirty="0"/>
          </a:p>
        </p:txBody>
      </p:sp>
      <p:pic>
        <p:nvPicPr>
          <p:cNvPr id="11" name="Image 0" descr="/home/runner/work/SentiqS/SentiqS/scripts/assets/grsci/logo-grsci.png">    </p:cNvPr>
          <p:cNvPicPr>
            <a:picLocks noChangeAspect="1"/>
          </p:cNvPicPr>
          <p:nvPr/>
        </p:nvPicPr>
        <p:blipFill>
          <a:blip r:embed="rId3"/>
          <a:stretch>
            <a:fillRect/>
          </a:stretch>
        </p:blipFill>
        <p:spPr>
          <a:xfrm>
            <a:off x="411480" y="5989320"/>
            <a:ext cx="548640" cy="630936"/>
          </a:xfrm>
          <a:prstGeom prst="rect">
            <a:avLst/>
          </a:prstGeom>
        </p:spPr>
      </p:pic>
      <p:sp>
        <p:nvSpPr>
          <p:cNvPr id="12" name="Text 9"/>
          <p:cNvSpPr/>
          <p:nvPr/>
        </p:nvSpPr>
        <p:spPr>
          <a:xfrm>
            <a:off x="3108960" y="6217920"/>
            <a:ext cx="4206240" cy="329184"/>
          </a:xfrm>
          <a:prstGeom prst="rect">
            <a:avLst/>
          </a:prstGeom>
          <a:noFill/>
          <a:ln w="9525">
            <a:solidFill>
              <a:srgbClr val="1F6B5E"/>
            </a:solidFill>
          </a:ln>
        </p:spPr>
        <p:txBody>
          <a:bodyPr wrap="square"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G</a:t>
            </a:r>
            <a:pPr algn="ctr" indent="0" marL="0">
              <a:buNone/>
            </a:pPr>
            <a:r>
              <a:rPr lang="en-US" sz="1200" dirty="0">
                <a:solidFill>
                  <a:srgbClr val="1F2937"/>
                </a:solidFill>
                <a:latin typeface="Calibri" pitchFamily="34" charset="0"/>
                <a:ea typeface="Calibri" pitchFamily="34" charset="-122"/>
                <a:cs typeface="Calibri" pitchFamily="34" charset="-120"/>
              </a:rPr>
              <a:t>roupe des </a:t>
            </a:r>
            <a:pPr algn="ctr" indent="0" marL="0">
              <a:buNone/>
            </a:pPr>
            <a:r>
              <a:rPr lang="en-US" sz="1200" b="1" dirty="0">
                <a:solidFill>
                  <a:srgbClr val="1F2937"/>
                </a:solidFill>
                <a:latin typeface="Calibri" pitchFamily="34" charset="0"/>
                <a:ea typeface="Calibri" pitchFamily="34" charset="-122"/>
                <a:cs typeface="Calibri" pitchFamily="34" charset="-120"/>
              </a:rPr>
              <a:t>R</a:t>
            </a:r>
            <a:pPr algn="ctr" indent="0" marL="0">
              <a:buNone/>
            </a:pPr>
            <a:r>
              <a:rPr lang="en-US" sz="1200" dirty="0">
                <a:solidFill>
                  <a:srgbClr val="1F2937"/>
                </a:solidFill>
                <a:latin typeface="Calibri" pitchFamily="34" charset="0"/>
                <a:ea typeface="Calibri" pitchFamily="34" charset="-122"/>
                <a:cs typeface="Calibri" pitchFamily="34" charset="-120"/>
              </a:rPr>
              <a:t>esponsables </a:t>
            </a:r>
            <a:pPr algn="ctr" indent="0" marL="0">
              <a:buNone/>
            </a:pPr>
            <a:r>
              <a:rPr lang="en-US" sz="1200" b="1" dirty="0">
                <a:solidFill>
                  <a:srgbClr val="1F2937"/>
                </a:solidFill>
                <a:latin typeface="Calibri" pitchFamily="34" charset="0"/>
                <a:ea typeface="Calibri" pitchFamily="34" charset="-122"/>
                <a:cs typeface="Calibri" pitchFamily="34" charset="-120"/>
              </a:rPr>
              <a:t>S</a:t>
            </a:r>
            <a:pPr algn="ctr" indent="0" marL="0">
              <a:buNone/>
            </a:pPr>
            <a:r>
              <a:rPr lang="en-US" sz="1200" dirty="0">
                <a:solidFill>
                  <a:srgbClr val="1F2937"/>
                </a:solidFill>
                <a:latin typeface="Calibri" pitchFamily="34" charset="0"/>
                <a:ea typeface="Calibri" pitchFamily="34" charset="-122"/>
                <a:cs typeface="Calibri" pitchFamily="34" charset="-120"/>
              </a:rPr>
              <a:t>ûreté de </a:t>
            </a:r>
            <a:pPr algn="ctr" indent="0" marL="0">
              <a:buNone/>
            </a:pPr>
            <a:r>
              <a:rPr lang="en-US" sz="1200" b="1" dirty="0">
                <a:solidFill>
                  <a:srgbClr val="1F2937"/>
                </a:solidFill>
                <a:latin typeface="Calibri" pitchFamily="34" charset="0"/>
                <a:ea typeface="Calibri" pitchFamily="34" charset="-122"/>
                <a:cs typeface="Calibri" pitchFamily="34" charset="-120"/>
              </a:rPr>
              <a:t>C</a:t>
            </a:r>
            <a:pPr algn="ctr" indent="0" marL="0">
              <a:buNone/>
            </a:pPr>
            <a:r>
              <a:rPr lang="en-US" sz="1200" dirty="0">
                <a:solidFill>
                  <a:srgbClr val="1F2937"/>
                </a:solidFill>
                <a:latin typeface="Calibri" pitchFamily="34" charset="0"/>
                <a:ea typeface="Calibri" pitchFamily="34" charset="-122"/>
                <a:cs typeface="Calibri" pitchFamily="34" charset="-120"/>
              </a:rPr>
              <a:t>ôte d'</a:t>
            </a:r>
            <a:pPr algn="ctr" indent="0" marL="0">
              <a:buNone/>
            </a:pPr>
            <a:r>
              <a:rPr lang="en-US" sz="1200" b="1" dirty="0">
                <a:solidFill>
                  <a:srgbClr val="1F2937"/>
                </a:solidFill>
                <a:latin typeface="Calibri" pitchFamily="34" charset="0"/>
                <a:ea typeface="Calibri" pitchFamily="34" charset="-122"/>
                <a:cs typeface="Calibri" pitchFamily="34" charset="-120"/>
              </a:rPr>
              <a:t>I</a:t>
            </a:r>
            <a:pPr algn="ctr" indent="0" marL="0">
              <a:buNone/>
            </a:pPr>
            <a:r>
              <a:rPr lang="en-US" sz="1200" dirty="0">
                <a:solidFill>
                  <a:srgbClr val="1F2937"/>
                </a:solidFill>
                <a:latin typeface="Calibri" pitchFamily="34" charset="0"/>
                <a:ea typeface="Calibri" pitchFamily="34" charset="-122"/>
                <a:cs typeface="Calibri" pitchFamily="34" charset="-120"/>
              </a:rPr>
              <a:t>voire</a:t>
            </a:r>
            <a:endParaRPr lang="en-US" sz="1200" dirty="0"/>
          </a:p>
        </p:txBody>
      </p:sp>
      <p:sp>
        <p:nvSpPr>
          <p:cNvPr id="13" name="Text 10"/>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27/10/26   |   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000" dirty="0">
                <a:solidFill>
                  <a:srgbClr val="FFFFFF"/>
                </a:solidFill>
                <a:latin typeface="Arial Narrow" pitchFamily="34" charset="0"/>
                <a:ea typeface="Arial Narrow" pitchFamily="34" charset="-122"/>
                <a:cs typeface="Arial Narrow" pitchFamily="34" charset="-120"/>
              </a:rPr>
              <a:t>III</a:t>
            </a:r>
            <a:endParaRPr lang="en-US" sz="20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SÉCURITÉ</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05840"/>
            <a:ext cx="10972800" cy="292608"/>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moyenne (incident vérifié le plus récent : 120 jours ; 2 signaux du jour)</a:t>
            </a:r>
            <a:endParaRPr lang="en-US" sz="1100" dirty="0"/>
          </a:p>
        </p:txBody>
      </p:sp>
      <p:sp>
        <p:nvSpPr>
          <p:cNvPr id="10" name="Text 8"/>
          <p:cNvSpPr/>
          <p:nvPr/>
        </p:nvSpPr>
        <p:spPr>
          <a:xfrm>
            <a:off x="640080" y="1325880"/>
            <a:ext cx="10972800" cy="452628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CHARNIER DE YOPOUGON : 26 ANS APRÈS, AMADOU COULIBALY OPPOSE LES VIOLENCES DU PASSÉ À L’ÈRE OUATTARA</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18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PRIX NATIONAL D'EXCELLENCE 2026 - RAPHAËL DIAMALA KOUASSI HISSE M'BAHIAKRO SUR LE PODIUM DES MEILLEURS MAIRES DU PAYS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AllAfrica (CI)</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16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INTERPOL RENFORCE LES CAPACITÉS DES ENQUÊTEURS IVOIRIENS POUR TRAQUER LES AVOIRS DES CRIMINELS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13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QUERELLES DE SUCCESSION OU PROFANATION D'UN HÉRITAGE ?</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AllAfrica (CI)</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13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CÔTE D'IVOIRE : SÉCURITÉ ALIMENTAIRE ET SÉCURISATION FONCIÈRE, LE GOUVERNEMENT SOUTIENT LES FEMMES PRODUCTRICES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Alwihda Info (Tchad)</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9 h UTC</a:t>
            </a:r>
            <a:endParaRPr lang="en-US" sz="1300" dirty="0"/>
          </a:p>
        </p:txBody>
      </p:sp>
      <p:pic>
        <p:nvPicPr>
          <p:cNvPr id="11" name="Image 0" descr="/home/runner/work/SentiqS/SentiqS/scripts/assets/grsci/logo-grsci.png">    </p:cNvPr>
          <p:cNvPicPr>
            <a:picLocks noChangeAspect="1"/>
          </p:cNvPicPr>
          <p:nvPr/>
        </p:nvPicPr>
        <p:blipFill>
          <a:blip r:embed="rId6"/>
          <a:stretch>
            <a:fillRect/>
          </a:stretch>
        </p:blipFill>
        <p:spPr>
          <a:xfrm>
            <a:off x="411480" y="5989320"/>
            <a:ext cx="548640" cy="630936"/>
          </a:xfrm>
          <a:prstGeom prst="rect">
            <a:avLst/>
          </a:prstGeom>
        </p:spPr>
      </p:pic>
      <p:sp>
        <p:nvSpPr>
          <p:cNvPr id="12" name="Text 9"/>
          <p:cNvSpPr/>
          <p:nvPr/>
        </p:nvSpPr>
        <p:spPr>
          <a:xfrm>
            <a:off x="3108960" y="6217920"/>
            <a:ext cx="4206240" cy="329184"/>
          </a:xfrm>
          <a:prstGeom prst="rect">
            <a:avLst/>
          </a:prstGeom>
          <a:noFill/>
          <a:ln w="9525">
            <a:solidFill>
              <a:srgbClr val="1F6B5E"/>
            </a:solidFill>
          </a:ln>
        </p:spPr>
        <p:txBody>
          <a:bodyPr wrap="square"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G</a:t>
            </a:r>
            <a:pPr algn="ctr" indent="0" marL="0">
              <a:buNone/>
            </a:pPr>
            <a:r>
              <a:rPr lang="en-US" sz="1200" dirty="0">
                <a:solidFill>
                  <a:srgbClr val="1F2937"/>
                </a:solidFill>
                <a:latin typeface="Calibri" pitchFamily="34" charset="0"/>
                <a:ea typeface="Calibri" pitchFamily="34" charset="-122"/>
                <a:cs typeface="Calibri" pitchFamily="34" charset="-120"/>
              </a:rPr>
              <a:t>roupe des </a:t>
            </a:r>
            <a:pPr algn="ctr" indent="0" marL="0">
              <a:buNone/>
            </a:pPr>
            <a:r>
              <a:rPr lang="en-US" sz="1200" b="1" dirty="0">
                <a:solidFill>
                  <a:srgbClr val="1F2937"/>
                </a:solidFill>
                <a:latin typeface="Calibri" pitchFamily="34" charset="0"/>
                <a:ea typeface="Calibri" pitchFamily="34" charset="-122"/>
                <a:cs typeface="Calibri" pitchFamily="34" charset="-120"/>
              </a:rPr>
              <a:t>R</a:t>
            </a:r>
            <a:pPr algn="ctr" indent="0" marL="0">
              <a:buNone/>
            </a:pPr>
            <a:r>
              <a:rPr lang="en-US" sz="1200" dirty="0">
                <a:solidFill>
                  <a:srgbClr val="1F2937"/>
                </a:solidFill>
                <a:latin typeface="Calibri" pitchFamily="34" charset="0"/>
                <a:ea typeface="Calibri" pitchFamily="34" charset="-122"/>
                <a:cs typeface="Calibri" pitchFamily="34" charset="-120"/>
              </a:rPr>
              <a:t>esponsables </a:t>
            </a:r>
            <a:pPr algn="ctr" indent="0" marL="0">
              <a:buNone/>
            </a:pPr>
            <a:r>
              <a:rPr lang="en-US" sz="1200" b="1" dirty="0">
                <a:solidFill>
                  <a:srgbClr val="1F2937"/>
                </a:solidFill>
                <a:latin typeface="Calibri" pitchFamily="34" charset="0"/>
                <a:ea typeface="Calibri" pitchFamily="34" charset="-122"/>
                <a:cs typeface="Calibri" pitchFamily="34" charset="-120"/>
              </a:rPr>
              <a:t>S</a:t>
            </a:r>
            <a:pPr algn="ctr" indent="0" marL="0">
              <a:buNone/>
            </a:pPr>
            <a:r>
              <a:rPr lang="en-US" sz="1200" dirty="0">
                <a:solidFill>
                  <a:srgbClr val="1F2937"/>
                </a:solidFill>
                <a:latin typeface="Calibri" pitchFamily="34" charset="0"/>
                <a:ea typeface="Calibri" pitchFamily="34" charset="-122"/>
                <a:cs typeface="Calibri" pitchFamily="34" charset="-120"/>
              </a:rPr>
              <a:t>ûreté de </a:t>
            </a:r>
            <a:pPr algn="ctr" indent="0" marL="0">
              <a:buNone/>
            </a:pPr>
            <a:r>
              <a:rPr lang="en-US" sz="1200" b="1" dirty="0">
                <a:solidFill>
                  <a:srgbClr val="1F2937"/>
                </a:solidFill>
                <a:latin typeface="Calibri" pitchFamily="34" charset="0"/>
                <a:ea typeface="Calibri" pitchFamily="34" charset="-122"/>
                <a:cs typeface="Calibri" pitchFamily="34" charset="-120"/>
              </a:rPr>
              <a:t>C</a:t>
            </a:r>
            <a:pPr algn="ctr" indent="0" marL="0">
              <a:buNone/>
            </a:pPr>
            <a:r>
              <a:rPr lang="en-US" sz="1200" dirty="0">
                <a:solidFill>
                  <a:srgbClr val="1F2937"/>
                </a:solidFill>
                <a:latin typeface="Calibri" pitchFamily="34" charset="0"/>
                <a:ea typeface="Calibri" pitchFamily="34" charset="-122"/>
                <a:cs typeface="Calibri" pitchFamily="34" charset="-120"/>
              </a:rPr>
              <a:t>ôte d'</a:t>
            </a:r>
            <a:pPr algn="ctr" indent="0" marL="0">
              <a:buNone/>
            </a:pPr>
            <a:r>
              <a:rPr lang="en-US" sz="1200" b="1" dirty="0">
                <a:solidFill>
                  <a:srgbClr val="1F2937"/>
                </a:solidFill>
                <a:latin typeface="Calibri" pitchFamily="34" charset="0"/>
                <a:ea typeface="Calibri" pitchFamily="34" charset="-122"/>
                <a:cs typeface="Calibri" pitchFamily="34" charset="-120"/>
              </a:rPr>
              <a:t>I</a:t>
            </a:r>
            <a:pPr algn="ctr" indent="0" marL="0">
              <a:buNone/>
            </a:pPr>
            <a:r>
              <a:rPr lang="en-US" sz="1200" dirty="0">
                <a:solidFill>
                  <a:srgbClr val="1F2937"/>
                </a:solidFill>
                <a:latin typeface="Calibri" pitchFamily="34" charset="0"/>
                <a:ea typeface="Calibri" pitchFamily="34" charset="-122"/>
                <a:cs typeface="Calibri" pitchFamily="34" charset="-120"/>
              </a:rPr>
              <a:t>voire</a:t>
            </a:r>
            <a:endParaRPr lang="en-US" sz="1200" dirty="0"/>
          </a:p>
        </p:txBody>
      </p:sp>
      <p:sp>
        <p:nvSpPr>
          <p:cNvPr id="13" name="Text 10"/>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27/10/26   |   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000" dirty="0">
                <a:solidFill>
                  <a:srgbClr val="FFFFFF"/>
                </a:solidFill>
                <a:latin typeface="Arial Narrow" pitchFamily="34" charset="0"/>
                <a:ea typeface="Arial Narrow" pitchFamily="34" charset="-122"/>
                <a:cs typeface="Arial Narrow" pitchFamily="34" charset="-120"/>
              </a:rPr>
              <a:t>III</a:t>
            </a:r>
            <a:endParaRPr lang="en-US" sz="20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SÉCURITÉ</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PRIKRO : LA RELANCE DE LA CAFÉICULTURE ET LA PROMOTION DU MAÏS ENGAGÉES DANS L’IFFOU</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25 octobre 2026, 21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LE FRÈRE DE TIDJANE THIAM INCULPÉ POUR 17 CHEFS D’ACCUSATION, DONT L’ASSASSINAT ET DES ACTES TERRORISTES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24 octobre 2026, 18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LUTTE CONTRE LES AVC - « VITE », UNE APPLICATION POUR SAUVER DES VIES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AllAfrica (CI)</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24 octobre 2026, 18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CÔTE D’IVOIRE : LA FONDATION KONRAD-ADENAUER RENFORCE SES ACTIONS EN FAVEUR DE LA DÉMOCRATIE ET DE LA SÉCURITÉ</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24 octobre 2026, 9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L'AUDIENCE SUR L'ÉLECTION DE TIDJANE THIAM À LA TÊTE DU PDCI RENVOYÉE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AllAfrica (CI)</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12 h UTC</a:t>
            </a:r>
            <a:endParaRPr lang="en-US" sz="1300" dirty="0"/>
          </a:p>
        </p:txBody>
      </p:sp>
      <p:pic>
        <p:nvPicPr>
          <p:cNvPr id="10" name="Image 0" descr="/home/runner/work/SentiqS/SentiqS/scripts/assets/grsci/logo-grsci.png">    </p:cNvPr>
          <p:cNvPicPr>
            <a:picLocks noChangeAspect="1"/>
          </p:cNvPicPr>
          <p:nvPr/>
        </p:nvPicPr>
        <p:blipFill>
          <a:blip r:embed="rId6"/>
          <a:stretch>
            <a:fillRect/>
          </a:stretch>
        </p:blipFill>
        <p:spPr>
          <a:xfrm>
            <a:off x="411480" y="5989320"/>
            <a:ext cx="548640" cy="630936"/>
          </a:xfrm>
          <a:prstGeom prst="rect">
            <a:avLst/>
          </a:prstGeom>
        </p:spPr>
      </p:pic>
      <p:sp>
        <p:nvSpPr>
          <p:cNvPr id="11" name="Text 8"/>
          <p:cNvSpPr/>
          <p:nvPr/>
        </p:nvSpPr>
        <p:spPr>
          <a:xfrm>
            <a:off x="3108960" y="6217920"/>
            <a:ext cx="4206240" cy="329184"/>
          </a:xfrm>
          <a:prstGeom prst="rect">
            <a:avLst/>
          </a:prstGeom>
          <a:noFill/>
          <a:ln w="9525">
            <a:solidFill>
              <a:srgbClr val="1F6B5E"/>
            </a:solidFill>
          </a:ln>
        </p:spPr>
        <p:txBody>
          <a:bodyPr wrap="square"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G</a:t>
            </a:r>
            <a:pPr algn="ctr" indent="0" marL="0">
              <a:buNone/>
            </a:pPr>
            <a:r>
              <a:rPr lang="en-US" sz="1200" dirty="0">
                <a:solidFill>
                  <a:srgbClr val="1F2937"/>
                </a:solidFill>
                <a:latin typeface="Calibri" pitchFamily="34" charset="0"/>
                <a:ea typeface="Calibri" pitchFamily="34" charset="-122"/>
                <a:cs typeface="Calibri" pitchFamily="34" charset="-120"/>
              </a:rPr>
              <a:t>roupe des </a:t>
            </a:r>
            <a:pPr algn="ctr" indent="0" marL="0">
              <a:buNone/>
            </a:pPr>
            <a:r>
              <a:rPr lang="en-US" sz="1200" b="1" dirty="0">
                <a:solidFill>
                  <a:srgbClr val="1F2937"/>
                </a:solidFill>
                <a:latin typeface="Calibri" pitchFamily="34" charset="0"/>
                <a:ea typeface="Calibri" pitchFamily="34" charset="-122"/>
                <a:cs typeface="Calibri" pitchFamily="34" charset="-120"/>
              </a:rPr>
              <a:t>R</a:t>
            </a:r>
            <a:pPr algn="ctr" indent="0" marL="0">
              <a:buNone/>
            </a:pPr>
            <a:r>
              <a:rPr lang="en-US" sz="1200" dirty="0">
                <a:solidFill>
                  <a:srgbClr val="1F2937"/>
                </a:solidFill>
                <a:latin typeface="Calibri" pitchFamily="34" charset="0"/>
                <a:ea typeface="Calibri" pitchFamily="34" charset="-122"/>
                <a:cs typeface="Calibri" pitchFamily="34" charset="-120"/>
              </a:rPr>
              <a:t>esponsables </a:t>
            </a:r>
            <a:pPr algn="ctr" indent="0" marL="0">
              <a:buNone/>
            </a:pPr>
            <a:r>
              <a:rPr lang="en-US" sz="1200" b="1" dirty="0">
                <a:solidFill>
                  <a:srgbClr val="1F2937"/>
                </a:solidFill>
                <a:latin typeface="Calibri" pitchFamily="34" charset="0"/>
                <a:ea typeface="Calibri" pitchFamily="34" charset="-122"/>
                <a:cs typeface="Calibri" pitchFamily="34" charset="-120"/>
              </a:rPr>
              <a:t>S</a:t>
            </a:r>
            <a:pPr algn="ctr" indent="0" marL="0">
              <a:buNone/>
            </a:pPr>
            <a:r>
              <a:rPr lang="en-US" sz="1200" dirty="0">
                <a:solidFill>
                  <a:srgbClr val="1F2937"/>
                </a:solidFill>
                <a:latin typeface="Calibri" pitchFamily="34" charset="0"/>
                <a:ea typeface="Calibri" pitchFamily="34" charset="-122"/>
                <a:cs typeface="Calibri" pitchFamily="34" charset="-120"/>
              </a:rPr>
              <a:t>ûreté de </a:t>
            </a:r>
            <a:pPr algn="ctr" indent="0" marL="0">
              <a:buNone/>
            </a:pPr>
            <a:r>
              <a:rPr lang="en-US" sz="1200" b="1" dirty="0">
                <a:solidFill>
                  <a:srgbClr val="1F2937"/>
                </a:solidFill>
                <a:latin typeface="Calibri" pitchFamily="34" charset="0"/>
                <a:ea typeface="Calibri" pitchFamily="34" charset="-122"/>
                <a:cs typeface="Calibri" pitchFamily="34" charset="-120"/>
              </a:rPr>
              <a:t>C</a:t>
            </a:r>
            <a:pPr algn="ctr" indent="0" marL="0">
              <a:buNone/>
            </a:pPr>
            <a:r>
              <a:rPr lang="en-US" sz="1200" dirty="0">
                <a:solidFill>
                  <a:srgbClr val="1F2937"/>
                </a:solidFill>
                <a:latin typeface="Calibri" pitchFamily="34" charset="0"/>
                <a:ea typeface="Calibri" pitchFamily="34" charset="-122"/>
                <a:cs typeface="Calibri" pitchFamily="34" charset="-120"/>
              </a:rPr>
              <a:t>ôte d'</a:t>
            </a:r>
            <a:pPr algn="ctr" indent="0" marL="0">
              <a:buNone/>
            </a:pPr>
            <a:r>
              <a:rPr lang="en-US" sz="1200" b="1" dirty="0">
                <a:solidFill>
                  <a:srgbClr val="1F2937"/>
                </a:solidFill>
                <a:latin typeface="Calibri" pitchFamily="34" charset="0"/>
                <a:ea typeface="Calibri" pitchFamily="34" charset="-122"/>
                <a:cs typeface="Calibri" pitchFamily="34" charset="-120"/>
              </a:rPr>
              <a:t>I</a:t>
            </a:r>
            <a:pPr algn="ctr" indent="0" marL="0">
              <a:buNone/>
            </a:pPr>
            <a:r>
              <a:rPr lang="en-US" sz="1200" dirty="0">
                <a:solidFill>
                  <a:srgbClr val="1F2937"/>
                </a:solidFill>
                <a:latin typeface="Calibri" pitchFamily="34" charset="0"/>
                <a:ea typeface="Calibri" pitchFamily="34" charset="-122"/>
                <a:cs typeface="Calibri" pitchFamily="34" charset="-120"/>
              </a:rPr>
              <a:t>voire</a:t>
            </a:r>
            <a:endParaRPr lang="en-US" sz="1200" dirty="0"/>
          </a:p>
        </p:txBody>
      </p:sp>
      <p:sp>
        <p:nvSpPr>
          <p:cNvPr id="12"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27/10/26   |   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IV</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DIVERS</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moyenne (incident vérifié le plus récent : 120 jours ; 2 signaux du jour)</a:t>
            </a:r>
            <a:endParaRPr lang="en-US" sz="1100" dirty="0"/>
          </a:p>
        </p:txBody>
      </p:sp>
      <p:sp>
        <p:nvSpPr>
          <p:cNvPr id="10" name="Text 8"/>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Avant la grande marche du 24 coctobre ; Emmanuel Macron face un attentat</a:t>
            </a:r>
            <a:endParaRPr lang="en-US" sz="2200" dirty="0"/>
          </a:p>
        </p:txBody>
      </p:sp>
      <p:sp>
        <p:nvSpPr>
          <p:cNvPr id="11" name="Text 9"/>
          <p:cNvSpPr/>
          <p:nvPr/>
        </p:nvSpPr>
        <p:spPr>
          <a:xfrm>
            <a:off x="640080" y="2029968"/>
            <a:ext cx="1097280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vendredi 23 octobre 2026. Lieu : Côte d'Ivoire. Actualité économique. Une seule source à ce stade (Linfodrome)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i="1" dirty="0">
                <a:solidFill>
                  <a:srgbClr val="6B7280"/>
                </a:solidFill>
                <a:latin typeface="Calibri" pitchFamily="34" charset="0"/>
                <a:ea typeface="Calibri" pitchFamily="34" charset="-122"/>
                <a:cs typeface="Calibri" pitchFamily="34" charset="-120"/>
              </a:rPr>
              <a:t>Les médias n'en publient que le titre dans leur flux : le détail est à lire dans l'article (lien ci-dessous).</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Perturbations possibles de l'activité et de la circulation : éviter les rassemblements, prévoir des horaires décalés ou le travail à distance, informer les personnels.</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300"/>
              </a:spcAft>
              <a:buNone/>
            </a:pPr>
            <a:r>
              <a:rPr lang="en-US" sz="1400" dirty="0">
                <a:solidFill>
                  <a:srgbClr val="1F2937"/>
                </a:solidFill>
                <a:latin typeface="Calibri" pitchFamily="34" charset="0"/>
                <a:ea typeface="Calibri" pitchFamily="34" charset="-122"/>
                <a:cs typeface="Calibri" pitchFamily="34" charset="-120"/>
              </a:rPr>
              <a:t> — 23 octobre 2026, 22 h UTC</a:t>
            </a:r>
            <a:endParaRPr lang="en-US" sz="1400" dirty="0"/>
          </a:p>
        </p:txBody>
      </p:sp>
      <p:pic>
        <p:nvPicPr>
          <p:cNvPr id="12" name="Image 0" descr="/home/runner/work/SentiqS/SentiqS/scripts/assets/grsci/logo-grsci.png">    </p:cNvPr>
          <p:cNvPicPr>
            <a:picLocks noChangeAspect="1"/>
          </p:cNvPicPr>
          <p:nvPr/>
        </p:nvPicPr>
        <p:blipFill>
          <a:blip r:embed="rId2"/>
          <a:stretch>
            <a:fillRect/>
          </a:stretch>
        </p:blipFill>
        <p:spPr>
          <a:xfrm>
            <a:off x="411480" y="5989320"/>
            <a:ext cx="548640" cy="630936"/>
          </a:xfrm>
          <a:prstGeom prst="rect">
            <a:avLst/>
          </a:prstGeom>
        </p:spPr>
      </p:pic>
      <p:sp>
        <p:nvSpPr>
          <p:cNvPr id="13" name="Text 10"/>
          <p:cNvSpPr/>
          <p:nvPr/>
        </p:nvSpPr>
        <p:spPr>
          <a:xfrm>
            <a:off x="3108960" y="6217920"/>
            <a:ext cx="4206240" cy="329184"/>
          </a:xfrm>
          <a:prstGeom prst="rect">
            <a:avLst/>
          </a:prstGeom>
          <a:noFill/>
          <a:ln w="9525">
            <a:solidFill>
              <a:srgbClr val="1F6B5E"/>
            </a:solidFill>
          </a:ln>
        </p:spPr>
        <p:txBody>
          <a:bodyPr wrap="square"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G</a:t>
            </a:r>
            <a:pPr algn="ctr" indent="0" marL="0">
              <a:buNone/>
            </a:pPr>
            <a:r>
              <a:rPr lang="en-US" sz="1200" dirty="0">
                <a:solidFill>
                  <a:srgbClr val="1F2937"/>
                </a:solidFill>
                <a:latin typeface="Calibri" pitchFamily="34" charset="0"/>
                <a:ea typeface="Calibri" pitchFamily="34" charset="-122"/>
                <a:cs typeface="Calibri" pitchFamily="34" charset="-120"/>
              </a:rPr>
              <a:t>roupe des </a:t>
            </a:r>
            <a:pPr algn="ctr" indent="0" marL="0">
              <a:buNone/>
            </a:pPr>
            <a:r>
              <a:rPr lang="en-US" sz="1200" b="1" dirty="0">
                <a:solidFill>
                  <a:srgbClr val="1F2937"/>
                </a:solidFill>
                <a:latin typeface="Calibri" pitchFamily="34" charset="0"/>
                <a:ea typeface="Calibri" pitchFamily="34" charset="-122"/>
                <a:cs typeface="Calibri" pitchFamily="34" charset="-120"/>
              </a:rPr>
              <a:t>R</a:t>
            </a:r>
            <a:pPr algn="ctr" indent="0" marL="0">
              <a:buNone/>
            </a:pPr>
            <a:r>
              <a:rPr lang="en-US" sz="1200" dirty="0">
                <a:solidFill>
                  <a:srgbClr val="1F2937"/>
                </a:solidFill>
                <a:latin typeface="Calibri" pitchFamily="34" charset="0"/>
                <a:ea typeface="Calibri" pitchFamily="34" charset="-122"/>
                <a:cs typeface="Calibri" pitchFamily="34" charset="-120"/>
              </a:rPr>
              <a:t>esponsables </a:t>
            </a:r>
            <a:pPr algn="ctr" indent="0" marL="0">
              <a:buNone/>
            </a:pPr>
            <a:r>
              <a:rPr lang="en-US" sz="1200" b="1" dirty="0">
                <a:solidFill>
                  <a:srgbClr val="1F2937"/>
                </a:solidFill>
                <a:latin typeface="Calibri" pitchFamily="34" charset="0"/>
                <a:ea typeface="Calibri" pitchFamily="34" charset="-122"/>
                <a:cs typeface="Calibri" pitchFamily="34" charset="-120"/>
              </a:rPr>
              <a:t>S</a:t>
            </a:r>
            <a:pPr algn="ctr" indent="0" marL="0">
              <a:buNone/>
            </a:pPr>
            <a:r>
              <a:rPr lang="en-US" sz="1200" dirty="0">
                <a:solidFill>
                  <a:srgbClr val="1F2937"/>
                </a:solidFill>
                <a:latin typeface="Calibri" pitchFamily="34" charset="0"/>
                <a:ea typeface="Calibri" pitchFamily="34" charset="-122"/>
                <a:cs typeface="Calibri" pitchFamily="34" charset="-120"/>
              </a:rPr>
              <a:t>ûreté de </a:t>
            </a:r>
            <a:pPr algn="ctr" indent="0" marL="0">
              <a:buNone/>
            </a:pPr>
            <a:r>
              <a:rPr lang="en-US" sz="1200" b="1" dirty="0">
                <a:solidFill>
                  <a:srgbClr val="1F2937"/>
                </a:solidFill>
                <a:latin typeface="Calibri" pitchFamily="34" charset="0"/>
                <a:ea typeface="Calibri" pitchFamily="34" charset="-122"/>
                <a:cs typeface="Calibri" pitchFamily="34" charset="-120"/>
              </a:rPr>
              <a:t>C</a:t>
            </a:r>
            <a:pPr algn="ctr" indent="0" marL="0">
              <a:buNone/>
            </a:pPr>
            <a:r>
              <a:rPr lang="en-US" sz="1200" dirty="0">
                <a:solidFill>
                  <a:srgbClr val="1F2937"/>
                </a:solidFill>
                <a:latin typeface="Calibri" pitchFamily="34" charset="0"/>
                <a:ea typeface="Calibri" pitchFamily="34" charset="-122"/>
                <a:cs typeface="Calibri" pitchFamily="34" charset="-120"/>
              </a:rPr>
              <a:t>ôte d'</a:t>
            </a:r>
            <a:pPr algn="ctr" indent="0" marL="0">
              <a:buNone/>
            </a:pPr>
            <a:r>
              <a:rPr lang="en-US" sz="1200" b="1" dirty="0">
                <a:solidFill>
                  <a:srgbClr val="1F2937"/>
                </a:solidFill>
                <a:latin typeface="Calibri" pitchFamily="34" charset="0"/>
                <a:ea typeface="Calibri" pitchFamily="34" charset="-122"/>
                <a:cs typeface="Calibri" pitchFamily="34" charset="-120"/>
              </a:rPr>
              <a:t>I</a:t>
            </a:r>
            <a:pPr algn="ctr" indent="0" marL="0">
              <a:buNone/>
            </a:pPr>
            <a:r>
              <a:rPr lang="en-US" sz="1200" dirty="0">
                <a:solidFill>
                  <a:srgbClr val="1F2937"/>
                </a:solidFill>
                <a:latin typeface="Calibri" pitchFamily="34" charset="0"/>
                <a:ea typeface="Calibri" pitchFamily="34" charset="-122"/>
                <a:cs typeface="Calibri" pitchFamily="34" charset="-120"/>
              </a:rPr>
              <a:t>voire</a:t>
            </a:r>
            <a:endParaRPr lang="en-US" sz="1200" dirty="0"/>
          </a:p>
        </p:txBody>
      </p:sp>
      <p:sp>
        <p:nvSpPr>
          <p:cNvPr id="14" name="Text 11"/>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27/10/26   |   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IV</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DIVERS</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PRIX DU POISSON EN CÔTE D'IVOIRE - L'INTERPROFESSION PÊCHE SALUE LES MESURES GOUVERNEMENTALES ET PROMET DE NOUVELLES BAISSES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AllAfrica (CI)</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25 octobre 2026, 4 h UTC</a:t>
            </a:r>
            <a:endParaRPr lang="en-US" sz="1300" dirty="0"/>
          </a:p>
        </p:txBody>
      </p:sp>
      <p:pic>
        <p:nvPicPr>
          <p:cNvPr id="10" name="Image 0" descr="/home/runner/work/SentiqS/SentiqS/scripts/assets/grsci/logo-grsci.png">    </p:cNvPr>
          <p:cNvPicPr>
            <a:picLocks noChangeAspect="1"/>
          </p:cNvPicPr>
          <p:nvPr/>
        </p:nvPicPr>
        <p:blipFill>
          <a:blip r:embed="rId2"/>
          <a:stretch>
            <a:fillRect/>
          </a:stretch>
        </p:blipFill>
        <p:spPr>
          <a:xfrm>
            <a:off x="411480" y="5989320"/>
            <a:ext cx="548640" cy="630936"/>
          </a:xfrm>
          <a:prstGeom prst="rect">
            <a:avLst/>
          </a:prstGeom>
        </p:spPr>
      </p:pic>
      <p:sp>
        <p:nvSpPr>
          <p:cNvPr id="11" name="Text 8"/>
          <p:cNvSpPr/>
          <p:nvPr/>
        </p:nvSpPr>
        <p:spPr>
          <a:xfrm>
            <a:off x="3108960" y="6217920"/>
            <a:ext cx="4206240" cy="329184"/>
          </a:xfrm>
          <a:prstGeom prst="rect">
            <a:avLst/>
          </a:prstGeom>
          <a:noFill/>
          <a:ln w="9525">
            <a:solidFill>
              <a:srgbClr val="1F6B5E"/>
            </a:solidFill>
          </a:ln>
        </p:spPr>
        <p:txBody>
          <a:bodyPr wrap="square"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G</a:t>
            </a:r>
            <a:pPr algn="ctr" indent="0" marL="0">
              <a:buNone/>
            </a:pPr>
            <a:r>
              <a:rPr lang="en-US" sz="1200" dirty="0">
                <a:solidFill>
                  <a:srgbClr val="1F2937"/>
                </a:solidFill>
                <a:latin typeface="Calibri" pitchFamily="34" charset="0"/>
                <a:ea typeface="Calibri" pitchFamily="34" charset="-122"/>
                <a:cs typeface="Calibri" pitchFamily="34" charset="-120"/>
              </a:rPr>
              <a:t>roupe des </a:t>
            </a:r>
            <a:pPr algn="ctr" indent="0" marL="0">
              <a:buNone/>
            </a:pPr>
            <a:r>
              <a:rPr lang="en-US" sz="1200" b="1" dirty="0">
                <a:solidFill>
                  <a:srgbClr val="1F2937"/>
                </a:solidFill>
                <a:latin typeface="Calibri" pitchFamily="34" charset="0"/>
                <a:ea typeface="Calibri" pitchFamily="34" charset="-122"/>
                <a:cs typeface="Calibri" pitchFamily="34" charset="-120"/>
              </a:rPr>
              <a:t>R</a:t>
            </a:r>
            <a:pPr algn="ctr" indent="0" marL="0">
              <a:buNone/>
            </a:pPr>
            <a:r>
              <a:rPr lang="en-US" sz="1200" dirty="0">
                <a:solidFill>
                  <a:srgbClr val="1F2937"/>
                </a:solidFill>
                <a:latin typeface="Calibri" pitchFamily="34" charset="0"/>
                <a:ea typeface="Calibri" pitchFamily="34" charset="-122"/>
                <a:cs typeface="Calibri" pitchFamily="34" charset="-120"/>
              </a:rPr>
              <a:t>esponsables </a:t>
            </a:r>
            <a:pPr algn="ctr" indent="0" marL="0">
              <a:buNone/>
            </a:pPr>
            <a:r>
              <a:rPr lang="en-US" sz="1200" b="1" dirty="0">
                <a:solidFill>
                  <a:srgbClr val="1F2937"/>
                </a:solidFill>
                <a:latin typeface="Calibri" pitchFamily="34" charset="0"/>
                <a:ea typeface="Calibri" pitchFamily="34" charset="-122"/>
                <a:cs typeface="Calibri" pitchFamily="34" charset="-120"/>
              </a:rPr>
              <a:t>S</a:t>
            </a:r>
            <a:pPr algn="ctr" indent="0" marL="0">
              <a:buNone/>
            </a:pPr>
            <a:r>
              <a:rPr lang="en-US" sz="1200" dirty="0">
                <a:solidFill>
                  <a:srgbClr val="1F2937"/>
                </a:solidFill>
                <a:latin typeface="Calibri" pitchFamily="34" charset="0"/>
                <a:ea typeface="Calibri" pitchFamily="34" charset="-122"/>
                <a:cs typeface="Calibri" pitchFamily="34" charset="-120"/>
              </a:rPr>
              <a:t>ûreté de </a:t>
            </a:r>
            <a:pPr algn="ctr" indent="0" marL="0">
              <a:buNone/>
            </a:pPr>
            <a:r>
              <a:rPr lang="en-US" sz="1200" b="1" dirty="0">
                <a:solidFill>
                  <a:srgbClr val="1F2937"/>
                </a:solidFill>
                <a:latin typeface="Calibri" pitchFamily="34" charset="0"/>
                <a:ea typeface="Calibri" pitchFamily="34" charset="-122"/>
                <a:cs typeface="Calibri" pitchFamily="34" charset="-120"/>
              </a:rPr>
              <a:t>C</a:t>
            </a:r>
            <a:pPr algn="ctr" indent="0" marL="0">
              <a:buNone/>
            </a:pPr>
            <a:r>
              <a:rPr lang="en-US" sz="1200" dirty="0">
                <a:solidFill>
                  <a:srgbClr val="1F2937"/>
                </a:solidFill>
                <a:latin typeface="Calibri" pitchFamily="34" charset="0"/>
                <a:ea typeface="Calibri" pitchFamily="34" charset="-122"/>
                <a:cs typeface="Calibri" pitchFamily="34" charset="-120"/>
              </a:rPr>
              <a:t>ôte d'</a:t>
            </a:r>
            <a:pPr algn="ctr" indent="0" marL="0">
              <a:buNone/>
            </a:pPr>
            <a:r>
              <a:rPr lang="en-US" sz="1200" b="1" dirty="0">
                <a:solidFill>
                  <a:srgbClr val="1F2937"/>
                </a:solidFill>
                <a:latin typeface="Calibri" pitchFamily="34" charset="0"/>
                <a:ea typeface="Calibri" pitchFamily="34" charset="-122"/>
                <a:cs typeface="Calibri" pitchFamily="34" charset="-120"/>
              </a:rPr>
              <a:t>I</a:t>
            </a:r>
            <a:pPr algn="ctr" indent="0" marL="0">
              <a:buNone/>
            </a:pPr>
            <a:r>
              <a:rPr lang="en-US" sz="1200" dirty="0">
                <a:solidFill>
                  <a:srgbClr val="1F2937"/>
                </a:solidFill>
                <a:latin typeface="Calibri" pitchFamily="34" charset="0"/>
                <a:ea typeface="Calibri" pitchFamily="34" charset="-122"/>
                <a:cs typeface="Calibri" pitchFamily="34" charset="-120"/>
              </a:rPr>
              <a:t>voire</a:t>
            </a:r>
            <a:endParaRPr lang="en-US" sz="1200" dirty="0"/>
          </a:p>
        </p:txBody>
      </p:sp>
      <p:sp>
        <p:nvSpPr>
          <p:cNvPr id="12"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27/10/26   |   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CDCDCD"/>
        </a:solidFill>
      </p:bgPr>
    </p:bg>
    <p:spTree>
      <p:nvGrpSpPr>
        <p:cNvPr id="1" name=""/>
        <p:cNvGrpSpPr/>
        <p:nvPr/>
      </p:nvGrpSpPr>
      <p:grpSpPr>
        <a:xfrm>
          <a:off x="0" y="0"/>
          <a:ext cx="0" cy="0"/>
          <a:chOff x="0" y="0"/>
          <a:chExt cx="0" cy="0"/>
        </a:xfrm>
      </p:grpSpPr>
      <p:pic>
        <p:nvPicPr>
          <p:cNvPr id="2" name="Image 0" descr="/home/runner/work/SentiqS/SentiqS/scripts/assets/grsci/afrique.png">    </p:cNvPr>
          <p:cNvPicPr>
            <a:picLocks noChangeAspect="1"/>
          </p:cNvPicPr>
          <p:nvPr/>
        </p:nvPicPr>
        <p:blipFill>
          <a:blip r:embed="rId1"/>
          <a:stretch>
            <a:fillRect/>
          </a:stretch>
        </p:blipFill>
        <p:spPr>
          <a:xfrm>
            <a:off x="4754880" y="640080"/>
            <a:ext cx="2926080" cy="2926080"/>
          </a:xfrm>
          <a:prstGeom prst="rect">
            <a:avLst/>
          </a:prstGeom>
        </p:spPr>
      </p:pic>
      <p:sp>
        <p:nvSpPr>
          <p:cNvPr id="3" name="Text 0"/>
          <p:cNvSpPr/>
          <p:nvPr/>
        </p:nvSpPr>
        <p:spPr>
          <a:xfrm>
            <a:off x="457200" y="4023360"/>
            <a:ext cx="11247120" cy="822960"/>
          </a:xfrm>
          <a:prstGeom prst="rect">
            <a:avLst/>
          </a:prstGeom>
          <a:noFill/>
          <a:ln/>
        </p:spPr>
        <p:txBody>
          <a:bodyPr wrap="square" rtlCol="0" anchor="ctr"/>
          <a:lstStyle/>
          <a:p>
            <a:pPr algn="ctr" indent="0" marL="0">
              <a:buNone/>
            </a:pPr>
            <a:r>
              <a:rPr lang="en-US" sz="4400" dirty="0">
                <a:solidFill>
                  <a:srgbClr val="111111"/>
                </a:solidFill>
                <a:latin typeface="Arial Narrow" pitchFamily="34" charset="0"/>
                <a:ea typeface="Arial Narrow" pitchFamily="34" charset="-122"/>
                <a:cs typeface="Arial Narrow" pitchFamily="34" charset="-120"/>
              </a:rPr>
              <a:t>DYNAMIQUES RÉGIONALES</a:t>
            </a:r>
            <a:endParaRPr lang="en-US" sz="4400" dirty="0"/>
          </a:p>
        </p:txBody>
      </p:sp>
      <p:sp>
        <p:nvSpPr>
          <p:cNvPr id="4" name="Shape 1"/>
          <p:cNvSpPr/>
          <p:nvPr/>
        </p:nvSpPr>
        <p:spPr>
          <a:xfrm>
            <a:off x="4206240" y="4846320"/>
            <a:ext cx="3749040" cy="0"/>
          </a:xfrm>
          <a:prstGeom prst="line">
            <a:avLst/>
          </a:prstGeom>
          <a:noFill/>
          <a:ln w="50800">
            <a:solidFill>
              <a:srgbClr val="000000"/>
            </a:solidFill>
            <a:prstDash val="solid"/>
          </a:ln>
        </p:spPr>
      </p:sp>
      <p:pic>
        <p:nvPicPr>
          <p:cNvPr id="5" name="Image 1" descr="/home/runner/work/SentiqS/SentiqS/scripts/assets/grsci/logo-grsci.png">    </p:cNvPr>
          <p:cNvPicPr>
            <a:picLocks noChangeAspect="1"/>
          </p:cNvPicPr>
          <p:nvPr/>
        </p:nvPicPr>
        <p:blipFill>
          <a:blip r:embed="rId2"/>
          <a:stretch>
            <a:fillRect/>
          </a:stretch>
        </p:blipFill>
        <p:spPr>
          <a:xfrm>
            <a:off x="411480" y="5989320"/>
            <a:ext cx="548640" cy="630936"/>
          </a:xfrm>
          <a:prstGeom prst="rect">
            <a:avLst/>
          </a:prstGeom>
        </p:spPr>
      </p:pic>
      <p:sp>
        <p:nvSpPr>
          <p:cNvPr id="6" name="Text 2"/>
          <p:cNvSpPr/>
          <p:nvPr/>
        </p:nvSpPr>
        <p:spPr>
          <a:xfrm>
            <a:off x="3108960" y="6217920"/>
            <a:ext cx="4206240" cy="329184"/>
          </a:xfrm>
          <a:prstGeom prst="rect">
            <a:avLst/>
          </a:prstGeom>
          <a:noFill/>
          <a:ln w="9525">
            <a:solidFill>
              <a:srgbClr val="1F6B5E"/>
            </a:solidFill>
          </a:ln>
        </p:spPr>
        <p:txBody>
          <a:bodyPr wrap="square"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G</a:t>
            </a:r>
            <a:pPr algn="ctr" indent="0" marL="0">
              <a:buNone/>
            </a:pPr>
            <a:r>
              <a:rPr lang="en-US" sz="1200" dirty="0">
                <a:solidFill>
                  <a:srgbClr val="1F2937"/>
                </a:solidFill>
                <a:latin typeface="Calibri" pitchFamily="34" charset="0"/>
                <a:ea typeface="Calibri" pitchFamily="34" charset="-122"/>
                <a:cs typeface="Calibri" pitchFamily="34" charset="-120"/>
              </a:rPr>
              <a:t>roupe des </a:t>
            </a:r>
            <a:pPr algn="ctr" indent="0" marL="0">
              <a:buNone/>
            </a:pPr>
            <a:r>
              <a:rPr lang="en-US" sz="1200" b="1" dirty="0">
                <a:solidFill>
                  <a:srgbClr val="1F2937"/>
                </a:solidFill>
                <a:latin typeface="Calibri" pitchFamily="34" charset="0"/>
                <a:ea typeface="Calibri" pitchFamily="34" charset="-122"/>
                <a:cs typeface="Calibri" pitchFamily="34" charset="-120"/>
              </a:rPr>
              <a:t>R</a:t>
            </a:r>
            <a:pPr algn="ctr" indent="0" marL="0">
              <a:buNone/>
            </a:pPr>
            <a:r>
              <a:rPr lang="en-US" sz="1200" dirty="0">
                <a:solidFill>
                  <a:srgbClr val="1F2937"/>
                </a:solidFill>
                <a:latin typeface="Calibri" pitchFamily="34" charset="0"/>
                <a:ea typeface="Calibri" pitchFamily="34" charset="-122"/>
                <a:cs typeface="Calibri" pitchFamily="34" charset="-120"/>
              </a:rPr>
              <a:t>esponsables </a:t>
            </a:r>
            <a:pPr algn="ctr" indent="0" marL="0">
              <a:buNone/>
            </a:pPr>
            <a:r>
              <a:rPr lang="en-US" sz="1200" b="1" dirty="0">
                <a:solidFill>
                  <a:srgbClr val="1F2937"/>
                </a:solidFill>
                <a:latin typeface="Calibri" pitchFamily="34" charset="0"/>
                <a:ea typeface="Calibri" pitchFamily="34" charset="-122"/>
                <a:cs typeface="Calibri" pitchFamily="34" charset="-120"/>
              </a:rPr>
              <a:t>S</a:t>
            </a:r>
            <a:pPr algn="ctr" indent="0" marL="0">
              <a:buNone/>
            </a:pPr>
            <a:r>
              <a:rPr lang="en-US" sz="1200" dirty="0">
                <a:solidFill>
                  <a:srgbClr val="1F2937"/>
                </a:solidFill>
                <a:latin typeface="Calibri" pitchFamily="34" charset="0"/>
                <a:ea typeface="Calibri" pitchFamily="34" charset="-122"/>
                <a:cs typeface="Calibri" pitchFamily="34" charset="-120"/>
              </a:rPr>
              <a:t>ûreté de </a:t>
            </a:r>
            <a:pPr algn="ctr" indent="0" marL="0">
              <a:buNone/>
            </a:pPr>
            <a:r>
              <a:rPr lang="en-US" sz="1200" b="1" dirty="0">
                <a:solidFill>
                  <a:srgbClr val="1F2937"/>
                </a:solidFill>
                <a:latin typeface="Calibri" pitchFamily="34" charset="0"/>
                <a:ea typeface="Calibri" pitchFamily="34" charset="-122"/>
                <a:cs typeface="Calibri" pitchFamily="34" charset="-120"/>
              </a:rPr>
              <a:t>C</a:t>
            </a:r>
            <a:pPr algn="ctr" indent="0" marL="0">
              <a:buNone/>
            </a:pPr>
            <a:r>
              <a:rPr lang="en-US" sz="1200" dirty="0">
                <a:solidFill>
                  <a:srgbClr val="1F2937"/>
                </a:solidFill>
                <a:latin typeface="Calibri" pitchFamily="34" charset="0"/>
                <a:ea typeface="Calibri" pitchFamily="34" charset="-122"/>
                <a:cs typeface="Calibri" pitchFamily="34" charset="-120"/>
              </a:rPr>
              <a:t>ôte d'</a:t>
            </a:r>
            <a:pPr algn="ctr" indent="0" marL="0">
              <a:buNone/>
            </a:pPr>
            <a:r>
              <a:rPr lang="en-US" sz="1200" b="1" dirty="0">
                <a:solidFill>
                  <a:srgbClr val="1F2937"/>
                </a:solidFill>
                <a:latin typeface="Calibri" pitchFamily="34" charset="0"/>
                <a:ea typeface="Calibri" pitchFamily="34" charset="-122"/>
                <a:cs typeface="Calibri" pitchFamily="34" charset="-120"/>
              </a:rPr>
              <a:t>I</a:t>
            </a:r>
            <a:pPr algn="ctr" indent="0" marL="0">
              <a:buNone/>
            </a:pPr>
            <a:r>
              <a:rPr lang="en-US" sz="1200" dirty="0">
                <a:solidFill>
                  <a:srgbClr val="1F2937"/>
                </a:solidFill>
                <a:latin typeface="Calibri" pitchFamily="34" charset="0"/>
                <a:ea typeface="Calibri" pitchFamily="34" charset="-122"/>
                <a:cs typeface="Calibri" pitchFamily="34" charset="-120"/>
              </a:rPr>
              <a:t>voire</a:t>
            </a:r>
            <a:endParaRPr lang="en-US" sz="1200" dirty="0"/>
          </a:p>
        </p:txBody>
      </p:sp>
      <p:sp>
        <p:nvSpPr>
          <p:cNvPr id="7" name="Text 3"/>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27/10/26   |   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Burkina Faso : situation Fin octobre</a:t>
            </a:r>
            <a:endParaRPr lang="en-US" sz="2800" dirty="0"/>
          </a:p>
        </p:txBody>
      </p:sp>
      <p:sp>
        <p:nvSpPr>
          <p:cNvPr id="4" name="Shape 2"/>
          <p:cNvSpPr/>
          <p:nvPr/>
        </p:nvSpPr>
        <p:spPr>
          <a:xfrm>
            <a:off x="10881360" y="274320"/>
            <a:ext cx="905256" cy="283464"/>
          </a:xfrm>
          <a:prstGeom prst="rect">
            <a:avLst/>
          </a:prstGeom>
          <a:solidFill>
            <a:srgbClr val="EF2B2D"/>
          </a:solidFill>
          <a:ln w="12700">
            <a:solidFill>
              <a:srgbClr val="EF2B2D"/>
            </a:solidFill>
            <a:prstDash val="solid"/>
          </a:ln>
        </p:spPr>
      </p:sp>
      <p:sp>
        <p:nvSpPr>
          <p:cNvPr id="5" name="Shape 3"/>
          <p:cNvSpPr/>
          <p:nvPr/>
        </p:nvSpPr>
        <p:spPr>
          <a:xfrm>
            <a:off x="10881360" y="557784"/>
            <a:ext cx="905256" cy="283464"/>
          </a:xfrm>
          <a:prstGeom prst="rect">
            <a:avLst/>
          </a:prstGeom>
          <a:solidFill>
            <a:srgbClr val="009E49"/>
          </a:solidFill>
          <a:ln w="12700">
            <a:solidFill>
              <a:srgbClr val="009E49"/>
            </a:solidFill>
            <a:prstDash val="solid"/>
          </a:ln>
        </p:spPr>
      </p:sp>
      <p:sp>
        <p:nvSpPr>
          <p:cNvPr id="6" name="Shape 4"/>
          <p:cNvSpPr/>
          <p:nvPr/>
        </p:nvSpPr>
        <p:spPr>
          <a:xfrm>
            <a:off x="10881360" y="274320"/>
            <a:ext cx="905256" cy="566928"/>
          </a:xfrm>
          <a:prstGeom prst="rect">
            <a:avLst/>
          </a:prstGeom>
          <a:ln w="6350">
            <a:solidFill>
              <a:srgbClr val="1F2937"/>
            </a:solidFill>
            <a:prstDash val="solid"/>
          </a:ln>
        </p:spPr>
      </p:sp>
      <p:sp>
        <p:nvSpPr>
          <p:cNvPr id="7" name="Shape 5"/>
          <p:cNvSpPr/>
          <p:nvPr/>
        </p:nvSpPr>
        <p:spPr>
          <a:xfrm>
            <a:off x="457200" y="960120"/>
            <a:ext cx="11292840" cy="0"/>
          </a:xfrm>
          <a:prstGeom prst="line">
            <a:avLst/>
          </a:prstGeom>
          <a:noFill/>
          <a:ln w="6350">
            <a:solidFill>
              <a:srgbClr val="A3A3A3"/>
            </a:solidFill>
            <a:prstDash val="solid"/>
          </a:ln>
        </p:spPr>
      </p:sp>
      <p:sp>
        <p:nvSpPr>
          <p:cNvPr id="8" name="Text 6"/>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faible (incident vérifié le plus récent : 120 jours ; aucun signal du jour)</a:t>
            </a:r>
            <a:endParaRPr lang="en-US" sz="1100" dirty="0"/>
          </a:p>
        </p:txBody>
      </p:sp>
      <p:sp>
        <p:nvSpPr>
          <p:cNvPr id="9" name="Text 7"/>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La peine de mort réintroduite pour certains crimes dans le nouveau Code pénal</a:t>
            </a:r>
            <a:endParaRPr lang="en-US" sz="2200" dirty="0"/>
          </a:p>
        </p:txBody>
      </p:sp>
      <p:sp>
        <p:nvSpPr>
          <p:cNvPr id="10" name="Text 8"/>
          <p:cNvSpPr/>
          <p:nvPr/>
        </p:nvSpPr>
        <p:spPr>
          <a:xfrm>
            <a:off x="640080" y="2029968"/>
            <a:ext cx="681228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vendredi 23 octobre 2026. Lieu : Burkina Faso. Actualité sécuritaire. Une seule source à ce stade (AllAfrica (BF))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AllAfrica (BF) : </a:t>
            </a:r>
            <a:pPr indent="0" marL="0">
              <a:spcAft>
                <a:spcPts val="300"/>
              </a:spcAft>
              <a:buNone/>
            </a:pPr>
            <a:r>
              <a:rPr lang="en-US" sz="1400" i="1" dirty="0">
                <a:solidFill>
                  <a:srgbClr val="1F2937"/>
                </a:solidFill>
                <a:latin typeface="Calibri" pitchFamily="34" charset="0"/>
                <a:ea typeface="Calibri" pitchFamily="34" charset="-122"/>
                <a:cs typeface="Calibri" pitchFamily="34" charset="-120"/>
              </a:rPr>
              <a:t>« [allAfrica] Le Burkina Faso franchit une nouvelle étape dans le durcissement de sa législation pénale. Réunis mardi 20 octobre 2026, les 71 députés de l'Assemblée législative du peuple (ALP) ont adopté à l'unanimité un nouveau Code pénal réintroduisant la peine de mort pour plusieurs crimes, notamment le terrorisme, l'espionnage et la trahison. »</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Évolution du cadre juridique et sécuritaire : à intégrer à l'analyse pays et à la sensibilisation des personnels expatriés et locaux.</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AllAfrica (BF)</a:t>
            </a:r>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 — 23 octobre 2026, 10 h UTC   ·   Cotation : Probable</a:t>
            </a:r>
            <a:endParaRPr lang="en-US" sz="1400" dirty="0"/>
          </a:p>
        </p:txBody>
      </p:sp>
      <p:pic>
        <p:nvPicPr>
          <p:cNvPr id="11" name="Image 0" descr="preencoded.png">
            <a:hlinkClick r:id="rId3" tooltip=""/>
          </p:cNvPr>
          <p:cNvPicPr>
            <a:picLocks noChangeAspect="1"/>
          </p:cNvPicPr>
          <p:nvPr/>
        </p:nvPicPr>
        <p:blipFill>
          <a:blip r:embed="rId2"/>
          <a:stretch>
            <a:fillRect/>
          </a:stretch>
        </p:blipFill>
        <p:spPr>
          <a:xfrm>
            <a:off x="7863840" y="2075688"/>
            <a:ext cx="3657600" cy="3657600"/>
          </a:xfrm>
          <a:prstGeom prst="rect">
            <a:avLst/>
          </a:prstGeom>
        </p:spPr>
      </p:pic>
      <p:sp>
        <p:nvSpPr>
          <p:cNvPr id="12" name="Text 9"/>
          <p:cNvSpPr/>
          <p:nvPr/>
        </p:nvSpPr>
        <p:spPr>
          <a:xfrm>
            <a:off x="7635240" y="5769864"/>
            <a:ext cx="4114800" cy="256032"/>
          </a:xfrm>
          <a:prstGeom prst="rect">
            <a:avLst/>
          </a:prstGeom>
          <a:noFill/>
          <a:ln/>
        </p:spPr>
        <p:txBody>
          <a:bodyPr wrap="square" rtlCol="0" anchor="ctr"/>
          <a:lstStyle/>
          <a:p>
            <a:pPr algn="r" indent="0" marL="0">
              <a:buNone/>
            </a:pPr>
            <a:r>
              <a:rPr lang="en-US" sz="9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Photo : © fr.allafrica.com</a:t>
            </a:r>
            <a:endParaRPr lang="en-US" sz="900" dirty="0"/>
          </a:p>
        </p:txBody>
      </p:sp>
      <p:pic>
        <p:nvPicPr>
          <p:cNvPr id="13" name="Image 1" descr="/home/runner/work/SentiqS/SentiqS/scripts/assets/grsci/logo-grsci.png">    </p:cNvPr>
          <p:cNvPicPr>
            <a:picLocks noChangeAspect="1"/>
          </p:cNvPicPr>
          <p:nvPr/>
        </p:nvPicPr>
        <p:blipFill>
          <a:blip r:embed="rId5"/>
          <a:stretch>
            <a:fillRect/>
          </a:stretch>
        </p:blipFill>
        <p:spPr>
          <a:xfrm>
            <a:off x="411480" y="5989320"/>
            <a:ext cx="548640" cy="630936"/>
          </a:xfrm>
          <a:prstGeom prst="rect">
            <a:avLst/>
          </a:prstGeom>
        </p:spPr>
      </p:pic>
      <p:sp>
        <p:nvSpPr>
          <p:cNvPr id="14" name="Text 10"/>
          <p:cNvSpPr/>
          <p:nvPr/>
        </p:nvSpPr>
        <p:spPr>
          <a:xfrm>
            <a:off x="3108960" y="6217920"/>
            <a:ext cx="4206240" cy="329184"/>
          </a:xfrm>
          <a:prstGeom prst="rect">
            <a:avLst/>
          </a:prstGeom>
          <a:noFill/>
          <a:ln w="9525">
            <a:solidFill>
              <a:srgbClr val="1F6B5E"/>
            </a:solidFill>
          </a:ln>
        </p:spPr>
        <p:txBody>
          <a:bodyPr wrap="square"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G</a:t>
            </a:r>
            <a:pPr algn="ctr" indent="0" marL="0">
              <a:buNone/>
            </a:pPr>
            <a:r>
              <a:rPr lang="en-US" sz="1200" dirty="0">
                <a:solidFill>
                  <a:srgbClr val="1F2937"/>
                </a:solidFill>
                <a:latin typeface="Calibri" pitchFamily="34" charset="0"/>
                <a:ea typeface="Calibri" pitchFamily="34" charset="-122"/>
                <a:cs typeface="Calibri" pitchFamily="34" charset="-120"/>
              </a:rPr>
              <a:t>roupe des </a:t>
            </a:r>
            <a:pPr algn="ctr" indent="0" marL="0">
              <a:buNone/>
            </a:pPr>
            <a:r>
              <a:rPr lang="en-US" sz="1200" b="1" dirty="0">
                <a:solidFill>
                  <a:srgbClr val="1F2937"/>
                </a:solidFill>
                <a:latin typeface="Calibri" pitchFamily="34" charset="0"/>
                <a:ea typeface="Calibri" pitchFamily="34" charset="-122"/>
                <a:cs typeface="Calibri" pitchFamily="34" charset="-120"/>
              </a:rPr>
              <a:t>R</a:t>
            </a:r>
            <a:pPr algn="ctr" indent="0" marL="0">
              <a:buNone/>
            </a:pPr>
            <a:r>
              <a:rPr lang="en-US" sz="1200" dirty="0">
                <a:solidFill>
                  <a:srgbClr val="1F2937"/>
                </a:solidFill>
                <a:latin typeface="Calibri" pitchFamily="34" charset="0"/>
                <a:ea typeface="Calibri" pitchFamily="34" charset="-122"/>
                <a:cs typeface="Calibri" pitchFamily="34" charset="-120"/>
              </a:rPr>
              <a:t>esponsables </a:t>
            </a:r>
            <a:pPr algn="ctr" indent="0" marL="0">
              <a:buNone/>
            </a:pPr>
            <a:r>
              <a:rPr lang="en-US" sz="1200" b="1" dirty="0">
                <a:solidFill>
                  <a:srgbClr val="1F2937"/>
                </a:solidFill>
                <a:latin typeface="Calibri" pitchFamily="34" charset="0"/>
                <a:ea typeface="Calibri" pitchFamily="34" charset="-122"/>
                <a:cs typeface="Calibri" pitchFamily="34" charset="-120"/>
              </a:rPr>
              <a:t>S</a:t>
            </a:r>
            <a:pPr algn="ctr" indent="0" marL="0">
              <a:buNone/>
            </a:pPr>
            <a:r>
              <a:rPr lang="en-US" sz="1200" dirty="0">
                <a:solidFill>
                  <a:srgbClr val="1F2937"/>
                </a:solidFill>
                <a:latin typeface="Calibri" pitchFamily="34" charset="0"/>
                <a:ea typeface="Calibri" pitchFamily="34" charset="-122"/>
                <a:cs typeface="Calibri" pitchFamily="34" charset="-120"/>
              </a:rPr>
              <a:t>ûreté de </a:t>
            </a:r>
            <a:pPr algn="ctr" indent="0" marL="0">
              <a:buNone/>
            </a:pPr>
            <a:r>
              <a:rPr lang="en-US" sz="1200" b="1" dirty="0">
                <a:solidFill>
                  <a:srgbClr val="1F2937"/>
                </a:solidFill>
                <a:latin typeface="Calibri" pitchFamily="34" charset="0"/>
                <a:ea typeface="Calibri" pitchFamily="34" charset="-122"/>
                <a:cs typeface="Calibri" pitchFamily="34" charset="-120"/>
              </a:rPr>
              <a:t>C</a:t>
            </a:r>
            <a:pPr algn="ctr" indent="0" marL="0">
              <a:buNone/>
            </a:pPr>
            <a:r>
              <a:rPr lang="en-US" sz="1200" dirty="0">
                <a:solidFill>
                  <a:srgbClr val="1F2937"/>
                </a:solidFill>
                <a:latin typeface="Calibri" pitchFamily="34" charset="0"/>
                <a:ea typeface="Calibri" pitchFamily="34" charset="-122"/>
                <a:cs typeface="Calibri" pitchFamily="34" charset="-120"/>
              </a:rPr>
              <a:t>ôte d'</a:t>
            </a:r>
            <a:pPr algn="ctr" indent="0" marL="0">
              <a:buNone/>
            </a:pPr>
            <a:r>
              <a:rPr lang="en-US" sz="1200" b="1" dirty="0">
                <a:solidFill>
                  <a:srgbClr val="1F2937"/>
                </a:solidFill>
                <a:latin typeface="Calibri" pitchFamily="34" charset="0"/>
                <a:ea typeface="Calibri" pitchFamily="34" charset="-122"/>
                <a:cs typeface="Calibri" pitchFamily="34" charset="-120"/>
              </a:rPr>
              <a:t>I</a:t>
            </a:r>
            <a:pPr algn="ctr" indent="0" marL="0">
              <a:buNone/>
            </a:pPr>
            <a:r>
              <a:rPr lang="en-US" sz="1200" dirty="0">
                <a:solidFill>
                  <a:srgbClr val="1F2937"/>
                </a:solidFill>
                <a:latin typeface="Calibri" pitchFamily="34" charset="0"/>
                <a:ea typeface="Calibri" pitchFamily="34" charset="-122"/>
                <a:cs typeface="Calibri" pitchFamily="34" charset="-120"/>
              </a:rPr>
              <a:t>voire</a:t>
            </a:r>
            <a:endParaRPr lang="en-US" sz="1200" dirty="0"/>
          </a:p>
        </p:txBody>
      </p:sp>
      <p:sp>
        <p:nvSpPr>
          <p:cNvPr id="15" name="Text 11"/>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27/10/26   |   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Burkina Faso</a:t>
            </a:r>
            <a:endParaRPr lang="en-US" sz="2800" dirty="0"/>
          </a:p>
        </p:txBody>
      </p:sp>
      <p:sp>
        <p:nvSpPr>
          <p:cNvPr id="4" name="Shape 2"/>
          <p:cNvSpPr/>
          <p:nvPr/>
        </p:nvSpPr>
        <p:spPr>
          <a:xfrm>
            <a:off x="10881360" y="274320"/>
            <a:ext cx="905256" cy="283464"/>
          </a:xfrm>
          <a:prstGeom prst="rect">
            <a:avLst/>
          </a:prstGeom>
          <a:solidFill>
            <a:srgbClr val="EF2B2D"/>
          </a:solidFill>
          <a:ln w="12700">
            <a:solidFill>
              <a:srgbClr val="EF2B2D"/>
            </a:solidFill>
            <a:prstDash val="solid"/>
          </a:ln>
        </p:spPr>
      </p:sp>
      <p:sp>
        <p:nvSpPr>
          <p:cNvPr id="5" name="Shape 3"/>
          <p:cNvSpPr/>
          <p:nvPr/>
        </p:nvSpPr>
        <p:spPr>
          <a:xfrm>
            <a:off x="10881360" y="557784"/>
            <a:ext cx="905256" cy="283464"/>
          </a:xfrm>
          <a:prstGeom prst="rect">
            <a:avLst/>
          </a:prstGeom>
          <a:solidFill>
            <a:srgbClr val="009E49"/>
          </a:solidFill>
          <a:ln w="12700">
            <a:solidFill>
              <a:srgbClr val="009E49"/>
            </a:solidFill>
            <a:prstDash val="solid"/>
          </a:ln>
        </p:spPr>
      </p:sp>
      <p:sp>
        <p:nvSpPr>
          <p:cNvPr id="6" name="Shape 4"/>
          <p:cNvSpPr/>
          <p:nvPr/>
        </p:nvSpPr>
        <p:spPr>
          <a:xfrm>
            <a:off x="10881360" y="274320"/>
            <a:ext cx="905256" cy="566928"/>
          </a:xfrm>
          <a:prstGeom prst="rect">
            <a:avLst/>
          </a:prstGeom>
          <a:ln w="6350">
            <a:solidFill>
              <a:srgbClr val="1F2937"/>
            </a:solidFill>
            <a:prstDash val="solid"/>
          </a:ln>
        </p:spPr>
      </p:sp>
      <p:sp>
        <p:nvSpPr>
          <p:cNvPr id="7" name="Shape 5"/>
          <p:cNvSpPr/>
          <p:nvPr/>
        </p:nvSpPr>
        <p:spPr>
          <a:xfrm>
            <a:off x="457200" y="960120"/>
            <a:ext cx="11292840" cy="0"/>
          </a:xfrm>
          <a:prstGeom prst="line">
            <a:avLst/>
          </a:prstGeom>
          <a:noFill/>
          <a:ln w="6350">
            <a:solidFill>
              <a:srgbClr val="A3A3A3"/>
            </a:solidFill>
            <a:prstDash val="solid"/>
          </a:ln>
        </p:spPr>
      </p:sp>
      <p:sp>
        <p:nvSpPr>
          <p:cNvPr id="8" name="Text 6"/>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LE PAYS RÉTABLIT LA PEINE DE MORT</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AllAfrica (BF) · HRW_fr sur X/Twitter</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22 octobre 2026, 15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SÉCURITÉ NUMÉRIQUE AU BURKINA : LA BCLCC LANCE LA 2ᵉ SEMAINE NATIONALE DE LUTTE CONTRE LA CYBERCRIMINALITÉ</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Faso7</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24 octobre 2026, 13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COOPÉRATION: LE MINISTRE DE LA SÉCURITÉ REÇOIT UNE DÉLÉGATION DE L’UICN</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Wakat Sera</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24 octobre 2026, 12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CONSTRUCTION AU BURKINA FASO : L’ORDRE DES INGÉNIEURS ALERTE SUR LES RISQUES LIÉS AUX FAUX PROFESSIONNELS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Faso7</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14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BURKINA FASO-TURQUIE : UNE OFFENSIVE DIPLOMATIQUE D’ENVERGURE POUR CONSOLIDER LA COOPÉRATION BILATÉRALE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Alwihda Info (Tchad)</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9 h UTC</a:t>
            </a:r>
            <a:endParaRPr lang="en-US" sz="1300" dirty="0"/>
          </a:p>
        </p:txBody>
      </p:sp>
      <p:pic>
        <p:nvPicPr>
          <p:cNvPr id="9" name="Image 0" descr="/home/runner/work/SentiqS/SentiqS/scripts/assets/grsci/logo-grsci.png">    </p:cNvPr>
          <p:cNvPicPr>
            <a:picLocks noChangeAspect="1"/>
          </p:cNvPicPr>
          <p:nvPr/>
        </p:nvPicPr>
        <p:blipFill>
          <a:blip r:embed="rId6"/>
          <a:stretch>
            <a:fillRect/>
          </a:stretch>
        </p:blipFill>
        <p:spPr>
          <a:xfrm>
            <a:off x="411480" y="5989320"/>
            <a:ext cx="548640" cy="630936"/>
          </a:xfrm>
          <a:prstGeom prst="rect">
            <a:avLst/>
          </a:prstGeom>
        </p:spPr>
      </p:pic>
      <p:sp>
        <p:nvSpPr>
          <p:cNvPr id="10" name="Text 7"/>
          <p:cNvSpPr/>
          <p:nvPr/>
        </p:nvSpPr>
        <p:spPr>
          <a:xfrm>
            <a:off x="3108960" y="6217920"/>
            <a:ext cx="4206240" cy="329184"/>
          </a:xfrm>
          <a:prstGeom prst="rect">
            <a:avLst/>
          </a:prstGeom>
          <a:noFill/>
          <a:ln w="9525">
            <a:solidFill>
              <a:srgbClr val="1F6B5E"/>
            </a:solidFill>
          </a:ln>
        </p:spPr>
        <p:txBody>
          <a:bodyPr wrap="square"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G</a:t>
            </a:r>
            <a:pPr algn="ctr" indent="0" marL="0">
              <a:buNone/>
            </a:pPr>
            <a:r>
              <a:rPr lang="en-US" sz="1200" dirty="0">
                <a:solidFill>
                  <a:srgbClr val="1F2937"/>
                </a:solidFill>
                <a:latin typeface="Calibri" pitchFamily="34" charset="0"/>
                <a:ea typeface="Calibri" pitchFamily="34" charset="-122"/>
                <a:cs typeface="Calibri" pitchFamily="34" charset="-120"/>
              </a:rPr>
              <a:t>roupe des </a:t>
            </a:r>
            <a:pPr algn="ctr" indent="0" marL="0">
              <a:buNone/>
            </a:pPr>
            <a:r>
              <a:rPr lang="en-US" sz="1200" b="1" dirty="0">
                <a:solidFill>
                  <a:srgbClr val="1F2937"/>
                </a:solidFill>
                <a:latin typeface="Calibri" pitchFamily="34" charset="0"/>
                <a:ea typeface="Calibri" pitchFamily="34" charset="-122"/>
                <a:cs typeface="Calibri" pitchFamily="34" charset="-120"/>
              </a:rPr>
              <a:t>R</a:t>
            </a:r>
            <a:pPr algn="ctr" indent="0" marL="0">
              <a:buNone/>
            </a:pPr>
            <a:r>
              <a:rPr lang="en-US" sz="1200" dirty="0">
                <a:solidFill>
                  <a:srgbClr val="1F2937"/>
                </a:solidFill>
                <a:latin typeface="Calibri" pitchFamily="34" charset="0"/>
                <a:ea typeface="Calibri" pitchFamily="34" charset="-122"/>
                <a:cs typeface="Calibri" pitchFamily="34" charset="-120"/>
              </a:rPr>
              <a:t>esponsables </a:t>
            </a:r>
            <a:pPr algn="ctr" indent="0" marL="0">
              <a:buNone/>
            </a:pPr>
            <a:r>
              <a:rPr lang="en-US" sz="1200" b="1" dirty="0">
                <a:solidFill>
                  <a:srgbClr val="1F2937"/>
                </a:solidFill>
                <a:latin typeface="Calibri" pitchFamily="34" charset="0"/>
                <a:ea typeface="Calibri" pitchFamily="34" charset="-122"/>
                <a:cs typeface="Calibri" pitchFamily="34" charset="-120"/>
              </a:rPr>
              <a:t>S</a:t>
            </a:r>
            <a:pPr algn="ctr" indent="0" marL="0">
              <a:buNone/>
            </a:pPr>
            <a:r>
              <a:rPr lang="en-US" sz="1200" dirty="0">
                <a:solidFill>
                  <a:srgbClr val="1F2937"/>
                </a:solidFill>
                <a:latin typeface="Calibri" pitchFamily="34" charset="0"/>
                <a:ea typeface="Calibri" pitchFamily="34" charset="-122"/>
                <a:cs typeface="Calibri" pitchFamily="34" charset="-120"/>
              </a:rPr>
              <a:t>ûreté de </a:t>
            </a:r>
            <a:pPr algn="ctr" indent="0" marL="0">
              <a:buNone/>
            </a:pPr>
            <a:r>
              <a:rPr lang="en-US" sz="1200" b="1" dirty="0">
                <a:solidFill>
                  <a:srgbClr val="1F2937"/>
                </a:solidFill>
                <a:latin typeface="Calibri" pitchFamily="34" charset="0"/>
                <a:ea typeface="Calibri" pitchFamily="34" charset="-122"/>
                <a:cs typeface="Calibri" pitchFamily="34" charset="-120"/>
              </a:rPr>
              <a:t>C</a:t>
            </a:r>
            <a:pPr algn="ctr" indent="0" marL="0">
              <a:buNone/>
            </a:pPr>
            <a:r>
              <a:rPr lang="en-US" sz="1200" dirty="0">
                <a:solidFill>
                  <a:srgbClr val="1F2937"/>
                </a:solidFill>
                <a:latin typeface="Calibri" pitchFamily="34" charset="0"/>
                <a:ea typeface="Calibri" pitchFamily="34" charset="-122"/>
                <a:cs typeface="Calibri" pitchFamily="34" charset="-120"/>
              </a:rPr>
              <a:t>ôte d'</a:t>
            </a:r>
            <a:pPr algn="ctr" indent="0" marL="0">
              <a:buNone/>
            </a:pPr>
            <a:r>
              <a:rPr lang="en-US" sz="1200" b="1" dirty="0">
                <a:solidFill>
                  <a:srgbClr val="1F2937"/>
                </a:solidFill>
                <a:latin typeface="Calibri" pitchFamily="34" charset="0"/>
                <a:ea typeface="Calibri" pitchFamily="34" charset="-122"/>
                <a:cs typeface="Calibri" pitchFamily="34" charset="-120"/>
              </a:rPr>
              <a:t>I</a:t>
            </a:r>
            <a:pPr algn="ctr" indent="0" marL="0">
              <a:buNone/>
            </a:pPr>
            <a:r>
              <a:rPr lang="en-US" sz="1200" dirty="0">
                <a:solidFill>
                  <a:srgbClr val="1F2937"/>
                </a:solidFill>
                <a:latin typeface="Calibri" pitchFamily="34" charset="0"/>
                <a:ea typeface="Calibri" pitchFamily="34" charset="-122"/>
                <a:cs typeface="Calibri" pitchFamily="34" charset="-120"/>
              </a:rPr>
              <a:t>voire</a:t>
            </a:r>
            <a:endParaRPr lang="en-US" sz="1200" dirty="0"/>
          </a:p>
        </p:txBody>
      </p:sp>
      <p:sp>
        <p:nvSpPr>
          <p:cNvPr id="11" name="Text 8"/>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27/10/26   |   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Burkina Faso</a:t>
            </a:r>
            <a:endParaRPr lang="en-US" sz="2800" dirty="0"/>
          </a:p>
        </p:txBody>
      </p:sp>
      <p:sp>
        <p:nvSpPr>
          <p:cNvPr id="4" name="Shape 2"/>
          <p:cNvSpPr/>
          <p:nvPr/>
        </p:nvSpPr>
        <p:spPr>
          <a:xfrm>
            <a:off x="10881360" y="274320"/>
            <a:ext cx="905256" cy="283464"/>
          </a:xfrm>
          <a:prstGeom prst="rect">
            <a:avLst/>
          </a:prstGeom>
          <a:solidFill>
            <a:srgbClr val="EF2B2D"/>
          </a:solidFill>
          <a:ln w="12700">
            <a:solidFill>
              <a:srgbClr val="EF2B2D"/>
            </a:solidFill>
            <a:prstDash val="solid"/>
          </a:ln>
        </p:spPr>
      </p:sp>
      <p:sp>
        <p:nvSpPr>
          <p:cNvPr id="5" name="Shape 3"/>
          <p:cNvSpPr/>
          <p:nvPr/>
        </p:nvSpPr>
        <p:spPr>
          <a:xfrm>
            <a:off x="10881360" y="557784"/>
            <a:ext cx="905256" cy="283464"/>
          </a:xfrm>
          <a:prstGeom prst="rect">
            <a:avLst/>
          </a:prstGeom>
          <a:solidFill>
            <a:srgbClr val="009E49"/>
          </a:solidFill>
          <a:ln w="12700">
            <a:solidFill>
              <a:srgbClr val="009E49"/>
            </a:solidFill>
            <a:prstDash val="solid"/>
          </a:ln>
        </p:spPr>
      </p:sp>
      <p:sp>
        <p:nvSpPr>
          <p:cNvPr id="6" name="Shape 4"/>
          <p:cNvSpPr/>
          <p:nvPr/>
        </p:nvSpPr>
        <p:spPr>
          <a:xfrm>
            <a:off x="10881360" y="274320"/>
            <a:ext cx="905256" cy="566928"/>
          </a:xfrm>
          <a:prstGeom prst="rect">
            <a:avLst/>
          </a:prstGeom>
          <a:ln w="6350">
            <a:solidFill>
              <a:srgbClr val="1F2937"/>
            </a:solidFill>
            <a:prstDash val="solid"/>
          </a:ln>
        </p:spPr>
      </p:sp>
      <p:sp>
        <p:nvSpPr>
          <p:cNvPr id="7" name="Shape 5"/>
          <p:cNvSpPr/>
          <p:nvPr/>
        </p:nvSpPr>
        <p:spPr>
          <a:xfrm>
            <a:off x="457200" y="960120"/>
            <a:ext cx="11292840" cy="0"/>
          </a:xfrm>
          <a:prstGeom prst="line">
            <a:avLst/>
          </a:prstGeom>
          <a:noFill/>
          <a:ln w="6350">
            <a:solidFill>
              <a:srgbClr val="A3A3A3"/>
            </a:solidFill>
            <a:prstDash val="solid"/>
          </a:ln>
        </p:spPr>
      </p:sp>
      <p:sp>
        <p:nvSpPr>
          <p:cNvPr id="8" name="Text 6"/>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EXPANSION GÉOGRAPHIQUE DU TERRORISME SAHÉLIEN - IMPLICATIONS POUR LE GHANA</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AllAfrica (GH)</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17 octobre 2026, 19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VIS D’APPEL À CANDIDATURES POUR LE RECRUTEMENT DE PERSONNEL À LA RADIO CONFÉDÉRALE DAANDÈ LIPTAKO</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Le Sahel</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16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ROAMING UEMOA : 4 PAYS UNISSENT LEURS RÉSEAUX POUR ALLÉGER LA FACTURE DES USAGERS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11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BURKINA FASO : RIMTALBA JEAN EMMANUEL OUÉDRAOGO ATTENDU AU SOMMET RUSSIE-AFRIQUE À MOSCOU</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Malijet</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23 h UTC</a:t>
            </a:r>
            <a:endParaRPr lang="en-US" sz="1300" dirty="0"/>
          </a:p>
        </p:txBody>
      </p:sp>
      <p:pic>
        <p:nvPicPr>
          <p:cNvPr id="9" name="Image 0" descr="/home/runner/work/SentiqS/SentiqS/scripts/assets/grsci/logo-grsci.png">    </p:cNvPr>
          <p:cNvPicPr>
            <a:picLocks noChangeAspect="1"/>
          </p:cNvPicPr>
          <p:nvPr/>
        </p:nvPicPr>
        <p:blipFill>
          <a:blip r:embed="rId5"/>
          <a:stretch>
            <a:fillRect/>
          </a:stretch>
        </p:blipFill>
        <p:spPr>
          <a:xfrm>
            <a:off x="411480" y="5989320"/>
            <a:ext cx="548640" cy="630936"/>
          </a:xfrm>
          <a:prstGeom prst="rect">
            <a:avLst/>
          </a:prstGeom>
        </p:spPr>
      </p:pic>
      <p:sp>
        <p:nvSpPr>
          <p:cNvPr id="10" name="Text 7"/>
          <p:cNvSpPr/>
          <p:nvPr/>
        </p:nvSpPr>
        <p:spPr>
          <a:xfrm>
            <a:off x="3108960" y="6217920"/>
            <a:ext cx="4206240" cy="329184"/>
          </a:xfrm>
          <a:prstGeom prst="rect">
            <a:avLst/>
          </a:prstGeom>
          <a:noFill/>
          <a:ln w="9525">
            <a:solidFill>
              <a:srgbClr val="1F6B5E"/>
            </a:solidFill>
          </a:ln>
        </p:spPr>
        <p:txBody>
          <a:bodyPr wrap="square"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G</a:t>
            </a:r>
            <a:pPr algn="ctr" indent="0" marL="0">
              <a:buNone/>
            </a:pPr>
            <a:r>
              <a:rPr lang="en-US" sz="1200" dirty="0">
                <a:solidFill>
                  <a:srgbClr val="1F2937"/>
                </a:solidFill>
                <a:latin typeface="Calibri" pitchFamily="34" charset="0"/>
                <a:ea typeface="Calibri" pitchFamily="34" charset="-122"/>
                <a:cs typeface="Calibri" pitchFamily="34" charset="-120"/>
              </a:rPr>
              <a:t>roupe des </a:t>
            </a:r>
            <a:pPr algn="ctr" indent="0" marL="0">
              <a:buNone/>
            </a:pPr>
            <a:r>
              <a:rPr lang="en-US" sz="1200" b="1" dirty="0">
                <a:solidFill>
                  <a:srgbClr val="1F2937"/>
                </a:solidFill>
                <a:latin typeface="Calibri" pitchFamily="34" charset="0"/>
                <a:ea typeface="Calibri" pitchFamily="34" charset="-122"/>
                <a:cs typeface="Calibri" pitchFamily="34" charset="-120"/>
              </a:rPr>
              <a:t>R</a:t>
            </a:r>
            <a:pPr algn="ctr" indent="0" marL="0">
              <a:buNone/>
            </a:pPr>
            <a:r>
              <a:rPr lang="en-US" sz="1200" dirty="0">
                <a:solidFill>
                  <a:srgbClr val="1F2937"/>
                </a:solidFill>
                <a:latin typeface="Calibri" pitchFamily="34" charset="0"/>
                <a:ea typeface="Calibri" pitchFamily="34" charset="-122"/>
                <a:cs typeface="Calibri" pitchFamily="34" charset="-120"/>
              </a:rPr>
              <a:t>esponsables </a:t>
            </a:r>
            <a:pPr algn="ctr" indent="0" marL="0">
              <a:buNone/>
            </a:pPr>
            <a:r>
              <a:rPr lang="en-US" sz="1200" b="1" dirty="0">
                <a:solidFill>
                  <a:srgbClr val="1F2937"/>
                </a:solidFill>
                <a:latin typeface="Calibri" pitchFamily="34" charset="0"/>
                <a:ea typeface="Calibri" pitchFamily="34" charset="-122"/>
                <a:cs typeface="Calibri" pitchFamily="34" charset="-120"/>
              </a:rPr>
              <a:t>S</a:t>
            </a:r>
            <a:pPr algn="ctr" indent="0" marL="0">
              <a:buNone/>
            </a:pPr>
            <a:r>
              <a:rPr lang="en-US" sz="1200" dirty="0">
                <a:solidFill>
                  <a:srgbClr val="1F2937"/>
                </a:solidFill>
                <a:latin typeface="Calibri" pitchFamily="34" charset="0"/>
                <a:ea typeface="Calibri" pitchFamily="34" charset="-122"/>
                <a:cs typeface="Calibri" pitchFamily="34" charset="-120"/>
              </a:rPr>
              <a:t>ûreté de </a:t>
            </a:r>
            <a:pPr algn="ctr" indent="0" marL="0">
              <a:buNone/>
            </a:pPr>
            <a:r>
              <a:rPr lang="en-US" sz="1200" b="1" dirty="0">
                <a:solidFill>
                  <a:srgbClr val="1F2937"/>
                </a:solidFill>
                <a:latin typeface="Calibri" pitchFamily="34" charset="0"/>
                <a:ea typeface="Calibri" pitchFamily="34" charset="-122"/>
                <a:cs typeface="Calibri" pitchFamily="34" charset="-120"/>
              </a:rPr>
              <a:t>C</a:t>
            </a:r>
            <a:pPr algn="ctr" indent="0" marL="0">
              <a:buNone/>
            </a:pPr>
            <a:r>
              <a:rPr lang="en-US" sz="1200" dirty="0">
                <a:solidFill>
                  <a:srgbClr val="1F2937"/>
                </a:solidFill>
                <a:latin typeface="Calibri" pitchFamily="34" charset="0"/>
                <a:ea typeface="Calibri" pitchFamily="34" charset="-122"/>
                <a:cs typeface="Calibri" pitchFamily="34" charset="-120"/>
              </a:rPr>
              <a:t>ôte d'</a:t>
            </a:r>
            <a:pPr algn="ctr" indent="0" marL="0">
              <a:buNone/>
            </a:pPr>
            <a:r>
              <a:rPr lang="en-US" sz="1200" b="1" dirty="0">
                <a:solidFill>
                  <a:srgbClr val="1F2937"/>
                </a:solidFill>
                <a:latin typeface="Calibri" pitchFamily="34" charset="0"/>
                <a:ea typeface="Calibri" pitchFamily="34" charset="-122"/>
                <a:cs typeface="Calibri" pitchFamily="34" charset="-120"/>
              </a:rPr>
              <a:t>I</a:t>
            </a:r>
            <a:pPr algn="ctr" indent="0" marL="0">
              <a:buNone/>
            </a:pPr>
            <a:r>
              <a:rPr lang="en-US" sz="1200" dirty="0">
                <a:solidFill>
                  <a:srgbClr val="1F2937"/>
                </a:solidFill>
                <a:latin typeface="Calibri" pitchFamily="34" charset="0"/>
                <a:ea typeface="Calibri" pitchFamily="34" charset="-122"/>
                <a:cs typeface="Calibri" pitchFamily="34" charset="-120"/>
              </a:rPr>
              <a:t>voire</a:t>
            </a:r>
            <a:endParaRPr lang="en-US" sz="1200" dirty="0"/>
          </a:p>
        </p:txBody>
      </p:sp>
      <p:sp>
        <p:nvSpPr>
          <p:cNvPr id="11" name="Text 8"/>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27/10/26   |   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Mali</a:t>
            </a:r>
            <a:endParaRPr lang="en-US" sz="2800" dirty="0"/>
          </a:p>
        </p:txBody>
      </p:sp>
      <p:sp>
        <p:nvSpPr>
          <p:cNvPr id="4" name="Shape 2"/>
          <p:cNvSpPr/>
          <p:nvPr/>
        </p:nvSpPr>
        <p:spPr>
          <a:xfrm>
            <a:off x="10881360" y="274320"/>
            <a:ext cx="301752" cy="566928"/>
          </a:xfrm>
          <a:prstGeom prst="rect">
            <a:avLst/>
          </a:prstGeom>
          <a:solidFill>
            <a:srgbClr val="14B53A"/>
          </a:solidFill>
          <a:ln w="12700">
            <a:solidFill>
              <a:srgbClr val="14B53A"/>
            </a:solidFill>
            <a:prstDash val="solid"/>
          </a:ln>
        </p:spPr>
      </p:sp>
      <p:sp>
        <p:nvSpPr>
          <p:cNvPr id="5" name="Shape 3"/>
          <p:cNvSpPr/>
          <p:nvPr/>
        </p:nvSpPr>
        <p:spPr>
          <a:xfrm>
            <a:off x="11183112" y="274320"/>
            <a:ext cx="301752" cy="566928"/>
          </a:xfrm>
          <a:prstGeom prst="rect">
            <a:avLst/>
          </a:prstGeom>
          <a:solidFill>
            <a:srgbClr val="FCD116"/>
          </a:solidFill>
          <a:ln w="12700">
            <a:solidFill>
              <a:srgbClr val="FCD116"/>
            </a:solidFill>
            <a:prstDash val="solid"/>
          </a:ln>
        </p:spPr>
      </p:sp>
      <p:sp>
        <p:nvSpPr>
          <p:cNvPr id="6" name="Shape 4"/>
          <p:cNvSpPr/>
          <p:nvPr/>
        </p:nvSpPr>
        <p:spPr>
          <a:xfrm>
            <a:off x="11484864" y="274320"/>
            <a:ext cx="301752" cy="566928"/>
          </a:xfrm>
          <a:prstGeom prst="rect">
            <a:avLst/>
          </a:prstGeom>
          <a:solidFill>
            <a:srgbClr val="CE1126"/>
          </a:solidFill>
          <a:ln w="12700">
            <a:solidFill>
              <a:srgbClr val="CE1126"/>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faible (incident vérifié le plus récent : 121 jours ; aucun signal du jour)</a:t>
            </a:r>
            <a:endParaRPr lang="en-US" sz="1100" dirty="0"/>
          </a:p>
        </p:txBody>
      </p:sp>
      <p:sp>
        <p:nvSpPr>
          <p:cNvPr id="10" name="Text 8"/>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Mali : Ce que l’on sait de la mort mystérieuse du jeune commerçant Bocar Ly</a:t>
            </a:r>
            <a:endParaRPr lang="en-US" sz="2200" dirty="0"/>
          </a:p>
        </p:txBody>
      </p:sp>
      <p:sp>
        <p:nvSpPr>
          <p:cNvPr id="11" name="Text 9"/>
          <p:cNvSpPr/>
          <p:nvPr/>
        </p:nvSpPr>
        <p:spPr>
          <a:xfrm>
            <a:off x="640080" y="2029968"/>
            <a:ext cx="681228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mardi 27 octobre 2026. Lieu : Mali. Actualité sécuritaire. Une seule source à ce stade (Mali 24)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Mali 24 : </a:t>
            </a:r>
            <a:pPr indent="0" marL="0">
              <a:spcAft>
                <a:spcPts val="300"/>
              </a:spcAft>
              <a:buNone/>
            </a:pPr>
            <a:r>
              <a:rPr lang="en-US" sz="1400" i="1" dirty="0">
                <a:solidFill>
                  <a:srgbClr val="1F2937"/>
                </a:solidFill>
                <a:latin typeface="Calibri" pitchFamily="34" charset="0"/>
                <a:ea typeface="Calibri" pitchFamily="34" charset="-122"/>
                <a:cs typeface="Calibri" pitchFamily="34" charset="-120"/>
              </a:rPr>
              <a:t>« Porté disparu depuis le vendredi 23 octobre 2026 à 19 heures, le corps sans vie du jeune Bocar Ly, commerçant L’article Mali : Ce que l’on sait de la mort mystérieuse du jeune commerçant Bocar Ly est apparu en premier sur Mali 24. »</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sécuritaire à suivre : vérifier son incidence sur les sites, les itinéraires et les personnels présents dans la zone.</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Mali 24</a:t>
            </a:r>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 — 27 octobre 2026, 14 h UTC   ·   Cotation : Non confirmé</a:t>
            </a:r>
            <a:endParaRPr lang="en-US" sz="1400" dirty="0"/>
          </a:p>
        </p:txBody>
      </p:sp>
      <p:pic>
        <p:nvPicPr>
          <p:cNvPr id="12" name="Image 0" descr="preencoded.png">
            <a:hlinkClick r:id="rId3" tooltip=""/>
          </p:cNvPr>
          <p:cNvPicPr>
            <a:picLocks noChangeAspect="1"/>
          </p:cNvPicPr>
          <p:nvPr/>
        </p:nvPicPr>
        <p:blipFill>
          <a:blip r:embed="rId2"/>
          <a:stretch>
            <a:fillRect/>
          </a:stretch>
        </p:blipFill>
        <p:spPr>
          <a:xfrm>
            <a:off x="7635240" y="2075688"/>
            <a:ext cx="4114800" cy="3465433"/>
          </a:xfrm>
          <a:prstGeom prst="rect">
            <a:avLst/>
          </a:prstGeom>
        </p:spPr>
      </p:pic>
      <p:sp>
        <p:nvSpPr>
          <p:cNvPr id="13" name="Text 10"/>
          <p:cNvSpPr/>
          <p:nvPr/>
        </p:nvSpPr>
        <p:spPr>
          <a:xfrm>
            <a:off x="7635240" y="5577697"/>
            <a:ext cx="4114800" cy="256032"/>
          </a:xfrm>
          <a:prstGeom prst="rect">
            <a:avLst/>
          </a:prstGeom>
          <a:noFill/>
          <a:ln/>
        </p:spPr>
        <p:txBody>
          <a:bodyPr wrap="square" rtlCol="0" anchor="ctr"/>
          <a:lstStyle/>
          <a:p>
            <a:pPr algn="r" indent="0" marL="0">
              <a:buNone/>
            </a:pPr>
            <a:r>
              <a:rPr lang="en-US" sz="9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Photo : © mali24.info</a:t>
            </a:r>
            <a:endParaRPr lang="en-US" sz="900" dirty="0"/>
          </a:p>
        </p:txBody>
      </p:sp>
      <p:pic>
        <p:nvPicPr>
          <p:cNvPr id="14" name="Image 1" descr="/home/runner/work/SentiqS/SentiqS/scripts/assets/grsci/logo-grsci.png">    </p:cNvPr>
          <p:cNvPicPr>
            <a:picLocks noChangeAspect="1"/>
          </p:cNvPicPr>
          <p:nvPr/>
        </p:nvPicPr>
        <p:blipFill>
          <a:blip r:embed="rId5"/>
          <a:stretch>
            <a:fillRect/>
          </a:stretch>
        </p:blipFill>
        <p:spPr>
          <a:xfrm>
            <a:off x="411480" y="5989320"/>
            <a:ext cx="548640" cy="630936"/>
          </a:xfrm>
          <a:prstGeom prst="rect">
            <a:avLst/>
          </a:prstGeom>
        </p:spPr>
      </p:pic>
      <p:sp>
        <p:nvSpPr>
          <p:cNvPr id="15" name="Text 11"/>
          <p:cNvSpPr/>
          <p:nvPr/>
        </p:nvSpPr>
        <p:spPr>
          <a:xfrm>
            <a:off x="3108960" y="6217920"/>
            <a:ext cx="4206240" cy="329184"/>
          </a:xfrm>
          <a:prstGeom prst="rect">
            <a:avLst/>
          </a:prstGeom>
          <a:noFill/>
          <a:ln w="9525">
            <a:solidFill>
              <a:srgbClr val="1F6B5E"/>
            </a:solidFill>
          </a:ln>
        </p:spPr>
        <p:txBody>
          <a:bodyPr wrap="square"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G</a:t>
            </a:r>
            <a:pPr algn="ctr" indent="0" marL="0">
              <a:buNone/>
            </a:pPr>
            <a:r>
              <a:rPr lang="en-US" sz="1200" dirty="0">
                <a:solidFill>
                  <a:srgbClr val="1F2937"/>
                </a:solidFill>
                <a:latin typeface="Calibri" pitchFamily="34" charset="0"/>
                <a:ea typeface="Calibri" pitchFamily="34" charset="-122"/>
                <a:cs typeface="Calibri" pitchFamily="34" charset="-120"/>
              </a:rPr>
              <a:t>roupe des </a:t>
            </a:r>
            <a:pPr algn="ctr" indent="0" marL="0">
              <a:buNone/>
            </a:pPr>
            <a:r>
              <a:rPr lang="en-US" sz="1200" b="1" dirty="0">
                <a:solidFill>
                  <a:srgbClr val="1F2937"/>
                </a:solidFill>
                <a:latin typeface="Calibri" pitchFamily="34" charset="0"/>
                <a:ea typeface="Calibri" pitchFamily="34" charset="-122"/>
                <a:cs typeface="Calibri" pitchFamily="34" charset="-120"/>
              </a:rPr>
              <a:t>R</a:t>
            </a:r>
            <a:pPr algn="ctr" indent="0" marL="0">
              <a:buNone/>
            </a:pPr>
            <a:r>
              <a:rPr lang="en-US" sz="1200" dirty="0">
                <a:solidFill>
                  <a:srgbClr val="1F2937"/>
                </a:solidFill>
                <a:latin typeface="Calibri" pitchFamily="34" charset="0"/>
                <a:ea typeface="Calibri" pitchFamily="34" charset="-122"/>
                <a:cs typeface="Calibri" pitchFamily="34" charset="-120"/>
              </a:rPr>
              <a:t>esponsables </a:t>
            </a:r>
            <a:pPr algn="ctr" indent="0" marL="0">
              <a:buNone/>
            </a:pPr>
            <a:r>
              <a:rPr lang="en-US" sz="1200" b="1" dirty="0">
                <a:solidFill>
                  <a:srgbClr val="1F2937"/>
                </a:solidFill>
                <a:latin typeface="Calibri" pitchFamily="34" charset="0"/>
                <a:ea typeface="Calibri" pitchFamily="34" charset="-122"/>
                <a:cs typeface="Calibri" pitchFamily="34" charset="-120"/>
              </a:rPr>
              <a:t>S</a:t>
            </a:r>
            <a:pPr algn="ctr" indent="0" marL="0">
              <a:buNone/>
            </a:pPr>
            <a:r>
              <a:rPr lang="en-US" sz="1200" dirty="0">
                <a:solidFill>
                  <a:srgbClr val="1F2937"/>
                </a:solidFill>
                <a:latin typeface="Calibri" pitchFamily="34" charset="0"/>
                <a:ea typeface="Calibri" pitchFamily="34" charset="-122"/>
                <a:cs typeface="Calibri" pitchFamily="34" charset="-120"/>
              </a:rPr>
              <a:t>ûreté de </a:t>
            </a:r>
            <a:pPr algn="ctr" indent="0" marL="0">
              <a:buNone/>
            </a:pPr>
            <a:r>
              <a:rPr lang="en-US" sz="1200" b="1" dirty="0">
                <a:solidFill>
                  <a:srgbClr val="1F2937"/>
                </a:solidFill>
                <a:latin typeface="Calibri" pitchFamily="34" charset="0"/>
                <a:ea typeface="Calibri" pitchFamily="34" charset="-122"/>
                <a:cs typeface="Calibri" pitchFamily="34" charset="-120"/>
              </a:rPr>
              <a:t>C</a:t>
            </a:r>
            <a:pPr algn="ctr" indent="0" marL="0">
              <a:buNone/>
            </a:pPr>
            <a:r>
              <a:rPr lang="en-US" sz="1200" dirty="0">
                <a:solidFill>
                  <a:srgbClr val="1F2937"/>
                </a:solidFill>
                <a:latin typeface="Calibri" pitchFamily="34" charset="0"/>
                <a:ea typeface="Calibri" pitchFamily="34" charset="-122"/>
                <a:cs typeface="Calibri" pitchFamily="34" charset="-120"/>
              </a:rPr>
              <a:t>ôte d'</a:t>
            </a:r>
            <a:pPr algn="ctr" indent="0" marL="0">
              <a:buNone/>
            </a:pPr>
            <a:r>
              <a:rPr lang="en-US" sz="1200" b="1" dirty="0">
                <a:solidFill>
                  <a:srgbClr val="1F2937"/>
                </a:solidFill>
                <a:latin typeface="Calibri" pitchFamily="34" charset="0"/>
                <a:ea typeface="Calibri" pitchFamily="34" charset="-122"/>
                <a:cs typeface="Calibri" pitchFamily="34" charset="-120"/>
              </a:rPr>
              <a:t>I</a:t>
            </a:r>
            <a:pPr algn="ctr" indent="0" marL="0">
              <a:buNone/>
            </a:pPr>
            <a:r>
              <a:rPr lang="en-US" sz="1200" dirty="0">
                <a:solidFill>
                  <a:srgbClr val="1F2937"/>
                </a:solidFill>
                <a:latin typeface="Calibri" pitchFamily="34" charset="0"/>
                <a:ea typeface="Calibri" pitchFamily="34" charset="-122"/>
                <a:cs typeface="Calibri" pitchFamily="34" charset="-120"/>
              </a:rPr>
              <a:t>voire</a:t>
            </a:r>
            <a:endParaRPr lang="en-US" sz="1200" dirty="0"/>
          </a:p>
        </p:txBody>
      </p:sp>
      <p:sp>
        <p:nvSpPr>
          <p:cNvPr id="16" name="Text 12"/>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27/10/26   |   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Mali</a:t>
            </a:r>
            <a:endParaRPr lang="en-US" sz="2800" dirty="0"/>
          </a:p>
        </p:txBody>
      </p:sp>
      <p:sp>
        <p:nvSpPr>
          <p:cNvPr id="4" name="Shape 2"/>
          <p:cNvSpPr/>
          <p:nvPr/>
        </p:nvSpPr>
        <p:spPr>
          <a:xfrm>
            <a:off x="10881360" y="274320"/>
            <a:ext cx="301752" cy="566928"/>
          </a:xfrm>
          <a:prstGeom prst="rect">
            <a:avLst/>
          </a:prstGeom>
          <a:solidFill>
            <a:srgbClr val="14B53A"/>
          </a:solidFill>
          <a:ln w="12700">
            <a:solidFill>
              <a:srgbClr val="14B53A"/>
            </a:solidFill>
            <a:prstDash val="solid"/>
          </a:ln>
        </p:spPr>
      </p:sp>
      <p:sp>
        <p:nvSpPr>
          <p:cNvPr id="5" name="Shape 3"/>
          <p:cNvSpPr/>
          <p:nvPr/>
        </p:nvSpPr>
        <p:spPr>
          <a:xfrm>
            <a:off x="11183112" y="274320"/>
            <a:ext cx="301752" cy="566928"/>
          </a:xfrm>
          <a:prstGeom prst="rect">
            <a:avLst/>
          </a:prstGeom>
          <a:solidFill>
            <a:srgbClr val="FCD116"/>
          </a:solidFill>
          <a:ln w="12700">
            <a:solidFill>
              <a:srgbClr val="FCD116"/>
            </a:solidFill>
            <a:prstDash val="solid"/>
          </a:ln>
        </p:spPr>
      </p:sp>
      <p:sp>
        <p:nvSpPr>
          <p:cNvPr id="6" name="Shape 4"/>
          <p:cNvSpPr/>
          <p:nvPr/>
        </p:nvSpPr>
        <p:spPr>
          <a:xfrm>
            <a:off x="11484864" y="274320"/>
            <a:ext cx="301752" cy="566928"/>
          </a:xfrm>
          <a:prstGeom prst="rect">
            <a:avLst/>
          </a:prstGeom>
          <a:solidFill>
            <a:srgbClr val="CE1126"/>
          </a:solidFill>
          <a:ln w="12700">
            <a:solidFill>
              <a:srgbClr val="CE1126"/>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TOURNÉE DES LAURÉATS DE LA BIENNALE DE TOMBOUCTOU 2025 : LE COUP D’ENVOI DONNÉ À BOUGOUNI</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Mali 24</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12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TREIZE CIVILS TUÉS PAR UNE FRAPPE DE DRONE DE L'ARMÉE, DANS LA RÉGION DE TOMBOUCTOU</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AllAfrica (ML) · RFI Afrique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9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ENLÈVEMENT DE QUATRE ENSEIGNANTS À SAN : LA SYNERGIE DES SYNDICATS DE L’ÉDUCATION DE LA RÉGION EXIGE LEUR LIBÉRATION</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Mali 24</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16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MALI : DISPARITIONS INQUIÉTANTES, MORTS SUSPECTES… QUE SE PASSE-T-IL AVEC LA JEUNESSE MALIENNE ?</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Maliactu</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13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ATTAQUE DE TRAPPES ET LA VERRIÈRE : LA QUALIFICATION DU MOBILE RACISTE AU CŒUR DU DÉBAT SÉCURITAIRE ET SOCIÉTAL</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Maliactu</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10 h UTC</a:t>
            </a:r>
            <a:endParaRPr lang="en-US" sz="1300" dirty="0"/>
          </a:p>
        </p:txBody>
      </p:sp>
      <p:pic>
        <p:nvPicPr>
          <p:cNvPr id="10" name="Image 0" descr="/home/runner/work/SentiqS/SentiqS/scripts/assets/grsci/logo-grsci.png">    </p:cNvPr>
          <p:cNvPicPr>
            <a:picLocks noChangeAspect="1"/>
          </p:cNvPicPr>
          <p:nvPr/>
        </p:nvPicPr>
        <p:blipFill>
          <a:blip r:embed="rId6"/>
          <a:stretch>
            <a:fillRect/>
          </a:stretch>
        </p:blipFill>
        <p:spPr>
          <a:xfrm>
            <a:off x="411480" y="5989320"/>
            <a:ext cx="548640" cy="630936"/>
          </a:xfrm>
          <a:prstGeom prst="rect">
            <a:avLst/>
          </a:prstGeom>
        </p:spPr>
      </p:pic>
      <p:sp>
        <p:nvSpPr>
          <p:cNvPr id="11" name="Text 8"/>
          <p:cNvSpPr/>
          <p:nvPr/>
        </p:nvSpPr>
        <p:spPr>
          <a:xfrm>
            <a:off x="3108960" y="6217920"/>
            <a:ext cx="4206240" cy="329184"/>
          </a:xfrm>
          <a:prstGeom prst="rect">
            <a:avLst/>
          </a:prstGeom>
          <a:noFill/>
          <a:ln w="9525">
            <a:solidFill>
              <a:srgbClr val="1F6B5E"/>
            </a:solidFill>
          </a:ln>
        </p:spPr>
        <p:txBody>
          <a:bodyPr wrap="square"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G</a:t>
            </a:r>
            <a:pPr algn="ctr" indent="0" marL="0">
              <a:buNone/>
            </a:pPr>
            <a:r>
              <a:rPr lang="en-US" sz="1200" dirty="0">
                <a:solidFill>
                  <a:srgbClr val="1F2937"/>
                </a:solidFill>
                <a:latin typeface="Calibri" pitchFamily="34" charset="0"/>
                <a:ea typeface="Calibri" pitchFamily="34" charset="-122"/>
                <a:cs typeface="Calibri" pitchFamily="34" charset="-120"/>
              </a:rPr>
              <a:t>roupe des </a:t>
            </a:r>
            <a:pPr algn="ctr" indent="0" marL="0">
              <a:buNone/>
            </a:pPr>
            <a:r>
              <a:rPr lang="en-US" sz="1200" b="1" dirty="0">
                <a:solidFill>
                  <a:srgbClr val="1F2937"/>
                </a:solidFill>
                <a:latin typeface="Calibri" pitchFamily="34" charset="0"/>
                <a:ea typeface="Calibri" pitchFamily="34" charset="-122"/>
                <a:cs typeface="Calibri" pitchFamily="34" charset="-120"/>
              </a:rPr>
              <a:t>R</a:t>
            </a:r>
            <a:pPr algn="ctr" indent="0" marL="0">
              <a:buNone/>
            </a:pPr>
            <a:r>
              <a:rPr lang="en-US" sz="1200" dirty="0">
                <a:solidFill>
                  <a:srgbClr val="1F2937"/>
                </a:solidFill>
                <a:latin typeface="Calibri" pitchFamily="34" charset="0"/>
                <a:ea typeface="Calibri" pitchFamily="34" charset="-122"/>
                <a:cs typeface="Calibri" pitchFamily="34" charset="-120"/>
              </a:rPr>
              <a:t>esponsables </a:t>
            </a:r>
            <a:pPr algn="ctr" indent="0" marL="0">
              <a:buNone/>
            </a:pPr>
            <a:r>
              <a:rPr lang="en-US" sz="1200" b="1" dirty="0">
                <a:solidFill>
                  <a:srgbClr val="1F2937"/>
                </a:solidFill>
                <a:latin typeface="Calibri" pitchFamily="34" charset="0"/>
                <a:ea typeface="Calibri" pitchFamily="34" charset="-122"/>
                <a:cs typeface="Calibri" pitchFamily="34" charset="-120"/>
              </a:rPr>
              <a:t>S</a:t>
            </a:r>
            <a:pPr algn="ctr" indent="0" marL="0">
              <a:buNone/>
            </a:pPr>
            <a:r>
              <a:rPr lang="en-US" sz="1200" dirty="0">
                <a:solidFill>
                  <a:srgbClr val="1F2937"/>
                </a:solidFill>
                <a:latin typeface="Calibri" pitchFamily="34" charset="0"/>
                <a:ea typeface="Calibri" pitchFamily="34" charset="-122"/>
                <a:cs typeface="Calibri" pitchFamily="34" charset="-120"/>
              </a:rPr>
              <a:t>ûreté de </a:t>
            </a:r>
            <a:pPr algn="ctr" indent="0" marL="0">
              <a:buNone/>
            </a:pPr>
            <a:r>
              <a:rPr lang="en-US" sz="1200" b="1" dirty="0">
                <a:solidFill>
                  <a:srgbClr val="1F2937"/>
                </a:solidFill>
                <a:latin typeface="Calibri" pitchFamily="34" charset="0"/>
                <a:ea typeface="Calibri" pitchFamily="34" charset="-122"/>
                <a:cs typeface="Calibri" pitchFamily="34" charset="-120"/>
              </a:rPr>
              <a:t>C</a:t>
            </a:r>
            <a:pPr algn="ctr" indent="0" marL="0">
              <a:buNone/>
            </a:pPr>
            <a:r>
              <a:rPr lang="en-US" sz="1200" dirty="0">
                <a:solidFill>
                  <a:srgbClr val="1F2937"/>
                </a:solidFill>
                <a:latin typeface="Calibri" pitchFamily="34" charset="0"/>
                <a:ea typeface="Calibri" pitchFamily="34" charset="-122"/>
                <a:cs typeface="Calibri" pitchFamily="34" charset="-120"/>
              </a:rPr>
              <a:t>ôte d'</a:t>
            </a:r>
            <a:pPr algn="ctr" indent="0" marL="0">
              <a:buNone/>
            </a:pPr>
            <a:r>
              <a:rPr lang="en-US" sz="1200" b="1" dirty="0">
                <a:solidFill>
                  <a:srgbClr val="1F2937"/>
                </a:solidFill>
                <a:latin typeface="Calibri" pitchFamily="34" charset="0"/>
                <a:ea typeface="Calibri" pitchFamily="34" charset="-122"/>
                <a:cs typeface="Calibri" pitchFamily="34" charset="-120"/>
              </a:rPr>
              <a:t>I</a:t>
            </a:r>
            <a:pPr algn="ctr" indent="0" marL="0">
              <a:buNone/>
            </a:pPr>
            <a:r>
              <a:rPr lang="en-US" sz="1200" dirty="0">
                <a:solidFill>
                  <a:srgbClr val="1F2937"/>
                </a:solidFill>
                <a:latin typeface="Calibri" pitchFamily="34" charset="0"/>
                <a:ea typeface="Calibri" pitchFamily="34" charset="-122"/>
                <a:cs typeface="Calibri" pitchFamily="34" charset="-120"/>
              </a:rPr>
              <a:t>voire</a:t>
            </a:r>
            <a:endParaRPr lang="en-US" sz="1200" dirty="0"/>
          </a:p>
        </p:txBody>
      </p:sp>
      <p:sp>
        <p:nvSpPr>
          <p:cNvPr id="12"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27/10/26   |   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Mali</a:t>
            </a:r>
            <a:endParaRPr lang="en-US" sz="2800" dirty="0"/>
          </a:p>
        </p:txBody>
      </p:sp>
      <p:sp>
        <p:nvSpPr>
          <p:cNvPr id="4" name="Shape 2"/>
          <p:cNvSpPr/>
          <p:nvPr/>
        </p:nvSpPr>
        <p:spPr>
          <a:xfrm>
            <a:off x="10881360" y="274320"/>
            <a:ext cx="301752" cy="566928"/>
          </a:xfrm>
          <a:prstGeom prst="rect">
            <a:avLst/>
          </a:prstGeom>
          <a:solidFill>
            <a:srgbClr val="14B53A"/>
          </a:solidFill>
          <a:ln w="12700">
            <a:solidFill>
              <a:srgbClr val="14B53A"/>
            </a:solidFill>
            <a:prstDash val="solid"/>
          </a:ln>
        </p:spPr>
      </p:sp>
      <p:sp>
        <p:nvSpPr>
          <p:cNvPr id="5" name="Shape 3"/>
          <p:cNvSpPr/>
          <p:nvPr/>
        </p:nvSpPr>
        <p:spPr>
          <a:xfrm>
            <a:off x="11183112" y="274320"/>
            <a:ext cx="301752" cy="566928"/>
          </a:xfrm>
          <a:prstGeom prst="rect">
            <a:avLst/>
          </a:prstGeom>
          <a:solidFill>
            <a:srgbClr val="FCD116"/>
          </a:solidFill>
          <a:ln w="12700">
            <a:solidFill>
              <a:srgbClr val="FCD116"/>
            </a:solidFill>
            <a:prstDash val="solid"/>
          </a:ln>
        </p:spPr>
      </p:sp>
      <p:sp>
        <p:nvSpPr>
          <p:cNvPr id="6" name="Shape 4"/>
          <p:cNvSpPr/>
          <p:nvPr/>
        </p:nvSpPr>
        <p:spPr>
          <a:xfrm>
            <a:off x="11484864" y="274320"/>
            <a:ext cx="301752" cy="566928"/>
          </a:xfrm>
          <a:prstGeom prst="rect">
            <a:avLst/>
          </a:prstGeom>
          <a:solidFill>
            <a:srgbClr val="CE1126"/>
          </a:solidFill>
          <a:ln w="12700">
            <a:solidFill>
              <a:srgbClr val="CE1126"/>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MALI : LE BILAN DE L'ATTAQUE MEURTRIÈRE DU WEEKEND DERNIER MONTE À 54 MORTS (ARMÉE)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Dakar Actu</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25 octobre 2026, 4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BENSON DIAKITÉ, ANCIENNE GRANDE VOIX DE RFI, EST MORT</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AllAfrica (ML) · RFI Afrique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23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LUTTE CONTRE LE TERRORISME À KAYES : LA POLICE FRAPPE AU CŒUR DES RÉSEAUX DE SOUTIEN LOGISTIQUE DES GAT</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Maliactu</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14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MALI : L’ARMÉE ET L’AFRICA CORPS, CONTRÔLÉ PAR LA RUSSIE, ONT COMMIS DE NOUVEAUX ABUS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HRW_fr sur X/Twitter</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22 octobre 2026, 4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p:txBody>
      </p:sp>
      <p:pic>
        <p:nvPicPr>
          <p:cNvPr id="10" name="Image 0" descr="/home/runner/work/SentiqS/SentiqS/scripts/assets/grsci/logo-grsci.png">    </p:cNvPr>
          <p:cNvPicPr>
            <a:picLocks noChangeAspect="1"/>
          </p:cNvPicPr>
          <p:nvPr/>
        </p:nvPicPr>
        <p:blipFill>
          <a:blip r:embed="rId5"/>
          <a:stretch>
            <a:fillRect/>
          </a:stretch>
        </p:blipFill>
        <p:spPr>
          <a:xfrm>
            <a:off x="411480" y="5989320"/>
            <a:ext cx="548640" cy="630936"/>
          </a:xfrm>
          <a:prstGeom prst="rect">
            <a:avLst/>
          </a:prstGeom>
        </p:spPr>
      </p:pic>
      <p:sp>
        <p:nvSpPr>
          <p:cNvPr id="11" name="Text 8"/>
          <p:cNvSpPr/>
          <p:nvPr/>
        </p:nvSpPr>
        <p:spPr>
          <a:xfrm>
            <a:off x="3108960" y="6217920"/>
            <a:ext cx="4206240" cy="329184"/>
          </a:xfrm>
          <a:prstGeom prst="rect">
            <a:avLst/>
          </a:prstGeom>
          <a:noFill/>
          <a:ln w="9525">
            <a:solidFill>
              <a:srgbClr val="1F6B5E"/>
            </a:solidFill>
          </a:ln>
        </p:spPr>
        <p:txBody>
          <a:bodyPr wrap="square"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G</a:t>
            </a:r>
            <a:pPr algn="ctr" indent="0" marL="0">
              <a:buNone/>
            </a:pPr>
            <a:r>
              <a:rPr lang="en-US" sz="1200" dirty="0">
                <a:solidFill>
                  <a:srgbClr val="1F2937"/>
                </a:solidFill>
                <a:latin typeface="Calibri" pitchFamily="34" charset="0"/>
                <a:ea typeface="Calibri" pitchFamily="34" charset="-122"/>
                <a:cs typeface="Calibri" pitchFamily="34" charset="-120"/>
              </a:rPr>
              <a:t>roupe des </a:t>
            </a:r>
            <a:pPr algn="ctr" indent="0" marL="0">
              <a:buNone/>
            </a:pPr>
            <a:r>
              <a:rPr lang="en-US" sz="1200" b="1" dirty="0">
                <a:solidFill>
                  <a:srgbClr val="1F2937"/>
                </a:solidFill>
                <a:latin typeface="Calibri" pitchFamily="34" charset="0"/>
                <a:ea typeface="Calibri" pitchFamily="34" charset="-122"/>
                <a:cs typeface="Calibri" pitchFamily="34" charset="-120"/>
              </a:rPr>
              <a:t>R</a:t>
            </a:r>
            <a:pPr algn="ctr" indent="0" marL="0">
              <a:buNone/>
            </a:pPr>
            <a:r>
              <a:rPr lang="en-US" sz="1200" dirty="0">
                <a:solidFill>
                  <a:srgbClr val="1F2937"/>
                </a:solidFill>
                <a:latin typeface="Calibri" pitchFamily="34" charset="0"/>
                <a:ea typeface="Calibri" pitchFamily="34" charset="-122"/>
                <a:cs typeface="Calibri" pitchFamily="34" charset="-120"/>
              </a:rPr>
              <a:t>esponsables </a:t>
            </a:r>
            <a:pPr algn="ctr" indent="0" marL="0">
              <a:buNone/>
            </a:pPr>
            <a:r>
              <a:rPr lang="en-US" sz="1200" b="1" dirty="0">
                <a:solidFill>
                  <a:srgbClr val="1F2937"/>
                </a:solidFill>
                <a:latin typeface="Calibri" pitchFamily="34" charset="0"/>
                <a:ea typeface="Calibri" pitchFamily="34" charset="-122"/>
                <a:cs typeface="Calibri" pitchFamily="34" charset="-120"/>
              </a:rPr>
              <a:t>S</a:t>
            </a:r>
            <a:pPr algn="ctr" indent="0" marL="0">
              <a:buNone/>
            </a:pPr>
            <a:r>
              <a:rPr lang="en-US" sz="1200" dirty="0">
                <a:solidFill>
                  <a:srgbClr val="1F2937"/>
                </a:solidFill>
                <a:latin typeface="Calibri" pitchFamily="34" charset="0"/>
                <a:ea typeface="Calibri" pitchFamily="34" charset="-122"/>
                <a:cs typeface="Calibri" pitchFamily="34" charset="-120"/>
              </a:rPr>
              <a:t>ûreté de </a:t>
            </a:r>
            <a:pPr algn="ctr" indent="0" marL="0">
              <a:buNone/>
            </a:pPr>
            <a:r>
              <a:rPr lang="en-US" sz="1200" b="1" dirty="0">
                <a:solidFill>
                  <a:srgbClr val="1F2937"/>
                </a:solidFill>
                <a:latin typeface="Calibri" pitchFamily="34" charset="0"/>
                <a:ea typeface="Calibri" pitchFamily="34" charset="-122"/>
                <a:cs typeface="Calibri" pitchFamily="34" charset="-120"/>
              </a:rPr>
              <a:t>C</a:t>
            </a:r>
            <a:pPr algn="ctr" indent="0" marL="0">
              <a:buNone/>
            </a:pPr>
            <a:r>
              <a:rPr lang="en-US" sz="1200" dirty="0">
                <a:solidFill>
                  <a:srgbClr val="1F2937"/>
                </a:solidFill>
                <a:latin typeface="Calibri" pitchFamily="34" charset="0"/>
                <a:ea typeface="Calibri" pitchFamily="34" charset="-122"/>
                <a:cs typeface="Calibri" pitchFamily="34" charset="-120"/>
              </a:rPr>
              <a:t>ôte d'</a:t>
            </a:r>
            <a:pPr algn="ctr" indent="0" marL="0">
              <a:buNone/>
            </a:pPr>
            <a:r>
              <a:rPr lang="en-US" sz="1200" b="1" dirty="0">
                <a:solidFill>
                  <a:srgbClr val="1F2937"/>
                </a:solidFill>
                <a:latin typeface="Calibri" pitchFamily="34" charset="0"/>
                <a:ea typeface="Calibri" pitchFamily="34" charset="-122"/>
                <a:cs typeface="Calibri" pitchFamily="34" charset="-120"/>
              </a:rPr>
              <a:t>I</a:t>
            </a:r>
            <a:pPr algn="ctr" indent="0" marL="0">
              <a:buNone/>
            </a:pPr>
            <a:r>
              <a:rPr lang="en-US" sz="1200" dirty="0">
                <a:solidFill>
                  <a:srgbClr val="1F2937"/>
                </a:solidFill>
                <a:latin typeface="Calibri" pitchFamily="34" charset="0"/>
                <a:ea typeface="Calibri" pitchFamily="34" charset="-122"/>
                <a:cs typeface="Calibri" pitchFamily="34" charset="-120"/>
              </a:rPr>
              <a:t>voire</a:t>
            </a:r>
            <a:endParaRPr lang="en-US" sz="1200" dirty="0"/>
          </a:p>
        </p:txBody>
      </p:sp>
      <p:sp>
        <p:nvSpPr>
          <p:cNvPr id="12"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27/10/26   |   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000" dirty="0">
                <a:solidFill>
                  <a:srgbClr val="FFFFFF"/>
                </a:solidFill>
                <a:latin typeface="Arial Narrow" pitchFamily="34" charset="0"/>
                <a:ea typeface="Arial Narrow" pitchFamily="34" charset="-122"/>
                <a:cs typeface="Arial Narrow" pitchFamily="34" charset="-120"/>
              </a:rPr>
              <a:t>III</a:t>
            </a:r>
            <a:endParaRPr lang="en-US" sz="20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Niger</a:t>
            </a:r>
            <a:endParaRPr lang="en-US" sz="2800" dirty="0"/>
          </a:p>
        </p:txBody>
      </p:sp>
      <p:sp>
        <p:nvSpPr>
          <p:cNvPr id="4" name="Shape 2"/>
          <p:cNvSpPr/>
          <p:nvPr/>
        </p:nvSpPr>
        <p:spPr>
          <a:xfrm>
            <a:off x="10881360" y="274320"/>
            <a:ext cx="905256" cy="188976"/>
          </a:xfrm>
          <a:prstGeom prst="rect">
            <a:avLst/>
          </a:prstGeom>
          <a:solidFill>
            <a:srgbClr val="E05206"/>
          </a:solidFill>
          <a:ln w="12700">
            <a:solidFill>
              <a:srgbClr val="E05206"/>
            </a:solidFill>
            <a:prstDash val="solid"/>
          </a:ln>
        </p:spPr>
      </p:sp>
      <p:sp>
        <p:nvSpPr>
          <p:cNvPr id="5" name="Shape 3"/>
          <p:cNvSpPr/>
          <p:nvPr/>
        </p:nvSpPr>
        <p:spPr>
          <a:xfrm>
            <a:off x="10881360" y="463296"/>
            <a:ext cx="905256" cy="188976"/>
          </a:xfrm>
          <a:prstGeom prst="rect">
            <a:avLst/>
          </a:prstGeom>
          <a:solidFill>
            <a:srgbClr val="FFFFFF"/>
          </a:solidFill>
          <a:ln w="12700">
            <a:solidFill>
              <a:srgbClr val="FFFFFF"/>
            </a:solidFill>
            <a:prstDash val="solid"/>
          </a:ln>
        </p:spPr>
      </p:sp>
      <p:sp>
        <p:nvSpPr>
          <p:cNvPr id="6" name="Shape 4"/>
          <p:cNvSpPr/>
          <p:nvPr/>
        </p:nvSpPr>
        <p:spPr>
          <a:xfrm>
            <a:off x="10881360" y="652272"/>
            <a:ext cx="905256" cy="188976"/>
          </a:xfrm>
          <a:prstGeom prst="rect">
            <a:avLst/>
          </a:prstGeom>
          <a:solidFill>
            <a:srgbClr val="0DB02B"/>
          </a:solidFill>
          <a:ln w="12700">
            <a:solidFill>
              <a:srgbClr val="0DB02B"/>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moyenne (incident vérifié le plus récent : 118 jours ; 2 signaux du jour)</a:t>
            </a:r>
            <a:endParaRPr lang="en-US" sz="1100" dirty="0"/>
          </a:p>
        </p:txBody>
      </p:sp>
      <p:sp>
        <p:nvSpPr>
          <p:cNvPr id="10" name="Text 8"/>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Tchad-Niger : une nouvelle escalade entre Mahamat Idriss Déby et Abdourahamane Tiani</a:t>
            </a:r>
            <a:endParaRPr lang="en-US" sz="2200" dirty="0"/>
          </a:p>
        </p:txBody>
      </p:sp>
      <p:sp>
        <p:nvSpPr>
          <p:cNvPr id="11" name="Text 9"/>
          <p:cNvSpPr/>
          <p:nvPr/>
        </p:nvSpPr>
        <p:spPr>
          <a:xfrm>
            <a:off x="640080" y="2029968"/>
            <a:ext cx="681228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mardi 27 octobre 2026. Lieu : Niamey, Niger. Actualité politique. Une seule source à ce stade (Jeune Afrique)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Jeune Afrique : </a:t>
            </a:r>
            <a:pPr indent="0" marL="0">
              <a:spcAft>
                <a:spcPts val="300"/>
              </a:spcAft>
              <a:buNone/>
            </a:pPr>
            <a:r>
              <a:rPr lang="en-US" sz="1400" i="1" dirty="0">
                <a:solidFill>
                  <a:srgbClr val="1F2937"/>
                </a:solidFill>
                <a:latin typeface="Calibri" pitchFamily="34" charset="0"/>
                <a:ea typeface="Calibri" pitchFamily="34" charset="-122"/>
                <a:cs typeface="Calibri" pitchFamily="34" charset="-120"/>
              </a:rPr>
              <a:t>« Niamey accuse N’Djamena d’avoir lancé une frappe de drone sur son territoire, avec le soutien de la France. Une charge qui ravive la méfiance entre les deux voisins. »</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Menace armée sur les axes et localités de la zone : réévaluer les déplacements terrestres (horaires, convois, itinéraires de repli) et les consignes des sites et des personnels présents à proximité.</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Jeune Afrique</a:t>
            </a:r>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 — 27 octobre 2026, 16 h UTC   ·   Cotation : Probable</a:t>
            </a:r>
            <a:endParaRPr lang="en-US" sz="1400" dirty="0"/>
          </a:p>
        </p:txBody>
      </p:sp>
      <p:pic>
        <p:nvPicPr>
          <p:cNvPr id="12" name="Image 0" descr="preencoded.png">
            <a:hlinkClick r:id="rId3" tooltip=""/>
          </p:cNvPr>
          <p:cNvPicPr>
            <a:picLocks noChangeAspect="1"/>
          </p:cNvPicPr>
          <p:nvPr/>
        </p:nvPicPr>
        <p:blipFill>
          <a:blip r:embed="rId2"/>
          <a:stretch>
            <a:fillRect/>
          </a:stretch>
        </p:blipFill>
        <p:spPr>
          <a:xfrm>
            <a:off x="7635240" y="2075688"/>
            <a:ext cx="4114800" cy="2314575"/>
          </a:xfrm>
          <a:prstGeom prst="rect">
            <a:avLst/>
          </a:prstGeom>
        </p:spPr>
      </p:pic>
      <p:sp>
        <p:nvSpPr>
          <p:cNvPr id="13" name="Text 10"/>
          <p:cNvSpPr/>
          <p:nvPr/>
        </p:nvSpPr>
        <p:spPr>
          <a:xfrm>
            <a:off x="7635240" y="4426839"/>
            <a:ext cx="4114800" cy="256032"/>
          </a:xfrm>
          <a:prstGeom prst="rect">
            <a:avLst/>
          </a:prstGeom>
          <a:noFill/>
          <a:ln/>
        </p:spPr>
        <p:txBody>
          <a:bodyPr wrap="square" rtlCol="0" anchor="ctr"/>
          <a:lstStyle/>
          <a:p>
            <a:pPr algn="r" indent="0" marL="0">
              <a:buNone/>
            </a:pPr>
            <a:r>
              <a:rPr lang="en-US" sz="9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Photo : © jeuneafrique.com</a:t>
            </a:r>
            <a:endParaRPr lang="en-US" sz="900" dirty="0"/>
          </a:p>
        </p:txBody>
      </p:sp>
      <p:pic>
        <p:nvPicPr>
          <p:cNvPr id="14" name="Image 1" descr="/home/runner/work/SentiqS/SentiqS/scripts/assets/grsci/logo-grsci.png">    </p:cNvPr>
          <p:cNvPicPr>
            <a:picLocks noChangeAspect="1"/>
          </p:cNvPicPr>
          <p:nvPr/>
        </p:nvPicPr>
        <p:blipFill>
          <a:blip r:embed="rId5"/>
          <a:stretch>
            <a:fillRect/>
          </a:stretch>
        </p:blipFill>
        <p:spPr>
          <a:xfrm>
            <a:off x="411480" y="5989320"/>
            <a:ext cx="548640" cy="630936"/>
          </a:xfrm>
          <a:prstGeom prst="rect">
            <a:avLst/>
          </a:prstGeom>
        </p:spPr>
      </p:pic>
      <p:sp>
        <p:nvSpPr>
          <p:cNvPr id="15" name="Text 11"/>
          <p:cNvSpPr/>
          <p:nvPr/>
        </p:nvSpPr>
        <p:spPr>
          <a:xfrm>
            <a:off x="3108960" y="6217920"/>
            <a:ext cx="4206240" cy="329184"/>
          </a:xfrm>
          <a:prstGeom prst="rect">
            <a:avLst/>
          </a:prstGeom>
          <a:noFill/>
          <a:ln w="9525">
            <a:solidFill>
              <a:srgbClr val="1F6B5E"/>
            </a:solidFill>
          </a:ln>
        </p:spPr>
        <p:txBody>
          <a:bodyPr wrap="square"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G</a:t>
            </a:r>
            <a:pPr algn="ctr" indent="0" marL="0">
              <a:buNone/>
            </a:pPr>
            <a:r>
              <a:rPr lang="en-US" sz="1200" dirty="0">
                <a:solidFill>
                  <a:srgbClr val="1F2937"/>
                </a:solidFill>
                <a:latin typeface="Calibri" pitchFamily="34" charset="0"/>
                <a:ea typeface="Calibri" pitchFamily="34" charset="-122"/>
                <a:cs typeface="Calibri" pitchFamily="34" charset="-120"/>
              </a:rPr>
              <a:t>roupe des </a:t>
            </a:r>
            <a:pPr algn="ctr" indent="0" marL="0">
              <a:buNone/>
            </a:pPr>
            <a:r>
              <a:rPr lang="en-US" sz="1200" b="1" dirty="0">
                <a:solidFill>
                  <a:srgbClr val="1F2937"/>
                </a:solidFill>
                <a:latin typeface="Calibri" pitchFamily="34" charset="0"/>
                <a:ea typeface="Calibri" pitchFamily="34" charset="-122"/>
                <a:cs typeface="Calibri" pitchFamily="34" charset="-120"/>
              </a:rPr>
              <a:t>R</a:t>
            </a:r>
            <a:pPr algn="ctr" indent="0" marL="0">
              <a:buNone/>
            </a:pPr>
            <a:r>
              <a:rPr lang="en-US" sz="1200" dirty="0">
                <a:solidFill>
                  <a:srgbClr val="1F2937"/>
                </a:solidFill>
                <a:latin typeface="Calibri" pitchFamily="34" charset="0"/>
                <a:ea typeface="Calibri" pitchFamily="34" charset="-122"/>
                <a:cs typeface="Calibri" pitchFamily="34" charset="-120"/>
              </a:rPr>
              <a:t>esponsables </a:t>
            </a:r>
            <a:pPr algn="ctr" indent="0" marL="0">
              <a:buNone/>
            </a:pPr>
            <a:r>
              <a:rPr lang="en-US" sz="1200" b="1" dirty="0">
                <a:solidFill>
                  <a:srgbClr val="1F2937"/>
                </a:solidFill>
                <a:latin typeface="Calibri" pitchFamily="34" charset="0"/>
                <a:ea typeface="Calibri" pitchFamily="34" charset="-122"/>
                <a:cs typeface="Calibri" pitchFamily="34" charset="-120"/>
              </a:rPr>
              <a:t>S</a:t>
            </a:r>
            <a:pPr algn="ctr" indent="0" marL="0">
              <a:buNone/>
            </a:pPr>
            <a:r>
              <a:rPr lang="en-US" sz="1200" dirty="0">
                <a:solidFill>
                  <a:srgbClr val="1F2937"/>
                </a:solidFill>
                <a:latin typeface="Calibri" pitchFamily="34" charset="0"/>
                <a:ea typeface="Calibri" pitchFamily="34" charset="-122"/>
                <a:cs typeface="Calibri" pitchFamily="34" charset="-120"/>
              </a:rPr>
              <a:t>ûreté de </a:t>
            </a:r>
            <a:pPr algn="ctr" indent="0" marL="0">
              <a:buNone/>
            </a:pPr>
            <a:r>
              <a:rPr lang="en-US" sz="1200" b="1" dirty="0">
                <a:solidFill>
                  <a:srgbClr val="1F2937"/>
                </a:solidFill>
                <a:latin typeface="Calibri" pitchFamily="34" charset="0"/>
                <a:ea typeface="Calibri" pitchFamily="34" charset="-122"/>
                <a:cs typeface="Calibri" pitchFamily="34" charset="-120"/>
              </a:rPr>
              <a:t>C</a:t>
            </a:r>
            <a:pPr algn="ctr" indent="0" marL="0">
              <a:buNone/>
            </a:pPr>
            <a:r>
              <a:rPr lang="en-US" sz="1200" dirty="0">
                <a:solidFill>
                  <a:srgbClr val="1F2937"/>
                </a:solidFill>
                <a:latin typeface="Calibri" pitchFamily="34" charset="0"/>
                <a:ea typeface="Calibri" pitchFamily="34" charset="-122"/>
                <a:cs typeface="Calibri" pitchFamily="34" charset="-120"/>
              </a:rPr>
              <a:t>ôte d'</a:t>
            </a:r>
            <a:pPr algn="ctr" indent="0" marL="0">
              <a:buNone/>
            </a:pPr>
            <a:r>
              <a:rPr lang="en-US" sz="1200" b="1" dirty="0">
                <a:solidFill>
                  <a:srgbClr val="1F2937"/>
                </a:solidFill>
                <a:latin typeface="Calibri" pitchFamily="34" charset="0"/>
                <a:ea typeface="Calibri" pitchFamily="34" charset="-122"/>
                <a:cs typeface="Calibri" pitchFamily="34" charset="-120"/>
              </a:rPr>
              <a:t>I</a:t>
            </a:r>
            <a:pPr algn="ctr" indent="0" marL="0">
              <a:buNone/>
            </a:pPr>
            <a:r>
              <a:rPr lang="en-US" sz="1200" dirty="0">
                <a:solidFill>
                  <a:srgbClr val="1F2937"/>
                </a:solidFill>
                <a:latin typeface="Calibri" pitchFamily="34" charset="0"/>
                <a:ea typeface="Calibri" pitchFamily="34" charset="-122"/>
                <a:cs typeface="Calibri" pitchFamily="34" charset="-120"/>
              </a:rPr>
              <a:t>voire</a:t>
            </a:r>
            <a:endParaRPr lang="en-US" sz="1200" dirty="0"/>
          </a:p>
        </p:txBody>
      </p:sp>
      <p:sp>
        <p:nvSpPr>
          <p:cNvPr id="16" name="Text 12"/>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27/10/26   |   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000" dirty="0">
                <a:solidFill>
                  <a:srgbClr val="FFFFFF"/>
                </a:solidFill>
                <a:latin typeface="Arial Narrow" pitchFamily="34" charset="0"/>
                <a:ea typeface="Arial Narrow" pitchFamily="34" charset="-122"/>
                <a:cs typeface="Arial Narrow" pitchFamily="34" charset="-120"/>
              </a:rPr>
              <a:t>III</a:t>
            </a:r>
            <a:endParaRPr lang="en-US" sz="20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Niger</a:t>
            </a:r>
            <a:endParaRPr lang="en-US" sz="2800" dirty="0"/>
          </a:p>
        </p:txBody>
      </p:sp>
      <p:sp>
        <p:nvSpPr>
          <p:cNvPr id="4" name="Shape 2"/>
          <p:cNvSpPr/>
          <p:nvPr/>
        </p:nvSpPr>
        <p:spPr>
          <a:xfrm>
            <a:off x="10881360" y="274320"/>
            <a:ext cx="905256" cy="188976"/>
          </a:xfrm>
          <a:prstGeom prst="rect">
            <a:avLst/>
          </a:prstGeom>
          <a:solidFill>
            <a:srgbClr val="E05206"/>
          </a:solidFill>
          <a:ln w="12700">
            <a:solidFill>
              <a:srgbClr val="E05206"/>
            </a:solidFill>
            <a:prstDash val="solid"/>
          </a:ln>
        </p:spPr>
      </p:sp>
      <p:sp>
        <p:nvSpPr>
          <p:cNvPr id="5" name="Shape 3"/>
          <p:cNvSpPr/>
          <p:nvPr/>
        </p:nvSpPr>
        <p:spPr>
          <a:xfrm>
            <a:off x="10881360" y="463296"/>
            <a:ext cx="905256" cy="188976"/>
          </a:xfrm>
          <a:prstGeom prst="rect">
            <a:avLst/>
          </a:prstGeom>
          <a:solidFill>
            <a:srgbClr val="FFFFFF"/>
          </a:solidFill>
          <a:ln w="12700">
            <a:solidFill>
              <a:srgbClr val="FFFFFF"/>
            </a:solidFill>
            <a:prstDash val="solid"/>
          </a:ln>
        </p:spPr>
      </p:sp>
      <p:sp>
        <p:nvSpPr>
          <p:cNvPr id="6" name="Shape 4"/>
          <p:cNvSpPr/>
          <p:nvPr/>
        </p:nvSpPr>
        <p:spPr>
          <a:xfrm>
            <a:off x="10881360" y="652272"/>
            <a:ext cx="905256" cy="188976"/>
          </a:xfrm>
          <a:prstGeom prst="rect">
            <a:avLst/>
          </a:prstGeom>
          <a:solidFill>
            <a:srgbClr val="0DB02B"/>
          </a:solidFill>
          <a:ln w="12700">
            <a:solidFill>
              <a:srgbClr val="0DB02B"/>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FRAPPE DE DRONE AU NIGER : NIAMEY ACCUSE LE TCHAD, N’DJAMENA REJETTE LES ACCUSATIONS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Journal du Tchad · Tchadinfos · ANP — Agence Nigérienne Presse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13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LE NIGER AFFIRME QU'UNE FRAPPE DE DRONE DU TCHAD A TUÉ DEUX CIVILS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Africanews — Chaine panafricaine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9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(EN) NIGER ACCUSES CHAD OF DEADLY DRONE ATTACK IN WHICH TWO CIVILIANS DIED</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Africanews</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8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LE NIGER DÉNONCE UNE ATTAQUE DE DRONE DU TCHAD AVEC «L’APPUI DE LA FRANCE»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RFI Afrique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5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LANCEMENT OFFICIEL DE LA CARAVANE DE SENSIBILISATION ET DE FORMATION SUR LES BONNES PRATIQUES DE GREFFES ET PARQUETS ET L’ÉTABLISSEMENT DES PIÈCES D’EXÉCUTION</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ANP — Agence Nigérienne Presse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20 h UTC</a:t>
            </a:r>
            <a:endParaRPr lang="en-US" sz="1300" dirty="0"/>
          </a:p>
        </p:txBody>
      </p:sp>
      <p:pic>
        <p:nvPicPr>
          <p:cNvPr id="10" name="Image 0" descr="/home/runner/work/SentiqS/SentiqS/scripts/assets/grsci/logo-grsci.png">    </p:cNvPr>
          <p:cNvPicPr>
            <a:picLocks noChangeAspect="1"/>
          </p:cNvPicPr>
          <p:nvPr/>
        </p:nvPicPr>
        <p:blipFill>
          <a:blip r:embed="rId6"/>
          <a:stretch>
            <a:fillRect/>
          </a:stretch>
        </p:blipFill>
        <p:spPr>
          <a:xfrm>
            <a:off x="411480" y="5989320"/>
            <a:ext cx="548640" cy="630936"/>
          </a:xfrm>
          <a:prstGeom prst="rect">
            <a:avLst/>
          </a:prstGeom>
        </p:spPr>
      </p:pic>
      <p:sp>
        <p:nvSpPr>
          <p:cNvPr id="11" name="Text 8"/>
          <p:cNvSpPr/>
          <p:nvPr/>
        </p:nvSpPr>
        <p:spPr>
          <a:xfrm>
            <a:off x="3108960" y="6217920"/>
            <a:ext cx="4206240" cy="329184"/>
          </a:xfrm>
          <a:prstGeom prst="rect">
            <a:avLst/>
          </a:prstGeom>
          <a:noFill/>
          <a:ln w="9525">
            <a:solidFill>
              <a:srgbClr val="1F6B5E"/>
            </a:solidFill>
          </a:ln>
        </p:spPr>
        <p:txBody>
          <a:bodyPr wrap="square"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G</a:t>
            </a:r>
            <a:pPr algn="ctr" indent="0" marL="0">
              <a:buNone/>
            </a:pPr>
            <a:r>
              <a:rPr lang="en-US" sz="1200" dirty="0">
                <a:solidFill>
                  <a:srgbClr val="1F2937"/>
                </a:solidFill>
                <a:latin typeface="Calibri" pitchFamily="34" charset="0"/>
                <a:ea typeface="Calibri" pitchFamily="34" charset="-122"/>
                <a:cs typeface="Calibri" pitchFamily="34" charset="-120"/>
              </a:rPr>
              <a:t>roupe des </a:t>
            </a:r>
            <a:pPr algn="ctr" indent="0" marL="0">
              <a:buNone/>
            </a:pPr>
            <a:r>
              <a:rPr lang="en-US" sz="1200" b="1" dirty="0">
                <a:solidFill>
                  <a:srgbClr val="1F2937"/>
                </a:solidFill>
                <a:latin typeface="Calibri" pitchFamily="34" charset="0"/>
                <a:ea typeface="Calibri" pitchFamily="34" charset="-122"/>
                <a:cs typeface="Calibri" pitchFamily="34" charset="-120"/>
              </a:rPr>
              <a:t>R</a:t>
            </a:r>
            <a:pPr algn="ctr" indent="0" marL="0">
              <a:buNone/>
            </a:pPr>
            <a:r>
              <a:rPr lang="en-US" sz="1200" dirty="0">
                <a:solidFill>
                  <a:srgbClr val="1F2937"/>
                </a:solidFill>
                <a:latin typeface="Calibri" pitchFamily="34" charset="0"/>
                <a:ea typeface="Calibri" pitchFamily="34" charset="-122"/>
                <a:cs typeface="Calibri" pitchFamily="34" charset="-120"/>
              </a:rPr>
              <a:t>esponsables </a:t>
            </a:r>
            <a:pPr algn="ctr" indent="0" marL="0">
              <a:buNone/>
            </a:pPr>
            <a:r>
              <a:rPr lang="en-US" sz="1200" b="1" dirty="0">
                <a:solidFill>
                  <a:srgbClr val="1F2937"/>
                </a:solidFill>
                <a:latin typeface="Calibri" pitchFamily="34" charset="0"/>
                <a:ea typeface="Calibri" pitchFamily="34" charset="-122"/>
                <a:cs typeface="Calibri" pitchFamily="34" charset="-120"/>
              </a:rPr>
              <a:t>S</a:t>
            </a:r>
            <a:pPr algn="ctr" indent="0" marL="0">
              <a:buNone/>
            </a:pPr>
            <a:r>
              <a:rPr lang="en-US" sz="1200" dirty="0">
                <a:solidFill>
                  <a:srgbClr val="1F2937"/>
                </a:solidFill>
                <a:latin typeface="Calibri" pitchFamily="34" charset="0"/>
                <a:ea typeface="Calibri" pitchFamily="34" charset="-122"/>
                <a:cs typeface="Calibri" pitchFamily="34" charset="-120"/>
              </a:rPr>
              <a:t>ûreté de </a:t>
            </a:r>
            <a:pPr algn="ctr" indent="0" marL="0">
              <a:buNone/>
            </a:pPr>
            <a:r>
              <a:rPr lang="en-US" sz="1200" b="1" dirty="0">
                <a:solidFill>
                  <a:srgbClr val="1F2937"/>
                </a:solidFill>
                <a:latin typeface="Calibri" pitchFamily="34" charset="0"/>
                <a:ea typeface="Calibri" pitchFamily="34" charset="-122"/>
                <a:cs typeface="Calibri" pitchFamily="34" charset="-120"/>
              </a:rPr>
              <a:t>C</a:t>
            </a:r>
            <a:pPr algn="ctr" indent="0" marL="0">
              <a:buNone/>
            </a:pPr>
            <a:r>
              <a:rPr lang="en-US" sz="1200" dirty="0">
                <a:solidFill>
                  <a:srgbClr val="1F2937"/>
                </a:solidFill>
                <a:latin typeface="Calibri" pitchFamily="34" charset="0"/>
                <a:ea typeface="Calibri" pitchFamily="34" charset="-122"/>
                <a:cs typeface="Calibri" pitchFamily="34" charset="-120"/>
              </a:rPr>
              <a:t>ôte d'</a:t>
            </a:r>
            <a:pPr algn="ctr" indent="0" marL="0">
              <a:buNone/>
            </a:pPr>
            <a:r>
              <a:rPr lang="en-US" sz="1200" b="1" dirty="0">
                <a:solidFill>
                  <a:srgbClr val="1F2937"/>
                </a:solidFill>
                <a:latin typeface="Calibri" pitchFamily="34" charset="0"/>
                <a:ea typeface="Calibri" pitchFamily="34" charset="-122"/>
                <a:cs typeface="Calibri" pitchFamily="34" charset="-120"/>
              </a:rPr>
              <a:t>I</a:t>
            </a:r>
            <a:pPr algn="ctr" indent="0" marL="0">
              <a:buNone/>
            </a:pPr>
            <a:r>
              <a:rPr lang="en-US" sz="1200" dirty="0">
                <a:solidFill>
                  <a:srgbClr val="1F2937"/>
                </a:solidFill>
                <a:latin typeface="Calibri" pitchFamily="34" charset="0"/>
                <a:ea typeface="Calibri" pitchFamily="34" charset="-122"/>
                <a:cs typeface="Calibri" pitchFamily="34" charset="-120"/>
              </a:rPr>
              <a:t>voire</a:t>
            </a:r>
            <a:endParaRPr lang="en-US" sz="1200" dirty="0"/>
          </a:p>
        </p:txBody>
      </p:sp>
      <p:sp>
        <p:nvSpPr>
          <p:cNvPr id="12"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27/10/26   |   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000" dirty="0">
                <a:solidFill>
                  <a:srgbClr val="FFFFFF"/>
                </a:solidFill>
                <a:latin typeface="Arial Narrow" pitchFamily="34" charset="0"/>
                <a:ea typeface="Arial Narrow" pitchFamily="34" charset="-122"/>
                <a:cs typeface="Arial Narrow" pitchFamily="34" charset="-120"/>
              </a:rPr>
              <a:t>III</a:t>
            </a:r>
            <a:endParaRPr lang="en-US" sz="20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Niger</a:t>
            </a:r>
            <a:endParaRPr lang="en-US" sz="2800" dirty="0"/>
          </a:p>
        </p:txBody>
      </p:sp>
      <p:sp>
        <p:nvSpPr>
          <p:cNvPr id="4" name="Shape 2"/>
          <p:cNvSpPr/>
          <p:nvPr/>
        </p:nvSpPr>
        <p:spPr>
          <a:xfrm>
            <a:off x="10881360" y="274320"/>
            <a:ext cx="905256" cy="188976"/>
          </a:xfrm>
          <a:prstGeom prst="rect">
            <a:avLst/>
          </a:prstGeom>
          <a:solidFill>
            <a:srgbClr val="E05206"/>
          </a:solidFill>
          <a:ln w="12700">
            <a:solidFill>
              <a:srgbClr val="E05206"/>
            </a:solidFill>
            <a:prstDash val="solid"/>
          </a:ln>
        </p:spPr>
      </p:sp>
      <p:sp>
        <p:nvSpPr>
          <p:cNvPr id="5" name="Shape 3"/>
          <p:cNvSpPr/>
          <p:nvPr/>
        </p:nvSpPr>
        <p:spPr>
          <a:xfrm>
            <a:off x="10881360" y="463296"/>
            <a:ext cx="905256" cy="188976"/>
          </a:xfrm>
          <a:prstGeom prst="rect">
            <a:avLst/>
          </a:prstGeom>
          <a:solidFill>
            <a:srgbClr val="FFFFFF"/>
          </a:solidFill>
          <a:ln w="12700">
            <a:solidFill>
              <a:srgbClr val="FFFFFF"/>
            </a:solidFill>
            <a:prstDash val="solid"/>
          </a:ln>
        </p:spPr>
      </p:sp>
      <p:sp>
        <p:nvSpPr>
          <p:cNvPr id="6" name="Shape 4"/>
          <p:cNvSpPr/>
          <p:nvPr/>
        </p:nvSpPr>
        <p:spPr>
          <a:xfrm>
            <a:off x="10881360" y="652272"/>
            <a:ext cx="905256" cy="188976"/>
          </a:xfrm>
          <a:prstGeom prst="rect">
            <a:avLst/>
          </a:prstGeom>
          <a:solidFill>
            <a:srgbClr val="0DB02B"/>
          </a:solidFill>
          <a:ln w="12700">
            <a:solidFill>
              <a:srgbClr val="0DB02B"/>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EN BREF: ATTAQUE, AGRICULTURE, SPORT …LES INFORMATIONS DE LA SEMAINE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Studio Kalangou</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14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AVIS À MANIFESTATION D’INTÉRÊT N°003/CA/TAFOUK TV/2026</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Le Sahel</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14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AGADEZ : LE GOUVERNEUR PRÉSIDE UNE RÉUNION ÉLARGIE DU CONSEIL RÉGIONAL DE SÉCURITÉ</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ANP — Agence Nigérienne Presse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13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ALERTE – LA PRÉSIDENCE ANNONCE L’ENVOI D’UNITÉS DE L’ARMÉE NATIONALE AU NIGER</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tsa-algerie.com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15 h UTC</a:t>
            </a:r>
            <a:endParaRPr lang="en-US" sz="1300" dirty="0"/>
          </a:p>
        </p:txBody>
      </p:sp>
      <p:pic>
        <p:nvPicPr>
          <p:cNvPr id="10" name="Image 0" descr="/home/runner/work/SentiqS/SentiqS/scripts/assets/grsci/logo-grsci.png">    </p:cNvPr>
          <p:cNvPicPr>
            <a:picLocks noChangeAspect="1"/>
          </p:cNvPicPr>
          <p:nvPr/>
        </p:nvPicPr>
        <p:blipFill>
          <a:blip r:embed="rId5"/>
          <a:stretch>
            <a:fillRect/>
          </a:stretch>
        </p:blipFill>
        <p:spPr>
          <a:xfrm>
            <a:off x="411480" y="5989320"/>
            <a:ext cx="548640" cy="630936"/>
          </a:xfrm>
          <a:prstGeom prst="rect">
            <a:avLst/>
          </a:prstGeom>
        </p:spPr>
      </p:pic>
      <p:sp>
        <p:nvSpPr>
          <p:cNvPr id="11" name="Text 8"/>
          <p:cNvSpPr/>
          <p:nvPr/>
        </p:nvSpPr>
        <p:spPr>
          <a:xfrm>
            <a:off x="3108960" y="6217920"/>
            <a:ext cx="4206240" cy="329184"/>
          </a:xfrm>
          <a:prstGeom prst="rect">
            <a:avLst/>
          </a:prstGeom>
          <a:noFill/>
          <a:ln w="9525">
            <a:solidFill>
              <a:srgbClr val="1F6B5E"/>
            </a:solidFill>
          </a:ln>
        </p:spPr>
        <p:txBody>
          <a:bodyPr wrap="square"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G</a:t>
            </a:r>
            <a:pPr algn="ctr" indent="0" marL="0">
              <a:buNone/>
            </a:pPr>
            <a:r>
              <a:rPr lang="en-US" sz="1200" dirty="0">
                <a:solidFill>
                  <a:srgbClr val="1F2937"/>
                </a:solidFill>
                <a:latin typeface="Calibri" pitchFamily="34" charset="0"/>
                <a:ea typeface="Calibri" pitchFamily="34" charset="-122"/>
                <a:cs typeface="Calibri" pitchFamily="34" charset="-120"/>
              </a:rPr>
              <a:t>roupe des </a:t>
            </a:r>
            <a:pPr algn="ctr" indent="0" marL="0">
              <a:buNone/>
            </a:pPr>
            <a:r>
              <a:rPr lang="en-US" sz="1200" b="1" dirty="0">
                <a:solidFill>
                  <a:srgbClr val="1F2937"/>
                </a:solidFill>
                <a:latin typeface="Calibri" pitchFamily="34" charset="0"/>
                <a:ea typeface="Calibri" pitchFamily="34" charset="-122"/>
                <a:cs typeface="Calibri" pitchFamily="34" charset="-120"/>
              </a:rPr>
              <a:t>R</a:t>
            </a:r>
            <a:pPr algn="ctr" indent="0" marL="0">
              <a:buNone/>
            </a:pPr>
            <a:r>
              <a:rPr lang="en-US" sz="1200" dirty="0">
                <a:solidFill>
                  <a:srgbClr val="1F2937"/>
                </a:solidFill>
                <a:latin typeface="Calibri" pitchFamily="34" charset="0"/>
                <a:ea typeface="Calibri" pitchFamily="34" charset="-122"/>
                <a:cs typeface="Calibri" pitchFamily="34" charset="-120"/>
              </a:rPr>
              <a:t>esponsables </a:t>
            </a:r>
            <a:pPr algn="ctr" indent="0" marL="0">
              <a:buNone/>
            </a:pPr>
            <a:r>
              <a:rPr lang="en-US" sz="1200" b="1" dirty="0">
                <a:solidFill>
                  <a:srgbClr val="1F2937"/>
                </a:solidFill>
                <a:latin typeface="Calibri" pitchFamily="34" charset="0"/>
                <a:ea typeface="Calibri" pitchFamily="34" charset="-122"/>
                <a:cs typeface="Calibri" pitchFamily="34" charset="-120"/>
              </a:rPr>
              <a:t>S</a:t>
            </a:r>
            <a:pPr algn="ctr" indent="0" marL="0">
              <a:buNone/>
            </a:pPr>
            <a:r>
              <a:rPr lang="en-US" sz="1200" dirty="0">
                <a:solidFill>
                  <a:srgbClr val="1F2937"/>
                </a:solidFill>
                <a:latin typeface="Calibri" pitchFamily="34" charset="0"/>
                <a:ea typeface="Calibri" pitchFamily="34" charset="-122"/>
                <a:cs typeface="Calibri" pitchFamily="34" charset="-120"/>
              </a:rPr>
              <a:t>ûreté de </a:t>
            </a:r>
            <a:pPr algn="ctr" indent="0" marL="0">
              <a:buNone/>
            </a:pPr>
            <a:r>
              <a:rPr lang="en-US" sz="1200" b="1" dirty="0">
                <a:solidFill>
                  <a:srgbClr val="1F2937"/>
                </a:solidFill>
                <a:latin typeface="Calibri" pitchFamily="34" charset="0"/>
                <a:ea typeface="Calibri" pitchFamily="34" charset="-122"/>
                <a:cs typeface="Calibri" pitchFamily="34" charset="-120"/>
              </a:rPr>
              <a:t>C</a:t>
            </a:r>
            <a:pPr algn="ctr" indent="0" marL="0">
              <a:buNone/>
            </a:pPr>
            <a:r>
              <a:rPr lang="en-US" sz="1200" dirty="0">
                <a:solidFill>
                  <a:srgbClr val="1F2937"/>
                </a:solidFill>
                <a:latin typeface="Calibri" pitchFamily="34" charset="0"/>
                <a:ea typeface="Calibri" pitchFamily="34" charset="-122"/>
                <a:cs typeface="Calibri" pitchFamily="34" charset="-120"/>
              </a:rPr>
              <a:t>ôte d'</a:t>
            </a:r>
            <a:pPr algn="ctr" indent="0" marL="0">
              <a:buNone/>
            </a:pPr>
            <a:r>
              <a:rPr lang="en-US" sz="1200" b="1" dirty="0">
                <a:solidFill>
                  <a:srgbClr val="1F2937"/>
                </a:solidFill>
                <a:latin typeface="Calibri" pitchFamily="34" charset="0"/>
                <a:ea typeface="Calibri" pitchFamily="34" charset="-122"/>
                <a:cs typeface="Calibri" pitchFamily="34" charset="-120"/>
              </a:rPr>
              <a:t>I</a:t>
            </a:r>
            <a:pPr algn="ctr" indent="0" marL="0">
              <a:buNone/>
            </a:pPr>
            <a:r>
              <a:rPr lang="en-US" sz="1200" dirty="0">
                <a:solidFill>
                  <a:srgbClr val="1F2937"/>
                </a:solidFill>
                <a:latin typeface="Calibri" pitchFamily="34" charset="0"/>
                <a:ea typeface="Calibri" pitchFamily="34" charset="-122"/>
                <a:cs typeface="Calibri" pitchFamily="34" charset="-120"/>
              </a:rPr>
              <a:t>voire</a:t>
            </a:r>
            <a:endParaRPr lang="en-US" sz="1200" dirty="0"/>
          </a:p>
        </p:txBody>
      </p:sp>
      <p:sp>
        <p:nvSpPr>
          <p:cNvPr id="12"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27/10/26   |   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IV</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Ghana</a:t>
            </a:r>
            <a:endParaRPr lang="en-US" sz="2800" dirty="0"/>
          </a:p>
        </p:txBody>
      </p:sp>
      <p:sp>
        <p:nvSpPr>
          <p:cNvPr id="4" name="Shape 2"/>
          <p:cNvSpPr/>
          <p:nvPr/>
        </p:nvSpPr>
        <p:spPr>
          <a:xfrm>
            <a:off x="10881360" y="274320"/>
            <a:ext cx="905256" cy="188976"/>
          </a:xfrm>
          <a:prstGeom prst="rect">
            <a:avLst/>
          </a:prstGeom>
          <a:solidFill>
            <a:srgbClr val="CE1126"/>
          </a:solidFill>
          <a:ln w="12700">
            <a:solidFill>
              <a:srgbClr val="CE1126"/>
            </a:solidFill>
            <a:prstDash val="solid"/>
          </a:ln>
        </p:spPr>
      </p:sp>
      <p:sp>
        <p:nvSpPr>
          <p:cNvPr id="5" name="Shape 3"/>
          <p:cNvSpPr/>
          <p:nvPr/>
        </p:nvSpPr>
        <p:spPr>
          <a:xfrm>
            <a:off x="10881360" y="463296"/>
            <a:ext cx="905256" cy="188976"/>
          </a:xfrm>
          <a:prstGeom prst="rect">
            <a:avLst/>
          </a:prstGeom>
          <a:solidFill>
            <a:srgbClr val="FCD116"/>
          </a:solidFill>
          <a:ln w="12700">
            <a:solidFill>
              <a:srgbClr val="FCD116"/>
            </a:solidFill>
            <a:prstDash val="solid"/>
          </a:ln>
        </p:spPr>
      </p:sp>
      <p:sp>
        <p:nvSpPr>
          <p:cNvPr id="6" name="Shape 4"/>
          <p:cNvSpPr/>
          <p:nvPr/>
        </p:nvSpPr>
        <p:spPr>
          <a:xfrm>
            <a:off x="10881360" y="652272"/>
            <a:ext cx="905256" cy="188976"/>
          </a:xfrm>
          <a:prstGeom prst="rect">
            <a:avLst/>
          </a:prstGeom>
          <a:solidFill>
            <a:srgbClr val="006B3F"/>
          </a:solidFill>
          <a:ln w="12700">
            <a:solidFill>
              <a:srgbClr val="006B3F"/>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moyenne (incident vérifié le plus récent : 120 jours ; 2 signaux du jour)</a:t>
            </a:r>
            <a:endParaRPr lang="en-US" sz="1100" dirty="0"/>
          </a:p>
        </p:txBody>
      </p:sp>
      <p:sp>
        <p:nvSpPr>
          <p:cNvPr id="10" name="Text 8"/>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Seven shot dead by gunmen at church funeral in Jordan, officials say</a:t>
            </a:r>
            <a:endParaRPr lang="en-US" sz="2200" dirty="0"/>
          </a:p>
        </p:txBody>
      </p:sp>
      <p:sp>
        <p:nvSpPr>
          <p:cNvPr id="11" name="Text 9"/>
          <p:cNvSpPr/>
          <p:nvPr/>
        </p:nvSpPr>
        <p:spPr>
          <a:xfrm>
            <a:off x="640080" y="2029968"/>
            <a:ext cx="681228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vendredi 23 octobre 2026. Lieu : Ghana. Actualité sécuritaire. Une seule source à ce stade (JoyOnline)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i="1" dirty="0">
                <a:solidFill>
                  <a:srgbClr val="6B7280"/>
                </a:solidFill>
                <a:latin typeface="Calibri" pitchFamily="34" charset="0"/>
                <a:ea typeface="Calibri" pitchFamily="34" charset="-122"/>
                <a:cs typeface="Calibri" pitchFamily="34" charset="-120"/>
              </a:rPr>
              <a:t>Les médias n'en publient que le titre dans leur flux : le détail est à lire dans l'article (lien ci-dessous).</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Menace armée sur les axes et localités de la zone : réévaluer les déplacements terrestres (horaires, convois, itinéraires de repli) et les consignes des sites et des personnels présents à proximité.</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JoyOnline</a:t>
            </a:r>
            <a:pPr indent="0" marL="0">
              <a:spcAft>
                <a:spcPts val="300"/>
              </a:spcAft>
              <a:buNone/>
            </a:pPr>
            <a:r>
              <a:rPr lang="en-US" sz="1400" dirty="0">
                <a:solidFill>
                  <a:srgbClr val="1F2937"/>
                </a:solidFill>
                <a:latin typeface="Calibri" pitchFamily="34" charset="0"/>
                <a:ea typeface="Calibri" pitchFamily="34" charset="-122"/>
                <a:cs typeface="Calibri" pitchFamily="34" charset="-120"/>
              </a:rPr>
              <a:t> — 23 octobre 2026, 18 h UTC</a:t>
            </a:r>
            <a:endParaRPr lang="en-US" sz="1400" dirty="0"/>
          </a:p>
        </p:txBody>
      </p:sp>
      <p:pic>
        <p:nvPicPr>
          <p:cNvPr id="12" name="Image 0" descr="preencoded.png">
            <a:hlinkClick r:id="rId3" tooltip=""/>
          </p:cNvPr>
          <p:cNvPicPr>
            <a:picLocks noChangeAspect="1"/>
          </p:cNvPicPr>
          <p:nvPr/>
        </p:nvPicPr>
        <p:blipFill>
          <a:blip r:embed="rId2"/>
          <a:stretch>
            <a:fillRect/>
          </a:stretch>
        </p:blipFill>
        <p:spPr>
          <a:xfrm>
            <a:off x="7635240" y="2075688"/>
            <a:ext cx="4114800" cy="2160270"/>
          </a:xfrm>
          <a:prstGeom prst="rect">
            <a:avLst/>
          </a:prstGeom>
        </p:spPr>
      </p:pic>
      <p:sp>
        <p:nvSpPr>
          <p:cNvPr id="13" name="Text 10"/>
          <p:cNvSpPr/>
          <p:nvPr/>
        </p:nvSpPr>
        <p:spPr>
          <a:xfrm>
            <a:off x="7635240" y="4272534"/>
            <a:ext cx="4114800" cy="256032"/>
          </a:xfrm>
          <a:prstGeom prst="rect">
            <a:avLst/>
          </a:prstGeom>
          <a:noFill/>
          <a:ln/>
        </p:spPr>
        <p:txBody>
          <a:bodyPr wrap="square" rtlCol="0" anchor="ctr"/>
          <a:lstStyle/>
          <a:p>
            <a:pPr algn="r" indent="0" marL="0">
              <a:buNone/>
            </a:pPr>
            <a:r>
              <a:rPr lang="en-US" sz="9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Photo : © myjoyonline.com</a:t>
            </a:r>
            <a:endParaRPr lang="en-US" sz="900" dirty="0"/>
          </a:p>
        </p:txBody>
      </p:sp>
      <p:pic>
        <p:nvPicPr>
          <p:cNvPr id="14" name="Image 1" descr="/home/runner/work/SentiqS/SentiqS/scripts/assets/grsci/logo-grsci.png">    </p:cNvPr>
          <p:cNvPicPr>
            <a:picLocks noChangeAspect="1"/>
          </p:cNvPicPr>
          <p:nvPr/>
        </p:nvPicPr>
        <p:blipFill>
          <a:blip r:embed="rId5"/>
          <a:stretch>
            <a:fillRect/>
          </a:stretch>
        </p:blipFill>
        <p:spPr>
          <a:xfrm>
            <a:off x="411480" y="5989320"/>
            <a:ext cx="548640" cy="630936"/>
          </a:xfrm>
          <a:prstGeom prst="rect">
            <a:avLst/>
          </a:prstGeom>
        </p:spPr>
      </p:pic>
      <p:sp>
        <p:nvSpPr>
          <p:cNvPr id="15" name="Text 11"/>
          <p:cNvSpPr/>
          <p:nvPr/>
        </p:nvSpPr>
        <p:spPr>
          <a:xfrm>
            <a:off x="3108960" y="6217920"/>
            <a:ext cx="4206240" cy="329184"/>
          </a:xfrm>
          <a:prstGeom prst="rect">
            <a:avLst/>
          </a:prstGeom>
          <a:noFill/>
          <a:ln w="9525">
            <a:solidFill>
              <a:srgbClr val="1F6B5E"/>
            </a:solidFill>
          </a:ln>
        </p:spPr>
        <p:txBody>
          <a:bodyPr wrap="square"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G</a:t>
            </a:r>
            <a:pPr algn="ctr" indent="0" marL="0">
              <a:buNone/>
            </a:pPr>
            <a:r>
              <a:rPr lang="en-US" sz="1200" dirty="0">
                <a:solidFill>
                  <a:srgbClr val="1F2937"/>
                </a:solidFill>
                <a:latin typeface="Calibri" pitchFamily="34" charset="0"/>
                <a:ea typeface="Calibri" pitchFamily="34" charset="-122"/>
                <a:cs typeface="Calibri" pitchFamily="34" charset="-120"/>
              </a:rPr>
              <a:t>roupe des </a:t>
            </a:r>
            <a:pPr algn="ctr" indent="0" marL="0">
              <a:buNone/>
            </a:pPr>
            <a:r>
              <a:rPr lang="en-US" sz="1200" b="1" dirty="0">
                <a:solidFill>
                  <a:srgbClr val="1F2937"/>
                </a:solidFill>
                <a:latin typeface="Calibri" pitchFamily="34" charset="0"/>
                <a:ea typeface="Calibri" pitchFamily="34" charset="-122"/>
                <a:cs typeface="Calibri" pitchFamily="34" charset="-120"/>
              </a:rPr>
              <a:t>R</a:t>
            </a:r>
            <a:pPr algn="ctr" indent="0" marL="0">
              <a:buNone/>
            </a:pPr>
            <a:r>
              <a:rPr lang="en-US" sz="1200" dirty="0">
                <a:solidFill>
                  <a:srgbClr val="1F2937"/>
                </a:solidFill>
                <a:latin typeface="Calibri" pitchFamily="34" charset="0"/>
                <a:ea typeface="Calibri" pitchFamily="34" charset="-122"/>
                <a:cs typeface="Calibri" pitchFamily="34" charset="-120"/>
              </a:rPr>
              <a:t>esponsables </a:t>
            </a:r>
            <a:pPr algn="ctr" indent="0" marL="0">
              <a:buNone/>
            </a:pPr>
            <a:r>
              <a:rPr lang="en-US" sz="1200" b="1" dirty="0">
                <a:solidFill>
                  <a:srgbClr val="1F2937"/>
                </a:solidFill>
                <a:latin typeface="Calibri" pitchFamily="34" charset="0"/>
                <a:ea typeface="Calibri" pitchFamily="34" charset="-122"/>
                <a:cs typeface="Calibri" pitchFamily="34" charset="-120"/>
              </a:rPr>
              <a:t>S</a:t>
            </a:r>
            <a:pPr algn="ctr" indent="0" marL="0">
              <a:buNone/>
            </a:pPr>
            <a:r>
              <a:rPr lang="en-US" sz="1200" dirty="0">
                <a:solidFill>
                  <a:srgbClr val="1F2937"/>
                </a:solidFill>
                <a:latin typeface="Calibri" pitchFamily="34" charset="0"/>
                <a:ea typeface="Calibri" pitchFamily="34" charset="-122"/>
                <a:cs typeface="Calibri" pitchFamily="34" charset="-120"/>
              </a:rPr>
              <a:t>ûreté de </a:t>
            </a:r>
            <a:pPr algn="ctr" indent="0" marL="0">
              <a:buNone/>
            </a:pPr>
            <a:r>
              <a:rPr lang="en-US" sz="1200" b="1" dirty="0">
                <a:solidFill>
                  <a:srgbClr val="1F2937"/>
                </a:solidFill>
                <a:latin typeface="Calibri" pitchFamily="34" charset="0"/>
                <a:ea typeface="Calibri" pitchFamily="34" charset="-122"/>
                <a:cs typeface="Calibri" pitchFamily="34" charset="-120"/>
              </a:rPr>
              <a:t>C</a:t>
            </a:r>
            <a:pPr algn="ctr" indent="0" marL="0">
              <a:buNone/>
            </a:pPr>
            <a:r>
              <a:rPr lang="en-US" sz="1200" dirty="0">
                <a:solidFill>
                  <a:srgbClr val="1F2937"/>
                </a:solidFill>
                <a:latin typeface="Calibri" pitchFamily="34" charset="0"/>
                <a:ea typeface="Calibri" pitchFamily="34" charset="-122"/>
                <a:cs typeface="Calibri" pitchFamily="34" charset="-120"/>
              </a:rPr>
              <a:t>ôte d'</a:t>
            </a:r>
            <a:pPr algn="ctr" indent="0" marL="0">
              <a:buNone/>
            </a:pPr>
            <a:r>
              <a:rPr lang="en-US" sz="1200" b="1" dirty="0">
                <a:solidFill>
                  <a:srgbClr val="1F2937"/>
                </a:solidFill>
                <a:latin typeface="Calibri" pitchFamily="34" charset="0"/>
                <a:ea typeface="Calibri" pitchFamily="34" charset="-122"/>
                <a:cs typeface="Calibri" pitchFamily="34" charset="-120"/>
              </a:rPr>
              <a:t>I</a:t>
            </a:r>
            <a:pPr algn="ctr" indent="0" marL="0">
              <a:buNone/>
            </a:pPr>
            <a:r>
              <a:rPr lang="en-US" sz="1200" dirty="0">
                <a:solidFill>
                  <a:srgbClr val="1F2937"/>
                </a:solidFill>
                <a:latin typeface="Calibri" pitchFamily="34" charset="0"/>
                <a:ea typeface="Calibri" pitchFamily="34" charset="-122"/>
                <a:cs typeface="Calibri" pitchFamily="34" charset="-120"/>
              </a:rPr>
              <a:t>voire</a:t>
            </a:r>
            <a:endParaRPr lang="en-US" sz="1200" dirty="0"/>
          </a:p>
        </p:txBody>
      </p:sp>
      <p:sp>
        <p:nvSpPr>
          <p:cNvPr id="16" name="Text 12"/>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27/10/26   |   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IV</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Ghana</a:t>
            </a:r>
            <a:endParaRPr lang="en-US" sz="2800" dirty="0"/>
          </a:p>
        </p:txBody>
      </p:sp>
      <p:sp>
        <p:nvSpPr>
          <p:cNvPr id="4" name="Shape 2"/>
          <p:cNvSpPr/>
          <p:nvPr/>
        </p:nvSpPr>
        <p:spPr>
          <a:xfrm>
            <a:off x="10881360" y="274320"/>
            <a:ext cx="905256" cy="188976"/>
          </a:xfrm>
          <a:prstGeom prst="rect">
            <a:avLst/>
          </a:prstGeom>
          <a:solidFill>
            <a:srgbClr val="CE1126"/>
          </a:solidFill>
          <a:ln w="12700">
            <a:solidFill>
              <a:srgbClr val="CE1126"/>
            </a:solidFill>
            <a:prstDash val="solid"/>
          </a:ln>
        </p:spPr>
      </p:sp>
      <p:sp>
        <p:nvSpPr>
          <p:cNvPr id="5" name="Shape 3"/>
          <p:cNvSpPr/>
          <p:nvPr/>
        </p:nvSpPr>
        <p:spPr>
          <a:xfrm>
            <a:off x="10881360" y="463296"/>
            <a:ext cx="905256" cy="188976"/>
          </a:xfrm>
          <a:prstGeom prst="rect">
            <a:avLst/>
          </a:prstGeom>
          <a:solidFill>
            <a:srgbClr val="FCD116"/>
          </a:solidFill>
          <a:ln w="12700">
            <a:solidFill>
              <a:srgbClr val="FCD116"/>
            </a:solidFill>
            <a:prstDash val="solid"/>
          </a:ln>
        </p:spPr>
      </p:sp>
      <p:sp>
        <p:nvSpPr>
          <p:cNvPr id="6" name="Shape 4"/>
          <p:cNvSpPr/>
          <p:nvPr/>
        </p:nvSpPr>
        <p:spPr>
          <a:xfrm>
            <a:off x="10881360" y="652272"/>
            <a:ext cx="905256" cy="188976"/>
          </a:xfrm>
          <a:prstGeom prst="rect">
            <a:avLst/>
          </a:prstGeom>
          <a:solidFill>
            <a:srgbClr val="006B3F"/>
          </a:solidFill>
          <a:ln w="12700">
            <a:solidFill>
              <a:srgbClr val="006B3F"/>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NPP WALEWALE CONSTITUENCY CONDEMNS PERSONAL ATTACKS AGAINST MP, URGES PARTY DISCIPLINE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JoyOnline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15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GAF TO STAGE LAND COMBAT FIREPOWER DEMONSTRATION AT BUNDASE ON OCTOBER 30</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JoyOnline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16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LES FORTES PLUIES, PRINCIPALE MENACE POUR LA CULTURE DU CACAO</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AllAfrica (GH)</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16 octobre 2026, 7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(EN) GHANA DEVELOPING FIRST NATIONAL ACTION PLAN ON YOUTH, PEACE AND SECURITY – OSMAN AYARIGA</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JoyOnline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18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THREE ARRESTED IN ATEWA FOREST AS NAIMOS LAUNCHES OPERATION GREEN SHIELD</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JoyOnline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17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p:txBody>
      </p:sp>
      <p:pic>
        <p:nvPicPr>
          <p:cNvPr id="10" name="Image 0" descr="/home/runner/work/SentiqS/SentiqS/scripts/assets/grsci/logo-grsci.png">    </p:cNvPr>
          <p:cNvPicPr>
            <a:picLocks noChangeAspect="1"/>
          </p:cNvPicPr>
          <p:nvPr/>
        </p:nvPicPr>
        <p:blipFill>
          <a:blip r:embed="rId6"/>
          <a:stretch>
            <a:fillRect/>
          </a:stretch>
        </p:blipFill>
        <p:spPr>
          <a:xfrm>
            <a:off x="411480" y="5989320"/>
            <a:ext cx="548640" cy="630936"/>
          </a:xfrm>
          <a:prstGeom prst="rect">
            <a:avLst/>
          </a:prstGeom>
        </p:spPr>
      </p:pic>
      <p:sp>
        <p:nvSpPr>
          <p:cNvPr id="11" name="Text 8"/>
          <p:cNvSpPr/>
          <p:nvPr/>
        </p:nvSpPr>
        <p:spPr>
          <a:xfrm>
            <a:off x="3108960" y="6217920"/>
            <a:ext cx="4206240" cy="329184"/>
          </a:xfrm>
          <a:prstGeom prst="rect">
            <a:avLst/>
          </a:prstGeom>
          <a:noFill/>
          <a:ln w="9525">
            <a:solidFill>
              <a:srgbClr val="1F6B5E"/>
            </a:solidFill>
          </a:ln>
        </p:spPr>
        <p:txBody>
          <a:bodyPr wrap="square"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G</a:t>
            </a:r>
            <a:pPr algn="ctr" indent="0" marL="0">
              <a:buNone/>
            </a:pPr>
            <a:r>
              <a:rPr lang="en-US" sz="1200" dirty="0">
                <a:solidFill>
                  <a:srgbClr val="1F2937"/>
                </a:solidFill>
                <a:latin typeface="Calibri" pitchFamily="34" charset="0"/>
                <a:ea typeface="Calibri" pitchFamily="34" charset="-122"/>
                <a:cs typeface="Calibri" pitchFamily="34" charset="-120"/>
              </a:rPr>
              <a:t>roupe des </a:t>
            </a:r>
            <a:pPr algn="ctr" indent="0" marL="0">
              <a:buNone/>
            </a:pPr>
            <a:r>
              <a:rPr lang="en-US" sz="1200" b="1" dirty="0">
                <a:solidFill>
                  <a:srgbClr val="1F2937"/>
                </a:solidFill>
                <a:latin typeface="Calibri" pitchFamily="34" charset="0"/>
                <a:ea typeface="Calibri" pitchFamily="34" charset="-122"/>
                <a:cs typeface="Calibri" pitchFamily="34" charset="-120"/>
              </a:rPr>
              <a:t>R</a:t>
            </a:r>
            <a:pPr algn="ctr" indent="0" marL="0">
              <a:buNone/>
            </a:pPr>
            <a:r>
              <a:rPr lang="en-US" sz="1200" dirty="0">
                <a:solidFill>
                  <a:srgbClr val="1F2937"/>
                </a:solidFill>
                <a:latin typeface="Calibri" pitchFamily="34" charset="0"/>
                <a:ea typeface="Calibri" pitchFamily="34" charset="-122"/>
                <a:cs typeface="Calibri" pitchFamily="34" charset="-120"/>
              </a:rPr>
              <a:t>esponsables </a:t>
            </a:r>
            <a:pPr algn="ctr" indent="0" marL="0">
              <a:buNone/>
            </a:pPr>
            <a:r>
              <a:rPr lang="en-US" sz="1200" b="1" dirty="0">
                <a:solidFill>
                  <a:srgbClr val="1F2937"/>
                </a:solidFill>
                <a:latin typeface="Calibri" pitchFamily="34" charset="0"/>
                <a:ea typeface="Calibri" pitchFamily="34" charset="-122"/>
                <a:cs typeface="Calibri" pitchFamily="34" charset="-120"/>
              </a:rPr>
              <a:t>S</a:t>
            </a:r>
            <a:pPr algn="ctr" indent="0" marL="0">
              <a:buNone/>
            </a:pPr>
            <a:r>
              <a:rPr lang="en-US" sz="1200" dirty="0">
                <a:solidFill>
                  <a:srgbClr val="1F2937"/>
                </a:solidFill>
                <a:latin typeface="Calibri" pitchFamily="34" charset="0"/>
                <a:ea typeface="Calibri" pitchFamily="34" charset="-122"/>
                <a:cs typeface="Calibri" pitchFamily="34" charset="-120"/>
              </a:rPr>
              <a:t>ûreté de </a:t>
            </a:r>
            <a:pPr algn="ctr" indent="0" marL="0">
              <a:buNone/>
            </a:pPr>
            <a:r>
              <a:rPr lang="en-US" sz="1200" b="1" dirty="0">
                <a:solidFill>
                  <a:srgbClr val="1F2937"/>
                </a:solidFill>
                <a:latin typeface="Calibri" pitchFamily="34" charset="0"/>
                <a:ea typeface="Calibri" pitchFamily="34" charset="-122"/>
                <a:cs typeface="Calibri" pitchFamily="34" charset="-120"/>
              </a:rPr>
              <a:t>C</a:t>
            </a:r>
            <a:pPr algn="ctr" indent="0" marL="0">
              <a:buNone/>
            </a:pPr>
            <a:r>
              <a:rPr lang="en-US" sz="1200" dirty="0">
                <a:solidFill>
                  <a:srgbClr val="1F2937"/>
                </a:solidFill>
                <a:latin typeface="Calibri" pitchFamily="34" charset="0"/>
                <a:ea typeface="Calibri" pitchFamily="34" charset="-122"/>
                <a:cs typeface="Calibri" pitchFamily="34" charset="-120"/>
              </a:rPr>
              <a:t>ôte d'</a:t>
            </a:r>
            <a:pPr algn="ctr" indent="0" marL="0">
              <a:buNone/>
            </a:pPr>
            <a:r>
              <a:rPr lang="en-US" sz="1200" b="1" dirty="0">
                <a:solidFill>
                  <a:srgbClr val="1F2937"/>
                </a:solidFill>
                <a:latin typeface="Calibri" pitchFamily="34" charset="0"/>
                <a:ea typeface="Calibri" pitchFamily="34" charset="-122"/>
                <a:cs typeface="Calibri" pitchFamily="34" charset="-120"/>
              </a:rPr>
              <a:t>I</a:t>
            </a:r>
            <a:pPr algn="ctr" indent="0" marL="0">
              <a:buNone/>
            </a:pPr>
            <a:r>
              <a:rPr lang="en-US" sz="1200" dirty="0">
                <a:solidFill>
                  <a:srgbClr val="1F2937"/>
                </a:solidFill>
                <a:latin typeface="Calibri" pitchFamily="34" charset="0"/>
                <a:ea typeface="Calibri" pitchFamily="34" charset="-122"/>
                <a:cs typeface="Calibri" pitchFamily="34" charset="-120"/>
              </a:rPr>
              <a:t>voire</a:t>
            </a:r>
            <a:endParaRPr lang="en-US" sz="1200" dirty="0"/>
          </a:p>
        </p:txBody>
      </p:sp>
      <p:sp>
        <p:nvSpPr>
          <p:cNvPr id="12"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27/10/26   |   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IV</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Ghana</a:t>
            </a:r>
            <a:endParaRPr lang="en-US" sz="2800" dirty="0"/>
          </a:p>
        </p:txBody>
      </p:sp>
      <p:sp>
        <p:nvSpPr>
          <p:cNvPr id="4" name="Shape 2"/>
          <p:cNvSpPr/>
          <p:nvPr/>
        </p:nvSpPr>
        <p:spPr>
          <a:xfrm>
            <a:off x="10881360" y="274320"/>
            <a:ext cx="905256" cy="188976"/>
          </a:xfrm>
          <a:prstGeom prst="rect">
            <a:avLst/>
          </a:prstGeom>
          <a:solidFill>
            <a:srgbClr val="CE1126"/>
          </a:solidFill>
          <a:ln w="12700">
            <a:solidFill>
              <a:srgbClr val="CE1126"/>
            </a:solidFill>
            <a:prstDash val="solid"/>
          </a:ln>
        </p:spPr>
      </p:sp>
      <p:sp>
        <p:nvSpPr>
          <p:cNvPr id="5" name="Shape 3"/>
          <p:cNvSpPr/>
          <p:nvPr/>
        </p:nvSpPr>
        <p:spPr>
          <a:xfrm>
            <a:off x="10881360" y="463296"/>
            <a:ext cx="905256" cy="188976"/>
          </a:xfrm>
          <a:prstGeom prst="rect">
            <a:avLst/>
          </a:prstGeom>
          <a:solidFill>
            <a:srgbClr val="FCD116"/>
          </a:solidFill>
          <a:ln w="12700">
            <a:solidFill>
              <a:srgbClr val="FCD116"/>
            </a:solidFill>
            <a:prstDash val="solid"/>
          </a:ln>
        </p:spPr>
      </p:sp>
      <p:sp>
        <p:nvSpPr>
          <p:cNvPr id="6" name="Shape 4"/>
          <p:cNvSpPr/>
          <p:nvPr/>
        </p:nvSpPr>
        <p:spPr>
          <a:xfrm>
            <a:off x="10881360" y="652272"/>
            <a:ext cx="905256" cy="188976"/>
          </a:xfrm>
          <a:prstGeom prst="rect">
            <a:avLst/>
          </a:prstGeom>
          <a:solidFill>
            <a:srgbClr val="006B3F"/>
          </a:solidFill>
          <a:ln w="12700">
            <a:solidFill>
              <a:srgbClr val="006B3F"/>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GHANA CHALLENGES UN TO TURN HISTORICAL JUSTICE PROMISES INTO ACTION</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GBC Ghana Online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15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(EN) GALAMSEY WILL PERSIST IF FINANCIERS GO UNTOUCHED — SECURITY ANALYST</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GBC Ghana Online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12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GHANA MUST OWN DIGITAL INFRASTRUCTURE TO ENSURE DATA SECURITY — APAAK</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Ghanaian Times</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8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JAMESTOWN FISHERMEN THREATEN DEMO OVER DELAYED OPERATIONALISATION OF COLD STORE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JoyOnline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7 h UTC</a:t>
            </a:r>
            <a:endParaRPr lang="en-US" sz="1300" dirty="0"/>
          </a:p>
        </p:txBody>
      </p:sp>
      <p:pic>
        <p:nvPicPr>
          <p:cNvPr id="10" name="Image 0" descr="/home/runner/work/SentiqS/SentiqS/scripts/assets/grsci/logo-grsci.png">    </p:cNvPr>
          <p:cNvPicPr>
            <a:picLocks noChangeAspect="1"/>
          </p:cNvPicPr>
          <p:nvPr/>
        </p:nvPicPr>
        <p:blipFill>
          <a:blip r:embed="rId5"/>
          <a:stretch>
            <a:fillRect/>
          </a:stretch>
        </p:blipFill>
        <p:spPr>
          <a:xfrm>
            <a:off x="411480" y="5989320"/>
            <a:ext cx="548640" cy="630936"/>
          </a:xfrm>
          <a:prstGeom prst="rect">
            <a:avLst/>
          </a:prstGeom>
        </p:spPr>
      </p:pic>
      <p:sp>
        <p:nvSpPr>
          <p:cNvPr id="11" name="Text 8"/>
          <p:cNvSpPr/>
          <p:nvPr/>
        </p:nvSpPr>
        <p:spPr>
          <a:xfrm>
            <a:off x="3108960" y="6217920"/>
            <a:ext cx="4206240" cy="329184"/>
          </a:xfrm>
          <a:prstGeom prst="rect">
            <a:avLst/>
          </a:prstGeom>
          <a:noFill/>
          <a:ln w="9525">
            <a:solidFill>
              <a:srgbClr val="1F6B5E"/>
            </a:solidFill>
          </a:ln>
        </p:spPr>
        <p:txBody>
          <a:bodyPr wrap="square"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G</a:t>
            </a:r>
            <a:pPr algn="ctr" indent="0" marL="0">
              <a:buNone/>
            </a:pPr>
            <a:r>
              <a:rPr lang="en-US" sz="1200" dirty="0">
                <a:solidFill>
                  <a:srgbClr val="1F2937"/>
                </a:solidFill>
                <a:latin typeface="Calibri" pitchFamily="34" charset="0"/>
                <a:ea typeface="Calibri" pitchFamily="34" charset="-122"/>
                <a:cs typeface="Calibri" pitchFamily="34" charset="-120"/>
              </a:rPr>
              <a:t>roupe des </a:t>
            </a:r>
            <a:pPr algn="ctr" indent="0" marL="0">
              <a:buNone/>
            </a:pPr>
            <a:r>
              <a:rPr lang="en-US" sz="1200" b="1" dirty="0">
                <a:solidFill>
                  <a:srgbClr val="1F2937"/>
                </a:solidFill>
                <a:latin typeface="Calibri" pitchFamily="34" charset="0"/>
                <a:ea typeface="Calibri" pitchFamily="34" charset="-122"/>
                <a:cs typeface="Calibri" pitchFamily="34" charset="-120"/>
              </a:rPr>
              <a:t>R</a:t>
            </a:r>
            <a:pPr algn="ctr" indent="0" marL="0">
              <a:buNone/>
            </a:pPr>
            <a:r>
              <a:rPr lang="en-US" sz="1200" dirty="0">
                <a:solidFill>
                  <a:srgbClr val="1F2937"/>
                </a:solidFill>
                <a:latin typeface="Calibri" pitchFamily="34" charset="0"/>
                <a:ea typeface="Calibri" pitchFamily="34" charset="-122"/>
                <a:cs typeface="Calibri" pitchFamily="34" charset="-120"/>
              </a:rPr>
              <a:t>esponsables </a:t>
            </a:r>
            <a:pPr algn="ctr" indent="0" marL="0">
              <a:buNone/>
            </a:pPr>
            <a:r>
              <a:rPr lang="en-US" sz="1200" b="1" dirty="0">
                <a:solidFill>
                  <a:srgbClr val="1F2937"/>
                </a:solidFill>
                <a:latin typeface="Calibri" pitchFamily="34" charset="0"/>
                <a:ea typeface="Calibri" pitchFamily="34" charset="-122"/>
                <a:cs typeface="Calibri" pitchFamily="34" charset="-120"/>
              </a:rPr>
              <a:t>S</a:t>
            </a:r>
            <a:pPr algn="ctr" indent="0" marL="0">
              <a:buNone/>
            </a:pPr>
            <a:r>
              <a:rPr lang="en-US" sz="1200" dirty="0">
                <a:solidFill>
                  <a:srgbClr val="1F2937"/>
                </a:solidFill>
                <a:latin typeface="Calibri" pitchFamily="34" charset="0"/>
                <a:ea typeface="Calibri" pitchFamily="34" charset="-122"/>
                <a:cs typeface="Calibri" pitchFamily="34" charset="-120"/>
              </a:rPr>
              <a:t>ûreté de </a:t>
            </a:r>
            <a:pPr algn="ctr" indent="0" marL="0">
              <a:buNone/>
            </a:pPr>
            <a:r>
              <a:rPr lang="en-US" sz="1200" b="1" dirty="0">
                <a:solidFill>
                  <a:srgbClr val="1F2937"/>
                </a:solidFill>
                <a:latin typeface="Calibri" pitchFamily="34" charset="0"/>
                <a:ea typeface="Calibri" pitchFamily="34" charset="-122"/>
                <a:cs typeface="Calibri" pitchFamily="34" charset="-120"/>
              </a:rPr>
              <a:t>C</a:t>
            </a:r>
            <a:pPr algn="ctr" indent="0" marL="0">
              <a:buNone/>
            </a:pPr>
            <a:r>
              <a:rPr lang="en-US" sz="1200" dirty="0">
                <a:solidFill>
                  <a:srgbClr val="1F2937"/>
                </a:solidFill>
                <a:latin typeface="Calibri" pitchFamily="34" charset="0"/>
                <a:ea typeface="Calibri" pitchFamily="34" charset="-122"/>
                <a:cs typeface="Calibri" pitchFamily="34" charset="-120"/>
              </a:rPr>
              <a:t>ôte d'</a:t>
            </a:r>
            <a:pPr algn="ctr" indent="0" marL="0">
              <a:buNone/>
            </a:pPr>
            <a:r>
              <a:rPr lang="en-US" sz="1200" b="1" dirty="0">
                <a:solidFill>
                  <a:srgbClr val="1F2937"/>
                </a:solidFill>
                <a:latin typeface="Calibri" pitchFamily="34" charset="0"/>
                <a:ea typeface="Calibri" pitchFamily="34" charset="-122"/>
                <a:cs typeface="Calibri" pitchFamily="34" charset="-120"/>
              </a:rPr>
              <a:t>I</a:t>
            </a:r>
            <a:pPr algn="ctr" indent="0" marL="0">
              <a:buNone/>
            </a:pPr>
            <a:r>
              <a:rPr lang="en-US" sz="1200" dirty="0">
                <a:solidFill>
                  <a:srgbClr val="1F2937"/>
                </a:solidFill>
                <a:latin typeface="Calibri" pitchFamily="34" charset="0"/>
                <a:ea typeface="Calibri" pitchFamily="34" charset="-122"/>
                <a:cs typeface="Calibri" pitchFamily="34" charset="-120"/>
              </a:rPr>
              <a:t>voire</a:t>
            </a:r>
            <a:endParaRPr lang="en-US" sz="1200" dirty="0"/>
          </a:p>
        </p:txBody>
      </p:sp>
      <p:sp>
        <p:nvSpPr>
          <p:cNvPr id="12"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27/10/26   |   25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V</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Togo</a:t>
            </a:r>
            <a:endParaRPr lang="en-US" sz="2800" dirty="0"/>
          </a:p>
        </p:txBody>
      </p:sp>
      <p:sp>
        <p:nvSpPr>
          <p:cNvPr id="4" name="Shape 2"/>
          <p:cNvSpPr/>
          <p:nvPr/>
        </p:nvSpPr>
        <p:spPr>
          <a:xfrm>
            <a:off x="10881360" y="274320"/>
            <a:ext cx="905256" cy="113386"/>
          </a:xfrm>
          <a:prstGeom prst="rect">
            <a:avLst/>
          </a:prstGeom>
          <a:solidFill>
            <a:srgbClr val="006A4E"/>
          </a:solidFill>
          <a:ln w="12700">
            <a:solidFill>
              <a:srgbClr val="006A4E"/>
            </a:solidFill>
            <a:prstDash val="solid"/>
          </a:ln>
        </p:spPr>
      </p:sp>
      <p:sp>
        <p:nvSpPr>
          <p:cNvPr id="5" name="Shape 3"/>
          <p:cNvSpPr/>
          <p:nvPr/>
        </p:nvSpPr>
        <p:spPr>
          <a:xfrm>
            <a:off x="10881360" y="387706"/>
            <a:ext cx="905256" cy="113386"/>
          </a:xfrm>
          <a:prstGeom prst="rect">
            <a:avLst/>
          </a:prstGeom>
          <a:solidFill>
            <a:srgbClr val="FFCE00"/>
          </a:solidFill>
          <a:ln w="12700">
            <a:solidFill>
              <a:srgbClr val="FFCE00"/>
            </a:solidFill>
            <a:prstDash val="solid"/>
          </a:ln>
        </p:spPr>
      </p:sp>
      <p:sp>
        <p:nvSpPr>
          <p:cNvPr id="6" name="Shape 4"/>
          <p:cNvSpPr/>
          <p:nvPr/>
        </p:nvSpPr>
        <p:spPr>
          <a:xfrm>
            <a:off x="10881360" y="501091"/>
            <a:ext cx="905256" cy="113386"/>
          </a:xfrm>
          <a:prstGeom prst="rect">
            <a:avLst/>
          </a:prstGeom>
          <a:solidFill>
            <a:srgbClr val="006A4E"/>
          </a:solidFill>
          <a:ln w="12700">
            <a:solidFill>
              <a:srgbClr val="006A4E"/>
            </a:solidFill>
            <a:prstDash val="solid"/>
          </a:ln>
        </p:spPr>
      </p:sp>
      <p:sp>
        <p:nvSpPr>
          <p:cNvPr id="7" name="Shape 5"/>
          <p:cNvSpPr/>
          <p:nvPr/>
        </p:nvSpPr>
        <p:spPr>
          <a:xfrm>
            <a:off x="10881360" y="614477"/>
            <a:ext cx="905256" cy="113386"/>
          </a:xfrm>
          <a:prstGeom prst="rect">
            <a:avLst/>
          </a:prstGeom>
          <a:solidFill>
            <a:srgbClr val="FFCE00"/>
          </a:solidFill>
          <a:ln w="12700">
            <a:solidFill>
              <a:srgbClr val="FFCE00"/>
            </a:solidFill>
            <a:prstDash val="solid"/>
          </a:ln>
        </p:spPr>
      </p:sp>
      <p:sp>
        <p:nvSpPr>
          <p:cNvPr id="8" name="Shape 6"/>
          <p:cNvSpPr/>
          <p:nvPr/>
        </p:nvSpPr>
        <p:spPr>
          <a:xfrm>
            <a:off x="10881360" y="727862"/>
            <a:ext cx="905256" cy="113386"/>
          </a:xfrm>
          <a:prstGeom prst="rect">
            <a:avLst/>
          </a:prstGeom>
          <a:solidFill>
            <a:srgbClr val="006A4E"/>
          </a:solidFill>
          <a:ln w="12700">
            <a:solidFill>
              <a:srgbClr val="006A4E"/>
            </a:solidFill>
            <a:prstDash val="solid"/>
          </a:ln>
        </p:spPr>
      </p:sp>
      <p:sp>
        <p:nvSpPr>
          <p:cNvPr id="9" name="Shape 7"/>
          <p:cNvSpPr/>
          <p:nvPr/>
        </p:nvSpPr>
        <p:spPr>
          <a:xfrm>
            <a:off x="10881360" y="274320"/>
            <a:ext cx="905256" cy="566928"/>
          </a:xfrm>
          <a:prstGeom prst="rect">
            <a:avLst/>
          </a:prstGeom>
          <a:ln w="6350">
            <a:solidFill>
              <a:srgbClr val="1F2937"/>
            </a:solidFill>
            <a:prstDash val="solid"/>
          </a:ln>
        </p:spPr>
      </p:sp>
      <p:sp>
        <p:nvSpPr>
          <p:cNvPr id="10" name="Shape 8"/>
          <p:cNvSpPr/>
          <p:nvPr/>
        </p:nvSpPr>
        <p:spPr>
          <a:xfrm>
            <a:off x="457200" y="960120"/>
            <a:ext cx="11292840" cy="0"/>
          </a:xfrm>
          <a:prstGeom prst="line">
            <a:avLst/>
          </a:prstGeom>
          <a:noFill/>
          <a:ln w="6350">
            <a:solidFill>
              <a:srgbClr val="A3A3A3"/>
            </a:solidFill>
            <a:prstDash val="solid"/>
          </a:ln>
        </p:spPr>
      </p:sp>
      <p:sp>
        <p:nvSpPr>
          <p:cNvPr id="11" name="Text 9"/>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moyenne (incident vérifié le plus récent : 121 jours ; 1 signal du jour)</a:t>
            </a:r>
            <a:endParaRPr lang="en-US" sz="1100" dirty="0"/>
          </a:p>
        </p:txBody>
      </p:sp>
      <p:sp>
        <p:nvSpPr>
          <p:cNvPr id="12" name="Text 10"/>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63 ans après sa mort, le premier président du Togo n’a toujours pas de tombe dans son pays</a:t>
            </a:r>
            <a:endParaRPr lang="en-US" sz="2200" dirty="0"/>
          </a:p>
        </p:txBody>
      </p:sp>
      <p:sp>
        <p:nvSpPr>
          <p:cNvPr id="13" name="Text 11"/>
          <p:cNvSpPr/>
          <p:nvPr/>
        </p:nvSpPr>
        <p:spPr>
          <a:xfrm>
            <a:off x="640080" y="2029968"/>
            <a:ext cx="681228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jeudi 1er octobre 2026. Lieu : Togo. Actualité politique. Une seule source à ce stade (Togoweb)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Togoweb : </a:t>
            </a:r>
            <a:pPr indent="0" marL="0">
              <a:spcAft>
                <a:spcPts val="300"/>
              </a:spcAft>
              <a:buNone/>
            </a:pPr>
            <a:r>
              <a:rPr lang="en-US" sz="1400" i="1" dirty="0">
                <a:solidFill>
                  <a:srgbClr val="1F2937"/>
                </a:solidFill>
                <a:latin typeface="Calibri" pitchFamily="34" charset="0"/>
                <a:ea typeface="Calibri" pitchFamily="34" charset="-122"/>
                <a:cs typeface="Calibri" pitchFamily="34" charset="-120"/>
              </a:rPr>
              <a:t>« Il n’existe, à ce jour, ni statue, ni mausolée, ni musée officiel dédié à Sylvanus Olympio dans le pays qu’il a mené à l’indépendance. Le premier président togolais repose toujours à Agoué, au Bénin, faute d’avoir été rapatrié malgré une promesse présidentielle vieille de quinze ans. »</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Climat politique à suivre : tensions possibles autour des échéances et des décisions institutionnelles. Adapter la veille et les déplacements aux dates sensibles.</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Togoweb</a:t>
            </a:r>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 — 1 octobre 2026, 9 h UTC   ·   Cotation : Non confirmé</a:t>
            </a:r>
            <a:endParaRPr lang="en-US" sz="1400" dirty="0"/>
          </a:p>
        </p:txBody>
      </p:sp>
      <p:pic>
        <p:nvPicPr>
          <p:cNvPr id="14" name="Image 0" descr="preencoded.png">
            <a:hlinkClick r:id="rId3" tooltip=""/>
          </p:cNvPr>
          <p:cNvPicPr>
            <a:picLocks noChangeAspect="1"/>
          </p:cNvPicPr>
          <p:nvPr/>
        </p:nvPicPr>
        <p:blipFill>
          <a:blip r:embed="rId2"/>
          <a:stretch>
            <a:fillRect/>
          </a:stretch>
        </p:blipFill>
        <p:spPr>
          <a:xfrm>
            <a:off x="7635240" y="2075688"/>
            <a:ext cx="4114800" cy="2525358"/>
          </a:xfrm>
          <a:prstGeom prst="rect">
            <a:avLst/>
          </a:prstGeom>
        </p:spPr>
      </p:pic>
      <p:sp>
        <p:nvSpPr>
          <p:cNvPr id="15" name="Text 12"/>
          <p:cNvSpPr/>
          <p:nvPr/>
        </p:nvSpPr>
        <p:spPr>
          <a:xfrm>
            <a:off x="7635240" y="4637622"/>
            <a:ext cx="4114800" cy="256032"/>
          </a:xfrm>
          <a:prstGeom prst="rect">
            <a:avLst/>
          </a:prstGeom>
          <a:noFill/>
          <a:ln/>
        </p:spPr>
        <p:txBody>
          <a:bodyPr wrap="square" rtlCol="0" anchor="ctr"/>
          <a:lstStyle/>
          <a:p>
            <a:pPr algn="r" indent="0" marL="0">
              <a:buNone/>
            </a:pPr>
            <a:r>
              <a:rPr lang="en-US" sz="9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Photo : © togoweb.net</a:t>
            </a:r>
            <a:endParaRPr lang="en-US" sz="900" dirty="0"/>
          </a:p>
        </p:txBody>
      </p:sp>
      <p:pic>
        <p:nvPicPr>
          <p:cNvPr id="16" name="Image 1" descr="/home/runner/work/SentiqS/SentiqS/scripts/assets/grsci/logo-grsci.png">    </p:cNvPr>
          <p:cNvPicPr>
            <a:picLocks noChangeAspect="1"/>
          </p:cNvPicPr>
          <p:nvPr/>
        </p:nvPicPr>
        <p:blipFill>
          <a:blip r:embed="rId5"/>
          <a:stretch>
            <a:fillRect/>
          </a:stretch>
        </p:blipFill>
        <p:spPr>
          <a:xfrm>
            <a:off x="411480" y="5989320"/>
            <a:ext cx="548640" cy="630936"/>
          </a:xfrm>
          <a:prstGeom prst="rect">
            <a:avLst/>
          </a:prstGeom>
        </p:spPr>
      </p:pic>
      <p:sp>
        <p:nvSpPr>
          <p:cNvPr id="17" name="Text 13"/>
          <p:cNvSpPr/>
          <p:nvPr/>
        </p:nvSpPr>
        <p:spPr>
          <a:xfrm>
            <a:off x="3108960" y="6217920"/>
            <a:ext cx="4206240" cy="329184"/>
          </a:xfrm>
          <a:prstGeom prst="rect">
            <a:avLst/>
          </a:prstGeom>
          <a:noFill/>
          <a:ln w="9525">
            <a:solidFill>
              <a:srgbClr val="1F6B5E"/>
            </a:solidFill>
          </a:ln>
        </p:spPr>
        <p:txBody>
          <a:bodyPr wrap="square"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G</a:t>
            </a:r>
            <a:pPr algn="ctr" indent="0" marL="0">
              <a:buNone/>
            </a:pPr>
            <a:r>
              <a:rPr lang="en-US" sz="1200" dirty="0">
                <a:solidFill>
                  <a:srgbClr val="1F2937"/>
                </a:solidFill>
                <a:latin typeface="Calibri" pitchFamily="34" charset="0"/>
                <a:ea typeface="Calibri" pitchFamily="34" charset="-122"/>
                <a:cs typeface="Calibri" pitchFamily="34" charset="-120"/>
              </a:rPr>
              <a:t>roupe des </a:t>
            </a:r>
            <a:pPr algn="ctr" indent="0" marL="0">
              <a:buNone/>
            </a:pPr>
            <a:r>
              <a:rPr lang="en-US" sz="1200" b="1" dirty="0">
                <a:solidFill>
                  <a:srgbClr val="1F2937"/>
                </a:solidFill>
                <a:latin typeface="Calibri" pitchFamily="34" charset="0"/>
                <a:ea typeface="Calibri" pitchFamily="34" charset="-122"/>
                <a:cs typeface="Calibri" pitchFamily="34" charset="-120"/>
              </a:rPr>
              <a:t>R</a:t>
            </a:r>
            <a:pPr algn="ctr" indent="0" marL="0">
              <a:buNone/>
            </a:pPr>
            <a:r>
              <a:rPr lang="en-US" sz="1200" dirty="0">
                <a:solidFill>
                  <a:srgbClr val="1F2937"/>
                </a:solidFill>
                <a:latin typeface="Calibri" pitchFamily="34" charset="0"/>
                <a:ea typeface="Calibri" pitchFamily="34" charset="-122"/>
                <a:cs typeface="Calibri" pitchFamily="34" charset="-120"/>
              </a:rPr>
              <a:t>esponsables </a:t>
            </a:r>
            <a:pPr algn="ctr" indent="0" marL="0">
              <a:buNone/>
            </a:pPr>
            <a:r>
              <a:rPr lang="en-US" sz="1200" b="1" dirty="0">
                <a:solidFill>
                  <a:srgbClr val="1F2937"/>
                </a:solidFill>
                <a:latin typeface="Calibri" pitchFamily="34" charset="0"/>
                <a:ea typeface="Calibri" pitchFamily="34" charset="-122"/>
                <a:cs typeface="Calibri" pitchFamily="34" charset="-120"/>
              </a:rPr>
              <a:t>S</a:t>
            </a:r>
            <a:pPr algn="ctr" indent="0" marL="0">
              <a:buNone/>
            </a:pPr>
            <a:r>
              <a:rPr lang="en-US" sz="1200" dirty="0">
                <a:solidFill>
                  <a:srgbClr val="1F2937"/>
                </a:solidFill>
                <a:latin typeface="Calibri" pitchFamily="34" charset="0"/>
                <a:ea typeface="Calibri" pitchFamily="34" charset="-122"/>
                <a:cs typeface="Calibri" pitchFamily="34" charset="-120"/>
              </a:rPr>
              <a:t>ûreté de </a:t>
            </a:r>
            <a:pPr algn="ctr" indent="0" marL="0">
              <a:buNone/>
            </a:pPr>
            <a:r>
              <a:rPr lang="en-US" sz="1200" b="1" dirty="0">
                <a:solidFill>
                  <a:srgbClr val="1F2937"/>
                </a:solidFill>
                <a:latin typeface="Calibri" pitchFamily="34" charset="0"/>
                <a:ea typeface="Calibri" pitchFamily="34" charset="-122"/>
                <a:cs typeface="Calibri" pitchFamily="34" charset="-120"/>
              </a:rPr>
              <a:t>C</a:t>
            </a:r>
            <a:pPr algn="ctr" indent="0" marL="0">
              <a:buNone/>
            </a:pPr>
            <a:r>
              <a:rPr lang="en-US" sz="1200" dirty="0">
                <a:solidFill>
                  <a:srgbClr val="1F2937"/>
                </a:solidFill>
                <a:latin typeface="Calibri" pitchFamily="34" charset="0"/>
                <a:ea typeface="Calibri" pitchFamily="34" charset="-122"/>
                <a:cs typeface="Calibri" pitchFamily="34" charset="-120"/>
              </a:rPr>
              <a:t>ôte d'</a:t>
            </a:r>
            <a:pPr algn="ctr" indent="0" marL="0">
              <a:buNone/>
            </a:pPr>
            <a:r>
              <a:rPr lang="en-US" sz="1200" b="1" dirty="0">
                <a:solidFill>
                  <a:srgbClr val="1F2937"/>
                </a:solidFill>
                <a:latin typeface="Calibri" pitchFamily="34" charset="0"/>
                <a:ea typeface="Calibri" pitchFamily="34" charset="-122"/>
                <a:cs typeface="Calibri" pitchFamily="34" charset="-120"/>
              </a:rPr>
              <a:t>I</a:t>
            </a:r>
            <a:pPr algn="ctr" indent="0" marL="0">
              <a:buNone/>
            </a:pPr>
            <a:r>
              <a:rPr lang="en-US" sz="1200" dirty="0">
                <a:solidFill>
                  <a:srgbClr val="1F2937"/>
                </a:solidFill>
                <a:latin typeface="Calibri" pitchFamily="34" charset="0"/>
                <a:ea typeface="Calibri" pitchFamily="34" charset="-122"/>
                <a:cs typeface="Calibri" pitchFamily="34" charset="-120"/>
              </a:rPr>
              <a:t>voire</a:t>
            </a:r>
            <a:endParaRPr lang="en-US" sz="1200" dirty="0"/>
          </a:p>
        </p:txBody>
      </p:sp>
      <p:sp>
        <p:nvSpPr>
          <p:cNvPr id="18" name="Text 14"/>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27/10/26   |   26</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V</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Togo</a:t>
            </a:r>
            <a:endParaRPr lang="en-US" sz="2800" dirty="0"/>
          </a:p>
        </p:txBody>
      </p:sp>
      <p:sp>
        <p:nvSpPr>
          <p:cNvPr id="4" name="Shape 2"/>
          <p:cNvSpPr/>
          <p:nvPr/>
        </p:nvSpPr>
        <p:spPr>
          <a:xfrm>
            <a:off x="10881360" y="274320"/>
            <a:ext cx="905256" cy="113386"/>
          </a:xfrm>
          <a:prstGeom prst="rect">
            <a:avLst/>
          </a:prstGeom>
          <a:solidFill>
            <a:srgbClr val="006A4E"/>
          </a:solidFill>
          <a:ln w="12700">
            <a:solidFill>
              <a:srgbClr val="006A4E"/>
            </a:solidFill>
            <a:prstDash val="solid"/>
          </a:ln>
        </p:spPr>
      </p:sp>
      <p:sp>
        <p:nvSpPr>
          <p:cNvPr id="5" name="Shape 3"/>
          <p:cNvSpPr/>
          <p:nvPr/>
        </p:nvSpPr>
        <p:spPr>
          <a:xfrm>
            <a:off x="10881360" y="387706"/>
            <a:ext cx="905256" cy="113386"/>
          </a:xfrm>
          <a:prstGeom prst="rect">
            <a:avLst/>
          </a:prstGeom>
          <a:solidFill>
            <a:srgbClr val="FFCE00"/>
          </a:solidFill>
          <a:ln w="12700">
            <a:solidFill>
              <a:srgbClr val="FFCE00"/>
            </a:solidFill>
            <a:prstDash val="solid"/>
          </a:ln>
        </p:spPr>
      </p:sp>
      <p:sp>
        <p:nvSpPr>
          <p:cNvPr id="6" name="Shape 4"/>
          <p:cNvSpPr/>
          <p:nvPr/>
        </p:nvSpPr>
        <p:spPr>
          <a:xfrm>
            <a:off x="10881360" y="501091"/>
            <a:ext cx="905256" cy="113386"/>
          </a:xfrm>
          <a:prstGeom prst="rect">
            <a:avLst/>
          </a:prstGeom>
          <a:solidFill>
            <a:srgbClr val="006A4E"/>
          </a:solidFill>
          <a:ln w="12700">
            <a:solidFill>
              <a:srgbClr val="006A4E"/>
            </a:solidFill>
            <a:prstDash val="solid"/>
          </a:ln>
        </p:spPr>
      </p:sp>
      <p:sp>
        <p:nvSpPr>
          <p:cNvPr id="7" name="Shape 5"/>
          <p:cNvSpPr/>
          <p:nvPr/>
        </p:nvSpPr>
        <p:spPr>
          <a:xfrm>
            <a:off x="10881360" y="614477"/>
            <a:ext cx="905256" cy="113386"/>
          </a:xfrm>
          <a:prstGeom prst="rect">
            <a:avLst/>
          </a:prstGeom>
          <a:solidFill>
            <a:srgbClr val="FFCE00"/>
          </a:solidFill>
          <a:ln w="12700">
            <a:solidFill>
              <a:srgbClr val="FFCE00"/>
            </a:solidFill>
            <a:prstDash val="solid"/>
          </a:ln>
        </p:spPr>
      </p:sp>
      <p:sp>
        <p:nvSpPr>
          <p:cNvPr id="8" name="Shape 6"/>
          <p:cNvSpPr/>
          <p:nvPr/>
        </p:nvSpPr>
        <p:spPr>
          <a:xfrm>
            <a:off x="10881360" y="727862"/>
            <a:ext cx="905256" cy="113386"/>
          </a:xfrm>
          <a:prstGeom prst="rect">
            <a:avLst/>
          </a:prstGeom>
          <a:solidFill>
            <a:srgbClr val="006A4E"/>
          </a:solidFill>
          <a:ln w="12700">
            <a:solidFill>
              <a:srgbClr val="006A4E"/>
            </a:solidFill>
            <a:prstDash val="solid"/>
          </a:ln>
        </p:spPr>
      </p:sp>
      <p:sp>
        <p:nvSpPr>
          <p:cNvPr id="9" name="Shape 7"/>
          <p:cNvSpPr/>
          <p:nvPr/>
        </p:nvSpPr>
        <p:spPr>
          <a:xfrm>
            <a:off x="10881360" y="274320"/>
            <a:ext cx="905256" cy="566928"/>
          </a:xfrm>
          <a:prstGeom prst="rect">
            <a:avLst/>
          </a:prstGeom>
          <a:ln w="6350">
            <a:solidFill>
              <a:srgbClr val="1F2937"/>
            </a:solidFill>
            <a:prstDash val="solid"/>
          </a:ln>
        </p:spPr>
      </p:sp>
      <p:sp>
        <p:nvSpPr>
          <p:cNvPr id="10" name="Shape 8"/>
          <p:cNvSpPr/>
          <p:nvPr/>
        </p:nvSpPr>
        <p:spPr>
          <a:xfrm>
            <a:off x="457200" y="960120"/>
            <a:ext cx="11292840" cy="0"/>
          </a:xfrm>
          <a:prstGeom prst="line">
            <a:avLst/>
          </a:prstGeom>
          <a:noFill/>
          <a:ln w="6350">
            <a:solidFill>
              <a:srgbClr val="A3A3A3"/>
            </a:solidFill>
            <a:prstDash val="solid"/>
          </a:ln>
        </p:spPr>
      </p:sp>
      <p:sp>
        <p:nvSpPr>
          <p:cNvPr id="11" name="Text 9"/>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WHATSAPP : LA FAUSSE ALERTE AU VOTE POUR PIRATER VOTRE COMPTE FAIT SON RETOUR</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Le Nouveau Reporter</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24 octobre 2026, 10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SOUTENU PAR L’UNION AFRICAINE, LE TOGOLAIS GILBERT HOUNGBO RÉUSSIRA-T-IL À CONSERVER LA TÊTE DE L’OIT ?</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Jeune Afrique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13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VERS UNE PAIX DES CHAMPS ?</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AllAfrica (TG)</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15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LITTORAL DE LOMÉ : UN DISPOSITIF SÉCURITAIRE RENFORCÉ APRÈS LE DÉMANTÈLEMENT DES INSTALLATIONS ILLÉGALES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Togo Actualite · Icilome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15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STOCKS DE SÉCURITÉ - RECORD DE 31 000 TONNES COLLECTÉES EN 2025</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AllAfrica (TG)</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11 h UTC</a:t>
            </a:r>
            <a:endParaRPr lang="en-US" sz="1300" dirty="0"/>
          </a:p>
        </p:txBody>
      </p:sp>
      <p:pic>
        <p:nvPicPr>
          <p:cNvPr id="12" name="Image 0" descr="/home/runner/work/SentiqS/SentiqS/scripts/assets/grsci/logo-grsci.png">    </p:cNvPr>
          <p:cNvPicPr>
            <a:picLocks noChangeAspect="1"/>
          </p:cNvPicPr>
          <p:nvPr/>
        </p:nvPicPr>
        <p:blipFill>
          <a:blip r:embed="rId6"/>
          <a:stretch>
            <a:fillRect/>
          </a:stretch>
        </p:blipFill>
        <p:spPr>
          <a:xfrm>
            <a:off x="411480" y="5989320"/>
            <a:ext cx="548640" cy="630936"/>
          </a:xfrm>
          <a:prstGeom prst="rect">
            <a:avLst/>
          </a:prstGeom>
        </p:spPr>
      </p:pic>
      <p:sp>
        <p:nvSpPr>
          <p:cNvPr id="13" name="Text 10"/>
          <p:cNvSpPr/>
          <p:nvPr/>
        </p:nvSpPr>
        <p:spPr>
          <a:xfrm>
            <a:off x="3108960" y="6217920"/>
            <a:ext cx="4206240" cy="329184"/>
          </a:xfrm>
          <a:prstGeom prst="rect">
            <a:avLst/>
          </a:prstGeom>
          <a:noFill/>
          <a:ln w="9525">
            <a:solidFill>
              <a:srgbClr val="1F6B5E"/>
            </a:solidFill>
          </a:ln>
        </p:spPr>
        <p:txBody>
          <a:bodyPr wrap="square"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G</a:t>
            </a:r>
            <a:pPr algn="ctr" indent="0" marL="0">
              <a:buNone/>
            </a:pPr>
            <a:r>
              <a:rPr lang="en-US" sz="1200" dirty="0">
                <a:solidFill>
                  <a:srgbClr val="1F2937"/>
                </a:solidFill>
                <a:latin typeface="Calibri" pitchFamily="34" charset="0"/>
                <a:ea typeface="Calibri" pitchFamily="34" charset="-122"/>
                <a:cs typeface="Calibri" pitchFamily="34" charset="-120"/>
              </a:rPr>
              <a:t>roupe des </a:t>
            </a:r>
            <a:pPr algn="ctr" indent="0" marL="0">
              <a:buNone/>
            </a:pPr>
            <a:r>
              <a:rPr lang="en-US" sz="1200" b="1" dirty="0">
                <a:solidFill>
                  <a:srgbClr val="1F2937"/>
                </a:solidFill>
                <a:latin typeface="Calibri" pitchFamily="34" charset="0"/>
                <a:ea typeface="Calibri" pitchFamily="34" charset="-122"/>
                <a:cs typeface="Calibri" pitchFamily="34" charset="-120"/>
              </a:rPr>
              <a:t>R</a:t>
            </a:r>
            <a:pPr algn="ctr" indent="0" marL="0">
              <a:buNone/>
            </a:pPr>
            <a:r>
              <a:rPr lang="en-US" sz="1200" dirty="0">
                <a:solidFill>
                  <a:srgbClr val="1F2937"/>
                </a:solidFill>
                <a:latin typeface="Calibri" pitchFamily="34" charset="0"/>
                <a:ea typeface="Calibri" pitchFamily="34" charset="-122"/>
                <a:cs typeface="Calibri" pitchFamily="34" charset="-120"/>
              </a:rPr>
              <a:t>esponsables </a:t>
            </a:r>
            <a:pPr algn="ctr" indent="0" marL="0">
              <a:buNone/>
            </a:pPr>
            <a:r>
              <a:rPr lang="en-US" sz="1200" b="1" dirty="0">
                <a:solidFill>
                  <a:srgbClr val="1F2937"/>
                </a:solidFill>
                <a:latin typeface="Calibri" pitchFamily="34" charset="0"/>
                <a:ea typeface="Calibri" pitchFamily="34" charset="-122"/>
                <a:cs typeface="Calibri" pitchFamily="34" charset="-120"/>
              </a:rPr>
              <a:t>S</a:t>
            </a:r>
            <a:pPr algn="ctr" indent="0" marL="0">
              <a:buNone/>
            </a:pPr>
            <a:r>
              <a:rPr lang="en-US" sz="1200" dirty="0">
                <a:solidFill>
                  <a:srgbClr val="1F2937"/>
                </a:solidFill>
                <a:latin typeface="Calibri" pitchFamily="34" charset="0"/>
                <a:ea typeface="Calibri" pitchFamily="34" charset="-122"/>
                <a:cs typeface="Calibri" pitchFamily="34" charset="-120"/>
              </a:rPr>
              <a:t>ûreté de </a:t>
            </a:r>
            <a:pPr algn="ctr" indent="0" marL="0">
              <a:buNone/>
            </a:pPr>
            <a:r>
              <a:rPr lang="en-US" sz="1200" b="1" dirty="0">
                <a:solidFill>
                  <a:srgbClr val="1F2937"/>
                </a:solidFill>
                <a:latin typeface="Calibri" pitchFamily="34" charset="0"/>
                <a:ea typeface="Calibri" pitchFamily="34" charset="-122"/>
                <a:cs typeface="Calibri" pitchFamily="34" charset="-120"/>
              </a:rPr>
              <a:t>C</a:t>
            </a:r>
            <a:pPr algn="ctr" indent="0" marL="0">
              <a:buNone/>
            </a:pPr>
            <a:r>
              <a:rPr lang="en-US" sz="1200" dirty="0">
                <a:solidFill>
                  <a:srgbClr val="1F2937"/>
                </a:solidFill>
                <a:latin typeface="Calibri" pitchFamily="34" charset="0"/>
                <a:ea typeface="Calibri" pitchFamily="34" charset="-122"/>
                <a:cs typeface="Calibri" pitchFamily="34" charset="-120"/>
              </a:rPr>
              <a:t>ôte d'</a:t>
            </a:r>
            <a:pPr algn="ctr" indent="0" marL="0">
              <a:buNone/>
            </a:pPr>
            <a:r>
              <a:rPr lang="en-US" sz="1200" b="1" dirty="0">
                <a:solidFill>
                  <a:srgbClr val="1F2937"/>
                </a:solidFill>
                <a:latin typeface="Calibri" pitchFamily="34" charset="0"/>
                <a:ea typeface="Calibri" pitchFamily="34" charset="-122"/>
                <a:cs typeface="Calibri" pitchFamily="34" charset="-120"/>
              </a:rPr>
              <a:t>I</a:t>
            </a:r>
            <a:pPr algn="ctr" indent="0" marL="0">
              <a:buNone/>
            </a:pPr>
            <a:r>
              <a:rPr lang="en-US" sz="1200" dirty="0">
                <a:solidFill>
                  <a:srgbClr val="1F2937"/>
                </a:solidFill>
                <a:latin typeface="Calibri" pitchFamily="34" charset="0"/>
                <a:ea typeface="Calibri" pitchFamily="34" charset="-122"/>
                <a:cs typeface="Calibri" pitchFamily="34" charset="-120"/>
              </a:rPr>
              <a:t>voire</a:t>
            </a:r>
            <a:endParaRPr lang="en-US" sz="1200" dirty="0"/>
          </a:p>
        </p:txBody>
      </p:sp>
      <p:sp>
        <p:nvSpPr>
          <p:cNvPr id="14" name="Text 11"/>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27/10/26   |   27</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V</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Togo</a:t>
            </a:r>
            <a:endParaRPr lang="en-US" sz="2800" dirty="0"/>
          </a:p>
        </p:txBody>
      </p:sp>
      <p:sp>
        <p:nvSpPr>
          <p:cNvPr id="4" name="Shape 2"/>
          <p:cNvSpPr/>
          <p:nvPr/>
        </p:nvSpPr>
        <p:spPr>
          <a:xfrm>
            <a:off x="10881360" y="274320"/>
            <a:ext cx="905256" cy="113386"/>
          </a:xfrm>
          <a:prstGeom prst="rect">
            <a:avLst/>
          </a:prstGeom>
          <a:solidFill>
            <a:srgbClr val="006A4E"/>
          </a:solidFill>
          <a:ln w="12700">
            <a:solidFill>
              <a:srgbClr val="006A4E"/>
            </a:solidFill>
            <a:prstDash val="solid"/>
          </a:ln>
        </p:spPr>
      </p:sp>
      <p:sp>
        <p:nvSpPr>
          <p:cNvPr id="5" name="Shape 3"/>
          <p:cNvSpPr/>
          <p:nvPr/>
        </p:nvSpPr>
        <p:spPr>
          <a:xfrm>
            <a:off x="10881360" y="387706"/>
            <a:ext cx="905256" cy="113386"/>
          </a:xfrm>
          <a:prstGeom prst="rect">
            <a:avLst/>
          </a:prstGeom>
          <a:solidFill>
            <a:srgbClr val="FFCE00"/>
          </a:solidFill>
          <a:ln w="12700">
            <a:solidFill>
              <a:srgbClr val="FFCE00"/>
            </a:solidFill>
            <a:prstDash val="solid"/>
          </a:ln>
        </p:spPr>
      </p:sp>
      <p:sp>
        <p:nvSpPr>
          <p:cNvPr id="6" name="Shape 4"/>
          <p:cNvSpPr/>
          <p:nvPr/>
        </p:nvSpPr>
        <p:spPr>
          <a:xfrm>
            <a:off x="10881360" y="501091"/>
            <a:ext cx="905256" cy="113386"/>
          </a:xfrm>
          <a:prstGeom prst="rect">
            <a:avLst/>
          </a:prstGeom>
          <a:solidFill>
            <a:srgbClr val="006A4E"/>
          </a:solidFill>
          <a:ln w="12700">
            <a:solidFill>
              <a:srgbClr val="006A4E"/>
            </a:solidFill>
            <a:prstDash val="solid"/>
          </a:ln>
        </p:spPr>
      </p:sp>
      <p:sp>
        <p:nvSpPr>
          <p:cNvPr id="7" name="Shape 5"/>
          <p:cNvSpPr/>
          <p:nvPr/>
        </p:nvSpPr>
        <p:spPr>
          <a:xfrm>
            <a:off x="10881360" y="614477"/>
            <a:ext cx="905256" cy="113386"/>
          </a:xfrm>
          <a:prstGeom prst="rect">
            <a:avLst/>
          </a:prstGeom>
          <a:solidFill>
            <a:srgbClr val="FFCE00"/>
          </a:solidFill>
          <a:ln w="12700">
            <a:solidFill>
              <a:srgbClr val="FFCE00"/>
            </a:solidFill>
            <a:prstDash val="solid"/>
          </a:ln>
        </p:spPr>
      </p:sp>
      <p:sp>
        <p:nvSpPr>
          <p:cNvPr id="8" name="Shape 6"/>
          <p:cNvSpPr/>
          <p:nvPr/>
        </p:nvSpPr>
        <p:spPr>
          <a:xfrm>
            <a:off x="10881360" y="727862"/>
            <a:ext cx="905256" cy="113386"/>
          </a:xfrm>
          <a:prstGeom prst="rect">
            <a:avLst/>
          </a:prstGeom>
          <a:solidFill>
            <a:srgbClr val="006A4E"/>
          </a:solidFill>
          <a:ln w="12700">
            <a:solidFill>
              <a:srgbClr val="006A4E"/>
            </a:solidFill>
            <a:prstDash val="solid"/>
          </a:ln>
        </p:spPr>
      </p:sp>
      <p:sp>
        <p:nvSpPr>
          <p:cNvPr id="9" name="Shape 7"/>
          <p:cNvSpPr/>
          <p:nvPr/>
        </p:nvSpPr>
        <p:spPr>
          <a:xfrm>
            <a:off x="10881360" y="274320"/>
            <a:ext cx="905256" cy="566928"/>
          </a:xfrm>
          <a:prstGeom prst="rect">
            <a:avLst/>
          </a:prstGeom>
          <a:ln w="6350">
            <a:solidFill>
              <a:srgbClr val="1F2937"/>
            </a:solidFill>
            <a:prstDash val="solid"/>
          </a:ln>
        </p:spPr>
      </p:sp>
      <p:sp>
        <p:nvSpPr>
          <p:cNvPr id="10" name="Shape 8"/>
          <p:cNvSpPr/>
          <p:nvPr/>
        </p:nvSpPr>
        <p:spPr>
          <a:xfrm>
            <a:off x="457200" y="960120"/>
            <a:ext cx="11292840" cy="0"/>
          </a:xfrm>
          <a:prstGeom prst="line">
            <a:avLst/>
          </a:prstGeom>
          <a:noFill/>
          <a:ln w="6350">
            <a:solidFill>
              <a:srgbClr val="A3A3A3"/>
            </a:solidFill>
            <a:prstDash val="solid"/>
          </a:ln>
        </p:spPr>
      </p:sp>
      <p:sp>
        <p:nvSpPr>
          <p:cNvPr id="11" name="Text 9"/>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LA PLAGE DE LOMÉ SOUS SURVEILLANCE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AllAfrica (TG)</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11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TSÉVIÉ : LES FORCES DE SÉCURITÉ DÉPLOYÉES SUR LE SITE DU MEETING REPORTÉ DU CNCC</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24heureinfo.com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25 octobre 2026, 20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EBOLA : AFRICA CDC CONVOQUE LES MINISTRES AFRICAINS DE LA SANTÉ EN URGENCE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24heureinfo.com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25 octobre 2026, 10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TOGO : AGRICULTURE, NUCLÉAIRE… LES DÉPUTÉS ADOPTENT QUATRE TEXTES STRATÉGIQUES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24heureinfo.com · ATOP — Agence Togolaise Presse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17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p:txBody>
      </p:sp>
      <p:pic>
        <p:nvPicPr>
          <p:cNvPr id="12" name="Image 0" descr="/home/runner/work/SentiqS/SentiqS/scripts/assets/grsci/logo-grsci.png">    </p:cNvPr>
          <p:cNvPicPr>
            <a:picLocks noChangeAspect="1"/>
          </p:cNvPicPr>
          <p:nvPr/>
        </p:nvPicPr>
        <p:blipFill>
          <a:blip r:embed="rId5"/>
          <a:stretch>
            <a:fillRect/>
          </a:stretch>
        </p:blipFill>
        <p:spPr>
          <a:xfrm>
            <a:off x="411480" y="5989320"/>
            <a:ext cx="548640" cy="630936"/>
          </a:xfrm>
          <a:prstGeom prst="rect">
            <a:avLst/>
          </a:prstGeom>
        </p:spPr>
      </p:pic>
      <p:sp>
        <p:nvSpPr>
          <p:cNvPr id="13" name="Text 10"/>
          <p:cNvSpPr/>
          <p:nvPr/>
        </p:nvSpPr>
        <p:spPr>
          <a:xfrm>
            <a:off x="3108960" y="6217920"/>
            <a:ext cx="4206240" cy="329184"/>
          </a:xfrm>
          <a:prstGeom prst="rect">
            <a:avLst/>
          </a:prstGeom>
          <a:noFill/>
          <a:ln w="9525">
            <a:solidFill>
              <a:srgbClr val="1F6B5E"/>
            </a:solidFill>
          </a:ln>
        </p:spPr>
        <p:txBody>
          <a:bodyPr wrap="square"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G</a:t>
            </a:r>
            <a:pPr algn="ctr" indent="0" marL="0">
              <a:buNone/>
            </a:pPr>
            <a:r>
              <a:rPr lang="en-US" sz="1200" dirty="0">
                <a:solidFill>
                  <a:srgbClr val="1F2937"/>
                </a:solidFill>
                <a:latin typeface="Calibri" pitchFamily="34" charset="0"/>
                <a:ea typeface="Calibri" pitchFamily="34" charset="-122"/>
                <a:cs typeface="Calibri" pitchFamily="34" charset="-120"/>
              </a:rPr>
              <a:t>roupe des </a:t>
            </a:r>
            <a:pPr algn="ctr" indent="0" marL="0">
              <a:buNone/>
            </a:pPr>
            <a:r>
              <a:rPr lang="en-US" sz="1200" b="1" dirty="0">
                <a:solidFill>
                  <a:srgbClr val="1F2937"/>
                </a:solidFill>
                <a:latin typeface="Calibri" pitchFamily="34" charset="0"/>
                <a:ea typeface="Calibri" pitchFamily="34" charset="-122"/>
                <a:cs typeface="Calibri" pitchFamily="34" charset="-120"/>
              </a:rPr>
              <a:t>R</a:t>
            </a:r>
            <a:pPr algn="ctr" indent="0" marL="0">
              <a:buNone/>
            </a:pPr>
            <a:r>
              <a:rPr lang="en-US" sz="1200" dirty="0">
                <a:solidFill>
                  <a:srgbClr val="1F2937"/>
                </a:solidFill>
                <a:latin typeface="Calibri" pitchFamily="34" charset="0"/>
                <a:ea typeface="Calibri" pitchFamily="34" charset="-122"/>
                <a:cs typeface="Calibri" pitchFamily="34" charset="-120"/>
              </a:rPr>
              <a:t>esponsables </a:t>
            </a:r>
            <a:pPr algn="ctr" indent="0" marL="0">
              <a:buNone/>
            </a:pPr>
            <a:r>
              <a:rPr lang="en-US" sz="1200" b="1" dirty="0">
                <a:solidFill>
                  <a:srgbClr val="1F2937"/>
                </a:solidFill>
                <a:latin typeface="Calibri" pitchFamily="34" charset="0"/>
                <a:ea typeface="Calibri" pitchFamily="34" charset="-122"/>
                <a:cs typeface="Calibri" pitchFamily="34" charset="-120"/>
              </a:rPr>
              <a:t>S</a:t>
            </a:r>
            <a:pPr algn="ctr" indent="0" marL="0">
              <a:buNone/>
            </a:pPr>
            <a:r>
              <a:rPr lang="en-US" sz="1200" dirty="0">
                <a:solidFill>
                  <a:srgbClr val="1F2937"/>
                </a:solidFill>
                <a:latin typeface="Calibri" pitchFamily="34" charset="0"/>
                <a:ea typeface="Calibri" pitchFamily="34" charset="-122"/>
                <a:cs typeface="Calibri" pitchFamily="34" charset="-120"/>
              </a:rPr>
              <a:t>ûreté de </a:t>
            </a:r>
            <a:pPr algn="ctr" indent="0" marL="0">
              <a:buNone/>
            </a:pPr>
            <a:r>
              <a:rPr lang="en-US" sz="1200" b="1" dirty="0">
                <a:solidFill>
                  <a:srgbClr val="1F2937"/>
                </a:solidFill>
                <a:latin typeface="Calibri" pitchFamily="34" charset="0"/>
                <a:ea typeface="Calibri" pitchFamily="34" charset="-122"/>
                <a:cs typeface="Calibri" pitchFamily="34" charset="-120"/>
              </a:rPr>
              <a:t>C</a:t>
            </a:r>
            <a:pPr algn="ctr" indent="0" marL="0">
              <a:buNone/>
            </a:pPr>
            <a:r>
              <a:rPr lang="en-US" sz="1200" dirty="0">
                <a:solidFill>
                  <a:srgbClr val="1F2937"/>
                </a:solidFill>
                <a:latin typeface="Calibri" pitchFamily="34" charset="0"/>
                <a:ea typeface="Calibri" pitchFamily="34" charset="-122"/>
                <a:cs typeface="Calibri" pitchFamily="34" charset="-120"/>
              </a:rPr>
              <a:t>ôte d'</a:t>
            </a:r>
            <a:pPr algn="ctr" indent="0" marL="0">
              <a:buNone/>
            </a:pPr>
            <a:r>
              <a:rPr lang="en-US" sz="1200" b="1" dirty="0">
                <a:solidFill>
                  <a:srgbClr val="1F2937"/>
                </a:solidFill>
                <a:latin typeface="Calibri" pitchFamily="34" charset="0"/>
                <a:ea typeface="Calibri" pitchFamily="34" charset="-122"/>
                <a:cs typeface="Calibri" pitchFamily="34" charset="-120"/>
              </a:rPr>
              <a:t>I</a:t>
            </a:r>
            <a:pPr algn="ctr" indent="0" marL="0">
              <a:buNone/>
            </a:pPr>
            <a:r>
              <a:rPr lang="en-US" sz="1200" dirty="0">
                <a:solidFill>
                  <a:srgbClr val="1F2937"/>
                </a:solidFill>
                <a:latin typeface="Calibri" pitchFamily="34" charset="0"/>
                <a:ea typeface="Calibri" pitchFamily="34" charset="-122"/>
                <a:cs typeface="Calibri" pitchFamily="34" charset="-120"/>
              </a:rPr>
              <a:t>voire</a:t>
            </a:r>
            <a:endParaRPr lang="en-US" sz="1200" dirty="0"/>
          </a:p>
        </p:txBody>
      </p:sp>
      <p:sp>
        <p:nvSpPr>
          <p:cNvPr id="14" name="Text 11"/>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27/10/26   |   28</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VI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Bénin</a:t>
            </a:r>
            <a:endParaRPr lang="en-US" sz="2800" dirty="0"/>
          </a:p>
        </p:txBody>
      </p:sp>
      <p:sp>
        <p:nvSpPr>
          <p:cNvPr id="4" name="Shape 2"/>
          <p:cNvSpPr/>
          <p:nvPr/>
        </p:nvSpPr>
        <p:spPr>
          <a:xfrm>
            <a:off x="10881360" y="274320"/>
            <a:ext cx="362102" cy="566928"/>
          </a:xfrm>
          <a:prstGeom prst="rect">
            <a:avLst/>
          </a:prstGeom>
          <a:solidFill>
            <a:srgbClr val="008751"/>
          </a:solidFill>
          <a:ln w="12700">
            <a:solidFill>
              <a:srgbClr val="008751"/>
            </a:solidFill>
            <a:prstDash val="solid"/>
          </a:ln>
        </p:spPr>
      </p:sp>
      <p:sp>
        <p:nvSpPr>
          <p:cNvPr id="5" name="Shape 3"/>
          <p:cNvSpPr/>
          <p:nvPr/>
        </p:nvSpPr>
        <p:spPr>
          <a:xfrm>
            <a:off x="11243462" y="274320"/>
            <a:ext cx="543154" cy="283464"/>
          </a:xfrm>
          <a:prstGeom prst="rect">
            <a:avLst/>
          </a:prstGeom>
          <a:solidFill>
            <a:srgbClr val="FCD116"/>
          </a:solidFill>
          <a:ln w="12700">
            <a:solidFill>
              <a:srgbClr val="FCD116"/>
            </a:solidFill>
            <a:prstDash val="solid"/>
          </a:ln>
        </p:spPr>
      </p:sp>
      <p:sp>
        <p:nvSpPr>
          <p:cNvPr id="6" name="Shape 4"/>
          <p:cNvSpPr/>
          <p:nvPr/>
        </p:nvSpPr>
        <p:spPr>
          <a:xfrm>
            <a:off x="11243462" y="557784"/>
            <a:ext cx="543154" cy="283464"/>
          </a:xfrm>
          <a:prstGeom prst="rect">
            <a:avLst/>
          </a:prstGeom>
          <a:solidFill>
            <a:srgbClr val="E8112D"/>
          </a:solidFill>
          <a:ln w="12700">
            <a:solidFill>
              <a:srgbClr val="E8112D"/>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faible (incident vérifié le plus récent : 120 jours ; aucun signal du jour)</a:t>
            </a:r>
            <a:endParaRPr lang="en-US" sz="1100" dirty="0"/>
          </a:p>
        </p:txBody>
      </p:sp>
      <p:sp>
        <p:nvSpPr>
          <p:cNvPr id="10" name="Text 8"/>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NUEE threatens nationwide shutdown, demands withdrawal of soldiers from BEDC hqtrs</a:t>
            </a:r>
            <a:endParaRPr lang="en-US" sz="2200" dirty="0"/>
          </a:p>
        </p:txBody>
      </p:sp>
      <p:sp>
        <p:nvSpPr>
          <p:cNvPr id="11" name="Text 9"/>
          <p:cNvSpPr/>
          <p:nvPr/>
        </p:nvSpPr>
        <p:spPr>
          <a:xfrm>
            <a:off x="640080" y="2029968"/>
            <a:ext cx="681228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samedi 24 octobre 2026. Lieu : Bénin. Actualité sécuritaire. Une seule source à ce stade (The Sun Nigeria)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i="1" dirty="0">
                <a:solidFill>
                  <a:srgbClr val="6B7280"/>
                </a:solidFill>
                <a:latin typeface="Calibri" pitchFamily="34" charset="0"/>
                <a:ea typeface="Calibri" pitchFamily="34" charset="-122"/>
                <a:cs typeface="Calibri" pitchFamily="34" charset="-120"/>
              </a:rPr>
              <a:t>Les médias n'en publient que le titre dans leur flux : le détail est à lire dans l'article (lien ci-dessous).</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sécuritaire à suivre : vérifier son incidence sur les sites, les itinéraires et les personnels présents dans la zone.</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Sun Nigeria</a:t>
            </a:r>
            <a:pPr indent="0" marL="0">
              <a:spcAft>
                <a:spcPts val="300"/>
              </a:spcAft>
              <a:buNone/>
            </a:pPr>
            <a:r>
              <a:rPr lang="en-US" sz="1400" dirty="0">
                <a:solidFill>
                  <a:srgbClr val="1F2937"/>
                </a:solidFill>
                <a:latin typeface="Calibri" pitchFamily="34" charset="0"/>
                <a:ea typeface="Calibri" pitchFamily="34" charset="-122"/>
                <a:cs typeface="Calibri" pitchFamily="34" charset="-120"/>
              </a:rPr>
              <a:t> — 24 octobre 2026, 7 h UTC</a:t>
            </a:r>
            <a:endParaRPr lang="en-US" sz="1400" dirty="0"/>
          </a:p>
        </p:txBody>
      </p:sp>
      <p:pic>
        <p:nvPicPr>
          <p:cNvPr id="12" name="Image 0" descr="preencoded.png">
            <a:hlinkClick r:id="rId3" tooltip=""/>
          </p:cNvPr>
          <p:cNvPicPr>
            <a:picLocks noChangeAspect="1"/>
          </p:cNvPicPr>
          <p:nvPr/>
        </p:nvPicPr>
        <p:blipFill>
          <a:blip r:embed="rId2"/>
          <a:stretch>
            <a:fillRect/>
          </a:stretch>
        </p:blipFill>
        <p:spPr>
          <a:xfrm>
            <a:off x="7635240" y="2075688"/>
            <a:ext cx="4114800" cy="3652935"/>
          </a:xfrm>
          <a:prstGeom prst="rect">
            <a:avLst/>
          </a:prstGeom>
        </p:spPr>
      </p:pic>
      <p:sp>
        <p:nvSpPr>
          <p:cNvPr id="13" name="Text 10"/>
          <p:cNvSpPr/>
          <p:nvPr/>
        </p:nvSpPr>
        <p:spPr>
          <a:xfrm>
            <a:off x="7635240" y="5765199"/>
            <a:ext cx="4114800" cy="256032"/>
          </a:xfrm>
          <a:prstGeom prst="rect">
            <a:avLst/>
          </a:prstGeom>
          <a:noFill/>
          <a:ln/>
        </p:spPr>
        <p:txBody>
          <a:bodyPr wrap="square" rtlCol="0" anchor="ctr"/>
          <a:lstStyle/>
          <a:p>
            <a:pPr algn="r" indent="0" marL="0">
              <a:buNone/>
            </a:pPr>
            <a:r>
              <a:rPr lang="en-US" sz="9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Photo : © thesun.ng</a:t>
            </a:r>
            <a:endParaRPr lang="en-US" sz="900" dirty="0"/>
          </a:p>
        </p:txBody>
      </p:sp>
      <p:pic>
        <p:nvPicPr>
          <p:cNvPr id="14" name="Image 1" descr="/home/runner/work/SentiqS/SentiqS/scripts/assets/grsci/logo-grsci.png">    </p:cNvPr>
          <p:cNvPicPr>
            <a:picLocks noChangeAspect="1"/>
          </p:cNvPicPr>
          <p:nvPr/>
        </p:nvPicPr>
        <p:blipFill>
          <a:blip r:embed="rId5"/>
          <a:stretch>
            <a:fillRect/>
          </a:stretch>
        </p:blipFill>
        <p:spPr>
          <a:xfrm>
            <a:off x="411480" y="5989320"/>
            <a:ext cx="548640" cy="630936"/>
          </a:xfrm>
          <a:prstGeom prst="rect">
            <a:avLst/>
          </a:prstGeom>
        </p:spPr>
      </p:pic>
      <p:sp>
        <p:nvSpPr>
          <p:cNvPr id="15" name="Text 11"/>
          <p:cNvSpPr/>
          <p:nvPr/>
        </p:nvSpPr>
        <p:spPr>
          <a:xfrm>
            <a:off x="3108960" y="6217920"/>
            <a:ext cx="4206240" cy="329184"/>
          </a:xfrm>
          <a:prstGeom prst="rect">
            <a:avLst/>
          </a:prstGeom>
          <a:noFill/>
          <a:ln w="9525">
            <a:solidFill>
              <a:srgbClr val="1F6B5E"/>
            </a:solidFill>
          </a:ln>
        </p:spPr>
        <p:txBody>
          <a:bodyPr wrap="square"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G</a:t>
            </a:r>
            <a:pPr algn="ctr" indent="0" marL="0">
              <a:buNone/>
            </a:pPr>
            <a:r>
              <a:rPr lang="en-US" sz="1200" dirty="0">
                <a:solidFill>
                  <a:srgbClr val="1F2937"/>
                </a:solidFill>
                <a:latin typeface="Calibri" pitchFamily="34" charset="0"/>
                <a:ea typeface="Calibri" pitchFamily="34" charset="-122"/>
                <a:cs typeface="Calibri" pitchFamily="34" charset="-120"/>
              </a:rPr>
              <a:t>roupe des </a:t>
            </a:r>
            <a:pPr algn="ctr" indent="0" marL="0">
              <a:buNone/>
            </a:pPr>
            <a:r>
              <a:rPr lang="en-US" sz="1200" b="1" dirty="0">
                <a:solidFill>
                  <a:srgbClr val="1F2937"/>
                </a:solidFill>
                <a:latin typeface="Calibri" pitchFamily="34" charset="0"/>
                <a:ea typeface="Calibri" pitchFamily="34" charset="-122"/>
                <a:cs typeface="Calibri" pitchFamily="34" charset="-120"/>
              </a:rPr>
              <a:t>R</a:t>
            </a:r>
            <a:pPr algn="ctr" indent="0" marL="0">
              <a:buNone/>
            </a:pPr>
            <a:r>
              <a:rPr lang="en-US" sz="1200" dirty="0">
                <a:solidFill>
                  <a:srgbClr val="1F2937"/>
                </a:solidFill>
                <a:latin typeface="Calibri" pitchFamily="34" charset="0"/>
                <a:ea typeface="Calibri" pitchFamily="34" charset="-122"/>
                <a:cs typeface="Calibri" pitchFamily="34" charset="-120"/>
              </a:rPr>
              <a:t>esponsables </a:t>
            </a:r>
            <a:pPr algn="ctr" indent="0" marL="0">
              <a:buNone/>
            </a:pPr>
            <a:r>
              <a:rPr lang="en-US" sz="1200" b="1" dirty="0">
                <a:solidFill>
                  <a:srgbClr val="1F2937"/>
                </a:solidFill>
                <a:latin typeface="Calibri" pitchFamily="34" charset="0"/>
                <a:ea typeface="Calibri" pitchFamily="34" charset="-122"/>
                <a:cs typeface="Calibri" pitchFamily="34" charset="-120"/>
              </a:rPr>
              <a:t>S</a:t>
            </a:r>
            <a:pPr algn="ctr" indent="0" marL="0">
              <a:buNone/>
            </a:pPr>
            <a:r>
              <a:rPr lang="en-US" sz="1200" dirty="0">
                <a:solidFill>
                  <a:srgbClr val="1F2937"/>
                </a:solidFill>
                <a:latin typeface="Calibri" pitchFamily="34" charset="0"/>
                <a:ea typeface="Calibri" pitchFamily="34" charset="-122"/>
                <a:cs typeface="Calibri" pitchFamily="34" charset="-120"/>
              </a:rPr>
              <a:t>ûreté de </a:t>
            </a:r>
            <a:pPr algn="ctr" indent="0" marL="0">
              <a:buNone/>
            </a:pPr>
            <a:r>
              <a:rPr lang="en-US" sz="1200" b="1" dirty="0">
                <a:solidFill>
                  <a:srgbClr val="1F2937"/>
                </a:solidFill>
                <a:latin typeface="Calibri" pitchFamily="34" charset="0"/>
                <a:ea typeface="Calibri" pitchFamily="34" charset="-122"/>
                <a:cs typeface="Calibri" pitchFamily="34" charset="-120"/>
              </a:rPr>
              <a:t>C</a:t>
            </a:r>
            <a:pPr algn="ctr" indent="0" marL="0">
              <a:buNone/>
            </a:pPr>
            <a:r>
              <a:rPr lang="en-US" sz="1200" dirty="0">
                <a:solidFill>
                  <a:srgbClr val="1F2937"/>
                </a:solidFill>
                <a:latin typeface="Calibri" pitchFamily="34" charset="0"/>
                <a:ea typeface="Calibri" pitchFamily="34" charset="-122"/>
                <a:cs typeface="Calibri" pitchFamily="34" charset="-120"/>
              </a:rPr>
              <a:t>ôte d'</a:t>
            </a:r>
            <a:pPr algn="ctr" indent="0" marL="0">
              <a:buNone/>
            </a:pPr>
            <a:r>
              <a:rPr lang="en-US" sz="1200" b="1" dirty="0">
                <a:solidFill>
                  <a:srgbClr val="1F2937"/>
                </a:solidFill>
                <a:latin typeface="Calibri" pitchFamily="34" charset="0"/>
                <a:ea typeface="Calibri" pitchFamily="34" charset="-122"/>
                <a:cs typeface="Calibri" pitchFamily="34" charset="-120"/>
              </a:rPr>
              <a:t>I</a:t>
            </a:r>
            <a:pPr algn="ctr" indent="0" marL="0">
              <a:buNone/>
            </a:pPr>
            <a:r>
              <a:rPr lang="en-US" sz="1200" dirty="0">
                <a:solidFill>
                  <a:srgbClr val="1F2937"/>
                </a:solidFill>
                <a:latin typeface="Calibri" pitchFamily="34" charset="0"/>
                <a:ea typeface="Calibri" pitchFamily="34" charset="-122"/>
                <a:cs typeface="Calibri" pitchFamily="34" charset="-120"/>
              </a:rPr>
              <a:t>voire</a:t>
            </a:r>
            <a:endParaRPr lang="en-US" sz="1200" dirty="0"/>
          </a:p>
        </p:txBody>
      </p:sp>
      <p:sp>
        <p:nvSpPr>
          <p:cNvPr id="16" name="Text 12"/>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27/10/26   |   29</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000" dirty="0">
                <a:solidFill>
                  <a:srgbClr val="FFFFFF"/>
                </a:solidFill>
                <a:latin typeface="Arial Narrow" pitchFamily="34" charset="0"/>
                <a:ea typeface="Arial Narrow" pitchFamily="34" charset="-122"/>
                <a:cs typeface="Arial Narrow" pitchFamily="34" charset="-120"/>
              </a:rPr>
              <a:t>VII</a:t>
            </a:r>
            <a:endParaRPr lang="en-US" sz="20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Guinée</a:t>
            </a:r>
            <a:endParaRPr lang="en-US" sz="2800" dirty="0"/>
          </a:p>
        </p:txBody>
      </p:sp>
      <p:sp>
        <p:nvSpPr>
          <p:cNvPr id="4" name="Shape 2"/>
          <p:cNvSpPr/>
          <p:nvPr/>
        </p:nvSpPr>
        <p:spPr>
          <a:xfrm>
            <a:off x="10881360" y="274320"/>
            <a:ext cx="301752" cy="566928"/>
          </a:xfrm>
          <a:prstGeom prst="rect">
            <a:avLst/>
          </a:prstGeom>
          <a:solidFill>
            <a:srgbClr val="CE1126"/>
          </a:solidFill>
          <a:ln w="12700">
            <a:solidFill>
              <a:srgbClr val="CE1126"/>
            </a:solidFill>
            <a:prstDash val="solid"/>
          </a:ln>
        </p:spPr>
      </p:sp>
      <p:sp>
        <p:nvSpPr>
          <p:cNvPr id="5" name="Shape 3"/>
          <p:cNvSpPr/>
          <p:nvPr/>
        </p:nvSpPr>
        <p:spPr>
          <a:xfrm>
            <a:off x="11183112" y="274320"/>
            <a:ext cx="301752" cy="566928"/>
          </a:xfrm>
          <a:prstGeom prst="rect">
            <a:avLst/>
          </a:prstGeom>
          <a:solidFill>
            <a:srgbClr val="FCD116"/>
          </a:solidFill>
          <a:ln w="12700">
            <a:solidFill>
              <a:srgbClr val="FCD116"/>
            </a:solidFill>
            <a:prstDash val="solid"/>
          </a:ln>
        </p:spPr>
      </p:sp>
      <p:sp>
        <p:nvSpPr>
          <p:cNvPr id="6" name="Shape 4"/>
          <p:cNvSpPr/>
          <p:nvPr/>
        </p:nvSpPr>
        <p:spPr>
          <a:xfrm>
            <a:off x="11484864" y="274320"/>
            <a:ext cx="301752" cy="566928"/>
          </a:xfrm>
          <a:prstGeom prst="rect">
            <a:avLst/>
          </a:prstGeom>
          <a:solidFill>
            <a:srgbClr val="009460"/>
          </a:solidFill>
          <a:ln w="12700">
            <a:solidFill>
              <a:srgbClr val="0094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faible (incident vérifié le plus récent : 118 jours ; aucun signal du jour)</a:t>
            </a:r>
            <a:endParaRPr lang="en-US" sz="1100" dirty="0"/>
          </a:p>
        </p:txBody>
      </p:sp>
      <p:sp>
        <p:nvSpPr>
          <p:cNvPr id="10" name="Text 8"/>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Mort mystérieuse de Souleymane Touré : sa mère et sa sœur veulent toute la vérité</a:t>
            </a:r>
            <a:endParaRPr lang="en-US" sz="2200" dirty="0"/>
          </a:p>
        </p:txBody>
      </p:sp>
      <p:sp>
        <p:nvSpPr>
          <p:cNvPr id="11" name="Text 9"/>
          <p:cNvSpPr/>
          <p:nvPr/>
        </p:nvSpPr>
        <p:spPr>
          <a:xfrm>
            <a:off x="640080" y="2029968"/>
            <a:ext cx="1097280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dimanche 25 octobre 2026. Lieu : Guinée. Actualité sécuritaire. Une seule source à ce stade (Guinee7.com)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i="1" dirty="0">
                <a:solidFill>
                  <a:srgbClr val="6B7280"/>
                </a:solidFill>
                <a:latin typeface="Calibri" pitchFamily="34" charset="0"/>
                <a:ea typeface="Calibri" pitchFamily="34" charset="-122"/>
                <a:cs typeface="Calibri" pitchFamily="34" charset="-120"/>
              </a:rPr>
              <a:t>Les médias n'en publient que le titre dans leur flux : le détail est à lire dans l'article (lien ci-dessous).</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sécuritaire à suivre : vérifier son incidence sur les sites, les itinéraires et les personnels présents dans la zone.</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Guinee7.com</a:t>
            </a:r>
            <a:pPr indent="0" marL="0">
              <a:spcAft>
                <a:spcPts val="300"/>
              </a:spcAft>
              <a:buNone/>
            </a:pPr>
            <a:r>
              <a:rPr lang="en-US" sz="1400" dirty="0">
                <a:solidFill>
                  <a:srgbClr val="1F2937"/>
                </a:solidFill>
                <a:latin typeface="Calibri" pitchFamily="34" charset="0"/>
                <a:ea typeface="Calibri" pitchFamily="34" charset="-122"/>
                <a:cs typeface="Calibri" pitchFamily="34" charset="-120"/>
              </a:rPr>
              <a:t> — 25 octobre 2026, 20 h UTC</a:t>
            </a:r>
            <a:endParaRPr lang="en-US" sz="1400" dirty="0"/>
          </a:p>
        </p:txBody>
      </p:sp>
      <p:pic>
        <p:nvPicPr>
          <p:cNvPr id="12" name="Image 0" descr="/home/runner/work/SentiqS/SentiqS/scripts/assets/grsci/logo-grsci.png">    </p:cNvPr>
          <p:cNvPicPr>
            <a:picLocks noChangeAspect="1"/>
          </p:cNvPicPr>
          <p:nvPr/>
        </p:nvPicPr>
        <p:blipFill>
          <a:blip r:embed="rId2"/>
          <a:stretch>
            <a:fillRect/>
          </a:stretch>
        </p:blipFill>
        <p:spPr>
          <a:xfrm>
            <a:off x="411480" y="5989320"/>
            <a:ext cx="548640" cy="630936"/>
          </a:xfrm>
          <a:prstGeom prst="rect">
            <a:avLst/>
          </a:prstGeom>
        </p:spPr>
      </p:pic>
      <p:sp>
        <p:nvSpPr>
          <p:cNvPr id="13" name="Text 10"/>
          <p:cNvSpPr/>
          <p:nvPr/>
        </p:nvSpPr>
        <p:spPr>
          <a:xfrm>
            <a:off x="3108960" y="6217920"/>
            <a:ext cx="4206240" cy="329184"/>
          </a:xfrm>
          <a:prstGeom prst="rect">
            <a:avLst/>
          </a:prstGeom>
          <a:noFill/>
          <a:ln w="9525">
            <a:solidFill>
              <a:srgbClr val="1F6B5E"/>
            </a:solidFill>
          </a:ln>
        </p:spPr>
        <p:txBody>
          <a:bodyPr wrap="square"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G</a:t>
            </a:r>
            <a:pPr algn="ctr" indent="0" marL="0">
              <a:buNone/>
            </a:pPr>
            <a:r>
              <a:rPr lang="en-US" sz="1200" dirty="0">
                <a:solidFill>
                  <a:srgbClr val="1F2937"/>
                </a:solidFill>
                <a:latin typeface="Calibri" pitchFamily="34" charset="0"/>
                <a:ea typeface="Calibri" pitchFamily="34" charset="-122"/>
                <a:cs typeface="Calibri" pitchFamily="34" charset="-120"/>
              </a:rPr>
              <a:t>roupe des </a:t>
            </a:r>
            <a:pPr algn="ctr" indent="0" marL="0">
              <a:buNone/>
            </a:pPr>
            <a:r>
              <a:rPr lang="en-US" sz="1200" b="1" dirty="0">
                <a:solidFill>
                  <a:srgbClr val="1F2937"/>
                </a:solidFill>
                <a:latin typeface="Calibri" pitchFamily="34" charset="0"/>
                <a:ea typeface="Calibri" pitchFamily="34" charset="-122"/>
                <a:cs typeface="Calibri" pitchFamily="34" charset="-120"/>
              </a:rPr>
              <a:t>R</a:t>
            </a:r>
            <a:pPr algn="ctr" indent="0" marL="0">
              <a:buNone/>
            </a:pPr>
            <a:r>
              <a:rPr lang="en-US" sz="1200" dirty="0">
                <a:solidFill>
                  <a:srgbClr val="1F2937"/>
                </a:solidFill>
                <a:latin typeface="Calibri" pitchFamily="34" charset="0"/>
                <a:ea typeface="Calibri" pitchFamily="34" charset="-122"/>
                <a:cs typeface="Calibri" pitchFamily="34" charset="-120"/>
              </a:rPr>
              <a:t>esponsables </a:t>
            </a:r>
            <a:pPr algn="ctr" indent="0" marL="0">
              <a:buNone/>
            </a:pPr>
            <a:r>
              <a:rPr lang="en-US" sz="1200" b="1" dirty="0">
                <a:solidFill>
                  <a:srgbClr val="1F2937"/>
                </a:solidFill>
                <a:latin typeface="Calibri" pitchFamily="34" charset="0"/>
                <a:ea typeface="Calibri" pitchFamily="34" charset="-122"/>
                <a:cs typeface="Calibri" pitchFamily="34" charset="-120"/>
              </a:rPr>
              <a:t>S</a:t>
            </a:r>
            <a:pPr algn="ctr" indent="0" marL="0">
              <a:buNone/>
            </a:pPr>
            <a:r>
              <a:rPr lang="en-US" sz="1200" dirty="0">
                <a:solidFill>
                  <a:srgbClr val="1F2937"/>
                </a:solidFill>
                <a:latin typeface="Calibri" pitchFamily="34" charset="0"/>
                <a:ea typeface="Calibri" pitchFamily="34" charset="-122"/>
                <a:cs typeface="Calibri" pitchFamily="34" charset="-120"/>
              </a:rPr>
              <a:t>ûreté de </a:t>
            </a:r>
            <a:pPr algn="ctr" indent="0" marL="0">
              <a:buNone/>
            </a:pPr>
            <a:r>
              <a:rPr lang="en-US" sz="1200" b="1" dirty="0">
                <a:solidFill>
                  <a:srgbClr val="1F2937"/>
                </a:solidFill>
                <a:latin typeface="Calibri" pitchFamily="34" charset="0"/>
                <a:ea typeface="Calibri" pitchFamily="34" charset="-122"/>
                <a:cs typeface="Calibri" pitchFamily="34" charset="-120"/>
              </a:rPr>
              <a:t>C</a:t>
            </a:r>
            <a:pPr algn="ctr" indent="0" marL="0">
              <a:buNone/>
            </a:pPr>
            <a:r>
              <a:rPr lang="en-US" sz="1200" dirty="0">
                <a:solidFill>
                  <a:srgbClr val="1F2937"/>
                </a:solidFill>
                <a:latin typeface="Calibri" pitchFamily="34" charset="0"/>
                <a:ea typeface="Calibri" pitchFamily="34" charset="-122"/>
                <a:cs typeface="Calibri" pitchFamily="34" charset="-120"/>
              </a:rPr>
              <a:t>ôte d'</a:t>
            </a:r>
            <a:pPr algn="ctr" indent="0" marL="0">
              <a:buNone/>
            </a:pPr>
            <a:r>
              <a:rPr lang="en-US" sz="1200" b="1" dirty="0">
                <a:solidFill>
                  <a:srgbClr val="1F2937"/>
                </a:solidFill>
                <a:latin typeface="Calibri" pitchFamily="34" charset="0"/>
                <a:ea typeface="Calibri" pitchFamily="34" charset="-122"/>
                <a:cs typeface="Calibri" pitchFamily="34" charset="-120"/>
              </a:rPr>
              <a:t>I</a:t>
            </a:r>
            <a:pPr algn="ctr" indent="0" marL="0">
              <a:buNone/>
            </a:pPr>
            <a:r>
              <a:rPr lang="en-US" sz="1200" dirty="0">
                <a:solidFill>
                  <a:srgbClr val="1F2937"/>
                </a:solidFill>
                <a:latin typeface="Calibri" pitchFamily="34" charset="0"/>
                <a:ea typeface="Calibri" pitchFamily="34" charset="-122"/>
                <a:cs typeface="Calibri" pitchFamily="34" charset="-120"/>
              </a:rPr>
              <a:t>voire</a:t>
            </a:r>
            <a:endParaRPr lang="en-US" sz="1200" dirty="0"/>
          </a:p>
        </p:txBody>
      </p:sp>
      <p:sp>
        <p:nvSpPr>
          <p:cNvPr id="14" name="Text 11"/>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27/10/26   |   30</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000" dirty="0">
                <a:solidFill>
                  <a:srgbClr val="FFFFFF"/>
                </a:solidFill>
                <a:latin typeface="Arial Narrow" pitchFamily="34" charset="0"/>
                <a:ea typeface="Arial Narrow" pitchFamily="34" charset="-122"/>
                <a:cs typeface="Arial Narrow" pitchFamily="34" charset="-120"/>
              </a:rPr>
              <a:t>VII</a:t>
            </a:r>
            <a:endParaRPr lang="en-US" sz="20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Guinée</a:t>
            </a:r>
            <a:endParaRPr lang="en-US" sz="2800" dirty="0"/>
          </a:p>
        </p:txBody>
      </p:sp>
      <p:sp>
        <p:nvSpPr>
          <p:cNvPr id="4" name="Shape 2"/>
          <p:cNvSpPr/>
          <p:nvPr/>
        </p:nvSpPr>
        <p:spPr>
          <a:xfrm>
            <a:off x="10881360" y="274320"/>
            <a:ext cx="301752" cy="566928"/>
          </a:xfrm>
          <a:prstGeom prst="rect">
            <a:avLst/>
          </a:prstGeom>
          <a:solidFill>
            <a:srgbClr val="CE1126"/>
          </a:solidFill>
          <a:ln w="12700">
            <a:solidFill>
              <a:srgbClr val="CE1126"/>
            </a:solidFill>
            <a:prstDash val="solid"/>
          </a:ln>
        </p:spPr>
      </p:sp>
      <p:sp>
        <p:nvSpPr>
          <p:cNvPr id="5" name="Shape 3"/>
          <p:cNvSpPr/>
          <p:nvPr/>
        </p:nvSpPr>
        <p:spPr>
          <a:xfrm>
            <a:off x="11183112" y="274320"/>
            <a:ext cx="301752" cy="566928"/>
          </a:xfrm>
          <a:prstGeom prst="rect">
            <a:avLst/>
          </a:prstGeom>
          <a:solidFill>
            <a:srgbClr val="FCD116"/>
          </a:solidFill>
          <a:ln w="12700">
            <a:solidFill>
              <a:srgbClr val="FCD116"/>
            </a:solidFill>
            <a:prstDash val="solid"/>
          </a:ln>
        </p:spPr>
      </p:sp>
      <p:sp>
        <p:nvSpPr>
          <p:cNvPr id="6" name="Shape 4"/>
          <p:cNvSpPr/>
          <p:nvPr/>
        </p:nvSpPr>
        <p:spPr>
          <a:xfrm>
            <a:off x="11484864" y="274320"/>
            <a:ext cx="301752" cy="566928"/>
          </a:xfrm>
          <a:prstGeom prst="rect">
            <a:avLst/>
          </a:prstGeom>
          <a:solidFill>
            <a:srgbClr val="009460"/>
          </a:solidFill>
          <a:ln w="12700">
            <a:solidFill>
              <a:srgbClr val="0094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INSÉCURITÉ À LABÉ : LE JOURNALISTE BOUBACAR GARKI DIALLO VICTIME DE CAMBRIOLAGE, SES ÉQUIPEMENTS DE TRAVAIL EMPORTÉ PAR LES MALFAITEURS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Guineematin.com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17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MAIRIE DE DIXINN : POURQUOI LES FEMMES BALAYEUSES ONT RENONCÉ À LEUR MANIFESTATION</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Guinee7.com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14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APPEL À MANIFESTATION D’INTÉRÊT POUR LES SERVICES DE CONSULTANTS LOCAUX EN AUDIT</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Guineematin.com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9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KANKAN : UN INCENDIE CAUSE D’IMPORTANTS DÉGÂTS AU QUARTIER BORDO</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Guineematin.com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8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LOI DE FINANCES RECTIFICATIVE 2026 : ENTRE CRISE PÉTROLIÈRE ET RETARDS DES PROJETS, LA MINISTRE DE L’ÉCONOMIE, MARIAMA CIRÉ SYLLA, S’EXPLIQUE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Guineematin.com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24 octobre 2026, 22 h UTC</a:t>
            </a:r>
            <a:endParaRPr lang="en-US" sz="1300" dirty="0"/>
          </a:p>
        </p:txBody>
      </p:sp>
      <p:pic>
        <p:nvPicPr>
          <p:cNvPr id="10" name="Image 0" descr="/home/runner/work/SentiqS/SentiqS/scripts/assets/grsci/logo-grsci.png">    </p:cNvPr>
          <p:cNvPicPr>
            <a:picLocks noChangeAspect="1"/>
          </p:cNvPicPr>
          <p:nvPr/>
        </p:nvPicPr>
        <p:blipFill>
          <a:blip r:embed="rId6"/>
          <a:stretch>
            <a:fillRect/>
          </a:stretch>
        </p:blipFill>
        <p:spPr>
          <a:xfrm>
            <a:off x="411480" y="5989320"/>
            <a:ext cx="548640" cy="630936"/>
          </a:xfrm>
          <a:prstGeom prst="rect">
            <a:avLst/>
          </a:prstGeom>
        </p:spPr>
      </p:pic>
      <p:sp>
        <p:nvSpPr>
          <p:cNvPr id="11" name="Text 8"/>
          <p:cNvSpPr/>
          <p:nvPr/>
        </p:nvSpPr>
        <p:spPr>
          <a:xfrm>
            <a:off x="3108960" y="6217920"/>
            <a:ext cx="4206240" cy="329184"/>
          </a:xfrm>
          <a:prstGeom prst="rect">
            <a:avLst/>
          </a:prstGeom>
          <a:noFill/>
          <a:ln w="9525">
            <a:solidFill>
              <a:srgbClr val="1F6B5E"/>
            </a:solidFill>
          </a:ln>
        </p:spPr>
        <p:txBody>
          <a:bodyPr wrap="square"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G</a:t>
            </a:r>
            <a:pPr algn="ctr" indent="0" marL="0">
              <a:buNone/>
            </a:pPr>
            <a:r>
              <a:rPr lang="en-US" sz="1200" dirty="0">
                <a:solidFill>
                  <a:srgbClr val="1F2937"/>
                </a:solidFill>
                <a:latin typeface="Calibri" pitchFamily="34" charset="0"/>
                <a:ea typeface="Calibri" pitchFamily="34" charset="-122"/>
                <a:cs typeface="Calibri" pitchFamily="34" charset="-120"/>
              </a:rPr>
              <a:t>roupe des </a:t>
            </a:r>
            <a:pPr algn="ctr" indent="0" marL="0">
              <a:buNone/>
            </a:pPr>
            <a:r>
              <a:rPr lang="en-US" sz="1200" b="1" dirty="0">
                <a:solidFill>
                  <a:srgbClr val="1F2937"/>
                </a:solidFill>
                <a:latin typeface="Calibri" pitchFamily="34" charset="0"/>
                <a:ea typeface="Calibri" pitchFamily="34" charset="-122"/>
                <a:cs typeface="Calibri" pitchFamily="34" charset="-120"/>
              </a:rPr>
              <a:t>R</a:t>
            </a:r>
            <a:pPr algn="ctr" indent="0" marL="0">
              <a:buNone/>
            </a:pPr>
            <a:r>
              <a:rPr lang="en-US" sz="1200" dirty="0">
                <a:solidFill>
                  <a:srgbClr val="1F2937"/>
                </a:solidFill>
                <a:latin typeface="Calibri" pitchFamily="34" charset="0"/>
                <a:ea typeface="Calibri" pitchFamily="34" charset="-122"/>
                <a:cs typeface="Calibri" pitchFamily="34" charset="-120"/>
              </a:rPr>
              <a:t>esponsables </a:t>
            </a:r>
            <a:pPr algn="ctr" indent="0" marL="0">
              <a:buNone/>
            </a:pPr>
            <a:r>
              <a:rPr lang="en-US" sz="1200" b="1" dirty="0">
                <a:solidFill>
                  <a:srgbClr val="1F2937"/>
                </a:solidFill>
                <a:latin typeface="Calibri" pitchFamily="34" charset="0"/>
                <a:ea typeface="Calibri" pitchFamily="34" charset="-122"/>
                <a:cs typeface="Calibri" pitchFamily="34" charset="-120"/>
              </a:rPr>
              <a:t>S</a:t>
            </a:r>
            <a:pPr algn="ctr" indent="0" marL="0">
              <a:buNone/>
            </a:pPr>
            <a:r>
              <a:rPr lang="en-US" sz="1200" dirty="0">
                <a:solidFill>
                  <a:srgbClr val="1F2937"/>
                </a:solidFill>
                <a:latin typeface="Calibri" pitchFamily="34" charset="0"/>
                <a:ea typeface="Calibri" pitchFamily="34" charset="-122"/>
                <a:cs typeface="Calibri" pitchFamily="34" charset="-120"/>
              </a:rPr>
              <a:t>ûreté de </a:t>
            </a:r>
            <a:pPr algn="ctr" indent="0" marL="0">
              <a:buNone/>
            </a:pPr>
            <a:r>
              <a:rPr lang="en-US" sz="1200" b="1" dirty="0">
                <a:solidFill>
                  <a:srgbClr val="1F2937"/>
                </a:solidFill>
                <a:latin typeface="Calibri" pitchFamily="34" charset="0"/>
                <a:ea typeface="Calibri" pitchFamily="34" charset="-122"/>
                <a:cs typeface="Calibri" pitchFamily="34" charset="-120"/>
              </a:rPr>
              <a:t>C</a:t>
            </a:r>
            <a:pPr algn="ctr" indent="0" marL="0">
              <a:buNone/>
            </a:pPr>
            <a:r>
              <a:rPr lang="en-US" sz="1200" dirty="0">
                <a:solidFill>
                  <a:srgbClr val="1F2937"/>
                </a:solidFill>
                <a:latin typeface="Calibri" pitchFamily="34" charset="0"/>
                <a:ea typeface="Calibri" pitchFamily="34" charset="-122"/>
                <a:cs typeface="Calibri" pitchFamily="34" charset="-120"/>
              </a:rPr>
              <a:t>ôte d'</a:t>
            </a:r>
            <a:pPr algn="ctr" indent="0" marL="0">
              <a:buNone/>
            </a:pPr>
            <a:r>
              <a:rPr lang="en-US" sz="1200" b="1" dirty="0">
                <a:solidFill>
                  <a:srgbClr val="1F2937"/>
                </a:solidFill>
                <a:latin typeface="Calibri" pitchFamily="34" charset="0"/>
                <a:ea typeface="Calibri" pitchFamily="34" charset="-122"/>
                <a:cs typeface="Calibri" pitchFamily="34" charset="-120"/>
              </a:rPr>
              <a:t>I</a:t>
            </a:r>
            <a:pPr algn="ctr" indent="0" marL="0">
              <a:buNone/>
            </a:pPr>
            <a:r>
              <a:rPr lang="en-US" sz="1200" dirty="0">
                <a:solidFill>
                  <a:srgbClr val="1F2937"/>
                </a:solidFill>
                <a:latin typeface="Calibri" pitchFamily="34" charset="0"/>
                <a:ea typeface="Calibri" pitchFamily="34" charset="-122"/>
                <a:cs typeface="Calibri" pitchFamily="34" charset="-120"/>
              </a:rPr>
              <a:t>voire</a:t>
            </a:r>
            <a:endParaRPr lang="en-US" sz="1200" dirty="0"/>
          </a:p>
        </p:txBody>
      </p:sp>
      <p:sp>
        <p:nvSpPr>
          <p:cNvPr id="12"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27/10/26   |   31</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000" dirty="0">
                <a:solidFill>
                  <a:srgbClr val="FFFFFF"/>
                </a:solidFill>
                <a:latin typeface="Arial Narrow" pitchFamily="34" charset="0"/>
                <a:ea typeface="Arial Narrow" pitchFamily="34" charset="-122"/>
                <a:cs typeface="Arial Narrow" pitchFamily="34" charset="-120"/>
              </a:rPr>
              <a:t>VII</a:t>
            </a:r>
            <a:endParaRPr lang="en-US" sz="20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Guinée</a:t>
            </a:r>
            <a:endParaRPr lang="en-US" sz="2800" dirty="0"/>
          </a:p>
        </p:txBody>
      </p:sp>
      <p:sp>
        <p:nvSpPr>
          <p:cNvPr id="4" name="Shape 2"/>
          <p:cNvSpPr/>
          <p:nvPr/>
        </p:nvSpPr>
        <p:spPr>
          <a:xfrm>
            <a:off x="10881360" y="274320"/>
            <a:ext cx="301752" cy="566928"/>
          </a:xfrm>
          <a:prstGeom prst="rect">
            <a:avLst/>
          </a:prstGeom>
          <a:solidFill>
            <a:srgbClr val="CE1126"/>
          </a:solidFill>
          <a:ln w="12700">
            <a:solidFill>
              <a:srgbClr val="CE1126"/>
            </a:solidFill>
            <a:prstDash val="solid"/>
          </a:ln>
        </p:spPr>
      </p:sp>
      <p:sp>
        <p:nvSpPr>
          <p:cNvPr id="5" name="Shape 3"/>
          <p:cNvSpPr/>
          <p:nvPr/>
        </p:nvSpPr>
        <p:spPr>
          <a:xfrm>
            <a:off x="11183112" y="274320"/>
            <a:ext cx="301752" cy="566928"/>
          </a:xfrm>
          <a:prstGeom prst="rect">
            <a:avLst/>
          </a:prstGeom>
          <a:solidFill>
            <a:srgbClr val="FCD116"/>
          </a:solidFill>
          <a:ln w="12700">
            <a:solidFill>
              <a:srgbClr val="FCD116"/>
            </a:solidFill>
            <a:prstDash val="solid"/>
          </a:ln>
        </p:spPr>
      </p:sp>
      <p:sp>
        <p:nvSpPr>
          <p:cNvPr id="6" name="Shape 4"/>
          <p:cNvSpPr/>
          <p:nvPr/>
        </p:nvSpPr>
        <p:spPr>
          <a:xfrm>
            <a:off x="11484864" y="274320"/>
            <a:ext cx="301752" cy="566928"/>
          </a:xfrm>
          <a:prstGeom prst="rect">
            <a:avLst/>
          </a:prstGeom>
          <a:solidFill>
            <a:srgbClr val="009460"/>
          </a:solidFill>
          <a:ln w="12700">
            <a:solidFill>
              <a:srgbClr val="0094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ÉLECTION FÉGUIFOOT : L’ARGENT DES VOIX MENACE LE FOOTBALL</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Guinee7.com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24 octobre 2026, 8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CELLCOM GUINÉE : LA FESATEL ALERTE SUR LES SALAIRES IMPAYÉS ET RÉCLAME L’OUVERTURE URGENTE DE NÉGOCIATIONS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Guineematin.com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19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TPI DE COYAH : LE PROCUREUR ALIOU DIALLO PREND OFFICIELLEMENT LA TÊTE DU PARQUET</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Guineematin.com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19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FORÉCARIAH : FRIKI KEITA REPREND SES FONCTIONS À LA TÊTE DE LA DPE CE MARDI</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Guineelive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13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p:txBody>
      </p:sp>
      <p:pic>
        <p:nvPicPr>
          <p:cNvPr id="10" name="Image 0" descr="/home/runner/work/SentiqS/SentiqS/scripts/assets/grsci/logo-grsci.png">    </p:cNvPr>
          <p:cNvPicPr>
            <a:picLocks noChangeAspect="1"/>
          </p:cNvPicPr>
          <p:nvPr/>
        </p:nvPicPr>
        <p:blipFill>
          <a:blip r:embed="rId5"/>
          <a:stretch>
            <a:fillRect/>
          </a:stretch>
        </p:blipFill>
        <p:spPr>
          <a:xfrm>
            <a:off x="411480" y="5989320"/>
            <a:ext cx="548640" cy="630936"/>
          </a:xfrm>
          <a:prstGeom prst="rect">
            <a:avLst/>
          </a:prstGeom>
        </p:spPr>
      </p:pic>
      <p:sp>
        <p:nvSpPr>
          <p:cNvPr id="11" name="Text 8"/>
          <p:cNvSpPr/>
          <p:nvPr/>
        </p:nvSpPr>
        <p:spPr>
          <a:xfrm>
            <a:off x="3108960" y="6217920"/>
            <a:ext cx="4206240" cy="329184"/>
          </a:xfrm>
          <a:prstGeom prst="rect">
            <a:avLst/>
          </a:prstGeom>
          <a:noFill/>
          <a:ln w="9525">
            <a:solidFill>
              <a:srgbClr val="1F6B5E"/>
            </a:solidFill>
          </a:ln>
        </p:spPr>
        <p:txBody>
          <a:bodyPr wrap="square"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G</a:t>
            </a:r>
            <a:pPr algn="ctr" indent="0" marL="0">
              <a:buNone/>
            </a:pPr>
            <a:r>
              <a:rPr lang="en-US" sz="1200" dirty="0">
                <a:solidFill>
                  <a:srgbClr val="1F2937"/>
                </a:solidFill>
                <a:latin typeface="Calibri" pitchFamily="34" charset="0"/>
                <a:ea typeface="Calibri" pitchFamily="34" charset="-122"/>
                <a:cs typeface="Calibri" pitchFamily="34" charset="-120"/>
              </a:rPr>
              <a:t>roupe des </a:t>
            </a:r>
            <a:pPr algn="ctr" indent="0" marL="0">
              <a:buNone/>
            </a:pPr>
            <a:r>
              <a:rPr lang="en-US" sz="1200" b="1" dirty="0">
                <a:solidFill>
                  <a:srgbClr val="1F2937"/>
                </a:solidFill>
                <a:latin typeface="Calibri" pitchFamily="34" charset="0"/>
                <a:ea typeface="Calibri" pitchFamily="34" charset="-122"/>
                <a:cs typeface="Calibri" pitchFamily="34" charset="-120"/>
              </a:rPr>
              <a:t>R</a:t>
            </a:r>
            <a:pPr algn="ctr" indent="0" marL="0">
              <a:buNone/>
            </a:pPr>
            <a:r>
              <a:rPr lang="en-US" sz="1200" dirty="0">
                <a:solidFill>
                  <a:srgbClr val="1F2937"/>
                </a:solidFill>
                <a:latin typeface="Calibri" pitchFamily="34" charset="0"/>
                <a:ea typeface="Calibri" pitchFamily="34" charset="-122"/>
                <a:cs typeface="Calibri" pitchFamily="34" charset="-120"/>
              </a:rPr>
              <a:t>esponsables </a:t>
            </a:r>
            <a:pPr algn="ctr" indent="0" marL="0">
              <a:buNone/>
            </a:pPr>
            <a:r>
              <a:rPr lang="en-US" sz="1200" b="1" dirty="0">
                <a:solidFill>
                  <a:srgbClr val="1F2937"/>
                </a:solidFill>
                <a:latin typeface="Calibri" pitchFamily="34" charset="0"/>
                <a:ea typeface="Calibri" pitchFamily="34" charset="-122"/>
                <a:cs typeface="Calibri" pitchFamily="34" charset="-120"/>
              </a:rPr>
              <a:t>S</a:t>
            </a:r>
            <a:pPr algn="ctr" indent="0" marL="0">
              <a:buNone/>
            </a:pPr>
            <a:r>
              <a:rPr lang="en-US" sz="1200" dirty="0">
                <a:solidFill>
                  <a:srgbClr val="1F2937"/>
                </a:solidFill>
                <a:latin typeface="Calibri" pitchFamily="34" charset="0"/>
                <a:ea typeface="Calibri" pitchFamily="34" charset="-122"/>
                <a:cs typeface="Calibri" pitchFamily="34" charset="-120"/>
              </a:rPr>
              <a:t>ûreté de </a:t>
            </a:r>
            <a:pPr algn="ctr" indent="0" marL="0">
              <a:buNone/>
            </a:pPr>
            <a:r>
              <a:rPr lang="en-US" sz="1200" b="1" dirty="0">
                <a:solidFill>
                  <a:srgbClr val="1F2937"/>
                </a:solidFill>
                <a:latin typeface="Calibri" pitchFamily="34" charset="0"/>
                <a:ea typeface="Calibri" pitchFamily="34" charset="-122"/>
                <a:cs typeface="Calibri" pitchFamily="34" charset="-120"/>
              </a:rPr>
              <a:t>C</a:t>
            </a:r>
            <a:pPr algn="ctr" indent="0" marL="0">
              <a:buNone/>
            </a:pPr>
            <a:r>
              <a:rPr lang="en-US" sz="1200" dirty="0">
                <a:solidFill>
                  <a:srgbClr val="1F2937"/>
                </a:solidFill>
                <a:latin typeface="Calibri" pitchFamily="34" charset="0"/>
                <a:ea typeface="Calibri" pitchFamily="34" charset="-122"/>
                <a:cs typeface="Calibri" pitchFamily="34" charset="-120"/>
              </a:rPr>
              <a:t>ôte d'</a:t>
            </a:r>
            <a:pPr algn="ctr" indent="0" marL="0">
              <a:buNone/>
            </a:pPr>
            <a:r>
              <a:rPr lang="en-US" sz="1200" b="1" dirty="0">
                <a:solidFill>
                  <a:srgbClr val="1F2937"/>
                </a:solidFill>
                <a:latin typeface="Calibri" pitchFamily="34" charset="0"/>
                <a:ea typeface="Calibri" pitchFamily="34" charset="-122"/>
                <a:cs typeface="Calibri" pitchFamily="34" charset="-120"/>
              </a:rPr>
              <a:t>I</a:t>
            </a:r>
            <a:pPr algn="ctr" indent="0" marL="0">
              <a:buNone/>
            </a:pPr>
            <a:r>
              <a:rPr lang="en-US" sz="1200" dirty="0">
                <a:solidFill>
                  <a:srgbClr val="1F2937"/>
                </a:solidFill>
                <a:latin typeface="Calibri" pitchFamily="34" charset="0"/>
                <a:ea typeface="Calibri" pitchFamily="34" charset="-122"/>
                <a:cs typeface="Calibri" pitchFamily="34" charset="-120"/>
              </a:rPr>
              <a:t>voire</a:t>
            </a:r>
            <a:endParaRPr lang="en-US" sz="1200" dirty="0"/>
          </a:p>
        </p:txBody>
      </p:sp>
      <p:sp>
        <p:nvSpPr>
          <p:cNvPr id="12"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27/10/26   |   32</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1600" dirty="0">
                <a:solidFill>
                  <a:srgbClr val="FFFFFF"/>
                </a:solidFill>
                <a:latin typeface="Arial Narrow" pitchFamily="34" charset="0"/>
                <a:ea typeface="Arial Narrow" pitchFamily="34" charset="-122"/>
                <a:cs typeface="Arial Narrow" pitchFamily="34" charset="-120"/>
              </a:rPr>
              <a:t>VIII</a:t>
            </a:r>
            <a:endParaRPr lang="en-US" sz="16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Liberia</a:t>
            </a:r>
            <a:endParaRPr lang="en-US" sz="2800" dirty="0"/>
          </a:p>
        </p:txBody>
      </p:sp>
      <p:sp>
        <p:nvSpPr>
          <p:cNvPr id="4" name="Shape 2"/>
          <p:cNvSpPr/>
          <p:nvPr/>
        </p:nvSpPr>
        <p:spPr>
          <a:xfrm>
            <a:off x="10881360" y="274320"/>
            <a:ext cx="905256" cy="113386"/>
          </a:xfrm>
          <a:prstGeom prst="rect">
            <a:avLst/>
          </a:prstGeom>
          <a:solidFill>
            <a:srgbClr val="BF0A30"/>
          </a:solidFill>
          <a:ln w="12700">
            <a:solidFill>
              <a:srgbClr val="BF0A30"/>
            </a:solidFill>
            <a:prstDash val="solid"/>
          </a:ln>
        </p:spPr>
      </p:sp>
      <p:sp>
        <p:nvSpPr>
          <p:cNvPr id="5" name="Shape 3"/>
          <p:cNvSpPr/>
          <p:nvPr/>
        </p:nvSpPr>
        <p:spPr>
          <a:xfrm>
            <a:off x="10881360" y="387706"/>
            <a:ext cx="905256" cy="113386"/>
          </a:xfrm>
          <a:prstGeom prst="rect">
            <a:avLst/>
          </a:prstGeom>
          <a:solidFill>
            <a:srgbClr val="FFFFFF"/>
          </a:solidFill>
          <a:ln w="12700">
            <a:solidFill>
              <a:srgbClr val="FFFFFF"/>
            </a:solidFill>
            <a:prstDash val="solid"/>
          </a:ln>
        </p:spPr>
      </p:sp>
      <p:sp>
        <p:nvSpPr>
          <p:cNvPr id="6" name="Shape 4"/>
          <p:cNvSpPr/>
          <p:nvPr/>
        </p:nvSpPr>
        <p:spPr>
          <a:xfrm>
            <a:off x="10881360" y="501091"/>
            <a:ext cx="905256" cy="113386"/>
          </a:xfrm>
          <a:prstGeom prst="rect">
            <a:avLst/>
          </a:prstGeom>
          <a:solidFill>
            <a:srgbClr val="BF0A30"/>
          </a:solidFill>
          <a:ln w="12700">
            <a:solidFill>
              <a:srgbClr val="BF0A30"/>
            </a:solidFill>
            <a:prstDash val="solid"/>
          </a:ln>
        </p:spPr>
      </p:sp>
      <p:sp>
        <p:nvSpPr>
          <p:cNvPr id="7" name="Shape 5"/>
          <p:cNvSpPr/>
          <p:nvPr/>
        </p:nvSpPr>
        <p:spPr>
          <a:xfrm>
            <a:off x="10881360" y="614477"/>
            <a:ext cx="905256" cy="113386"/>
          </a:xfrm>
          <a:prstGeom prst="rect">
            <a:avLst/>
          </a:prstGeom>
          <a:solidFill>
            <a:srgbClr val="FFFFFF"/>
          </a:solidFill>
          <a:ln w="12700">
            <a:solidFill>
              <a:srgbClr val="FFFFFF"/>
            </a:solidFill>
            <a:prstDash val="solid"/>
          </a:ln>
        </p:spPr>
      </p:sp>
      <p:sp>
        <p:nvSpPr>
          <p:cNvPr id="8" name="Shape 6"/>
          <p:cNvSpPr/>
          <p:nvPr/>
        </p:nvSpPr>
        <p:spPr>
          <a:xfrm>
            <a:off x="10881360" y="727862"/>
            <a:ext cx="905256" cy="113386"/>
          </a:xfrm>
          <a:prstGeom prst="rect">
            <a:avLst/>
          </a:prstGeom>
          <a:solidFill>
            <a:srgbClr val="BF0A30"/>
          </a:solidFill>
          <a:ln w="12700">
            <a:solidFill>
              <a:srgbClr val="BF0A30"/>
            </a:solidFill>
            <a:prstDash val="solid"/>
          </a:ln>
        </p:spPr>
      </p:sp>
      <p:sp>
        <p:nvSpPr>
          <p:cNvPr id="9" name="Shape 7"/>
          <p:cNvSpPr/>
          <p:nvPr/>
        </p:nvSpPr>
        <p:spPr>
          <a:xfrm>
            <a:off x="10881360" y="274320"/>
            <a:ext cx="905256" cy="566928"/>
          </a:xfrm>
          <a:prstGeom prst="rect">
            <a:avLst/>
          </a:prstGeom>
          <a:ln w="6350">
            <a:solidFill>
              <a:srgbClr val="1F2937"/>
            </a:solidFill>
            <a:prstDash val="solid"/>
          </a:ln>
        </p:spPr>
      </p:sp>
      <p:sp>
        <p:nvSpPr>
          <p:cNvPr id="10" name="Shape 8"/>
          <p:cNvSpPr/>
          <p:nvPr/>
        </p:nvSpPr>
        <p:spPr>
          <a:xfrm>
            <a:off x="457200" y="960120"/>
            <a:ext cx="11292840" cy="0"/>
          </a:xfrm>
          <a:prstGeom prst="line">
            <a:avLst/>
          </a:prstGeom>
          <a:noFill/>
          <a:ln w="6350">
            <a:solidFill>
              <a:srgbClr val="A3A3A3"/>
            </a:solidFill>
            <a:prstDash val="solid"/>
          </a:ln>
        </p:spPr>
      </p:sp>
      <p:sp>
        <p:nvSpPr>
          <p:cNvPr id="11" name="Text 9"/>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faible (incident vérifié le plus récent : 210 jours ; aucun signal du jour)</a:t>
            </a:r>
            <a:endParaRPr lang="en-US" sz="1100" dirty="0"/>
          </a:p>
        </p:txBody>
      </p:sp>
      <p:sp>
        <p:nvSpPr>
          <p:cNvPr id="12" name="Text 10"/>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Liberia: Dolphin Killed, Butchered Before NaFAA Rescue Team Arrived</a:t>
            </a:r>
            <a:endParaRPr lang="en-US" sz="2200" dirty="0"/>
          </a:p>
        </p:txBody>
      </p:sp>
      <p:sp>
        <p:nvSpPr>
          <p:cNvPr id="13" name="Text 11"/>
          <p:cNvSpPr/>
          <p:nvPr/>
        </p:nvSpPr>
        <p:spPr>
          <a:xfrm>
            <a:off x="640080" y="2029968"/>
            <a:ext cx="1097280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mardi 27 octobre 2026. Lieu : Monrovia, Liberia. Actualité sécuritaire. Une seule source à ce stade (FrontPageAfrica — Liberia)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FrontPageAfrica — Liberia : </a:t>
            </a:r>
            <a:pPr indent="0" marL="0">
              <a:spcAft>
                <a:spcPts val="300"/>
              </a:spcAft>
              <a:buNone/>
            </a:pPr>
            <a:r>
              <a:rPr lang="en-US" sz="1400" i="1" dirty="0">
                <a:solidFill>
                  <a:srgbClr val="1F2937"/>
                </a:solidFill>
                <a:latin typeface="Calibri" pitchFamily="34" charset="0"/>
                <a:ea typeface="Calibri" pitchFamily="34" charset="-122"/>
                <a:cs typeface="Calibri" pitchFamily="34" charset="-120"/>
              </a:rPr>
              <a:t>« Monrovia — What began as a moment of hope for conservationists ended in frustration after a dolphin that washed ashore at Miami Beach in Monrovia was killed and… »</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sécuritaire à suivre : vérifier son incidence sur les sites, les itinéraires et les personnels présents dans la zone.</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FrontPageAfrica — Liberia</a:t>
            </a:r>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 — 27 octobre 2026, 5 h UTC   ·   Cotation : Probable</a:t>
            </a:r>
            <a:endParaRPr lang="en-US" sz="1400" dirty="0"/>
          </a:p>
        </p:txBody>
      </p:sp>
      <p:pic>
        <p:nvPicPr>
          <p:cNvPr id="14" name="Image 0" descr="/home/runner/work/SentiqS/SentiqS/scripts/assets/grsci/logo-grsci.png">    </p:cNvPr>
          <p:cNvPicPr>
            <a:picLocks noChangeAspect="1"/>
          </p:cNvPicPr>
          <p:nvPr/>
        </p:nvPicPr>
        <p:blipFill>
          <a:blip r:embed="rId2"/>
          <a:stretch>
            <a:fillRect/>
          </a:stretch>
        </p:blipFill>
        <p:spPr>
          <a:xfrm>
            <a:off x="411480" y="5989320"/>
            <a:ext cx="548640" cy="630936"/>
          </a:xfrm>
          <a:prstGeom prst="rect">
            <a:avLst/>
          </a:prstGeom>
        </p:spPr>
      </p:pic>
      <p:sp>
        <p:nvSpPr>
          <p:cNvPr id="15" name="Text 12"/>
          <p:cNvSpPr/>
          <p:nvPr/>
        </p:nvSpPr>
        <p:spPr>
          <a:xfrm>
            <a:off x="3108960" y="6217920"/>
            <a:ext cx="4206240" cy="329184"/>
          </a:xfrm>
          <a:prstGeom prst="rect">
            <a:avLst/>
          </a:prstGeom>
          <a:noFill/>
          <a:ln w="9525">
            <a:solidFill>
              <a:srgbClr val="1F6B5E"/>
            </a:solidFill>
          </a:ln>
        </p:spPr>
        <p:txBody>
          <a:bodyPr wrap="square"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G</a:t>
            </a:r>
            <a:pPr algn="ctr" indent="0" marL="0">
              <a:buNone/>
            </a:pPr>
            <a:r>
              <a:rPr lang="en-US" sz="1200" dirty="0">
                <a:solidFill>
                  <a:srgbClr val="1F2937"/>
                </a:solidFill>
                <a:latin typeface="Calibri" pitchFamily="34" charset="0"/>
                <a:ea typeface="Calibri" pitchFamily="34" charset="-122"/>
                <a:cs typeface="Calibri" pitchFamily="34" charset="-120"/>
              </a:rPr>
              <a:t>roupe des </a:t>
            </a:r>
            <a:pPr algn="ctr" indent="0" marL="0">
              <a:buNone/>
            </a:pPr>
            <a:r>
              <a:rPr lang="en-US" sz="1200" b="1" dirty="0">
                <a:solidFill>
                  <a:srgbClr val="1F2937"/>
                </a:solidFill>
                <a:latin typeface="Calibri" pitchFamily="34" charset="0"/>
                <a:ea typeface="Calibri" pitchFamily="34" charset="-122"/>
                <a:cs typeface="Calibri" pitchFamily="34" charset="-120"/>
              </a:rPr>
              <a:t>R</a:t>
            </a:r>
            <a:pPr algn="ctr" indent="0" marL="0">
              <a:buNone/>
            </a:pPr>
            <a:r>
              <a:rPr lang="en-US" sz="1200" dirty="0">
                <a:solidFill>
                  <a:srgbClr val="1F2937"/>
                </a:solidFill>
                <a:latin typeface="Calibri" pitchFamily="34" charset="0"/>
                <a:ea typeface="Calibri" pitchFamily="34" charset="-122"/>
                <a:cs typeface="Calibri" pitchFamily="34" charset="-120"/>
              </a:rPr>
              <a:t>esponsables </a:t>
            </a:r>
            <a:pPr algn="ctr" indent="0" marL="0">
              <a:buNone/>
            </a:pPr>
            <a:r>
              <a:rPr lang="en-US" sz="1200" b="1" dirty="0">
                <a:solidFill>
                  <a:srgbClr val="1F2937"/>
                </a:solidFill>
                <a:latin typeface="Calibri" pitchFamily="34" charset="0"/>
                <a:ea typeface="Calibri" pitchFamily="34" charset="-122"/>
                <a:cs typeface="Calibri" pitchFamily="34" charset="-120"/>
              </a:rPr>
              <a:t>S</a:t>
            </a:r>
            <a:pPr algn="ctr" indent="0" marL="0">
              <a:buNone/>
            </a:pPr>
            <a:r>
              <a:rPr lang="en-US" sz="1200" dirty="0">
                <a:solidFill>
                  <a:srgbClr val="1F2937"/>
                </a:solidFill>
                <a:latin typeface="Calibri" pitchFamily="34" charset="0"/>
                <a:ea typeface="Calibri" pitchFamily="34" charset="-122"/>
                <a:cs typeface="Calibri" pitchFamily="34" charset="-120"/>
              </a:rPr>
              <a:t>ûreté de </a:t>
            </a:r>
            <a:pPr algn="ctr" indent="0" marL="0">
              <a:buNone/>
            </a:pPr>
            <a:r>
              <a:rPr lang="en-US" sz="1200" b="1" dirty="0">
                <a:solidFill>
                  <a:srgbClr val="1F2937"/>
                </a:solidFill>
                <a:latin typeface="Calibri" pitchFamily="34" charset="0"/>
                <a:ea typeface="Calibri" pitchFamily="34" charset="-122"/>
                <a:cs typeface="Calibri" pitchFamily="34" charset="-120"/>
              </a:rPr>
              <a:t>C</a:t>
            </a:r>
            <a:pPr algn="ctr" indent="0" marL="0">
              <a:buNone/>
            </a:pPr>
            <a:r>
              <a:rPr lang="en-US" sz="1200" dirty="0">
                <a:solidFill>
                  <a:srgbClr val="1F2937"/>
                </a:solidFill>
                <a:latin typeface="Calibri" pitchFamily="34" charset="0"/>
                <a:ea typeface="Calibri" pitchFamily="34" charset="-122"/>
                <a:cs typeface="Calibri" pitchFamily="34" charset="-120"/>
              </a:rPr>
              <a:t>ôte d'</a:t>
            </a:r>
            <a:pPr algn="ctr" indent="0" marL="0">
              <a:buNone/>
            </a:pPr>
            <a:r>
              <a:rPr lang="en-US" sz="1200" b="1" dirty="0">
                <a:solidFill>
                  <a:srgbClr val="1F2937"/>
                </a:solidFill>
                <a:latin typeface="Calibri" pitchFamily="34" charset="0"/>
                <a:ea typeface="Calibri" pitchFamily="34" charset="-122"/>
                <a:cs typeface="Calibri" pitchFamily="34" charset="-120"/>
              </a:rPr>
              <a:t>I</a:t>
            </a:r>
            <a:pPr algn="ctr" indent="0" marL="0">
              <a:buNone/>
            </a:pPr>
            <a:r>
              <a:rPr lang="en-US" sz="1200" dirty="0">
                <a:solidFill>
                  <a:srgbClr val="1F2937"/>
                </a:solidFill>
                <a:latin typeface="Calibri" pitchFamily="34" charset="0"/>
                <a:ea typeface="Calibri" pitchFamily="34" charset="-122"/>
                <a:cs typeface="Calibri" pitchFamily="34" charset="-120"/>
              </a:rPr>
              <a:t>voire</a:t>
            </a:r>
            <a:endParaRPr lang="en-US" sz="1200" dirty="0"/>
          </a:p>
        </p:txBody>
      </p:sp>
      <p:sp>
        <p:nvSpPr>
          <p:cNvPr id="16" name="Text 13"/>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27/10/26   |   33</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1600" dirty="0">
                <a:solidFill>
                  <a:srgbClr val="FFFFFF"/>
                </a:solidFill>
                <a:latin typeface="Arial Narrow" pitchFamily="34" charset="0"/>
                <a:ea typeface="Arial Narrow" pitchFamily="34" charset="-122"/>
                <a:cs typeface="Arial Narrow" pitchFamily="34" charset="-120"/>
              </a:rPr>
              <a:t>VIII</a:t>
            </a:r>
            <a:endParaRPr lang="en-US" sz="16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Liberia</a:t>
            </a:r>
            <a:endParaRPr lang="en-US" sz="2800" dirty="0"/>
          </a:p>
        </p:txBody>
      </p:sp>
      <p:sp>
        <p:nvSpPr>
          <p:cNvPr id="4" name="Shape 2"/>
          <p:cNvSpPr/>
          <p:nvPr/>
        </p:nvSpPr>
        <p:spPr>
          <a:xfrm>
            <a:off x="10881360" y="274320"/>
            <a:ext cx="905256" cy="113386"/>
          </a:xfrm>
          <a:prstGeom prst="rect">
            <a:avLst/>
          </a:prstGeom>
          <a:solidFill>
            <a:srgbClr val="BF0A30"/>
          </a:solidFill>
          <a:ln w="12700">
            <a:solidFill>
              <a:srgbClr val="BF0A30"/>
            </a:solidFill>
            <a:prstDash val="solid"/>
          </a:ln>
        </p:spPr>
      </p:sp>
      <p:sp>
        <p:nvSpPr>
          <p:cNvPr id="5" name="Shape 3"/>
          <p:cNvSpPr/>
          <p:nvPr/>
        </p:nvSpPr>
        <p:spPr>
          <a:xfrm>
            <a:off x="10881360" y="387706"/>
            <a:ext cx="905256" cy="113386"/>
          </a:xfrm>
          <a:prstGeom prst="rect">
            <a:avLst/>
          </a:prstGeom>
          <a:solidFill>
            <a:srgbClr val="FFFFFF"/>
          </a:solidFill>
          <a:ln w="12700">
            <a:solidFill>
              <a:srgbClr val="FFFFFF"/>
            </a:solidFill>
            <a:prstDash val="solid"/>
          </a:ln>
        </p:spPr>
      </p:sp>
      <p:sp>
        <p:nvSpPr>
          <p:cNvPr id="6" name="Shape 4"/>
          <p:cNvSpPr/>
          <p:nvPr/>
        </p:nvSpPr>
        <p:spPr>
          <a:xfrm>
            <a:off x="10881360" y="501091"/>
            <a:ext cx="905256" cy="113386"/>
          </a:xfrm>
          <a:prstGeom prst="rect">
            <a:avLst/>
          </a:prstGeom>
          <a:solidFill>
            <a:srgbClr val="BF0A30"/>
          </a:solidFill>
          <a:ln w="12700">
            <a:solidFill>
              <a:srgbClr val="BF0A30"/>
            </a:solidFill>
            <a:prstDash val="solid"/>
          </a:ln>
        </p:spPr>
      </p:sp>
      <p:sp>
        <p:nvSpPr>
          <p:cNvPr id="7" name="Shape 5"/>
          <p:cNvSpPr/>
          <p:nvPr/>
        </p:nvSpPr>
        <p:spPr>
          <a:xfrm>
            <a:off x="10881360" y="614477"/>
            <a:ext cx="905256" cy="113386"/>
          </a:xfrm>
          <a:prstGeom prst="rect">
            <a:avLst/>
          </a:prstGeom>
          <a:solidFill>
            <a:srgbClr val="FFFFFF"/>
          </a:solidFill>
          <a:ln w="12700">
            <a:solidFill>
              <a:srgbClr val="FFFFFF"/>
            </a:solidFill>
            <a:prstDash val="solid"/>
          </a:ln>
        </p:spPr>
      </p:sp>
      <p:sp>
        <p:nvSpPr>
          <p:cNvPr id="8" name="Shape 6"/>
          <p:cNvSpPr/>
          <p:nvPr/>
        </p:nvSpPr>
        <p:spPr>
          <a:xfrm>
            <a:off x="10881360" y="727862"/>
            <a:ext cx="905256" cy="113386"/>
          </a:xfrm>
          <a:prstGeom prst="rect">
            <a:avLst/>
          </a:prstGeom>
          <a:solidFill>
            <a:srgbClr val="BF0A30"/>
          </a:solidFill>
          <a:ln w="12700">
            <a:solidFill>
              <a:srgbClr val="BF0A30"/>
            </a:solidFill>
            <a:prstDash val="solid"/>
          </a:ln>
        </p:spPr>
      </p:sp>
      <p:sp>
        <p:nvSpPr>
          <p:cNvPr id="9" name="Shape 7"/>
          <p:cNvSpPr/>
          <p:nvPr/>
        </p:nvSpPr>
        <p:spPr>
          <a:xfrm>
            <a:off x="10881360" y="274320"/>
            <a:ext cx="905256" cy="566928"/>
          </a:xfrm>
          <a:prstGeom prst="rect">
            <a:avLst/>
          </a:prstGeom>
          <a:ln w="6350">
            <a:solidFill>
              <a:srgbClr val="1F2937"/>
            </a:solidFill>
            <a:prstDash val="solid"/>
          </a:ln>
        </p:spPr>
      </p:sp>
      <p:sp>
        <p:nvSpPr>
          <p:cNvPr id="10" name="Shape 8"/>
          <p:cNvSpPr/>
          <p:nvPr/>
        </p:nvSpPr>
        <p:spPr>
          <a:xfrm>
            <a:off x="457200" y="960120"/>
            <a:ext cx="11292840" cy="0"/>
          </a:xfrm>
          <a:prstGeom prst="line">
            <a:avLst/>
          </a:prstGeom>
          <a:noFill/>
          <a:ln w="6350">
            <a:solidFill>
              <a:srgbClr val="A3A3A3"/>
            </a:solidFill>
            <a:prstDash val="solid"/>
          </a:ln>
        </p:spPr>
      </p:sp>
      <p:sp>
        <p:nvSpPr>
          <p:cNvPr id="11" name="Text 9"/>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LIBERIA: JUDGE CITES EVIDENCE IN FINDING NSA STAFF PETER BON JALLAH GUILTY OF STATUTORY RAPE, KIDNAPPING</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FrontPageAfrica — Liberia</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15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LIBERIA: WAR VICTIMS, SURVIVORS PROTEST AT COURT OFFICE, CAPITOL AS HOUSE CHAIRMAN PLEDGES TO PUT COURT BILL BEFORE PLENARY TUESDAY</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FrontPageAfrica — Liberia</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5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(EN) A FORMER SECURITY CHIEF’S VISION FOR LIBERIA’S IMMIGRATION SERVICE FINALLY PLAYS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FrontPageAfrica — Liberia</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6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(EN) LIBERIA IMPOSES 21-DAY ISOLATION AND MONITORING RULES FOR TRAVELERS AMID REGIONAL EBOLA THREAT</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Global News Network Liberia</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24 octobre 2026, 22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(EN) AFL FIRES TWO SOLDIERS OVER ASSAULT</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Global News Network Liberia</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22 octobre 2026, 17 h UTC</a:t>
            </a:r>
            <a:endParaRPr lang="en-US" sz="1300" dirty="0"/>
          </a:p>
        </p:txBody>
      </p:sp>
      <p:pic>
        <p:nvPicPr>
          <p:cNvPr id="12" name="Image 0" descr="/home/runner/work/SentiqS/SentiqS/scripts/assets/grsci/logo-grsci.png">    </p:cNvPr>
          <p:cNvPicPr>
            <a:picLocks noChangeAspect="1"/>
          </p:cNvPicPr>
          <p:nvPr/>
        </p:nvPicPr>
        <p:blipFill>
          <a:blip r:embed="rId6"/>
          <a:stretch>
            <a:fillRect/>
          </a:stretch>
        </p:blipFill>
        <p:spPr>
          <a:xfrm>
            <a:off x="411480" y="5989320"/>
            <a:ext cx="548640" cy="630936"/>
          </a:xfrm>
          <a:prstGeom prst="rect">
            <a:avLst/>
          </a:prstGeom>
        </p:spPr>
      </p:pic>
      <p:sp>
        <p:nvSpPr>
          <p:cNvPr id="13" name="Text 10"/>
          <p:cNvSpPr/>
          <p:nvPr/>
        </p:nvSpPr>
        <p:spPr>
          <a:xfrm>
            <a:off x="3108960" y="6217920"/>
            <a:ext cx="4206240" cy="329184"/>
          </a:xfrm>
          <a:prstGeom prst="rect">
            <a:avLst/>
          </a:prstGeom>
          <a:noFill/>
          <a:ln w="9525">
            <a:solidFill>
              <a:srgbClr val="1F6B5E"/>
            </a:solidFill>
          </a:ln>
        </p:spPr>
        <p:txBody>
          <a:bodyPr wrap="square"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G</a:t>
            </a:r>
            <a:pPr algn="ctr" indent="0" marL="0">
              <a:buNone/>
            </a:pPr>
            <a:r>
              <a:rPr lang="en-US" sz="1200" dirty="0">
                <a:solidFill>
                  <a:srgbClr val="1F2937"/>
                </a:solidFill>
                <a:latin typeface="Calibri" pitchFamily="34" charset="0"/>
                <a:ea typeface="Calibri" pitchFamily="34" charset="-122"/>
                <a:cs typeface="Calibri" pitchFamily="34" charset="-120"/>
              </a:rPr>
              <a:t>roupe des </a:t>
            </a:r>
            <a:pPr algn="ctr" indent="0" marL="0">
              <a:buNone/>
            </a:pPr>
            <a:r>
              <a:rPr lang="en-US" sz="1200" b="1" dirty="0">
                <a:solidFill>
                  <a:srgbClr val="1F2937"/>
                </a:solidFill>
                <a:latin typeface="Calibri" pitchFamily="34" charset="0"/>
                <a:ea typeface="Calibri" pitchFamily="34" charset="-122"/>
                <a:cs typeface="Calibri" pitchFamily="34" charset="-120"/>
              </a:rPr>
              <a:t>R</a:t>
            </a:r>
            <a:pPr algn="ctr" indent="0" marL="0">
              <a:buNone/>
            </a:pPr>
            <a:r>
              <a:rPr lang="en-US" sz="1200" dirty="0">
                <a:solidFill>
                  <a:srgbClr val="1F2937"/>
                </a:solidFill>
                <a:latin typeface="Calibri" pitchFamily="34" charset="0"/>
                <a:ea typeface="Calibri" pitchFamily="34" charset="-122"/>
                <a:cs typeface="Calibri" pitchFamily="34" charset="-120"/>
              </a:rPr>
              <a:t>esponsables </a:t>
            </a:r>
            <a:pPr algn="ctr" indent="0" marL="0">
              <a:buNone/>
            </a:pPr>
            <a:r>
              <a:rPr lang="en-US" sz="1200" b="1" dirty="0">
                <a:solidFill>
                  <a:srgbClr val="1F2937"/>
                </a:solidFill>
                <a:latin typeface="Calibri" pitchFamily="34" charset="0"/>
                <a:ea typeface="Calibri" pitchFamily="34" charset="-122"/>
                <a:cs typeface="Calibri" pitchFamily="34" charset="-120"/>
              </a:rPr>
              <a:t>S</a:t>
            </a:r>
            <a:pPr algn="ctr" indent="0" marL="0">
              <a:buNone/>
            </a:pPr>
            <a:r>
              <a:rPr lang="en-US" sz="1200" dirty="0">
                <a:solidFill>
                  <a:srgbClr val="1F2937"/>
                </a:solidFill>
                <a:latin typeface="Calibri" pitchFamily="34" charset="0"/>
                <a:ea typeface="Calibri" pitchFamily="34" charset="-122"/>
                <a:cs typeface="Calibri" pitchFamily="34" charset="-120"/>
              </a:rPr>
              <a:t>ûreté de </a:t>
            </a:r>
            <a:pPr algn="ctr" indent="0" marL="0">
              <a:buNone/>
            </a:pPr>
            <a:r>
              <a:rPr lang="en-US" sz="1200" b="1" dirty="0">
                <a:solidFill>
                  <a:srgbClr val="1F2937"/>
                </a:solidFill>
                <a:latin typeface="Calibri" pitchFamily="34" charset="0"/>
                <a:ea typeface="Calibri" pitchFamily="34" charset="-122"/>
                <a:cs typeface="Calibri" pitchFamily="34" charset="-120"/>
              </a:rPr>
              <a:t>C</a:t>
            </a:r>
            <a:pPr algn="ctr" indent="0" marL="0">
              <a:buNone/>
            </a:pPr>
            <a:r>
              <a:rPr lang="en-US" sz="1200" dirty="0">
                <a:solidFill>
                  <a:srgbClr val="1F2937"/>
                </a:solidFill>
                <a:latin typeface="Calibri" pitchFamily="34" charset="0"/>
                <a:ea typeface="Calibri" pitchFamily="34" charset="-122"/>
                <a:cs typeface="Calibri" pitchFamily="34" charset="-120"/>
              </a:rPr>
              <a:t>ôte d'</a:t>
            </a:r>
            <a:pPr algn="ctr" indent="0" marL="0">
              <a:buNone/>
            </a:pPr>
            <a:r>
              <a:rPr lang="en-US" sz="1200" b="1" dirty="0">
                <a:solidFill>
                  <a:srgbClr val="1F2937"/>
                </a:solidFill>
                <a:latin typeface="Calibri" pitchFamily="34" charset="0"/>
                <a:ea typeface="Calibri" pitchFamily="34" charset="-122"/>
                <a:cs typeface="Calibri" pitchFamily="34" charset="-120"/>
              </a:rPr>
              <a:t>I</a:t>
            </a:r>
            <a:pPr algn="ctr" indent="0" marL="0">
              <a:buNone/>
            </a:pPr>
            <a:r>
              <a:rPr lang="en-US" sz="1200" dirty="0">
                <a:solidFill>
                  <a:srgbClr val="1F2937"/>
                </a:solidFill>
                <a:latin typeface="Calibri" pitchFamily="34" charset="0"/>
                <a:ea typeface="Calibri" pitchFamily="34" charset="-122"/>
                <a:cs typeface="Calibri" pitchFamily="34" charset="-120"/>
              </a:rPr>
              <a:t>voire</a:t>
            </a:r>
            <a:endParaRPr lang="en-US" sz="1200" dirty="0"/>
          </a:p>
        </p:txBody>
      </p:sp>
      <p:sp>
        <p:nvSpPr>
          <p:cNvPr id="14" name="Text 11"/>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27/10/26   |   34</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IX</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Sénégal</a:t>
            </a:r>
            <a:endParaRPr lang="en-US" sz="2800" dirty="0"/>
          </a:p>
        </p:txBody>
      </p:sp>
      <p:sp>
        <p:nvSpPr>
          <p:cNvPr id="4" name="Shape 2"/>
          <p:cNvSpPr/>
          <p:nvPr/>
        </p:nvSpPr>
        <p:spPr>
          <a:xfrm>
            <a:off x="10881360" y="274320"/>
            <a:ext cx="301752" cy="566928"/>
          </a:xfrm>
          <a:prstGeom prst="rect">
            <a:avLst/>
          </a:prstGeom>
          <a:solidFill>
            <a:srgbClr val="00853F"/>
          </a:solidFill>
          <a:ln w="12700">
            <a:solidFill>
              <a:srgbClr val="00853F"/>
            </a:solidFill>
            <a:prstDash val="solid"/>
          </a:ln>
        </p:spPr>
      </p:sp>
      <p:sp>
        <p:nvSpPr>
          <p:cNvPr id="5" name="Shape 3"/>
          <p:cNvSpPr/>
          <p:nvPr/>
        </p:nvSpPr>
        <p:spPr>
          <a:xfrm>
            <a:off x="11183112" y="274320"/>
            <a:ext cx="301752" cy="566928"/>
          </a:xfrm>
          <a:prstGeom prst="rect">
            <a:avLst/>
          </a:prstGeom>
          <a:solidFill>
            <a:srgbClr val="FDEF42"/>
          </a:solidFill>
          <a:ln w="12700">
            <a:solidFill>
              <a:srgbClr val="FDEF42"/>
            </a:solidFill>
            <a:prstDash val="solid"/>
          </a:ln>
        </p:spPr>
      </p:sp>
      <p:sp>
        <p:nvSpPr>
          <p:cNvPr id="6" name="Shape 4"/>
          <p:cNvSpPr/>
          <p:nvPr/>
        </p:nvSpPr>
        <p:spPr>
          <a:xfrm>
            <a:off x="11484864" y="274320"/>
            <a:ext cx="301752" cy="566928"/>
          </a:xfrm>
          <a:prstGeom prst="rect">
            <a:avLst/>
          </a:prstGeom>
          <a:solidFill>
            <a:srgbClr val="E31B23"/>
          </a:solidFill>
          <a:ln w="12700">
            <a:solidFill>
              <a:srgbClr val="E31B23"/>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moyenne (incident vérifié le plus récent : 120 jours ; 5 signaux du jour)</a:t>
            </a:r>
            <a:endParaRPr lang="en-US" sz="1100" dirty="0"/>
          </a:p>
        </p:txBody>
      </p:sp>
      <p:sp>
        <p:nvSpPr>
          <p:cNvPr id="10" name="Text 8"/>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Immeuble effondré à Thiès : un mort et deux blessés, selon le bilan provisoire</a:t>
            </a:r>
            <a:endParaRPr lang="en-US" sz="2200" dirty="0"/>
          </a:p>
        </p:txBody>
      </p:sp>
      <p:sp>
        <p:nvSpPr>
          <p:cNvPr id="11" name="Text 9"/>
          <p:cNvSpPr/>
          <p:nvPr/>
        </p:nvSpPr>
        <p:spPr>
          <a:xfrm>
            <a:off x="640080" y="2029968"/>
            <a:ext cx="6812280" cy="3867912"/>
          </a:xfrm>
          <a:prstGeom prst="rect">
            <a:avLst/>
          </a:prstGeom>
          <a:noFill/>
          <a:ln/>
        </p:spPr>
        <p:txBody>
          <a:bodyPr wrap="square" rtlCol="0" anchor="t"/>
          <a:lstStyle/>
          <a:p>
            <a:pPr indent="0" marL="0">
              <a:spcBef>
                <a:spcPts val="800"/>
              </a:spcBef>
              <a:spcAft>
                <a:spcPts val="300"/>
              </a:spcAft>
              <a:buNone/>
            </a:pPr>
            <a:r>
              <a:rPr lang="en-US" sz="1400" b="1" dirty="0">
                <a:solidFill>
                  <a:srgbClr val="1F6B5E"/>
                </a:solidFill>
                <a:latin typeface="Calibri" pitchFamily="34" charset="0"/>
                <a:ea typeface="Calibri" pitchFamily="34" charset="-122"/>
                <a:cs typeface="Calibri" pitchFamily="34" charset="-120"/>
              </a:rPr>
              <a:t>Contexte</a:t>
            </a:r>
            <a:endParaRPr lang="en-US" sz="1300" dirty="0"/>
          </a:p>
          <a:p>
            <a:pPr indent="0" marL="0">
              <a:spcAft>
                <a:spcPts val="300"/>
              </a:spcAft>
              <a:buNone/>
            </a:pPr>
            <a:r>
              <a:rPr lang="en-US" sz="1300" dirty="0">
                <a:solidFill>
                  <a:srgbClr val="1F2937"/>
                </a:solidFill>
                <a:latin typeface="Calibri" pitchFamily="34" charset="0"/>
                <a:ea typeface="Calibri" pitchFamily="34" charset="-122"/>
                <a:cs typeface="Calibri" pitchFamily="34" charset="-120"/>
              </a:rPr>
              <a:t>Fait rapporté le mardi 27 octobre 2026. Lieu : Thiès, Sénégal. Actualité sociale. Repris par 2 médias distincts (APS — Agence Sénégalaise Presse, Pressafrik) : le fait est recoupé.</a:t>
            </a:r>
            <a:endParaRPr lang="en-US" sz="1300" dirty="0"/>
          </a:p>
          <a:p>
            <a:pPr indent="0" marL="0">
              <a:spcBef>
                <a:spcPts val="800"/>
              </a:spcBef>
              <a:spcAft>
                <a:spcPts val="300"/>
              </a:spcAft>
              <a:buNone/>
            </a:pPr>
            <a:r>
              <a:rPr lang="en-US" sz="1400" b="1" dirty="0">
                <a:solidFill>
                  <a:srgbClr val="1F6B5E"/>
                </a:solidFill>
                <a:latin typeface="Calibri" pitchFamily="34" charset="0"/>
                <a:ea typeface="Calibri" pitchFamily="34" charset="-122"/>
                <a:cs typeface="Calibri" pitchFamily="34" charset="-120"/>
              </a:rPr>
              <a:t>Ce que rapportent les sources</a:t>
            </a:r>
            <a:endParaRPr lang="en-US" sz="1300" dirty="0"/>
          </a:p>
          <a:p>
            <a:pPr indent="0" marL="0">
              <a:spcAft>
                <a:spcPts val="300"/>
              </a:spcAft>
              <a:buNone/>
            </a:pPr>
            <a:r>
              <a:rPr lang="en-US" sz="1300" b="1" dirty="0">
                <a:solidFill>
                  <a:srgbClr val="1F2937"/>
                </a:solidFill>
                <a:latin typeface="Calibri" pitchFamily="34" charset="0"/>
                <a:ea typeface="Calibri" pitchFamily="34" charset="-122"/>
                <a:cs typeface="Calibri" pitchFamily="34" charset="-120"/>
              </a:rPr>
              <a:t>APS — Agence Sénégalaise Presse : </a:t>
            </a:r>
            <a:pPr indent="0" marL="0">
              <a:spcAft>
                <a:spcPts val="300"/>
              </a:spcAft>
              <a:buNone/>
            </a:pPr>
            <a:r>
              <a:rPr lang="en-US" sz="1300" i="1" dirty="0">
                <a:solidFill>
                  <a:srgbClr val="1F2937"/>
                </a:solidFill>
                <a:latin typeface="Calibri" pitchFamily="34" charset="0"/>
                <a:ea typeface="Calibri" pitchFamily="34" charset="-122"/>
                <a:cs typeface="Calibri" pitchFamily="34" charset="-120"/>
              </a:rPr>
              <a:t>« Thiès, 27 oct (APS) –L’effondrement d’un immeuble R+5 en construction mardi dans la commune de Thiès-Ouest a fait trois victimes, dont un mort et deux blessés extraits des décombres, selon le bilan provisoire tiré par le Groupement d’incendie et de secours numéro 2, couvrant les régions de Thiès et Diourbel. »</a:t>
            </a:r>
            <a:endParaRPr lang="en-US" sz="1300" dirty="0"/>
          </a:p>
          <a:p>
            <a:pPr indent="0" marL="0">
              <a:spcAft>
                <a:spcPts val="300"/>
              </a:spcAft>
              <a:buNone/>
            </a:pPr>
            <a:r>
              <a:rPr lang="en-US" sz="1300" b="1" dirty="0">
                <a:solidFill>
                  <a:srgbClr val="1F2937"/>
                </a:solidFill>
                <a:latin typeface="Calibri" pitchFamily="34" charset="0"/>
                <a:ea typeface="Calibri" pitchFamily="34" charset="-122"/>
                <a:cs typeface="Calibri" pitchFamily="34" charset="-120"/>
              </a:rPr>
              <a:t>Pressafrik : </a:t>
            </a:r>
            <a:pPr indent="0" marL="0">
              <a:spcAft>
                <a:spcPts val="300"/>
              </a:spcAft>
              <a:buNone/>
            </a:pPr>
            <a:r>
              <a:rPr lang="en-US" sz="1300" i="1" dirty="0">
                <a:solidFill>
                  <a:srgbClr val="1F2937"/>
                </a:solidFill>
                <a:latin typeface="Calibri" pitchFamily="34" charset="0"/>
                <a:ea typeface="Calibri" pitchFamily="34" charset="-122"/>
                <a:cs typeface="Calibri" pitchFamily="34" charset="-120"/>
              </a:rPr>
              <a:t>« Les secours ont dégagé trois personnes des ruines de l’immeuble de deux étages en construction qu... www.pressafrik.com »</a:t>
            </a:r>
            <a:endParaRPr lang="en-US" sz="1300" dirty="0"/>
          </a:p>
          <a:p>
            <a:pPr indent="0" marL="0">
              <a:spcBef>
                <a:spcPts val="800"/>
              </a:spcBef>
              <a:spcAft>
                <a:spcPts val="300"/>
              </a:spcAft>
              <a:buNone/>
            </a:pPr>
            <a:r>
              <a:rPr lang="en-US" sz="1400" b="1" dirty="0">
                <a:solidFill>
                  <a:srgbClr val="1F6B5E"/>
                </a:solidFill>
                <a:latin typeface="Calibri" pitchFamily="34" charset="0"/>
                <a:ea typeface="Calibri" pitchFamily="34" charset="-122"/>
                <a:cs typeface="Calibri" pitchFamily="34" charset="-120"/>
              </a:rPr>
              <a:t>Enjeux sûreté</a:t>
            </a:r>
            <a:endParaRPr lang="en-US" sz="1300" dirty="0"/>
          </a:p>
          <a:p>
            <a:pPr indent="0" marL="0">
              <a:spcAft>
                <a:spcPts val="300"/>
              </a:spcAft>
              <a:buNone/>
            </a:pPr>
            <a:r>
              <a:rPr lang="en-US" sz="1300" dirty="0">
                <a:solidFill>
                  <a:srgbClr val="1F2937"/>
                </a:solidFill>
                <a:latin typeface="Calibri" pitchFamily="34" charset="0"/>
                <a:ea typeface="Calibri" pitchFamily="34" charset="-122"/>
                <a:cs typeface="Calibri" pitchFamily="34" charset="-120"/>
              </a:rPr>
              <a:t>Risque accidentel ou technique : rappeler les consignes de sécurité routière et incendie, vérifier l'exposition des sites et des prestataires.</a:t>
            </a:r>
            <a:endParaRPr lang="en-US" sz="1300" dirty="0"/>
          </a:p>
          <a:p>
            <a:pPr indent="0" marL="0">
              <a:spcBef>
                <a:spcPts val="800"/>
              </a:spcBef>
              <a:spcAft>
                <a:spcPts val="300"/>
              </a:spcAft>
              <a:buNone/>
            </a:pPr>
            <a:r>
              <a:rPr lang="en-US" sz="1300" b="1" dirty="0">
                <a:solidFill>
                  <a:srgbClr val="1F2937"/>
                </a:solidFill>
                <a:latin typeface="Calibri" pitchFamily="34" charset="0"/>
                <a:ea typeface="Calibri" pitchFamily="34" charset="-122"/>
                <a:cs typeface="Calibri" pitchFamily="34" charset="-120"/>
              </a:rPr>
              <a:t>Sources : </a:t>
            </a:r>
            <a:pPr indent="0" marL="0">
              <a:spcAft>
                <a:spcPts val="3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APS — Agence Sénégalaise Presse</a:t>
            </a:r>
            <a:pPr indent="0" marL="0">
              <a:spcAft>
                <a:spcPts val="3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 Pressafrik</a:t>
            </a:r>
            <a:pPr indent="0" marL="0">
              <a:spcAft>
                <a:spcPts val="300"/>
              </a:spcAft>
              <a:buNone/>
            </a:pPr>
            <a:r>
              <a:rPr lang="en-US" sz="1300" b="1" dirty="0">
                <a:solidFill>
                  <a:srgbClr val="1F2937"/>
                </a:solidFill>
                <a:latin typeface="Calibri" pitchFamily="34" charset="0"/>
                <a:ea typeface="Calibri" pitchFamily="34" charset="-122"/>
                <a:cs typeface="Calibri" pitchFamily="34" charset="-120"/>
              </a:rPr>
              <a:t> — 27 octobre 2026, 19 h UTC   ·   Cotation : Confirmé</a:t>
            </a:r>
            <a:endParaRPr lang="en-US" sz="1300" dirty="0"/>
          </a:p>
        </p:txBody>
      </p:sp>
      <p:pic>
        <p:nvPicPr>
          <p:cNvPr id="12" name="Image 0" descr="preencoded.png">
            <a:hlinkClick r:id="rId4" tooltip=""/>
          </p:cNvPr>
          <p:cNvPicPr>
            <a:picLocks noChangeAspect="1"/>
          </p:cNvPicPr>
          <p:nvPr/>
        </p:nvPicPr>
        <p:blipFill>
          <a:blip r:embed="rId3"/>
          <a:stretch>
            <a:fillRect/>
          </a:stretch>
        </p:blipFill>
        <p:spPr>
          <a:xfrm>
            <a:off x="7635240" y="2075688"/>
            <a:ext cx="4114800" cy="2447080"/>
          </a:xfrm>
          <a:prstGeom prst="rect">
            <a:avLst/>
          </a:prstGeom>
        </p:spPr>
      </p:pic>
      <p:sp>
        <p:nvSpPr>
          <p:cNvPr id="13" name="Text 10"/>
          <p:cNvSpPr/>
          <p:nvPr/>
        </p:nvSpPr>
        <p:spPr>
          <a:xfrm>
            <a:off x="7635240" y="4559344"/>
            <a:ext cx="4114800" cy="256032"/>
          </a:xfrm>
          <a:prstGeom prst="rect">
            <a:avLst/>
          </a:prstGeom>
          <a:noFill/>
          <a:ln/>
        </p:spPr>
        <p:txBody>
          <a:bodyPr wrap="square" rtlCol="0" anchor="ctr"/>
          <a:lstStyle/>
          <a:p>
            <a:pPr algn="r" indent="0" marL="0">
              <a:buNone/>
            </a:pPr>
            <a:r>
              <a:rPr lang="en-US" sz="9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Photo : © aps.sn</a:t>
            </a:r>
            <a:endParaRPr lang="en-US" sz="900" dirty="0"/>
          </a:p>
        </p:txBody>
      </p:sp>
      <p:pic>
        <p:nvPicPr>
          <p:cNvPr id="14" name="Image 1" descr="/home/runner/work/SentiqS/SentiqS/scripts/assets/grsci/logo-grsci.png">    </p:cNvPr>
          <p:cNvPicPr>
            <a:picLocks noChangeAspect="1"/>
          </p:cNvPicPr>
          <p:nvPr/>
        </p:nvPicPr>
        <p:blipFill>
          <a:blip r:embed="rId6"/>
          <a:stretch>
            <a:fillRect/>
          </a:stretch>
        </p:blipFill>
        <p:spPr>
          <a:xfrm>
            <a:off x="411480" y="5989320"/>
            <a:ext cx="548640" cy="630936"/>
          </a:xfrm>
          <a:prstGeom prst="rect">
            <a:avLst/>
          </a:prstGeom>
        </p:spPr>
      </p:pic>
      <p:sp>
        <p:nvSpPr>
          <p:cNvPr id="15" name="Text 11"/>
          <p:cNvSpPr/>
          <p:nvPr/>
        </p:nvSpPr>
        <p:spPr>
          <a:xfrm>
            <a:off x="3108960" y="6217920"/>
            <a:ext cx="4206240" cy="329184"/>
          </a:xfrm>
          <a:prstGeom prst="rect">
            <a:avLst/>
          </a:prstGeom>
          <a:noFill/>
          <a:ln w="9525">
            <a:solidFill>
              <a:srgbClr val="1F6B5E"/>
            </a:solidFill>
          </a:ln>
        </p:spPr>
        <p:txBody>
          <a:bodyPr wrap="square"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G</a:t>
            </a:r>
            <a:pPr algn="ctr" indent="0" marL="0">
              <a:buNone/>
            </a:pPr>
            <a:r>
              <a:rPr lang="en-US" sz="1200" dirty="0">
                <a:solidFill>
                  <a:srgbClr val="1F2937"/>
                </a:solidFill>
                <a:latin typeface="Calibri" pitchFamily="34" charset="0"/>
                <a:ea typeface="Calibri" pitchFamily="34" charset="-122"/>
                <a:cs typeface="Calibri" pitchFamily="34" charset="-120"/>
              </a:rPr>
              <a:t>roupe des </a:t>
            </a:r>
            <a:pPr algn="ctr" indent="0" marL="0">
              <a:buNone/>
            </a:pPr>
            <a:r>
              <a:rPr lang="en-US" sz="1200" b="1" dirty="0">
                <a:solidFill>
                  <a:srgbClr val="1F2937"/>
                </a:solidFill>
                <a:latin typeface="Calibri" pitchFamily="34" charset="0"/>
                <a:ea typeface="Calibri" pitchFamily="34" charset="-122"/>
                <a:cs typeface="Calibri" pitchFamily="34" charset="-120"/>
              </a:rPr>
              <a:t>R</a:t>
            </a:r>
            <a:pPr algn="ctr" indent="0" marL="0">
              <a:buNone/>
            </a:pPr>
            <a:r>
              <a:rPr lang="en-US" sz="1200" dirty="0">
                <a:solidFill>
                  <a:srgbClr val="1F2937"/>
                </a:solidFill>
                <a:latin typeface="Calibri" pitchFamily="34" charset="0"/>
                <a:ea typeface="Calibri" pitchFamily="34" charset="-122"/>
                <a:cs typeface="Calibri" pitchFamily="34" charset="-120"/>
              </a:rPr>
              <a:t>esponsables </a:t>
            </a:r>
            <a:pPr algn="ctr" indent="0" marL="0">
              <a:buNone/>
            </a:pPr>
            <a:r>
              <a:rPr lang="en-US" sz="1200" b="1" dirty="0">
                <a:solidFill>
                  <a:srgbClr val="1F2937"/>
                </a:solidFill>
                <a:latin typeface="Calibri" pitchFamily="34" charset="0"/>
                <a:ea typeface="Calibri" pitchFamily="34" charset="-122"/>
                <a:cs typeface="Calibri" pitchFamily="34" charset="-120"/>
              </a:rPr>
              <a:t>S</a:t>
            </a:r>
            <a:pPr algn="ctr" indent="0" marL="0">
              <a:buNone/>
            </a:pPr>
            <a:r>
              <a:rPr lang="en-US" sz="1200" dirty="0">
                <a:solidFill>
                  <a:srgbClr val="1F2937"/>
                </a:solidFill>
                <a:latin typeface="Calibri" pitchFamily="34" charset="0"/>
                <a:ea typeface="Calibri" pitchFamily="34" charset="-122"/>
                <a:cs typeface="Calibri" pitchFamily="34" charset="-120"/>
              </a:rPr>
              <a:t>ûreté de </a:t>
            </a:r>
            <a:pPr algn="ctr" indent="0" marL="0">
              <a:buNone/>
            </a:pPr>
            <a:r>
              <a:rPr lang="en-US" sz="1200" b="1" dirty="0">
                <a:solidFill>
                  <a:srgbClr val="1F2937"/>
                </a:solidFill>
                <a:latin typeface="Calibri" pitchFamily="34" charset="0"/>
                <a:ea typeface="Calibri" pitchFamily="34" charset="-122"/>
                <a:cs typeface="Calibri" pitchFamily="34" charset="-120"/>
              </a:rPr>
              <a:t>C</a:t>
            </a:r>
            <a:pPr algn="ctr" indent="0" marL="0">
              <a:buNone/>
            </a:pPr>
            <a:r>
              <a:rPr lang="en-US" sz="1200" dirty="0">
                <a:solidFill>
                  <a:srgbClr val="1F2937"/>
                </a:solidFill>
                <a:latin typeface="Calibri" pitchFamily="34" charset="0"/>
                <a:ea typeface="Calibri" pitchFamily="34" charset="-122"/>
                <a:cs typeface="Calibri" pitchFamily="34" charset="-120"/>
              </a:rPr>
              <a:t>ôte d'</a:t>
            </a:r>
            <a:pPr algn="ctr" indent="0" marL="0">
              <a:buNone/>
            </a:pPr>
            <a:r>
              <a:rPr lang="en-US" sz="1200" b="1" dirty="0">
                <a:solidFill>
                  <a:srgbClr val="1F2937"/>
                </a:solidFill>
                <a:latin typeface="Calibri" pitchFamily="34" charset="0"/>
                <a:ea typeface="Calibri" pitchFamily="34" charset="-122"/>
                <a:cs typeface="Calibri" pitchFamily="34" charset="-120"/>
              </a:rPr>
              <a:t>I</a:t>
            </a:r>
            <a:pPr algn="ctr" indent="0" marL="0">
              <a:buNone/>
            </a:pPr>
            <a:r>
              <a:rPr lang="en-US" sz="1200" dirty="0">
                <a:solidFill>
                  <a:srgbClr val="1F2937"/>
                </a:solidFill>
                <a:latin typeface="Calibri" pitchFamily="34" charset="0"/>
                <a:ea typeface="Calibri" pitchFamily="34" charset="-122"/>
                <a:cs typeface="Calibri" pitchFamily="34" charset="-120"/>
              </a:rPr>
              <a:t>voire</a:t>
            </a:r>
            <a:endParaRPr lang="en-US" sz="1200" dirty="0"/>
          </a:p>
        </p:txBody>
      </p:sp>
      <p:sp>
        <p:nvSpPr>
          <p:cNvPr id="16" name="Text 12"/>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27/10/26   |   35</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IX</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Sénégal</a:t>
            </a:r>
            <a:endParaRPr lang="en-US" sz="2800" dirty="0"/>
          </a:p>
        </p:txBody>
      </p:sp>
      <p:sp>
        <p:nvSpPr>
          <p:cNvPr id="4" name="Shape 2"/>
          <p:cNvSpPr/>
          <p:nvPr/>
        </p:nvSpPr>
        <p:spPr>
          <a:xfrm>
            <a:off x="10881360" y="274320"/>
            <a:ext cx="301752" cy="566928"/>
          </a:xfrm>
          <a:prstGeom prst="rect">
            <a:avLst/>
          </a:prstGeom>
          <a:solidFill>
            <a:srgbClr val="00853F"/>
          </a:solidFill>
          <a:ln w="12700">
            <a:solidFill>
              <a:srgbClr val="00853F"/>
            </a:solidFill>
            <a:prstDash val="solid"/>
          </a:ln>
        </p:spPr>
      </p:sp>
      <p:sp>
        <p:nvSpPr>
          <p:cNvPr id="5" name="Shape 3"/>
          <p:cNvSpPr/>
          <p:nvPr/>
        </p:nvSpPr>
        <p:spPr>
          <a:xfrm>
            <a:off x="11183112" y="274320"/>
            <a:ext cx="301752" cy="566928"/>
          </a:xfrm>
          <a:prstGeom prst="rect">
            <a:avLst/>
          </a:prstGeom>
          <a:solidFill>
            <a:srgbClr val="FDEF42"/>
          </a:solidFill>
          <a:ln w="12700">
            <a:solidFill>
              <a:srgbClr val="FDEF42"/>
            </a:solidFill>
            <a:prstDash val="solid"/>
          </a:ln>
        </p:spPr>
      </p:sp>
      <p:sp>
        <p:nvSpPr>
          <p:cNvPr id="6" name="Shape 4"/>
          <p:cNvSpPr/>
          <p:nvPr/>
        </p:nvSpPr>
        <p:spPr>
          <a:xfrm>
            <a:off x="11484864" y="274320"/>
            <a:ext cx="301752" cy="566928"/>
          </a:xfrm>
          <a:prstGeom prst="rect">
            <a:avLst/>
          </a:prstGeom>
          <a:solidFill>
            <a:srgbClr val="E31B23"/>
          </a:solidFill>
          <a:ln w="12700">
            <a:solidFill>
              <a:srgbClr val="E31B23"/>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PACTE DE STABILITÉ SOCIALE : LE GOUVERNEMENT VISE 71 % D’EXÉCUTION DES ENGAGEMENTS EN DÉCEMBRE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Pressafrik · APS — Agence Sénégalaise Presse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15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MALIKA : UN LOCATAIRE INTERPELLÉ POUR AVOIR POIGNARDÉ À MORT SON VOISIN LORS D'UNE ALTERCATION</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Seneweb</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13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MEURTRE PRÉSUMÉ D’AMINATA SY À PODOR : LE SUSPECT RETROUVÉ DANS UNE CACHETTE ET ARRÊTÉ À MBACKÉ</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Dakar Actu · Seneweb</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11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KARAMO CISSÉ NDIAYE ARRÊTÉ POUR LE MEURTRE D’AMINATA SY APRÈS UNE DISPUTE VIOLENTE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SeneNews</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8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DRAME À ZIGUINCHOR : UN COMMERÇANT RETROUVÉ MORT PENDU APRÈS LA PERTE DE 800 000 F CFA</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Seneweb</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23 h UTC</a:t>
            </a:r>
            <a:endParaRPr lang="en-US" sz="1300" dirty="0"/>
          </a:p>
        </p:txBody>
      </p:sp>
      <p:pic>
        <p:nvPicPr>
          <p:cNvPr id="10" name="Image 0" descr="/home/runner/work/SentiqS/SentiqS/scripts/assets/grsci/logo-grsci.png">    </p:cNvPr>
          <p:cNvPicPr>
            <a:picLocks noChangeAspect="1"/>
          </p:cNvPicPr>
          <p:nvPr/>
        </p:nvPicPr>
        <p:blipFill>
          <a:blip r:embed="rId6"/>
          <a:stretch>
            <a:fillRect/>
          </a:stretch>
        </p:blipFill>
        <p:spPr>
          <a:xfrm>
            <a:off x="411480" y="5989320"/>
            <a:ext cx="548640" cy="630936"/>
          </a:xfrm>
          <a:prstGeom prst="rect">
            <a:avLst/>
          </a:prstGeom>
        </p:spPr>
      </p:pic>
      <p:sp>
        <p:nvSpPr>
          <p:cNvPr id="11" name="Text 8"/>
          <p:cNvSpPr/>
          <p:nvPr/>
        </p:nvSpPr>
        <p:spPr>
          <a:xfrm>
            <a:off x="3108960" y="6217920"/>
            <a:ext cx="4206240" cy="329184"/>
          </a:xfrm>
          <a:prstGeom prst="rect">
            <a:avLst/>
          </a:prstGeom>
          <a:noFill/>
          <a:ln w="9525">
            <a:solidFill>
              <a:srgbClr val="1F6B5E"/>
            </a:solidFill>
          </a:ln>
        </p:spPr>
        <p:txBody>
          <a:bodyPr wrap="square"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G</a:t>
            </a:r>
            <a:pPr algn="ctr" indent="0" marL="0">
              <a:buNone/>
            </a:pPr>
            <a:r>
              <a:rPr lang="en-US" sz="1200" dirty="0">
                <a:solidFill>
                  <a:srgbClr val="1F2937"/>
                </a:solidFill>
                <a:latin typeface="Calibri" pitchFamily="34" charset="0"/>
                <a:ea typeface="Calibri" pitchFamily="34" charset="-122"/>
                <a:cs typeface="Calibri" pitchFamily="34" charset="-120"/>
              </a:rPr>
              <a:t>roupe des </a:t>
            </a:r>
            <a:pPr algn="ctr" indent="0" marL="0">
              <a:buNone/>
            </a:pPr>
            <a:r>
              <a:rPr lang="en-US" sz="1200" b="1" dirty="0">
                <a:solidFill>
                  <a:srgbClr val="1F2937"/>
                </a:solidFill>
                <a:latin typeface="Calibri" pitchFamily="34" charset="0"/>
                <a:ea typeface="Calibri" pitchFamily="34" charset="-122"/>
                <a:cs typeface="Calibri" pitchFamily="34" charset="-120"/>
              </a:rPr>
              <a:t>R</a:t>
            </a:r>
            <a:pPr algn="ctr" indent="0" marL="0">
              <a:buNone/>
            </a:pPr>
            <a:r>
              <a:rPr lang="en-US" sz="1200" dirty="0">
                <a:solidFill>
                  <a:srgbClr val="1F2937"/>
                </a:solidFill>
                <a:latin typeface="Calibri" pitchFamily="34" charset="0"/>
                <a:ea typeface="Calibri" pitchFamily="34" charset="-122"/>
                <a:cs typeface="Calibri" pitchFamily="34" charset="-120"/>
              </a:rPr>
              <a:t>esponsables </a:t>
            </a:r>
            <a:pPr algn="ctr" indent="0" marL="0">
              <a:buNone/>
            </a:pPr>
            <a:r>
              <a:rPr lang="en-US" sz="1200" b="1" dirty="0">
                <a:solidFill>
                  <a:srgbClr val="1F2937"/>
                </a:solidFill>
                <a:latin typeface="Calibri" pitchFamily="34" charset="0"/>
                <a:ea typeface="Calibri" pitchFamily="34" charset="-122"/>
                <a:cs typeface="Calibri" pitchFamily="34" charset="-120"/>
              </a:rPr>
              <a:t>S</a:t>
            </a:r>
            <a:pPr algn="ctr" indent="0" marL="0">
              <a:buNone/>
            </a:pPr>
            <a:r>
              <a:rPr lang="en-US" sz="1200" dirty="0">
                <a:solidFill>
                  <a:srgbClr val="1F2937"/>
                </a:solidFill>
                <a:latin typeface="Calibri" pitchFamily="34" charset="0"/>
                <a:ea typeface="Calibri" pitchFamily="34" charset="-122"/>
                <a:cs typeface="Calibri" pitchFamily="34" charset="-120"/>
              </a:rPr>
              <a:t>ûreté de </a:t>
            </a:r>
            <a:pPr algn="ctr" indent="0" marL="0">
              <a:buNone/>
            </a:pPr>
            <a:r>
              <a:rPr lang="en-US" sz="1200" b="1" dirty="0">
                <a:solidFill>
                  <a:srgbClr val="1F2937"/>
                </a:solidFill>
                <a:latin typeface="Calibri" pitchFamily="34" charset="0"/>
                <a:ea typeface="Calibri" pitchFamily="34" charset="-122"/>
                <a:cs typeface="Calibri" pitchFamily="34" charset="-120"/>
              </a:rPr>
              <a:t>C</a:t>
            </a:r>
            <a:pPr algn="ctr" indent="0" marL="0">
              <a:buNone/>
            </a:pPr>
            <a:r>
              <a:rPr lang="en-US" sz="1200" dirty="0">
                <a:solidFill>
                  <a:srgbClr val="1F2937"/>
                </a:solidFill>
                <a:latin typeface="Calibri" pitchFamily="34" charset="0"/>
                <a:ea typeface="Calibri" pitchFamily="34" charset="-122"/>
                <a:cs typeface="Calibri" pitchFamily="34" charset="-120"/>
              </a:rPr>
              <a:t>ôte d'</a:t>
            </a:r>
            <a:pPr algn="ctr" indent="0" marL="0">
              <a:buNone/>
            </a:pPr>
            <a:r>
              <a:rPr lang="en-US" sz="1200" b="1" dirty="0">
                <a:solidFill>
                  <a:srgbClr val="1F2937"/>
                </a:solidFill>
                <a:latin typeface="Calibri" pitchFamily="34" charset="0"/>
                <a:ea typeface="Calibri" pitchFamily="34" charset="-122"/>
                <a:cs typeface="Calibri" pitchFamily="34" charset="-120"/>
              </a:rPr>
              <a:t>I</a:t>
            </a:r>
            <a:pPr algn="ctr" indent="0" marL="0">
              <a:buNone/>
            </a:pPr>
            <a:r>
              <a:rPr lang="en-US" sz="1200" dirty="0">
                <a:solidFill>
                  <a:srgbClr val="1F2937"/>
                </a:solidFill>
                <a:latin typeface="Calibri" pitchFamily="34" charset="0"/>
                <a:ea typeface="Calibri" pitchFamily="34" charset="-122"/>
                <a:cs typeface="Calibri" pitchFamily="34" charset="-120"/>
              </a:rPr>
              <a:t>voire</a:t>
            </a:r>
            <a:endParaRPr lang="en-US" sz="1200" dirty="0"/>
          </a:p>
        </p:txBody>
      </p:sp>
      <p:sp>
        <p:nvSpPr>
          <p:cNvPr id="12"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27/10/26   |   36</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IX</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Sénégal</a:t>
            </a:r>
            <a:endParaRPr lang="en-US" sz="2800" dirty="0"/>
          </a:p>
        </p:txBody>
      </p:sp>
      <p:sp>
        <p:nvSpPr>
          <p:cNvPr id="4" name="Shape 2"/>
          <p:cNvSpPr/>
          <p:nvPr/>
        </p:nvSpPr>
        <p:spPr>
          <a:xfrm>
            <a:off x="10881360" y="274320"/>
            <a:ext cx="301752" cy="566928"/>
          </a:xfrm>
          <a:prstGeom prst="rect">
            <a:avLst/>
          </a:prstGeom>
          <a:solidFill>
            <a:srgbClr val="00853F"/>
          </a:solidFill>
          <a:ln w="12700">
            <a:solidFill>
              <a:srgbClr val="00853F"/>
            </a:solidFill>
            <a:prstDash val="solid"/>
          </a:ln>
        </p:spPr>
      </p:sp>
      <p:sp>
        <p:nvSpPr>
          <p:cNvPr id="5" name="Shape 3"/>
          <p:cNvSpPr/>
          <p:nvPr/>
        </p:nvSpPr>
        <p:spPr>
          <a:xfrm>
            <a:off x="11183112" y="274320"/>
            <a:ext cx="301752" cy="566928"/>
          </a:xfrm>
          <a:prstGeom prst="rect">
            <a:avLst/>
          </a:prstGeom>
          <a:solidFill>
            <a:srgbClr val="FDEF42"/>
          </a:solidFill>
          <a:ln w="12700">
            <a:solidFill>
              <a:srgbClr val="FDEF42"/>
            </a:solidFill>
            <a:prstDash val="solid"/>
          </a:ln>
        </p:spPr>
      </p:sp>
      <p:sp>
        <p:nvSpPr>
          <p:cNvPr id="6" name="Shape 4"/>
          <p:cNvSpPr/>
          <p:nvPr/>
        </p:nvSpPr>
        <p:spPr>
          <a:xfrm>
            <a:off x="11484864" y="274320"/>
            <a:ext cx="301752" cy="566928"/>
          </a:xfrm>
          <a:prstGeom prst="rect">
            <a:avLst/>
          </a:prstGeom>
          <a:solidFill>
            <a:srgbClr val="E31B23"/>
          </a:solidFill>
          <a:ln w="12700">
            <a:solidFill>
              <a:srgbClr val="E31B23"/>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 ILS L’ONT DÉCOUVERT PENDU » : LE GRAND COMMERÇANT ABDOULAYE DIALLO S’EST DONNÉ LA MORT DANS SA BOUTIQUE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SeneNews</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21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ZIGUINCHOR : UN JEUNE HOMME RETROUVÉ MORT DANS UNE BOUTIQUE À TILÈNE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Dakar Actu</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17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FÉMINICIDES AU SÉNÉGAL – AMINATA SY ET MAME DIARRA SOW TUÉES LE MÊME JOUR : SEYDI GASSAMA LANCE UN CRI D’ALARME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SeneNews</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17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TROPHÉE ANPS : LE TROPHÉE DU MEILLEUR LUTTEUR EN LUTTE AVEC FRAPPE PORTE DÉSORMAIS LE NOM DE MANGA II</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wiwsport</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13 h UTC</a:t>
            </a:r>
            <a:endParaRPr lang="en-US" sz="1300" dirty="0"/>
          </a:p>
        </p:txBody>
      </p:sp>
      <p:pic>
        <p:nvPicPr>
          <p:cNvPr id="10" name="Image 0" descr="/home/runner/work/SentiqS/SentiqS/scripts/assets/grsci/logo-grsci.png">    </p:cNvPr>
          <p:cNvPicPr>
            <a:picLocks noChangeAspect="1"/>
          </p:cNvPicPr>
          <p:nvPr/>
        </p:nvPicPr>
        <p:blipFill>
          <a:blip r:embed="rId5"/>
          <a:stretch>
            <a:fillRect/>
          </a:stretch>
        </p:blipFill>
        <p:spPr>
          <a:xfrm>
            <a:off x="411480" y="5989320"/>
            <a:ext cx="548640" cy="630936"/>
          </a:xfrm>
          <a:prstGeom prst="rect">
            <a:avLst/>
          </a:prstGeom>
        </p:spPr>
      </p:pic>
      <p:sp>
        <p:nvSpPr>
          <p:cNvPr id="11" name="Text 8"/>
          <p:cNvSpPr/>
          <p:nvPr/>
        </p:nvSpPr>
        <p:spPr>
          <a:xfrm>
            <a:off x="3108960" y="6217920"/>
            <a:ext cx="4206240" cy="329184"/>
          </a:xfrm>
          <a:prstGeom prst="rect">
            <a:avLst/>
          </a:prstGeom>
          <a:noFill/>
          <a:ln w="9525">
            <a:solidFill>
              <a:srgbClr val="1F6B5E"/>
            </a:solidFill>
          </a:ln>
        </p:spPr>
        <p:txBody>
          <a:bodyPr wrap="square"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G</a:t>
            </a:r>
            <a:pPr algn="ctr" indent="0" marL="0">
              <a:buNone/>
            </a:pPr>
            <a:r>
              <a:rPr lang="en-US" sz="1200" dirty="0">
                <a:solidFill>
                  <a:srgbClr val="1F2937"/>
                </a:solidFill>
                <a:latin typeface="Calibri" pitchFamily="34" charset="0"/>
                <a:ea typeface="Calibri" pitchFamily="34" charset="-122"/>
                <a:cs typeface="Calibri" pitchFamily="34" charset="-120"/>
              </a:rPr>
              <a:t>roupe des </a:t>
            </a:r>
            <a:pPr algn="ctr" indent="0" marL="0">
              <a:buNone/>
            </a:pPr>
            <a:r>
              <a:rPr lang="en-US" sz="1200" b="1" dirty="0">
                <a:solidFill>
                  <a:srgbClr val="1F2937"/>
                </a:solidFill>
                <a:latin typeface="Calibri" pitchFamily="34" charset="0"/>
                <a:ea typeface="Calibri" pitchFamily="34" charset="-122"/>
                <a:cs typeface="Calibri" pitchFamily="34" charset="-120"/>
              </a:rPr>
              <a:t>R</a:t>
            </a:r>
            <a:pPr algn="ctr" indent="0" marL="0">
              <a:buNone/>
            </a:pPr>
            <a:r>
              <a:rPr lang="en-US" sz="1200" dirty="0">
                <a:solidFill>
                  <a:srgbClr val="1F2937"/>
                </a:solidFill>
                <a:latin typeface="Calibri" pitchFamily="34" charset="0"/>
                <a:ea typeface="Calibri" pitchFamily="34" charset="-122"/>
                <a:cs typeface="Calibri" pitchFamily="34" charset="-120"/>
              </a:rPr>
              <a:t>esponsables </a:t>
            </a:r>
            <a:pPr algn="ctr" indent="0" marL="0">
              <a:buNone/>
            </a:pPr>
            <a:r>
              <a:rPr lang="en-US" sz="1200" b="1" dirty="0">
                <a:solidFill>
                  <a:srgbClr val="1F2937"/>
                </a:solidFill>
                <a:latin typeface="Calibri" pitchFamily="34" charset="0"/>
                <a:ea typeface="Calibri" pitchFamily="34" charset="-122"/>
                <a:cs typeface="Calibri" pitchFamily="34" charset="-120"/>
              </a:rPr>
              <a:t>S</a:t>
            </a:r>
            <a:pPr algn="ctr" indent="0" marL="0">
              <a:buNone/>
            </a:pPr>
            <a:r>
              <a:rPr lang="en-US" sz="1200" dirty="0">
                <a:solidFill>
                  <a:srgbClr val="1F2937"/>
                </a:solidFill>
                <a:latin typeface="Calibri" pitchFamily="34" charset="0"/>
                <a:ea typeface="Calibri" pitchFamily="34" charset="-122"/>
                <a:cs typeface="Calibri" pitchFamily="34" charset="-120"/>
              </a:rPr>
              <a:t>ûreté de </a:t>
            </a:r>
            <a:pPr algn="ctr" indent="0" marL="0">
              <a:buNone/>
            </a:pPr>
            <a:r>
              <a:rPr lang="en-US" sz="1200" b="1" dirty="0">
                <a:solidFill>
                  <a:srgbClr val="1F2937"/>
                </a:solidFill>
                <a:latin typeface="Calibri" pitchFamily="34" charset="0"/>
                <a:ea typeface="Calibri" pitchFamily="34" charset="-122"/>
                <a:cs typeface="Calibri" pitchFamily="34" charset="-120"/>
              </a:rPr>
              <a:t>C</a:t>
            </a:r>
            <a:pPr algn="ctr" indent="0" marL="0">
              <a:buNone/>
            </a:pPr>
            <a:r>
              <a:rPr lang="en-US" sz="1200" dirty="0">
                <a:solidFill>
                  <a:srgbClr val="1F2937"/>
                </a:solidFill>
                <a:latin typeface="Calibri" pitchFamily="34" charset="0"/>
                <a:ea typeface="Calibri" pitchFamily="34" charset="-122"/>
                <a:cs typeface="Calibri" pitchFamily="34" charset="-120"/>
              </a:rPr>
              <a:t>ôte d'</a:t>
            </a:r>
            <a:pPr algn="ctr" indent="0" marL="0">
              <a:buNone/>
            </a:pPr>
            <a:r>
              <a:rPr lang="en-US" sz="1200" b="1" dirty="0">
                <a:solidFill>
                  <a:srgbClr val="1F2937"/>
                </a:solidFill>
                <a:latin typeface="Calibri" pitchFamily="34" charset="0"/>
                <a:ea typeface="Calibri" pitchFamily="34" charset="-122"/>
                <a:cs typeface="Calibri" pitchFamily="34" charset="-120"/>
              </a:rPr>
              <a:t>I</a:t>
            </a:r>
            <a:pPr algn="ctr" indent="0" marL="0">
              <a:buNone/>
            </a:pPr>
            <a:r>
              <a:rPr lang="en-US" sz="1200" dirty="0">
                <a:solidFill>
                  <a:srgbClr val="1F2937"/>
                </a:solidFill>
                <a:latin typeface="Calibri" pitchFamily="34" charset="0"/>
                <a:ea typeface="Calibri" pitchFamily="34" charset="-122"/>
                <a:cs typeface="Calibri" pitchFamily="34" charset="-120"/>
              </a:rPr>
              <a:t>voire</a:t>
            </a:r>
            <a:endParaRPr lang="en-US" sz="1200" dirty="0"/>
          </a:p>
        </p:txBody>
      </p:sp>
      <p:sp>
        <p:nvSpPr>
          <p:cNvPr id="12"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27/10/26   |   37</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CDCDCD"/>
        </a:solidFill>
      </p:bgPr>
    </p:bg>
    <p:spTree>
      <p:nvGrpSpPr>
        <p:cNvPr id="1" name=""/>
        <p:cNvGrpSpPr/>
        <p:nvPr/>
      </p:nvGrpSpPr>
      <p:grpSpPr>
        <a:xfrm>
          <a:off x="0" y="0"/>
          <a:ext cx="0" cy="0"/>
          <a:chOff x="0" y="0"/>
          <a:chExt cx="0" cy="0"/>
        </a:xfrm>
      </p:grpSpPr>
      <p:sp>
        <p:nvSpPr>
          <p:cNvPr id="2" name="Text 0"/>
          <p:cNvSpPr/>
          <p:nvPr/>
        </p:nvSpPr>
        <p:spPr>
          <a:xfrm>
            <a:off x="457200" y="2377440"/>
            <a:ext cx="11247120" cy="1097280"/>
          </a:xfrm>
          <a:prstGeom prst="rect">
            <a:avLst/>
          </a:prstGeom>
          <a:noFill/>
          <a:ln/>
        </p:spPr>
        <p:txBody>
          <a:bodyPr wrap="square" rtlCol="0" anchor="ctr"/>
          <a:lstStyle/>
          <a:p>
            <a:pPr algn="ctr" indent="0" marL="0">
              <a:buNone/>
            </a:pPr>
            <a:r>
              <a:rPr lang="en-US" sz="6000" dirty="0">
                <a:solidFill>
                  <a:srgbClr val="111111"/>
                </a:solidFill>
                <a:latin typeface="Arial Narrow" pitchFamily="34" charset="0"/>
                <a:ea typeface="Arial Narrow" pitchFamily="34" charset="-122"/>
                <a:cs typeface="Arial Narrow" pitchFamily="34" charset="-120"/>
              </a:rPr>
              <a:t>MERCI</a:t>
            </a:r>
            <a:endParaRPr lang="en-US" sz="6000" dirty="0"/>
          </a:p>
        </p:txBody>
      </p:sp>
      <p:pic>
        <p:nvPicPr>
          <p:cNvPr id="3" name="Image 0" descr="/home/runner/work/SentiqS/SentiqS/scripts/assets/grsci/logo-grsci.png">    </p:cNvPr>
          <p:cNvPicPr>
            <a:picLocks noChangeAspect="1"/>
          </p:cNvPicPr>
          <p:nvPr/>
        </p:nvPicPr>
        <p:blipFill>
          <a:blip r:embed="rId1"/>
          <a:stretch>
            <a:fillRect/>
          </a:stretch>
        </p:blipFill>
        <p:spPr>
          <a:xfrm>
            <a:off x="411480" y="5989320"/>
            <a:ext cx="548640" cy="630936"/>
          </a:xfrm>
          <a:prstGeom prst="rect">
            <a:avLst/>
          </a:prstGeom>
        </p:spPr>
      </p:pic>
      <p:sp>
        <p:nvSpPr>
          <p:cNvPr id="4" name="Text 1"/>
          <p:cNvSpPr/>
          <p:nvPr/>
        </p:nvSpPr>
        <p:spPr>
          <a:xfrm>
            <a:off x="3108960" y="6217920"/>
            <a:ext cx="4206240" cy="329184"/>
          </a:xfrm>
          <a:prstGeom prst="rect">
            <a:avLst/>
          </a:prstGeom>
          <a:noFill/>
          <a:ln w="9525">
            <a:solidFill>
              <a:srgbClr val="1F6B5E"/>
            </a:solidFill>
          </a:ln>
        </p:spPr>
        <p:txBody>
          <a:bodyPr wrap="square"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G</a:t>
            </a:r>
            <a:pPr algn="ctr" indent="0" marL="0">
              <a:buNone/>
            </a:pPr>
            <a:r>
              <a:rPr lang="en-US" sz="1200" dirty="0">
                <a:solidFill>
                  <a:srgbClr val="1F2937"/>
                </a:solidFill>
                <a:latin typeface="Calibri" pitchFamily="34" charset="0"/>
                <a:ea typeface="Calibri" pitchFamily="34" charset="-122"/>
                <a:cs typeface="Calibri" pitchFamily="34" charset="-120"/>
              </a:rPr>
              <a:t>roupe des </a:t>
            </a:r>
            <a:pPr algn="ctr" indent="0" marL="0">
              <a:buNone/>
            </a:pPr>
            <a:r>
              <a:rPr lang="en-US" sz="1200" b="1" dirty="0">
                <a:solidFill>
                  <a:srgbClr val="1F2937"/>
                </a:solidFill>
                <a:latin typeface="Calibri" pitchFamily="34" charset="0"/>
                <a:ea typeface="Calibri" pitchFamily="34" charset="-122"/>
                <a:cs typeface="Calibri" pitchFamily="34" charset="-120"/>
              </a:rPr>
              <a:t>R</a:t>
            </a:r>
            <a:pPr algn="ctr" indent="0" marL="0">
              <a:buNone/>
            </a:pPr>
            <a:r>
              <a:rPr lang="en-US" sz="1200" dirty="0">
                <a:solidFill>
                  <a:srgbClr val="1F2937"/>
                </a:solidFill>
                <a:latin typeface="Calibri" pitchFamily="34" charset="0"/>
                <a:ea typeface="Calibri" pitchFamily="34" charset="-122"/>
                <a:cs typeface="Calibri" pitchFamily="34" charset="-120"/>
              </a:rPr>
              <a:t>esponsables </a:t>
            </a:r>
            <a:pPr algn="ctr" indent="0" marL="0">
              <a:buNone/>
            </a:pPr>
            <a:r>
              <a:rPr lang="en-US" sz="1200" b="1" dirty="0">
                <a:solidFill>
                  <a:srgbClr val="1F2937"/>
                </a:solidFill>
                <a:latin typeface="Calibri" pitchFamily="34" charset="0"/>
                <a:ea typeface="Calibri" pitchFamily="34" charset="-122"/>
                <a:cs typeface="Calibri" pitchFamily="34" charset="-120"/>
              </a:rPr>
              <a:t>S</a:t>
            </a:r>
            <a:pPr algn="ctr" indent="0" marL="0">
              <a:buNone/>
            </a:pPr>
            <a:r>
              <a:rPr lang="en-US" sz="1200" dirty="0">
                <a:solidFill>
                  <a:srgbClr val="1F2937"/>
                </a:solidFill>
                <a:latin typeface="Calibri" pitchFamily="34" charset="0"/>
                <a:ea typeface="Calibri" pitchFamily="34" charset="-122"/>
                <a:cs typeface="Calibri" pitchFamily="34" charset="-120"/>
              </a:rPr>
              <a:t>ûreté de </a:t>
            </a:r>
            <a:pPr algn="ctr" indent="0" marL="0">
              <a:buNone/>
            </a:pPr>
            <a:r>
              <a:rPr lang="en-US" sz="1200" b="1" dirty="0">
                <a:solidFill>
                  <a:srgbClr val="1F2937"/>
                </a:solidFill>
                <a:latin typeface="Calibri" pitchFamily="34" charset="0"/>
                <a:ea typeface="Calibri" pitchFamily="34" charset="-122"/>
                <a:cs typeface="Calibri" pitchFamily="34" charset="-120"/>
              </a:rPr>
              <a:t>C</a:t>
            </a:r>
            <a:pPr algn="ctr" indent="0" marL="0">
              <a:buNone/>
            </a:pPr>
            <a:r>
              <a:rPr lang="en-US" sz="1200" dirty="0">
                <a:solidFill>
                  <a:srgbClr val="1F2937"/>
                </a:solidFill>
                <a:latin typeface="Calibri" pitchFamily="34" charset="0"/>
                <a:ea typeface="Calibri" pitchFamily="34" charset="-122"/>
                <a:cs typeface="Calibri" pitchFamily="34" charset="-120"/>
              </a:rPr>
              <a:t>ôte d'</a:t>
            </a:r>
            <a:pPr algn="ctr" indent="0" marL="0">
              <a:buNone/>
            </a:pPr>
            <a:r>
              <a:rPr lang="en-US" sz="1200" b="1" dirty="0">
                <a:solidFill>
                  <a:srgbClr val="1F2937"/>
                </a:solidFill>
                <a:latin typeface="Calibri" pitchFamily="34" charset="0"/>
                <a:ea typeface="Calibri" pitchFamily="34" charset="-122"/>
                <a:cs typeface="Calibri" pitchFamily="34" charset="-120"/>
              </a:rPr>
              <a:t>I</a:t>
            </a:r>
            <a:pPr algn="ctr" indent="0" marL="0">
              <a:buNone/>
            </a:pPr>
            <a:r>
              <a:rPr lang="en-US" sz="1200" dirty="0">
                <a:solidFill>
                  <a:srgbClr val="1F2937"/>
                </a:solidFill>
                <a:latin typeface="Calibri" pitchFamily="34" charset="0"/>
                <a:ea typeface="Calibri" pitchFamily="34" charset="-122"/>
                <a:cs typeface="Calibri" pitchFamily="34" charset="-120"/>
              </a:rPr>
              <a:t>voire</a:t>
            </a:r>
            <a:endParaRPr lang="en-US" sz="1200" dirty="0"/>
          </a:p>
        </p:txBody>
      </p:sp>
      <p:sp>
        <p:nvSpPr>
          <p:cNvPr id="5" name="Text 2"/>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27/10/26   |   38</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Rencontre mensuelle G.R.S.CI — 27 octobre 2026</dc:title>
  <dc:subject>PptxGenJS Presentation</dc:subject>
  <dc:creator>SentiqS</dc:creator>
  <cp:lastModifiedBy>SentiqS</cp:lastModifiedBy>
  <cp:revision>1</cp:revision>
  <dcterms:created xsi:type="dcterms:W3CDTF">2026-10-27T19:28:52Z</dcterms:created>
  <dcterms:modified xsi:type="dcterms:W3CDTF">2026-10-27T19:28:52Z</dcterms:modified>
</cp:coreProperties>
</file>