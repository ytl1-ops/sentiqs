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entiqS/SentiqS/scripts/assets/grsci/couverture-abidj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"/>
            <a:ext cx="11795760" cy="58521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0" y="228600"/>
            <a:ext cx="758952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RENCONTRE MENSUELLE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G.R.S.CI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3200400" y="1600200"/>
            <a:ext cx="576072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589520" y="548640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OCTOBRE 2026</a:t>
            </a:r>
            <a:endParaRPr lang="en-US" sz="2000" dirty="0"/>
          </a:p>
        </p:txBody>
      </p:sp>
      <p:pic>
        <p:nvPicPr>
          <p:cNvPr id="6" name="Image 1" descr="/home/runner/work/SentiqS/SentiqS/scripts/assets/grsci/afriq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6172200"/>
            <a:ext cx="548640" cy="548640"/>
          </a:xfrm>
          <a:prstGeom prst="rect">
            <a:avLst/>
          </a:prstGeom>
        </p:spPr>
      </p:pic>
      <p:pic>
        <p:nvPicPr>
          <p:cNvPr id="7" name="Image 2" descr="/home/runner/work/SentiqS/SentiqS/scripts/assets/grsci/logo-grsc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DES MATIÈRES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5532120" cy="4754880"/>
          </a:xfrm>
          <a:prstGeom prst="rect">
            <a:avLst/>
          </a:prstGeom>
          <a:solidFill>
            <a:srgbClr val="E5E7E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5532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FAITS MARQUANTS EN CÔTE D'IVOIRE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5166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POLITIQUE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❑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Manifestation anti 4e mandat : le présumé assassin du gendarme Dani…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ET HUMANITAIRE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❑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Côte d’Ivoire: de faux QR codes piègent les usagers du mobile money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143000"/>
            <a:ext cx="5532120" cy="4754880"/>
          </a:xfrm>
          <a:prstGeom prst="rect">
            <a:avLst/>
          </a:prstGeom>
          <a:solidFill>
            <a:srgbClr val="E5E7E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188720"/>
            <a:ext cx="5532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DYNAMIQUES SOUS-RÉGIONALES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0" y="1645920"/>
            <a:ext cx="51663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BURKINA FASO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❑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· confiance moyenne · 4 fait(s)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❑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· confiance moyenne · 12 fait(s)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❑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MARRON · confiance moyenne · 2 fait(s)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❑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· confiance faible · 1 fait(s)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❑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· confiance faible · 3 fait(s)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BÉNIN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❑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JAUNE · confiance faible · 1 fait(s)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GUINÉE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❑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JAUNE · confiance faible · 5 fait(s)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LIBERIA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❑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JAUNE · confiance faible · 1 fait(s)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SÉNÉGAL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❑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JAUNE · confiance moyenne · 12 fait(s)</a:t>
            </a:r>
            <a:endParaRPr lang="en-US" sz="1100" dirty="0"/>
          </a:p>
        </p:txBody>
      </p:sp>
      <p:pic>
        <p:nvPicPr>
          <p:cNvPr id="11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CCC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233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FAITS MARQUANTS EN CÔTE D'IVOIRE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206240" y="4846320"/>
            <a:ext cx="3749040" cy="0"/>
          </a:xfrm>
          <a:prstGeom prst="line">
            <a:avLst/>
          </a:prstGeom>
          <a:noFill/>
          <a:ln w="50800">
            <a:solidFill>
              <a:srgbClr val="000000"/>
            </a:solidFill>
            <a:prstDash val="solid"/>
          </a:ln>
        </p:spPr>
      </p:sp>
      <p:pic>
        <p:nvPicPr>
          <p:cNvPr id="4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BREF — CÔTE D'IVOIRE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F77F00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009E60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34440"/>
            <a:ext cx="2560320" cy="822960"/>
          </a:xfrm>
          <a:prstGeom prst="rect">
            <a:avLst/>
          </a:prstGeom>
          <a:solidFill>
            <a:srgbClr val="CA8A0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JAUNE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383280" y="1188720"/>
            <a:ext cx="8321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modéré · score 25.3/100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Confiance moyenne — incident vérifié le plus récent : 113 jours ; 1 signal du jour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en baisse de 1 cran depuis le 2026-09-12.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PORTE LE NIVEAU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5176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Renforcement securitaire preventif regions nord Hambol/Poro — 29/06/2026 06h00 (113 j)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▪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transfrontaliere nord (frontieres Burkina Faso et Mali, Savanes, Zanzan) — FCDO — revu 2026-10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297680"/>
            <a:ext cx="11292840" cy="1600200"/>
          </a:xfrm>
          <a:prstGeom prst="rect">
            <a:avLst/>
          </a:prstGeom>
          <a:solidFill>
            <a:srgbClr val="E5E7E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343400"/>
            <a:ext cx="11109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DÉCRYPTAGE — lecture automatique, à valider par l'analyste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663440"/>
            <a:ext cx="10927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jaune (modéré, 25.3/100), confiance moyenne.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Fondement : incident vérifié le plus récent : 113 jours ; 1 signal du jour.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en baisse de 1 cran depuis le 2026-09-12.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fait(s) au-dessus du normal dans les 36 dernières heures.</a:t>
            </a:r>
            <a:endParaRPr lang="en-US" sz="1200" dirty="0"/>
          </a:p>
        </p:txBody>
      </p:sp>
      <p:pic>
        <p:nvPicPr>
          <p:cNvPr id="15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POLITIQUE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F77F00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009E60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CÔTE D'IVOIRE — 1 FAIT(S) DE LA FENÊTRE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508760"/>
            <a:ext cx="1097280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Manifestation anti 4e mandat : le présumé assassin du gendarme Daniogo Klênon, arrêté</a:t>
            </a:r>
            <a:endParaRPr lang="en-US" sz="14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Linfodrome · 20/10 20h UTC · niveau élevé · Probable</a:t>
            </a:r>
            <a:endParaRPr lang="en-US" sz="14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ET HUMANITAIRE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881360" y="274320"/>
            <a:ext cx="301752" cy="566928"/>
          </a:xfrm>
          <a:prstGeom prst="rect">
            <a:avLst/>
          </a:prstGeom>
          <a:solidFill>
            <a:srgbClr val="F77F00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83112" y="274320"/>
            <a:ext cx="30175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84864" y="274320"/>
            <a:ext cx="301752" cy="566928"/>
          </a:xfrm>
          <a:prstGeom prst="rect">
            <a:avLst/>
          </a:prstGeom>
          <a:solidFill>
            <a:srgbClr val="009E60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CÔTE D'IVOIRE — 1 FAIT(S) DE LA FENÊTRE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508760"/>
            <a:ext cx="1097280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Côte d’Ivoire: de faux QR codes piègent les usagers du mobile money</a:t>
            </a:r>
            <a:endParaRPr lang="en-US" sz="1400" dirty="0"/>
          </a:p>
          <a:p>
            <a:pPr lvl="1" indent="0" marL="0"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Wakat Sera · 20/10 11h UTC · niveau modéré · Probable</a:t>
            </a:r>
            <a:endParaRPr lang="en-US" sz="14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CCC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entiqS/SentiqS/scripts/assets/grsci/afr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640080"/>
            <a:ext cx="2926080" cy="2926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0233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DYNAMIQUES RÉGIONALES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4206240" y="4846320"/>
            <a:ext cx="3749040" cy="0"/>
          </a:xfrm>
          <a:prstGeom prst="line">
            <a:avLst/>
          </a:prstGeom>
          <a:noFill/>
          <a:ln w="50800">
            <a:solidFill>
              <a:srgbClr val="000000"/>
            </a:solidFill>
            <a:prstDash val="solid"/>
          </a:ln>
        </p:spPr>
      </p:sp>
      <p:pic>
        <p:nvPicPr>
          <p:cNvPr id="5" name="Image 1" descr="/home/runner/work/SentiqS/SentiqS/scripts/assets/grsci/logo-grsc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RÉGIONAL — NIVEAUX D'ALERTE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645920"/>
                <a:gridCol w="1097280"/>
                <a:gridCol w="1737360"/>
                <a:gridCol w="109728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Niveau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B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Burkina Faso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1C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MARRON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2D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Ghana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Bénin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8A0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Guinée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8A0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8A0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Sénégal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8A0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niveau « jaune » n'est pas l'absence de risque : lire la confiance avant le niveau.</a:t>
            </a:r>
            <a:endParaRPr lang="en-US" sz="1200" dirty="0"/>
          </a:p>
        </p:txBody>
      </p:sp>
      <p:pic>
        <p:nvPicPr>
          <p:cNvPr id="7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Burkina Faso : situation au 21/10/26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2011680" cy="45720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Burkina Faso: la junte au pouvoir rétablit la peine de mort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 Afrique · 21/10 03h UTC · niveau critique · Probable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Burkina Faso : la peine de mort réintroduite dans le Code pénal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Guineematin.com · 20/10 22h UTC · niveau critique · Non confirmé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alimentaire : le Burkina Faso développe 8 nouvelles variétés de riz grâce à la technologie nucléaire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 Cameroun · 20/10 15h UTC · niveau élevé · Non confirmé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Offensive agropastorale : le Premier ministre appelle les éleveurs à tirer pleinement profit des mesures d’accompagnement de l’État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Gouvernement de transition Burkina Faso · 20/10 15h UTC · niveau élevé · Probable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4297680"/>
            <a:ext cx="11292840" cy="1600200"/>
          </a:xfrm>
          <a:prstGeom prst="rect">
            <a:avLst/>
          </a:prstGeom>
          <a:solidFill>
            <a:srgbClr val="E5E7E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43400"/>
            <a:ext cx="11109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DÉCRYPTAGE — lecture automatique, à valider par l'analyste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663440"/>
            <a:ext cx="10927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rouge (grave, 88.1/100), confiance moyenne.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Fondement : incident vérifié le plus récent : 113 jours ; 1 signal du jour.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stable depuis le 2026-09-12.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fait(s) au-dessus du normal dans les 36 dernières heures.</a:t>
            </a:r>
            <a:endParaRPr lang="en-US" sz="12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 : situation au 21/10/26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2011680" cy="45720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Massacre au Mali : l’État islamique s’attaque à la communauté idaksahak dans la région de Ménaka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Jeune Afrique · 20/10 16h UTC · niveau critique · Probable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 : une quarantaine de civils tuée dans un camp dans la région de Menaka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fr.saharamedias.net · 20/10 14h UTC · niveau critique · Non confirmé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40 civilians killed in Mali attack blamed on Islamic State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Africanews · 20/10 12h UTC · niveau critique · Probable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Défense et Sécurité : 678 jeunes soldats formés et présentés au drapeau à Koutiala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Malijet · 20/10 09h UTC · niveau élevé · Probable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4297680"/>
            <a:ext cx="11292840" cy="1600200"/>
          </a:xfrm>
          <a:prstGeom prst="rect">
            <a:avLst/>
          </a:prstGeom>
          <a:solidFill>
            <a:srgbClr val="E5E7E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43400"/>
            <a:ext cx="11109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DÉCRYPTAGE — lecture automatique, à valider par l'analyste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663440"/>
            <a:ext cx="10927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rouge (grave, 84.7/100), confiance moyenne.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Fondement : incident vérifié le plus récent : 114 jours ; 2 signaux du jour.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stable depuis le 2026-09-12.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fait(s) au-dessus du normal dans les 36 dernières heures.</a:t>
            </a:r>
            <a:endParaRPr lang="en-US" sz="12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 : situation au 21/10/26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2011680" cy="457200"/>
          </a:xfrm>
          <a:prstGeom prst="rect">
            <a:avLst/>
          </a:prstGeom>
          <a:solidFill>
            <a:srgbClr val="7C2D1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Diffa : VND/NUR, des rives du lac Tchad à l’action humanitaire, la résilience, la paix et le développement.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 — Agence Nigérienne Presse · 20/10 22h UTC · niveau élevé · Probable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OCRTIS, un rempart contre la drogue et la criminalité au Niger…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Tamtaminfo · 19/10 18h UTC · niveau élevé · Non confirmé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4297680"/>
            <a:ext cx="11292840" cy="1600200"/>
          </a:xfrm>
          <a:prstGeom prst="rect">
            <a:avLst/>
          </a:prstGeom>
          <a:solidFill>
            <a:srgbClr val="E5E7E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43400"/>
            <a:ext cx="11109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DÉCRYPTAGE — lecture automatique, à valider par l'analyste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663440"/>
            <a:ext cx="10927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marron (critique, 70.1/100), confiance moyenne.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Fondement : incident vérifié le plus récent : 112 jours ; 1 signal du jour.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plafonné : niveau borne au marron : le point qui ferait passer au rouge vient d'un article seul, ni recoupe par une seconde source ni critique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stable depuis le 2026-09-12.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fait(s) au-dessus du normal dans les 36 dernières heures.</a:t>
            </a:r>
            <a:endParaRPr lang="en-US" sz="12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 : situation au 21/10/26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2011680" cy="457200"/>
          </a:xfrm>
          <a:prstGeom prst="rect">
            <a:avLst/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to begin nationwide meter audit exercise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Ghanaian Times · 20/10 14h UTC · niveau modéré · Non confirmé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4297680"/>
            <a:ext cx="11292840" cy="1600200"/>
          </a:xfrm>
          <a:prstGeom prst="rect">
            <a:avLst/>
          </a:prstGeom>
          <a:solidFill>
            <a:srgbClr val="E5E7E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43400"/>
            <a:ext cx="11109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DÉCRYPTAGE — lecture automatique, à valider par l'analyste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663440"/>
            <a:ext cx="10927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orange (élevé, 36.8/100), confiance faible.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Fondement : incident vérifié le plus récent : 114 jours ; aucun signal du jour.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stable depuis le 2026-09-12.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fait(s) au-dessus du normal dans les 36 dernières heures.</a:t>
            </a:r>
            <a:endParaRPr lang="en-US" sz="12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: situation au 21/10/26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2011680" cy="457200"/>
          </a:xfrm>
          <a:prstGeom prst="rect">
            <a:avLst/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: Entre deux sourds : l’impasse togolaise en grand format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Actualite · 20/10 15h UTC · niveau élevé · Confirmé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Systèmes agroalimentaires : Le Togo engagé à traduire la Déclaration de Kampala en actions concrètes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Togo-Presse · 20/10 20h UTC · niveau modéré · Non confirmé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Pintade, sécurité alimentaire et revenus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AllAfrica (TG) · 20/10 09h UTC · niveau modéré · Probable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4297680"/>
            <a:ext cx="11292840" cy="1600200"/>
          </a:xfrm>
          <a:prstGeom prst="rect">
            <a:avLst/>
          </a:prstGeom>
          <a:solidFill>
            <a:srgbClr val="E5E7E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43400"/>
            <a:ext cx="11109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DÉCRYPTAGE — lecture automatique, à valider par l'analyste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663440"/>
            <a:ext cx="10927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orange (élevé, 41.8/100), confiance faible.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Fondement : incident vérifié le plus récent : 115 jours ; aucun signal du jour.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stable depuis le 2026-09-12.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fait(s) au-dessus du normal dans les 36 dernières heures.</a:t>
            </a:r>
            <a:endParaRPr lang="en-US" sz="12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Bénin : situation au 21/10/26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2011680" cy="457200"/>
          </a:xfrm>
          <a:prstGeom prst="rect">
            <a:avLst/>
          </a:prstGeom>
          <a:solidFill>
            <a:srgbClr val="CA8A0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braquage aux incantations, un guérisseur cueilli par la Police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Wakat Sera · 20/10 11h UTC · niveau modéré · Probable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4297680"/>
            <a:ext cx="11292840" cy="1600200"/>
          </a:xfrm>
          <a:prstGeom prst="rect">
            <a:avLst/>
          </a:prstGeom>
          <a:solidFill>
            <a:srgbClr val="E5E7E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43400"/>
            <a:ext cx="11109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DÉCRYPTAGE — lecture automatique, à valider par l'analyste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663440"/>
            <a:ext cx="10927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jaune (modéré, 18.8/100), confiance faible.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Fondement : incident vérifié le plus récent : 114 jours ; aucun signal du jour.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stable depuis le 2026-09-12.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fait(s) au-dessus du normal dans les 36 dernières heures.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source capable d'alerter : lecture à recouper.</a:t>
            </a:r>
            <a:endParaRPr lang="en-US" sz="12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Guinée : situation au 21/10/26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2011680" cy="457200"/>
          </a:xfrm>
          <a:prstGeom prst="rect">
            <a:avLst/>
          </a:prstGeom>
          <a:solidFill>
            <a:srgbClr val="CA8A0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GUINÉE : LA HAC S’ATTAQUE À LA PROLIFÉRATION ILLÉGALE DES WEB TV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 24 · 20/10 13h UTC · niveau critique · Non confirmé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TV illégales en Guinée : la HAC sort la menace des sanctions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Guinee7.com · 20/10 11h UTC · niveau élevé · Non confirmé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Kindia : un accident de bus fait deux morts et 34 blessés à Séguéya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Guineelive · 19/10 23h UTC · niveau élevé · Non confirmé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Lélouma : des écoles fermées par manque d’enseignants, plus de 500 élèves privés de scolarité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Guineematin.com · 20/10 22h UTC · niveau modéré · Non confirmé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4297680"/>
            <a:ext cx="11292840" cy="1600200"/>
          </a:xfrm>
          <a:prstGeom prst="rect">
            <a:avLst/>
          </a:prstGeom>
          <a:solidFill>
            <a:srgbClr val="E5E7E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43400"/>
            <a:ext cx="11109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DÉCRYPTAGE — lecture automatique, à valider par l'analyste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663440"/>
            <a:ext cx="10927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jaune (modéré, 25.3/100), confiance faible.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Fondement : incident vérifié le plus récent : 112 jours ; aucun signal du jour.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stable depuis le 2026-09-12.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fait(s) au-dessus du normal dans les 36 dernières heures.</a:t>
            </a:r>
            <a:endParaRPr lang="en-US" sz="12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Liberia : situation au 21/10/26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2011680" cy="457200"/>
          </a:xfrm>
          <a:prstGeom prst="rect">
            <a:avLst/>
          </a:prstGeom>
          <a:solidFill>
            <a:srgbClr val="CA8A0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Boakai Administration Receives New U.S. Chargé d’Affaires as Diplomatic Focus Turns to Investment, Health, and Security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News Network Liberia · 19/10 20h UTC · niveau modéré · Non confirmé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4297680"/>
            <a:ext cx="11292840" cy="1600200"/>
          </a:xfrm>
          <a:prstGeom prst="rect">
            <a:avLst/>
          </a:prstGeom>
          <a:solidFill>
            <a:srgbClr val="E5E7E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43400"/>
            <a:ext cx="11109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DÉCRYPTAGE — lecture automatique, à valider par l'analyste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663440"/>
            <a:ext cx="10927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jaune (modéré, 18.8/100), confiance faible.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Fondement : incident vérifié le plus récent : 204 jours ; aucun signal du jour.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stable depuis le 2026-09-12.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fait(s) au-dessus du normal dans les 36 dernières heures.</a:t>
            </a:r>
            <a:endParaRPr lang="en-US" sz="12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Sénégal : situation au 21/10/26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2011680" cy="457200"/>
          </a:xfrm>
          <a:prstGeom prst="rect">
            <a:avLst/>
          </a:prstGeom>
          <a:solidFill>
            <a:srgbClr val="CA8A0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Salaires : Ce que risquent les travailleurs qui seront en grève à partir de ce mercredi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SeneNews · 20/10 22h UTC · niveau élevé · Non confirmé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institutionnelle : Amadou Ba parle à Bassirou Diomaye Faye et à Ousmane Sonko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SeneNews · 20/10 21h UTC · niveau élevé · Non confirmé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Education: Le SELS/Authentique refuse de s'associer à la grève de 72 heures des enseignants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Pressafrik · 20/10 20h UTC · niveau élevé · Probable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Sénégal: des centaines de travailleurs se mobilisent avant une grève générale annoncée pour trois jours</a:t>
            </a:r>
            <a:endParaRPr lang="en-US" sz="1300" dirty="0"/>
          </a:p>
          <a:p>
            <a:pPr lvl="1"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 Afrique · 20/10 20h UTC · niveau élevé · Probable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4297680"/>
            <a:ext cx="11292840" cy="1600200"/>
          </a:xfrm>
          <a:prstGeom prst="rect">
            <a:avLst/>
          </a:prstGeom>
          <a:solidFill>
            <a:srgbClr val="E5E7E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43400"/>
            <a:ext cx="11109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DÉCRYPTAGE — lecture automatique, à valider par l'analyste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663440"/>
            <a:ext cx="109270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jaune (modéré, 31.3/100), confiance moyenne.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Fondement : incident vérifié le plus récent : 113 jours ; 5 signaux du jour.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en baisse de 1 cran depuis le 2026-09-12.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2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fait(s) au-dessus du normal dans les 36 dernières heures.</a:t>
            </a:r>
            <a:endParaRPr lang="en-US" sz="1200" dirty="0"/>
          </a:p>
        </p:txBody>
      </p:sp>
      <p:pic>
        <p:nvPicPr>
          <p:cNvPr id="10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640080" cy="548640"/>
          </a:xfrm>
          <a:prstGeom prst="rect">
            <a:avLst/>
          </a:prstGeom>
          <a:solidFill>
            <a:srgbClr val="1F6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234440" y="274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NE SAVONS PAS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92840" cy="0"/>
          </a:xfrm>
          <a:prstGeom prst="line">
            <a:avLst/>
          </a:prstGeom>
          <a:noFill/>
          <a:ln w="6350">
            <a:solidFill>
              <a:srgbClr val="A3A3A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88720"/>
            <a:ext cx="10972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Côte d'Ivoire : socle de plus de 90 jours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Burkina Faso : socle de plus de 90 jours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 : socle de plus de 90 jours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 : socle de plus de 90 jours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 : socle de plus de 90 jours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Togo : socle de plus de 90 jours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Bénin : une seule source capable d'alerter ; socle de plus de 90 jours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Guinée : socle de plus de 90 jours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Liberia : socle de plus de 90 jours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Sénégal : socle de plus de 90 jours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120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pays listé n'est pas plus dangereux : c'est un pays que l'outil voit mal. « Confirmé » veut dire recoupé par une seconde source, pas confirmé officiellement.</a:t>
            </a:r>
            <a:endParaRPr lang="en-US" sz="1200" dirty="0"/>
          </a:p>
        </p:txBody>
      </p:sp>
      <p:pic>
        <p:nvPicPr>
          <p:cNvPr id="7" name="Image 0" descr="/home/runner/work/SentiqS/SentiqS/scripts/assets/grsci/logo-grs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5989320"/>
            <a:ext cx="548640" cy="6309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108960" y="6217920"/>
            <a:ext cx="4206240" cy="329184"/>
          </a:xfrm>
          <a:prstGeom prst="rect">
            <a:avLst/>
          </a:prstGeom>
          <a:noFill/>
          <a:ln w="9525">
            <a:solidFill>
              <a:srgbClr val="1F6B5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roupe des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esponsables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ûreté de 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ôte d'</a:t>
            </a:r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418320" y="6309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21/10/26   |   18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Rencontre mensuelle G.R.S.CI — 21 octobre 2026</dc:title>
  <dc:subject>PptxGenJS Presentation</dc:subject>
  <dc:creator>SentiqS</dc:creator>
  <cp:lastModifiedBy>SentiqS</cp:lastModifiedBy>
  <cp:revision>1</cp:revision>
  <dcterms:created xsi:type="dcterms:W3CDTF">2026-10-21T03:15:05Z</dcterms:created>
  <dcterms:modified xsi:type="dcterms:W3CDTF">2026-10-21T03:15:05Z</dcterms:modified>
</cp:coreProperties>
</file>