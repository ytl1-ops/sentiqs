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linfodrome.com/faits-divers/127012-affaire-fabienne-tuee-par-son-copain-a-daloa-plusieurs-vehicules-debarquent-de-son-village-natal"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linfodrome.com/faits-divers/127000-daloa-la-belle-fabienne-lachement-tuee-par-son-copain-boulanger-sur-la-base-de-simples-soupcons-d-infidelite"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linfodrome.com/societe/126925-tensions-permanentes-entre-le-district-autonome-d-abidjan-et-les-mairies-le-cpc-est-il-bel-et-bien-mort" TargetMode="External"/><Relationship Id="rId2" Type="http://schemas.openxmlformats.org/officeDocument/2006/relationships/hyperlink" Target="https://www.linfodrome.com/societe/126820-projets-de-sa-mandature-le-president-sortant-de-la-jci-emeraude-dresse-un-bilan-de-95-de-taux-d-execution" TargetMode="External"/><Relationship Id="rId3" Type="http://schemas.openxmlformats.org/officeDocument/2006/relationships/hyperlink" Target="https://www.linfodrome.com/societe/126904-guiglo-etouffees-par-la-flambee-des-prix-les-vendeuses-de-poissons-en-greve" TargetMode="External"/><Relationship Id="rId4" Type="http://schemas.openxmlformats.org/officeDocument/2006/relationships/hyperlink" Target="https://www.linfodrome.com/societe/126894-lutte-contre-le-cancer-du-sein-linfodrome-combat-les-rumeurs-et-sensibilise-les-populations" TargetMode="External"/><Relationship Id="rId5" Type="http://schemas.openxmlformats.org/officeDocument/2006/relationships/hyperlink" Target="https://fr.allafrica.com/stories/202610230151.html" TargetMode="Externa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infodrome.com/culture/127005-biennale-internationale-des-arts-d-abidjan-augustin-kassi-promoteur-appelle-a-une-mobilisation-collective" TargetMode="External"/><Relationship Id="rId2" Type="http://schemas.openxmlformats.org/officeDocument/2006/relationships/hyperlink" Target="https://www.linfodrome.com/economie/126995-cote-d-ivoire-en-2025-le-deficit-budgetaire-de-l-etat-a-atteint-2-208-milliards-de-fcfa" TargetMode="External"/><Relationship Id="rId3" Type="http://schemas.openxmlformats.org/officeDocument/2006/relationships/hyperlink" Target="https://www.linfodrome.com/societe/126971-octobre-rose-ariel-sheney-sur-tous-les-fronts-apres-une-epreuve-personnelle-liee-au-deces-de-son-epouse" TargetMode="Externa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wakatsera.com/soupconne-dinfidelite-il-tue-sa-compagne-de-26-ans/" TargetMode="External"/><Relationship Id="rId3" Type="http://schemas.openxmlformats.org/officeDocument/2006/relationships/hyperlink" Target="https://www.wakatsera.com/soupconne-dinfidelite-il-tue-sa-compagne-de-26-ans/" TargetMode="External"/><Relationship Id="rId4" Type="http://schemas.openxmlformats.org/officeDocument/2006/relationships/hyperlink" Target="https://www.wakatsera.com/soupconne-dinfidelite-il-tue-sa-compagne-de-26-ans/" TargetMode="External"/><Relationship Id="rId2" Type="http://schemas.openxmlformats.org/officeDocument/2006/relationships/image" Target="../media/image-8-1.jpe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linfodrome.com/sante/127029-cote-d-ivoire-un-ensemble-d-equipements-de-6-milliards-fcfa-pour-lutter-contre-la-fievre-jaune-et-ebola" TargetMode="External"/><Relationship Id="rId2" Type="http://schemas.openxmlformats.org/officeDocument/2006/relationships/hyperlink" Target="https://fr.allafrica.com/stories/202610290464.html" TargetMode="External"/><Relationship Id="rId3" Type="http://schemas.openxmlformats.org/officeDocument/2006/relationships/hyperlink" Target="https://www.linfodrome.com/cuisine/126988-pommes-bananes-kiwis-cette-erreur-de-rangement-fait-murir-vos-fruits-beaucoup-trop-vite" TargetMode="External"/><Relationship Id="rId4" Type="http://schemas.openxmlformats.org/officeDocument/2006/relationships/hyperlink" Target="https://fr.allafrica.com/stories/202610280689.html" TargetMode="External"/><Relationship Id="rId5" Type="http://schemas.openxmlformats.org/officeDocument/2006/relationships/hyperlink" Target="https://www.linfodrome.com/societe/126963-bouna-les-victimes-d-accidents-de-la-route-pourront-desormais-prises-en-charge-gratuitement-aux-urgences" TargetMode="External"/><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alwihdainfo.com/cote-divoire-le-gouvernement-mise-sur-la-ponadepa-ii-pour-atteindre-la-souverainete-alimentaire-dici-2030/" TargetMode="External"/><Relationship Id="rId2" Type="http://schemas.openxmlformats.org/officeDocument/2006/relationships/hyperlink" Target="https://www.linfodrome.com/societe/126955-lutte-contre-le-gaspillage-alimentaire-le-comite-de-concertation-etat-secteur-prive-preconise-un-cadre-national" TargetMode="External"/><Relationship Id="rId3" Type="http://schemas.openxmlformats.org/officeDocument/2006/relationships/hyperlink" Target="https://www.linfodrome.com/politique/126898-hausse-des-prix-du-poisson-assale-tiemoko-revele-une-dependance-de-la-cote-d-ivoire-a-88-8-aux-importations" TargetMode="External"/><Relationship Id="rId4" Type="http://schemas.openxmlformats.org/officeDocument/2006/relationships/hyperlink" Target="https://fr.allafrica.com/stories/202610230529.html" TargetMode="Externa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seneweb.com/fr/news/Actualites/alassane-ouattara-a-lomc-la-cote-divoire-est-entouree-de-pays-qui-ont-des-difficultes_n_999002212.html" TargetMode="External"/><Relationship Id="rId2" Type="http://schemas.openxmlformats.org/officeDocument/2006/relationships/hyperlink" Target="https://www.linfodrome.com/revue-de-presse/127031-gestion-des-carrieres-publiques-ouattara-prend-une-decision-un-homme-se-jette-du-4e-etage-et-meurt" TargetMode="External"/><Relationship Id="rId3" Type="http://schemas.openxmlformats.org/officeDocument/2006/relationships/hyperlink" Target="https://www.linfodrome.com/societe/127027-bouake-le-dgpn-lance-l-operation-epervier-12-pour-demanteler-les-reseaux-criminels" TargetMode="External"/><Relationship Id="rId4" Type="http://schemas.openxmlformats.org/officeDocument/2006/relationships/hyperlink" Target="https://www.linfodrome.com/revue-de-presse/126999-la-cote-d-ivoire-exposee-a-un-nouveau-corridor-djihadiste-les-vendeuses-de-poisson-roulees-dans-la-farine" TargetMode="External"/><Relationship Id="rId5" Type="http://schemas.openxmlformats.org/officeDocument/2006/relationships/hyperlink" Target="https://www.jeuneafrique.com/1856601/politique/cote-divoire-des-grandes-institutions-a-larmee-alassane-ouattara-sonne-lheure-de-la-retraite/" TargetMode="External"/><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r.allafrica.com/stories/202610280621.html" TargetMode="External"/><Relationship Id="rId2" Type="http://schemas.openxmlformats.org/officeDocument/2006/relationships/hyperlink" Target="https://www.ecowas.int/the-3rd-abidjan-border-forum-the-ecowas-permanent-representation-to-the-african-union-commits-to-people-centred-border-governance/" TargetMode="External"/><Relationship Id="rId3" Type="http://schemas.openxmlformats.org/officeDocument/2006/relationships/hyperlink" Target="https://www.linfodrome.com/politique/126944-charnier-de-yopougon-26-ans-apres-amadou-coulibaly-oppose-les-violences-du-passe-a-l-ere-ouattara" TargetMode="External"/><Relationship Id="rId4" Type="http://schemas.openxmlformats.org/officeDocument/2006/relationships/hyperlink" Target="https://fr.allafrica.com/stories/202610270670.html" TargetMode="External"/><Relationship Id="rId5" Type="http://schemas.openxmlformats.org/officeDocument/2006/relationships/hyperlink" Target="https://www.linfodrome.com/economie/126924-interpol-renforce-les-capacites-des-enqueteurs-ivoiriens-pour-traquer-les-avoirs-des-criminels" TargetMode="External"/><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togoscoop.tg/cote-divoire-une-histoire-de-red-flag-vire-au-meurtre-le-suspect-passe-aux-aveux/" TargetMode="External"/><Relationship Id="rId3" Type="http://schemas.openxmlformats.org/officeDocument/2006/relationships/hyperlink" Target="https://togoscoop.tg/cote-divoire-une-histoire-de-red-flag-vire-au-meurtre-le-suspect-passe-aux-aveux/" TargetMode="External"/><Relationship Id="rId4" Type="http://schemas.openxmlformats.org/officeDocument/2006/relationships/hyperlink" Target="https://togoscoop.tg/cote-divoire-une-histoire-de-red-flag-vire-au-meurtre-le-suspect-passe-aux-aveux/" TargetMode="External"/><Relationship Id="rId2" Type="http://schemas.openxmlformats.org/officeDocument/2006/relationships/image" Target="../media/image-13-1.jpe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infodrome.com/faits-divers/126964-gonzagueville-elle-lui-refuse-le-sexe-il-la-tue-et-jette-son-corps-dans-une-decharge-d-ordures" TargetMode="External"/><Relationship Id="rId2" Type="http://schemas.openxmlformats.org/officeDocument/2006/relationships/hyperlink" Target="https://www.linfodrome.com/international/126817-avant-la-grande-marche-du-24-coctobre-emmanuel-macron-face-un-attentat" TargetMode="External"/><Relationship Id="rId3" Type="http://schemas.openxmlformats.org/officeDocument/2006/relationships/hyperlink" Target="https://www.linfodrome.com/politique/127063-les-jeunes-des-pays-voisins-sont-encore-tres-nombreux-en-cote-d-ivoire-alassane-ouattara" TargetMode="External"/><Relationship Id="rId4" Type="http://schemas.openxmlformats.org/officeDocument/2006/relationships/hyperlink" Target="https://fr.allafrica.com/stories/202610250016.html"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amap.ml/2026/10/30/kangaba-six-6-morts-dans-leboulement-dun-puit-minier-a-nouga/" TargetMode="External"/><Relationship Id="rId3" Type="http://schemas.openxmlformats.org/officeDocument/2006/relationships/hyperlink" Target="https://amap.ml/2026/10/30/kangaba-six-6-morts-dans-leboulement-dun-puit-minier-a-nouga/" TargetMode="External"/><Relationship Id="rId4" Type="http://schemas.openxmlformats.org/officeDocument/2006/relationships/hyperlink" Target="https://amap.ml/2026/10/30/kangaba-six-6-morts-dans-leboulement-dun-puit-minier-a-nouga/" TargetMode="External"/><Relationship Id="rId2" Type="http://schemas.openxmlformats.org/officeDocument/2006/relationships/image" Target="../media/image-16-1.jpe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jeuneafrique.com/1857569/politique/burkina-faso-antiterrorisme-ou-repression-pourquoi-ibrahim-traore-a-retabli-la-peine-de-mort/" TargetMode="External"/><Relationship Id="rId2" Type="http://schemas.openxmlformats.org/officeDocument/2006/relationships/hyperlink" Target="https://www.wakatsera.com/37e-tour-du-faso-2026-tom-wijfje-frappe-fort-dentree-souleymane-kone-decroche-la-deuxieme-place/" TargetMode="External"/><Relationship Id="rId3" Type="http://schemas.openxmlformats.org/officeDocument/2006/relationships/hyperlink" Target="https://icilome.com/2026/10/retablissement-de-la-peine-de-mort-pour-crimes-economiques-au-burkina-et-si-cetait-au-togo/" TargetMode="External"/><Relationship Id="rId4" Type="http://schemas.openxmlformats.org/officeDocument/2006/relationships/hyperlink" Target="https://www.wakatsera.com/une-promesse-dechange-diphone-vire-au-meurtre-presume-dune-jeune-fille/" TargetMode="External"/><Relationship Id="rId5" Type="http://schemas.openxmlformats.org/officeDocument/2006/relationships/hyperlink" Target="https://fr.allafrica.com/stories/202610230254.html" TargetMode="External"/><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fr.allafrica.com/stories/202610220451.html" TargetMode="External"/><Relationship Id="rId2" Type="http://schemas.openxmlformats.org/officeDocument/2006/relationships/hyperlink" Target="https://www.wakatsera.com/cooperation-militaire-ouverture-de-la-deuxieme-session-de-comite-mixte-de-suivi-burkina-faso-egypte/" TargetMode="External"/><Relationship Id="rId3" Type="http://schemas.openxmlformats.org/officeDocument/2006/relationships/hyperlink" Target="https://faso7.com/2026/10/29/resultats-provisoires-avis-dappel-a-manifestation-dinteret-n02026-025-a2n-cam-10-pour-la-constitution-dune-liste-restreinte-de-cabinets-qualifies-en-services-de-consultance-pour-la-conduite-du/" TargetMode="External"/><Relationship Id="rId4" Type="http://schemas.openxmlformats.org/officeDocument/2006/relationships/hyperlink" Target="https://faso7.com/2026/10/28/climat-et-securite-au-sahel-le-burkina-faso-passe-a-laction-pour-sa-strategie-nationale/" TargetMode="Externa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malijet.com/actualte_dans_les_regions_du_mali/312600-gao-tamy-moudary-toure-acteur-du-developpement-local-tou.html" TargetMode="External"/><Relationship Id="rId3" Type="http://schemas.openxmlformats.org/officeDocument/2006/relationships/hyperlink" Target="https://malijet.com/actualte_dans_les_regions_du_mali/312600-gao-tamy-moudary-toure-acteur-du-developpement-local-tou.html" TargetMode="External"/><Relationship Id="rId4" Type="http://schemas.openxmlformats.org/officeDocument/2006/relationships/hyperlink" Target="https://malijet.com/actualte_dans_les_regions_du_mali/312600-gao-tamy-moudary-toure-acteur-du-developpement-local-tou.html" TargetMode="External"/><Relationship Id="rId2" Type="http://schemas.openxmlformats.org/officeDocument/2006/relationships/image" Target="../media/image-19-1.jpe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pointschauds.info/mali-six-mois-apres-son-enlevement-a-bamako-lopposant-mountaga-tall-et-son-fils-toujours-introuvables/" TargetMode="External"/><Relationship Id="rId2" Type="http://schemas.openxmlformats.org/officeDocument/2006/relationships/hyperlink" Target="https://mali24.info/drame-sur-la-rn3-un-car-se-renverse-entre-bamako-et-kati-le-bilan-salourdit-a-1-mort-et-37-blesses/" TargetMode="External"/><Relationship Id="rId3" Type="http://schemas.openxmlformats.org/officeDocument/2006/relationships/hyperlink" Target="https://pointschauds.info/mali-pres-de-djenne-sounga-dernier-village-de-mougna-a-resister-au-jnim-attaque-par-les-jihadistes/" TargetMode="External"/><Relationship Id="rId4" Type="http://schemas.openxmlformats.org/officeDocument/2006/relationships/hyperlink" Target="https://pointschauds.info/mali-13-civils-tues-par-une-frappe-de-drone-pres-de-la-frontiere-mauritanienne-larmee-affirme-avoir-vise-des-terroristes/" TargetMode="External"/><Relationship Id="rId5" Type="http://schemas.openxmlformats.org/officeDocument/2006/relationships/hyperlink" Target="https://mali24.info/mali-ce-que-lon-sait-de-la-mort-mysterieuse-du-jeune-commercant-bocar-ly/" TargetMode="Externa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mali24.info/tournee-des-laureats-de-la-biennale-de-tombouctou-2025-le-coup-denvoi-donne-a-bougouni/" TargetMode="External"/><Relationship Id="rId2" Type="http://schemas.openxmlformats.org/officeDocument/2006/relationships/hyperlink" Target="https://mali24.info/enlevement-de-quatre-enseignants-a-san-la-synergie-des-syndicats-de-leducation-de-la-region-exige-leur-liberation/" TargetMode="External"/><Relationship Id="rId3" Type="http://schemas.openxmlformats.org/officeDocument/2006/relationships/hyperlink" Target="https://maliactu.net/mali-disparitions-inquietantes-morts-suspectes-que-se-passe-t-il-avec-la-jeunesse-malienne/" TargetMode="External"/><Relationship Id="rId4" Type="http://schemas.openxmlformats.org/officeDocument/2006/relationships/hyperlink" Target="https://maliactu.net/attaque-de-trappes-et-la-verriere-la-qualification-du-mobile-raciste-au-coeur-du-debat-securitaire-et-societal/" TargetMode="External"/><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tamtaminfo.com/niger-tchad-le-jeu-dangereux-de-deby-kaka/" TargetMode="External"/><Relationship Id="rId3" Type="http://schemas.openxmlformats.org/officeDocument/2006/relationships/hyperlink" Target="https://tamtaminfo.com/niger-tchad-le-jeu-dangereux-de-deby-kaka/" TargetMode="External"/><Relationship Id="rId4" Type="http://schemas.openxmlformats.org/officeDocument/2006/relationships/hyperlink" Target="https://tamtaminfo.com/niger-tchad-le-jeu-dangereux-de-deby-kaka/" TargetMode="External"/><Relationship Id="rId2" Type="http://schemas.openxmlformats.org/officeDocument/2006/relationships/image" Target="../media/image-22-1.jpe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www.france24.com/fr/vid%C3%A9o/20261029-tchad-le-pays-d%C3%A9ment-les-accusations-du-niger-concernant-une-frappe-de-drone" TargetMode="External"/><Relationship Id="rId2" Type="http://schemas.openxmlformats.org/officeDocument/2006/relationships/hyperlink" Target="https://mali24.info/tensions-au-sahel-ndjamena-dement-categoriquement-toute-implication-dans-une-frappe-au-niger/" TargetMode="External"/><Relationship Id="rId3" Type="http://schemas.openxmlformats.org/officeDocument/2006/relationships/hyperlink" Target="https://anp.ne/attaque-dun-drone-tchadien-au-niger-ladrodev-salue-les-efforts-des-autorites-a-maintenir-la-paix-au-sahel/" TargetMode="External"/><Relationship Id="rId4" Type="http://schemas.openxmlformats.org/officeDocument/2006/relationships/hyperlink" Target="https://www.premiumtimesng.com/news/headlines/920915-niger-governors-convoy-crash-kills-four-students-driver.html" TargetMode="External"/><Relationship Id="rId5" Type="http://schemas.openxmlformats.org/officeDocument/2006/relationships/hyperlink" Target="https://www.jeuneafrique.com/1856094/politique/tchad-niger-une-nouvelle-escalade-entre-mahamat-idriss-deby-et-abdourahamane-tiani/" TargetMode="External"/><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fr.allafrica.com/stories/202610270200.html" TargetMode="External"/><Relationship Id="rId2" Type="http://schemas.openxmlformats.org/officeDocument/2006/relationships/hyperlink" Target="https://anp.ne/lancement-officiel-de-la-caravane-de-sensibilisation-et-de-formation-sur-les-bonnes-pratiques-de-greffes-et-parquets-et-letablissement-des-pieces-dexecution/" TargetMode="External"/><Relationship Id="rId3" Type="http://schemas.openxmlformats.org/officeDocument/2006/relationships/hyperlink" Target="https://www.studiokalangou.org/142868-en-bref-attaque-agriculture-sport-les-informations-de-la-semaine" TargetMode="External"/><Relationship Id="rId4" Type="http://schemas.openxmlformats.org/officeDocument/2006/relationships/hyperlink" Target="https://anp.ne/souverainete-alimentaire-des-hommes-et-des-femmes-rurales-principaux-acteurs-de-la-resilience-au-niger/" TargetMode="Externa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www.myjoyonline.com/a-call-for-support-and-solidarity-with-ministers-from-volta-region-amid-incessant-attacks-by-npp/" TargetMode="External"/><Relationship Id="rId3" Type="http://schemas.openxmlformats.org/officeDocument/2006/relationships/hyperlink" Target="https://www.myjoyonline.com/a-call-for-support-and-solidarity-with-ministers-from-volta-region-amid-incessant-attacks-by-npp/" TargetMode="External"/><Relationship Id="rId4" Type="http://schemas.openxmlformats.org/officeDocument/2006/relationships/hyperlink" Target="https://www.myjoyonline.com/a-call-for-support-and-solidarity-with-ministers-from-volta-region-amid-incessant-attacks-by-npp/" TargetMode="External"/><Relationship Id="rId2"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icilome.com/2026/10/ghana-une-jeune-femme-meurt-apres-lexplosion-dun-sex-toy/" TargetMode="External"/><Relationship Id="rId2" Type="http://schemas.openxmlformats.org/officeDocument/2006/relationships/hyperlink" Target="https://www.myjoyonline.com/woman-killed-by-tema-afienya-train-as-residents-demand-footbridge/" TargetMode="External"/><Relationship Id="rId3" Type="http://schemas.openxmlformats.org/officeDocument/2006/relationships/hyperlink" Target="https://www.myjoyonline.com/seven-shot-dead-by-gunmen-at-church-funeral-in-jordan-officials-say/" TargetMode="External"/><Relationship Id="rId4" Type="http://schemas.openxmlformats.org/officeDocument/2006/relationships/hyperlink" Target="https://www.myjoyonline.com/npp-walewale-constituency-condemns-personal-attacks-against-mp-urges-party-discipline/" TargetMode="External"/><Relationship Id="rId5" Type="http://schemas.openxmlformats.org/officeDocument/2006/relationships/hyperlink" Target="https://www.myjoyonline.com/gaf-to-stage-land-combat-firepower-demonstration-at-bundase-on-october-30/" TargetMode="External"/><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fr.allafrica.com/stories/202610160127.html" TargetMode="External"/><Relationship Id="rId2" Type="http://schemas.openxmlformats.org/officeDocument/2006/relationships/hyperlink" Target="https://www.seneweb.com/fr/news/International/new-york-un-adolescent-ghaneen-de-15-ans-abattu-par-balle-sur-le-chemin-de-lecole_n_999002242.html" TargetMode="External"/><Relationship Id="rId3" Type="http://schemas.openxmlformats.org/officeDocument/2006/relationships/hyperlink" Target="https://www.myjoyonline.com/police-hunt-suspect-after-two-people-shot-dead-at-sakumono/" TargetMode="External"/><Relationship Id="rId4" Type="http://schemas.openxmlformats.org/officeDocument/2006/relationships/hyperlink" Target="https://ghanaiantimes.com.gh/nscs-consults-stakeholders-on-new-security-strategy/" TargetMode="External"/><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togoactualite.com/togo-la-cour-de-justice-de-la-cedeao-exige-lexecution-de-son-arret-du-29-janvier/" TargetMode="External"/><Relationship Id="rId3" Type="http://schemas.openxmlformats.org/officeDocument/2006/relationships/hyperlink" Target="https://togoactualite.com/togo-la-cour-de-justice-de-la-cedeao-exige-lexecution-de-son-arret-du-29-janvier/" TargetMode="External"/><Relationship Id="rId4" Type="http://schemas.openxmlformats.org/officeDocument/2006/relationships/hyperlink" Target="https://togoactualite.com/togo-la-cour-de-justice-de-la-cedeao-exige-lexecution-de-son-arret-du-29-janvier/" TargetMode="External"/><Relationship Id="rId2" Type="http://schemas.openxmlformats.org/officeDocument/2006/relationships/image" Target="../media/image-28-1.jpe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2" Type="http://schemas.openxmlformats.org/officeDocument/2006/relationships/hyperlink" Target="https://togoactualite.com/togo-crise-politique-luds-togo-reclame-une-grande-concertation-nationale-inclusive/" TargetMode="External"/><Relationship Id="rId3" Type="http://schemas.openxmlformats.org/officeDocument/2006/relationships/hyperlink" Target="https://togoactualite.com/togo-la-crise-de-lelectricite-symptome-dune-gouvernance-defaillante-selon-quatre-regroupements/" TargetMode="External"/><Relationship Id="rId4" Type="http://schemas.openxmlformats.org/officeDocument/2006/relationships/hyperlink" Target="https://fr.allafrica.com/stories/202610290581.html" TargetMode="External"/><Relationship Id="rId5" Type="http://schemas.openxmlformats.org/officeDocument/2006/relationships/hyperlink" Target="https://atop.tg/le-togo-renforce-la-vigilance-face-a-la-menace-de-la-maladie-a-virus-ebola/" TargetMode="External"/><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lenouveaureporter.com/whatsapp-la-fausse-alerte-au-vote-pour-pirater-votre-compte-fait-son-retour/" TargetMode="External"/><Relationship Id="rId2" Type="http://schemas.openxmlformats.org/officeDocument/2006/relationships/hyperlink" Target="https://24heureinfo.com/societe/savanes-le-lansa-sensibilise-les-acteurs-agroalimentaires-a-la-securite-sanitaire/" TargetMode="External"/><Relationship Id="rId3" Type="http://schemas.openxmlformats.org/officeDocument/2006/relationships/hyperlink" Target="https://icilome.com/2026/10/pourquoi-obeir-encore/" TargetMode="External"/><Relationship Id="rId4" Type="http://schemas.openxmlformats.org/officeDocument/2006/relationships/hyperlink" Target="https://24heureinfo.com/sante/avc-au-togo-les-conseils-du-pr-mofou-belo/"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www.alwihdainfo.com/securite-au-benin-le-msec-dresse-son-bilan-et-trace-son-cap-pour-les-trois-prochaines-annees/" TargetMode="External"/><Relationship Id="rId3" Type="http://schemas.openxmlformats.org/officeDocument/2006/relationships/hyperlink" Target="https://www.alwihdainfo.com/securite-au-benin-le-msec-dresse-son-bilan-et-trace-son-cap-pour-les-trois-prochaines-annees/" TargetMode="External"/><Relationship Id="rId4" Type="http://schemas.openxmlformats.org/officeDocument/2006/relationships/hyperlink" Target="https://www.alwihdainfo.com/securite-au-benin-le-msec-dresse-son-bilan-et-trace-son-cap-pour-les-trois-prochaines-annees/" TargetMode="External"/><Relationship Id="rId2" Type="http://schemas.openxmlformats.org/officeDocument/2006/relationships/image" Target="../media/image-31-1.jpe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thesun.ng/nuee-threatens-nationwide-shutdown-demands-withdrawal-of-soldiers-from-bedc-hqtrs/"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www.guinee7.com/2026/10/28/semaine-du-soldat-2026-les-forces-de-securite-a-lassaut-des-dechets-a-madina/" TargetMode="External"/><Relationship Id="rId3" Type="http://schemas.openxmlformats.org/officeDocument/2006/relationships/hyperlink" Target="https://www.guinee7.com/2026/10/28/semaine-du-soldat-2026-les-forces-de-securite-a-lassaut-des-dechets-a-madina/" TargetMode="External"/><Relationship Id="rId4" Type="http://schemas.openxmlformats.org/officeDocument/2006/relationships/hyperlink" Target="https://www.guinee7.com/2026/10/28/semaine-du-soldat-2026-les-forces-de-securite-a-lassaut-des-dechets-a-madina/" TargetMode="External"/><Relationship Id="rId2" Type="http://schemas.openxmlformats.org/officeDocument/2006/relationships/image" Target="../media/image-33-1.jpe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www.guinee7.com/2026/10/28/faranah-la-colere-eclate-apres-la-mort-dun-etudiant-de-lisav-la-direction-apporte-des-precisions/" TargetMode="External"/><Relationship Id="rId2" Type="http://schemas.openxmlformats.org/officeDocument/2006/relationships/hyperlink" Target="https://www.guinee7.com/2026/10/25/mort-mysterieuse-de-souleymane-toure-sa-mere-et-sa-soeur-veulent-toute-la-verite/" TargetMode="External"/><Relationship Id="rId3" Type="http://schemas.openxmlformats.org/officeDocument/2006/relationships/hyperlink" Target="https://guineematin.com/2026/10/30/boubacar-yacine-diallo-alerte-si-nous-ny-prenons-pas-garde-la-presse-traditionnelle-risque-de-succomber-et-de-devenir-la-risee-du-public/?utm_source=rss&amp;utm_medium=rss&amp;utm_campaign=boubacar-yacine-diallo-alerte-si-nous-ny-prenons-pas-garde-la-presse-traditionnelle-risque-de-succomber-et-de-devenir-la-risee-du-public" TargetMode="External"/><Relationship Id="rId4" Type="http://schemas.openxmlformats.org/officeDocument/2006/relationships/hyperlink" Target="https://www.guinee7.com/2026/10/30/nous-sommes-prets-a-partir-mais-le-plaidoyer-des-vendeurs-de-betail-de-tombolia/" TargetMode="External"/><Relationship Id="rId5" Type="http://schemas.openxmlformats.org/officeDocument/2006/relationships/hyperlink" Target="https://guineematin.com/2026/10/28/kindia-une-femme-de-68-ans-meurt-dans-un-incendie-a-kenende/?utm_source=rss&amp;utm_medium=rss&amp;utm_campaign=kindia-une-femme-de-68-ans-meurt-dans-un-incendie-a-kenende" TargetMode="External"/><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guineematin.com/2026/10/26/insecurite-a-labe-le-journaliste-boubacar-garki-diallo-victime-de-cambriolage-ses-equipements-de-travail-emporte-par-les-malfaiteurs/?utm_source=rss&amp;utm_medium=rss&amp;utm_campaign=insecurite-a-labe-le-journaliste-boubacar-garki-diallo-victime-de-cambriolage-ses-equipements-de-travail-emporte-par-les-malfaiteurs" TargetMode="External"/><Relationship Id="rId2" Type="http://schemas.openxmlformats.org/officeDocument/2006/relationships/hyperlink" Target="https://www.guinee7.com/2026/10/26/mairie-de-dixinn-pourquoi-les-femmes-balayeuses-ont-renonce-a-leur-manifestation/" TargetMode="External"/><Relationship Id="rId3" Type="http://schemas.openxmlformats.org/officeDocument/2006/relationships/hyperlink" Target="https://guineematin.com/2026/10/26/appel-a-manifestation-dinteret-pour-les-services-de-consultants-locaux-en-audit/?utm_source=rss&amp;utm_medium=rss&amp;utm_campaign=appel-a-manifestation-dinteret-pour-les-services-de-consultants-locaux-en-audit" TargetMode="External"/><Relationship Id="rId4" Type="http://schemas.openxmlformats.org/officeDocument/2006/relationships/hyperlink" Target="https://guineematin.com/2026/10/26/kankan-un-incendie-cause-dimportants-degats-au-quartier-bordo/?utm_source=rss&amp;utm_medium=rss&amp;utm_campaign=kankan-un-incendie-cause-dimportants-degats-au-quartier-bordo" TargetMode="External"/><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frontpageafricaonline.com/liberia-former-nsa-official-jallah-seeks-new-trail-after-conviction-for-statutory-rape-and-kidnapping/" TargetMode="Externa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frontpageafricaonline.com/liberia-dolphin-killed-butchered-before-nafaa-rescue-team-arrived/" TargetMode="External"/><Relationship Id="rId2" Type="http://schemas.openxmlformats.org/officeDocument/2006/relationships/hyperlink" Target="https://frontpageafricaonline.com/liberia-judge-cites-evidence-in-finding-nsa-staff-peter-bon-jallah-guilty-of-statutory-rape-kidnapping/" TargetMode="External"/><Relationship Id="rId3" Type="http://schemas.openxmlformats.org/officeDocument/2006/relationships/hyperlink" Target="https://frontpageafricaonline.com/liberia-war-victims-survivors-protest-at-court-office-capitol-as-house-chairman-pledges-to-put-court-bill-before-plenary-tuesday/" TargetMode="External"/><Relationship Id="rId4" Type="http://schemas.openxmlformats.org/officeDocument/2006/relationships/hyperlink" Target="https://gnnliberia.com/rev-father-anthony-adds-youth-empowerment-to-his-apostolate/" TargetMode="External"/><Relationship Id="rId5" Type="http://schemas.openxmlformats.org/officeDocument/2006/relationships/hyperlink" Target="https://gnnliberia.com/liberia-calls-for-womens-meaningful-participation-from-peace-negotiations-to-implementation/" TargetMode="External"/><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frontpageafricaonline.com/liberia-launches-road-to-un-security-council-presidency-foreign-minister-nyanti-highlights-nations-historic-journey-from-sanctions-to-global-leadership/" TargetMode="External"/><Relationship Id="rId2" Type="http://schemas.openxmlformats.org/officeDocument/2006/relationships/hyperlink" Target="https://frontpageafricaonline.com/liberia-inside-the-defense-bid-to-overturn-the-peter-bon-jallah-conviction/" TargetMode="External"/><Relationship Id="rId3" Type="http://schemas.openxmlformats.org/officeDocument/2006/relationships/hyperlink" Target="https://frontpageafricaonline.com/a-former-security-chiefs-vision-for-liberias-immigration-service-finally-plays/" TargetMode="External"/><Relationship Id="rId4" Type="http://schemas.openxmlformats.org/officeDocument/2006/relationships/hyperlink" Target="https://gnnliberia.com/liberia-imposes-21-day-isolation-and-monitoring-rules-for-travelers-amid-regional-ebola-threat/" TargetMode="External"/><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www.seneweb.com/fr/news/International/drame-en-italie-un-couple-senegalais-retrouve-mort-leur-bebe-de-7-mois-entre-les-mains-des-medecins_n_999002255.html" TargetMode="External"/><Relationship Id="rId3" Type="http://schemas.openxmlformats.org/officeDocument/2006/relationships/hyperlink" Target="https://www.seneweb.com/fr/news/International/drame-en-italie-un-couple-senegalais-retrouve-mort-leur-bebe-de-7-mois-entre-les-mains-des-medecins_n_999002255.html" TargetMode="External"/><Relationship Id="rId4" Type="http://schemas.openxmlformats.org/officeDocument/2006/relationships/hyperlink" Target="https://www.seneweb.com/fr/news/International/drame-en-italie-un-couple-senegalais-retrouve-mort-leur-bebe-de-7-mois-entre-les-mains-des-medecins_n_999002255.html" TargetMode="External"/><Relationship Id="rId2" Type="http://schemas.openxmlformats.org/officeDocument/2006/relationships/image" Target="../media/image-39-1.jpe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www.pressafrik.com/Mort-de-Fallou-Sene-a-l-UGB-le-gendarme-reconnait-avoir-ouvert-le-feu-sur-les-manifestants1an-ferme-requis-devant-le_a313835.html" TargetMode="External"/><Relationship Id="rId2" Type="http://schemas.openxmlformats.org/officeDocument/2006/relationships/hyperlink" Target="https://www.senenews.com/actualites/un-enfant-de-3-ans-tue-par-un-bus-le-recit-poignant-dun-temoin-video_604686.html" TargetMode="External"/><Relationship Id="rId3" Type="http://schemas.openxmlformats.org/officeDocument/2006/relationships/hyperlink" Target="https://www.senenews.com/actualites/kaolack-un-homme-de-76-ans-retrouve-mort-en-etat-de-decomposition-a-son-domicile_604680.html" TargetMode="External"/><Relationship Id="rId4" Type="http://schemas.openxmlformats.org/officeDocument/2006/relationships/hyperlink" Target="https://www.dakaractu.com/Cisjordanie-occupee-l-operation-israelienne-se-poursuit-a-Hebron-5000-personnes-sans-domicile_a277627.html" TargetMode="External"/><Relationship Id="rId5" Type="http://schemas.openxmlformats.org/officeDocument/2006/relationships/hyperlink" Target="https://www.senenews.com/justice/mort-de-fallou-sene-a-lugb-huit-ans-apres-le-proces-souvre-devant-le-tribunal-militaire_604672.html" TargetMode="External"/><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hyperlink" Target="https://www.senenews.com/actualites/il-faut-arreter-ousmane-sonko-arona-diouf-invoque-les-var-et-contre-attaque_604667.html" TargetMode="External"/><Relationship Id="rId2" Type="http://schemas.openxmlformats.org/officeDocument/2006/relationships/hyperlink" Target="https://www.seneweb.com/fr/news/Video/imposture-politique-balla-fofana-fofana-attaque-sonko_n_999002155.html" TargetMode="External"/><Relationship Id="rId3" Type="http://schemas.openxmlformats.org/officeDocument/2006/relationships/hyperlink" Target="https://www.seneweb.com/fr/news/Societe/ngor-un-client-du-bar-restaurant-timis-defere-pour-tentative-de-meurtre-avec-un-pieu-en-bois_n_999002108.html" TargetMode="External"/><Relationship Id="rId4" Type="http://schemas.openxmlformats.org/officeDocument/2006/relationships/hyperlink" Target="https://www.dakaractu.com/Le-suspect-de-l-attentat-de-Trappes-reconnait-avoir-cible-des-personnes-musulmanes-ou-d-origine-africaine_a277600.html" TargetMode="External"/><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runner/work/SentiqS/SentiqS/scripts/assets/grsci/couverture-abidjan.jpg">    </p:cNvPr>
          <p:cNvPicPr>
            <a:picLocks noChangeAspect="1"/>
          </p:cNvPicPr>
          <p:nvPr/>
        </p:nvPicPr>
        <p:blipFill>
          <a:blip r:embed="rId1"/>
          <a:stretch>
            <a:fillRect/>
          </a:stretch>
        </p:blipFill>
        <p:spPr>
          <a:xfrm>
            <a:off x="182880" y="91440"/>
            <a:ext cx="11795760" cy="5852160"/>
          </a:xfrm>
          <a:prstGeom prst="rect">
            <a:avLst/>
          </a:prstGeom>
        </p:spPr>
      </p:pic>
      <p:sp>
        <p:nvSpPr>
          <p:cNvPr id="3" name="Text 0"/>
          <p:cNvSpPr/>
          <p:nvPr/>
        </p:nvSpPr>
        <p:spPr>
          <a:xfrm>
            <a:off x="2286000" y="228600"/>
            <a:ext cx="7589520" cy="128016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4400" dirty="0">
                <a:solidFill>
                  <a:srgbClr val="FFFFFF"/>
                </a:solidFill>
                <a:latin typeface="Arial Narrow" pitchFamily="34" charset="0"/>
                <a:ea typeface="Arial Narrow" pitchFamily="34" charset="-122"/>
                <a:cs typeface="Arial Narrow" pitchFamily="34" charset="-120"/>
              </a:rPr>
              <a:t>RAPPORT MENSUEL</a:t>
            </a:r>
            <a:endParaRPr lang="en-US" sz="4400" dirty="0"/>
          </a:p>
          <a:p>
            <a:pPr algn="ctr" indent="0" marL="0">
              <a:buNone/>
            </a:pPr>
            <a:r>
              <a:rPr lang="en-US" sz="4400" dirty="0">
                <a:solidFill>
                  <a:srgbClr val="FFFFFF"/>
                </a:solidFill>
                <a:latin typeface="Arial Narrow" pitchFamily="34" charset="0"/>
                <a:ea typeface="Arial Narrow" pitchFamily="34" charset="-122"/>
                <a:cs typeface="Arial Narrow" pitchFamily="34" charset="-120"/>
              </a:rPr>
              <a:t>DE SÛRETÉ</a:t>
            </a:r>
            <a:endParaRPr lang="en-US" sz="4400" dirty="0"/>
          </a:p>
        </p:txBody>
      </p:sp>
      <p:sp>
        <p:nvSpPr>
          <p:cNvPr id="4" name="Shape 1"/>
          <p:cNvSpPr/>
          <p:nvPr/>
        </p:nvSpPr>
        <p:spPr>
          <a:xfrm>
            <a:off x="3200400" y="1600200"/>
            <a:ext cx="5760720" cy="0"/>
          </a:xfrm>
          <a:prstGeom prst="line">
            <a:avLst/>
          </a:prstGeom>
          <a:noFill/>
          <a:ln w="38100">
            <a:solidFill>
              <a:srgbClr val="000000"/>
            </a:solidFill>
            <a:prstDash val="solid"/>
          </a:ln>
        </p:spPr>
      </p:sp>
      <p:sp>
        <p:nvSpPr>
          <p:cNvPr id="5" name="Text 2"/>
          <p:cNvSpPr/>
          <p:nvPr/>
        </p:nvSpPr>
        <p:spPr>
          <a:xfrm>
            <a:off x="2286000" y="1691640"/>
            <a:ext cx="7589520" cy="50292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SentiqS</a:t>
            </a:r>
            <a:endParaRPr lang="en-US" sz="2400" dirty="0"/>
          </a:p>
        </p:txBody>
      </p:sp>
      <p:sp>
        <p:nvSpPr>
          <p:cNvPr id="6" name="Text 3"/>
          <p:cNvSpPr/>
          <p:nvPr/>
        </p:nvSpPr>
        <p:spPr>
          <a:xfrm>
            <a:off x="7589520" y="5074920"/>
            <a:ext cx="4297680" cy="365760"/>
          </a:xfrm>
          <a:prstGeom prst="rect">
            <a:avLst/>
          </a:prstGeom>
          <a:noFill/>
          <a:ln/>
        </p:spPr>
        <p:txBody>
          <a:bodyPr wrap="square" rtlCol="0" anchor="ctr"/>
          <a:lstStyle/>
          <a:p>
            <a:pPr algn="r" indent="0" marL="0">
              <a:buNone/>
            </a:pPr>
            <a:r>
              <a:rPr lang="en-US" sz="2000" b="1" dirty="0">
                <a:solidFill>
                  <a:srgbClr val="FFFFFF"/>
                </a:solidFill>
                <a:latin typeface="Calibri" pitchFamily="34" charset="0"/>
                <a:ea typeface="Calibri" pitchFamily="34" charset="-122"/>
                <a:cs typeface="Calibri" pitchFamily="34" charset="-120"/>
              </a:rPr>
              <a:t>31 OCTOBRE 2026</a:t>
            </a:r>
            <a:endParaRPr lang="en-US" sz="2000" dirty="0"/>
          </a:p>
        </p:txBody>
      </p:sp>
      <p:sp>
        <p:nvSpPr>
          <p:cNvPr id="7" name="Text 4"/>
          <p:cNvSpPr/>
          <p:nvPr/>
        </p:nvSpPr>
        <p:spPr>
          <a:xfrm>
            <a:off x="5760720" y="5486400"/>
            <a:ext cx="6126480" cy="320040"/>
          </a:xfrm>
          <a:prstGeom prst="rect">
            <a:avLst/>
          </a:prstGeom>
          <a:noFill/>
          <a:ln/>
          <a:effectLst>
            <a:outerShdw sx="100000" sy="100000" kx="0" ky="0" algn="bl" rotWithShape="0" blurRad="50800" dist="12700" dir="2700000">
              <a:srgbClr val="000000">
                <a:alpha val="70000"/>
              </a:srgbClr>
            </a:outerShdw>
          </a:effectLst>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Période du 1er au 31 octobre 2026</a:t>
            </a:r>
            <a:endParaRPr lang="en-US" sz="1400" dirty="0"/>
          </a:p>
        </p:txBody>
      </p:sp>
      <p:pic>
        <p:nvPicPr>
          <p:cNvPr id="8" name="Image 1" descr="/home/runner/work/SentiqS/SentiqS/scripts/assets/grsci/afrique.png">    </p:cNvPr>
          <p:cNvPicPr>
            <a:picLocks noChangeAspect="1"/>
          </p:cNvPicPr>
          <p:nvPr/>
        </p:nvPicPr>
        <p:blipFill>
          <a:blip r:embed="rId2"/>
          <a:stretch>
            <a:fillRect/>
          </a:stretch>
        </p:blipFill>
        <p:spPr>
          <a:xfrm>
            <a:off x="9235440" y="6172200"/>
            <a:ext cx="548640" cy="548640"/>
          </a:xfrm>
          <a:prstGeom prst="rect">
            <a:avLst/>
          </a:prstGeom>
        </p:spPr>
      </p:pic>
      <p:sp>
        <p:nvSpPr>
          <p:cNvPr id="9" name="Text 5"/>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6"/>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0</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TABLE DES MATIÈRES</a:t>
            </a:r>
            <a:endParaRPr lang="en-US" sz="2800" dirty="0"/>
          </a:p>
        </p:txBody>
      </p:sp>
      <p:sp>
        <p:nvSpPr>
          <p:cNvPr id="4" name="Shape 2"/>
          <p:cNvSpPr/>
          <p:nvPr/>
        </p:nvSpPr>
        <p:spPr>
          <a:xfrm>
            <a:off x="457200" y="960120"/>
            <a:ext cx="11292840" cy="0"/>
          </a:xfrm>
          <a:prstGeom prst="line">
            <a:avLst/>
          </a:prstGeom>
          <a:noFill/>
          <a:ln w="6350">
            <a:solidFill>
              <a:srgbClr val="A3A3A3"/>
            </a:solidFill>
            <a:prstDash val="solid"/>
          </a:ln>
        </p:spPr>
      </p:sp>
      <p:sp>
        <p:nvSpPr>
          <p:cNvPr id="5" name="Shape 3"/>
          <p:cNvSpPr/>
          <p:nvPr/>
        </p:nvSpPr>
        <p:spPr>
          <a:xfrm>
            <a:off x="457200" y="1143000"/>
            <a:ext cx="5532120" cy="4754880"/>
          </a:xfrm>
          <a:prstGeom prst="rect">
            <a:avLst/>
          </a:prstGeom>
          <a:solidFill>
            <a:srgbClr val="FFFFFF"/>
          </a:solidFill>
          <a:ln w="9525">
            <a:solidFill>
              <a:srgbClr val="1F2937"/>
            </a:solidFill>
            <a:prstDash val="solid"/>
          </a:ln>
        </p:spPr>
      </p:sp>
      <p:sp>
        <p:nvSpPr>
          <p:cNvPr id="6" name="Text 4"/>
          <p:cNvSpPr/>
          <p:nvPr/>
        </p:nvSpPr>
        <p:spPr>
          <a:xfrm>
            <a:off x="45720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FAITS MARQUANTS EN CÔTE D'IVOIRE</a:t>
            </a:r>
            <a:endParaRPr lang="en-US" sz="1500" dirty="0"/>
          </a:p>
        </p:txBody>
      </p:sp>
      <p:sp>
        <p:nvSpPr>
          <p:cNvPr id="7" name="Text 5"/>
          <p:cNvSpPr/>
          <p:nvPr/>
        </p:nvSpPr>
        <p:spPr>
          <a:xfrm>
            <a:off x="64008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POLITIQUE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AFFAIRE ‘’FABIENNE TUÉE PAR SON COPAIN À DALOA’’ : PLUSIEURS VÉHICULES DÉBARQUENT…</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DALOA : LA BELLE FABIENNE LÂCHEMENT TUÉE PAR SON COPAIN BOULANGER SUR LA BASE DE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TENSIONS PERMANENTES ENTRE LE DISTRICT AUTONOME D’ABIDJAN ET LES MAIRIES : LE CPC…</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PROJETS DE SA MANDATURE: LE PRÉSIDENT SORTANT DE LA JCI ÉMERAUDE DRESSE UN BILAN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GUIGLO : ETOUFFÉES PAR LA FLAMBÉE DES PRIX, LES VENDEUSES DE POISSONS EN GRÈVE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LE CANCER DU SEIN : LINFODROME COMBAT LES RUMEURS ET SENSIBILISE LES…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SOCIAL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SOUPÇONNÉ D’INFIDÉLITÉ, IL TUE SA COMPAGNE DE 26 ANS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UN ENSEMBLE D'ÉQUIPEMENTS DE 6 MILLIARDS FCFA POUR LUTTER CONTRE 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L'ORPAILLAGE ILLÉGAL À KORHOGO - ASSAHORÉ KONAN VEUT SANCTIONNER TOU…</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POMMES, BANANES, KIWIS : CETTE ERREUR DE RANGEMENT FAIT MÛRIR VOS FRUITS BEAUCOUP…</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GASPILLAGE ALIMENTAIRE - LE CCESP PLAIDE POUR UN PACTE NATIONAL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BOUNA : LES VICTIMES D’ACCIDENTS DE LA ROUTE POURRONT DÉSORMAIS PRISES EN CHARGE …</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SÉCURITÉ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ALASSANE OUATTARA À L’OMC : LA CÔTE D’IVOIRE EST « ENTOURÉE DE PAYS QUI ONT DES D…</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GESTION DES CARRIÈRES PUBLIQUES : OUATTARA PREND UNE DÉCISION - UN HOMME SE JETTE…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BOUAKÉ : LE DGPN LANCE L'OPÉRATION EPERVIER 12 POUR DÉMANTELER LES RÉSEAUX CRIMINELS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LA CÔTE D’IVOIRE EXPOSÉE À UN NOUVEAU CORRIDOR DJIHADISTE / LES VENDEUSES DE POIS…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 DES GRANDES INSTITUTIONS À L’ARMÉE, ALASSANE OUATTARA SONNE L’HEU…</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ABIDJAN - CAP VERS UNE COOPÉRATION MILITAIRE BILATÉRALE</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DIVERS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 UNE HISTOIRE DE « RED FLAG » VIRE AU MEURTRE, LE SUSPECT PASSE AU…</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GONZAGUEVILLE : ELLE LUI REFUSE LE SEXE, IL LA TUE ET JETTE SON CORPS DANS UNE DÉ…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AVANT LA GRANDE MARCHE DU 24 COCTOBRE ; EMMANUEL MACRON FACE UN ATTENTAT</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 LES JEUNES DES PAYS VOISINS SONT ENCORE TRÈS NOMBREUX EN CÔTE D'IVOIRE » (ALASS…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DU POISSON EN CÔTE D'IVOIRE - L'INTERPROFESSION PÊCHE SALUE LES MESURES GOUV…</a:t>
            </a:r>
            <a:endParaRPr lang="en-US" sz="900" dirty="0"/>
          </a:p>
        </p:txBody>
      </p:sp>
      <p:sp>
        <p:nvSpPr>
          <p:cNvPr id="8" name="Shape 6"/>
          <p:cNvSpPr/>
          <p:nvPr/>
        </p:nvSpPr>
        <p:spPr>
          <a:xfrm>
            <a:off x="6217920" y="1143000"/>
            <a:ext cx="5532120" cy="4754880"/>
          </a:xfrm>
          <a:prstGeom prst="rect">
            <a:avLst/>
          </a:prstGeom>
          <a:solidFill>
            <a:srgbClr val="FFFFFF"/>
          </a:solidFill>
          <a:ln w="9525">
            <a:solidFill>
              <a:srgbClr val="1F2937"/>
            </a:solidFill>
            <a:prstDash val="solid"/>
          </a:ln>
        </p:spPr>
      </p:sp>
      <p:sp>
        <p:nvSpPr>
          <p:cNvPr id="9" name="Text 7"/>
          <p:cNvSpPr/>
          <p:nvPr/>
        </p:nvSpPr>
        <p:spPr>
          <a:xfrm>
            <a:off x="621792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DYNAMIQUES SOUS-RÉGIONALES</a:t>
            </a:r>
            <a:endParaRPr lang="en-US" sz="1500" dirty="0"/>
          </a:p>
        </p:txBody>
      </p:sp>
      <p:sp>
        <p:nvSpPr>
          <p:cNvPr id="10" name="Text 8"/>
          <p:cNvSpPr/>
          <p:nvPr/>
        </p:nvSpPr>
        <p:spPr>
          <a:xfrm>
            <a:off x="640080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BURKINA FASO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KANGABA : SIX (6) MORTS DANS L’ÉBOULEMENT D’UN PUIT MINIER À NOUGA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MALI</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GAO : TAMY MOUDARY TOURÉ, ACTEUR DU DÉVELOPPEMENT LOCAL, TOUJOURS PORTÉ DISPARU</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NIGER</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NIGER-TCHAD, LE JEU DANGEREUX DE DÉBY KAKA…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GHANA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UN APPEL AU SOUTIEN ET À LA SOLIDARITÉ AVEC LES MINISTRES DE LA RÉGION DE LA VOLT…</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TOGO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TOGO: LA COUR DE JUSTICE DE LA CEDEAO EXIGE L’ÉXÉCUTION DE SON ARRÊT DU 29 JANVIER</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BÉNIN</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SÉCURITÉ AU BÉNIN : LE MSEC DRESSE SON BILAN ET TRACE SON CAP POUR LES TROIS PROC…</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GUINÉE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SEMAINE DU SOLDAT 2026 : LES FORCES DE SÉCURITÉ À L’ASSAUT DES DÉCHETS À MADINA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LIBERIA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LIBÉRIA : UN ANCIEN RESPONSABLE DE LA NSA, JALLAH, CHERCHE UNE NOUVELLE PISTE APR…</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SÉNÉGAL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DRAME EN ITALIE : UN COUPLE SÉNÉGALAIS RETROUVÉ MORT, LEUR BÉBÉ DE 7 MOIS ENTRE L…</a:t>
            </a:r>
            <a:endParaRPr lang="en-US" sz="9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carte-ci.jp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FAITS MARQUANTS EN CÔTE D'IVOIRE</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1371600" y="5074920"/>
            <a:ext cx="9418320" cy="640080"/>
          </a:xfrm>
          <a:prstGeom prst="rect">
            <a:avLst/>
          </a:prstGeom>
          <a:noFill/>
          <a:ln/>
        </p:spPr>
        <p:txBody>
          <a:bodyPr wrap="square" rtlCol="0" anchor="ctr"/>
          <a:lstStyle/>
          <a:p>
            <a:pPr algn="ctr" indent="0" marL="0">
              <a:buNone/>
            </a:pPr>
            <a:r>
              <a:rPr lang="en-US" sz="1100" i="1" dirty="0">
                <a:solidFill>
                  <a:srgbClr val="333333"/>
                </a:solidFill>
                <a:latin typeface="Calibri" pitchFamily="34" charset="0"/>
                <a:ea typeface="Calibri" pitchFamily="34" charset="-122"/>
                <a:cs typeface="Calibri" pitchFamily="34" charset="-120"/>
              </a:rPr>
              <a:t>Faits marquants : textes établis à partir des médias cités, dont les chapôs sont reproduits entre guillemets. Les « enjeux sûreté » sont des repères par type d'événement, à valider et compléter par l'analyste.</a:t>
            </a:r>
            <a:endParaRPr lang="en-US" sz="1100" dirty="0"/>
          </a:p>
        </p:txBody>
      </p:sp>
      <p:sp>
        <p:nvSpPr>
          <p:cNvPr id="6" name="Text 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7" name="Text 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Affaire ‘’Fabienne tuée par son copain à Daloa’’ : Plusieurs véhicules débarquent de son village natal</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Daloa,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Linfodrome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A l’annonce du décès tragique de D. Lou Fabienne, un convoi de plusieurs véhicules parti de Bahoulifla, village natal de la victime, a débarqué au quartier Kennedy 2 de Daloa, où le drame s’est produit.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16 h UTC   ·   Cotation : Probable</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Daloa : La belle Fabienne lâchement tuée par son copain boulanger sur la base de simples soupçons d’infidélité</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Daloa,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Linfodrome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 drame conjugal sur fond de jalousie a plongé le quartier Kennedy 2 de Daloa dans la consternation. Dans la nuit du mardi 27 au mercredi 28 octobre 2026, D. Lou Fabienne, dite « Fabi », une gérante de maquis âgée de 26 ans, a perdu la vie à la suite d’une violente dispute avec son compagnon, S. Arthur, boulanger, lui aussi âgé de 26 ans.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8 h UTC   ·   Cotation : Probable</a:t>
            </a:r>
            <a:endParaRPr lang="en-US" sz="14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TENSIONS PERMANENTES ENTRE LE DISTRICT AUTONOME D’ABIDJAN ET LES MAIRIES : LE CPC EST-IL BEL ET BIEN MORT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PROJETS DE SA MANDATURE: LE PRÉSIDENT SORTANT DE LA JCI ÉMERAUDE DRESSE UN BILAN DE 95% DE TAUX D’EXÉCUTION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GUIGLO : ETOUFFÉES PAR LA FLAMBÉE DES PRIX, LES VENDEUSES DE POISSONS EN GRÈVE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CANCER DU SEIN : LINFODROME COMBAT LES RUMEURS ET SENSIBILISE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CRISE AU SEIN DU PDCI/RDA - « L'ÉLÉPHANT » SE CASSERA-T-IL UNE DEUXIÈME PATTE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9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BIENNALE INTERNATIONALE DES ARTS D’ABIDJAN : AUGUSTIN KASSI (PROMOTEUR) APPELLE À UNE MOBILISATION COLLECTIVE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EN 2025, LE DÉFICIT BUDGÉTAIRE DE L’ÉTAT A ATTEINT 2 208 MILLIARDS DE FCFA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OCTOBRE ROSE : ARIEL SHENEY SUR TOUS LES FRONTS APRÈS UNE ÉPREUVE PERSONNELLE LIÉE AU DÉCÈS DE SON ÉPOUSE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Soupçonné d’infidélité, il tue sa compagne de 26 ans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29 octobre 2026. Lieu : Daloa, Côte d'Ivoire. Actualité sociale. Une seule source à ce stade (Wakat Sera)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Wakat Sera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Une jeune femme de 26 ans a été retrouvée morte à son domicile, le mercredi 28 octobre 2026, au quartier Kennedy 2 de Daloa, en Côte d’Ivoire.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Contexte social à suivre : incidence possible sur l'activité, la circulation et l'environnement des sites.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29 octobre 2026, 11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8473059" y="2075688"/>
            <a:ext cx="2439162" cy="3657600"/>
          </a:xfrm>
          <a:prstGeom prst="rect">
            <a:avLst/>
          </a:prstGeom>
        </p:spPr>
      </p:pic>
      <p:sp>
        <p:nvSpPr>
          <p:cNvPr id="13" name="Text 10"/>
          <p:cNvSpPr/>
          <p:nvPr/>
        </p:nvSpPr>
        <p:spPr>
          <a:xfrm>
            <a:off x="7635240" y="576986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wakatsera.com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UN ENSEMBLE D'ÉQUIPEMENTS DE 6 MILLIARDS FCFA POUR LUTTER CONTRE LA FIÈVRE JAUNE ET ÉBOLA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23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L'ORPAILLAGE ILLÉGAL À KORHOGO - ASSAHORÉ KONAN VEUT SANCTIONNER TOUTES LES COMPLICITÉS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POMMES, BANANES, KIWIS : CETTE ERREUR DE RANGEMENT FAIT MÛRIR VOS FRUITS BEAUCOUP TROP VITE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GASPILLAGE ALIMENTAIRE - LE CCESP PLAIDE POUR UN PACTE NATIONAL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BOUNA : LES VICTIMES D’ACCIDENTS DE LA ROUTE POURRONT DÉSORMAIS PRISES EN CHARGE GRATUITEMENT AUX URGENCES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LE GOUVERNEMENT MISE SUR LA PONADEPA II POUR ATTEINDRE LA SOUVERAINETÉ ALIMENTAIRE D'ICI 2030</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GASPILLAGE ALIMENTAIRE : LE COMITÉ DE CONCERTATION ÉTAT-SECTEUR PRIVÉ PRÉCONISE UN CADRE NATIONAL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HAUSSE DES PRIX DU POISSON : ASSALÉ TIÉMOKO RÉVÈLE UNE DÉPENDANCE DE LA CÔTE D’IVOIRE À 88,8 % AUX IMPORTATIONS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DANANÉ/CHIRURGIE HUMANITAIRE - 134 PATIENTS OPÉRÉS GRATUITEMENT, DONT 114 POUR UNE HERNIE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17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ALASSANE OUATTARA À L’OMC : LA CÔTE D’IVOIRE EST « ENTOURÉE DE PAYS QUI ONT DES DIFFICULTÉS…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GESTION DES CARRIÈRES PUBLIQUES : OUATTARA PREND UNE DÉCISION - UN HOMME SE JETTE DU 4E ÉTAGE ET MEURT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BOUAKÉ : LE DGPN LANCE L'OPÉRATION EPERVIER 12 POUR DÉMANTELER LES RÉSEAUX CRIMINELS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21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CÔTE D’IVOIRE EXPOSÉE À UN NOUVEAU CORRIDOR DJIHADISTE / LES VENDEUSES DE POISSON « ROULÉES DANS LA FARINE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DES GRANDES INSTITUTIONS À L’ARMÉE, ALASSANE OUATTARA SONNE L’HEURE DE LA RETRAITE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ABIDJAN - CAP VERS UNE COOPÉRATION MILITAIRE BILATÉRALE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3ÈME FORUM FRONTIÈRES D'ABIDJAN : LA REPRÉSENTATION PERMANENTE DE LA CEDEAO AUPRÈS DE L'UNION AFRICAINE S'ENGAGE POUR UNE GOUVERNANCE DES FRONTIÈRES CENTRÉE SUR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CEDEAO — Communiques officiels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CHARNIER DE YOPOUGON : 26 ANS APRÈS, AMADOU COULIBALY OPPOSE LES VIOLENCES DU PASSÉ À L’ÈRE OUATTARA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NATIONAL D'EXCELLENCE 2026 - RAPHAËL DIAMALA KOUASSI HISSE M'BAHIAKRO SUR LE PODIUM DES MEILLEURS MAIRES DU PAYS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INTERPOL RENFORCE LES CAPACITÉS DES ENQUÊTEURS IVOIRIENS POUR TRAQUER LES AVOIRS DES CRIMINELS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Côte d’Ivoire : une histoire de « red flag » vire au meurtre, le suspect passe aux aveux</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30 octobre 2026. Lieu : Côte d'Ivoire. Actualité économique. Une seule source à ce stade (togoscoop.tg)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togoscoop.tg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Retrouvée morte dans une décharge d’ordures ménagères à Gonzagueville, dans la commune de Port-Bouët, le 4 septembre 2026, une jeune fille de 18 ans a été victime d’un meurtre présumé dont les circonstances suscitent une vive indignation.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Incidence possible sur l'environnement des affaires, les approvisionnements et la sûreté des opérations.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togoscoop.tg</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30 octobre 2026, 12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8143926" y="2075688"/>
            <a:ext cx="3097427" cy="3657600"/>
          </a:xfrm>
          <a:prstGeom prst="rect">
            <a:avLst/>
          </a:prstGeom>
        </p:spPr>
      </p:pic>
      <p:sp>
        <p:nvSpPr>
          <p:cNvPr id="13" name="Text 10"/>
          <p:cNvSpPr/>
          <p:nvPr/>
        </p:nvSpPr>
        <p:spPr>
          <a:xfrm>
            <a:off x="7635240" y="576986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togoscoop.tg</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GONZAGUEVILLE : ELLE LUI REFUSE LE SEXE, IL LA TUE ET JETTE SON CORPS DANS UNE DÉCHARGE D'ORDURES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AVANT LA GRANDE MARCHE DU 24 COCTOBRE ; EMMANUEL MACRON FACE UN ATTENTAT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 LES JEUNES DES PAYS VOISINS SONT ENCORE TRÈS NOMBREUX EN CÔTE D'IVOIRE » (ALASSANE OUATTARA)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DU POISSON EN CÔTE D'IVOIRE - L'INTERPROFESSION PÊCHE SALUE LES MESURES GOUVERNEMENTALES ET PROMET DE NOUVELLES BAISSES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afrique.pn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DYNAMIQUES RÉGIONALES</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6" name="Text 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 : situation Fin octobre</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9" name="Text 7"/>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Kangaba : six (6) morts dans l’éboulement d’un puit minier à Nouga</a:t>
            </a:r>
            <a:endParaRPr lang="en-US" sz="2200" dirty="0"/>
          </a:p>
        </p:txBody>
      </p:sp>
      <p:sp>
        <p:nvSpPr>
          <p:cNvPr id="10" name="Text 8"/>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Contexte</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Fait rapporté le vendredi 30 octobre 2026. Lieu : Burkina Faso. Actualité sécuritaire. Une seule source à ce stade (AMAP — Agence Malienne Presse) : à confirmer par un second média.</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Ce que rapportent les sources</a:t>
            </a:r>
            <a:endParaRPr lang="en-US" sz="1300" dirty="0"/>
          </a:p>
          <a:p>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AMAP — Agence Malienne Presse : </a:t>
            </a:r>
            <a:pPr indent="0" marL="0">
              <a:spcAft>
                <a:spcPts val="300"/>
              </a:spcAft>
              <a:buNone/>
            </a:pPr>
            <a:r>
              <a:rPr lang="en-US" sz="1300" i="1" dirty="0">
                <a:solidFill>
                  <a:srgbClr val="1F2937"/>
                </a:solidFill>
                <a:latin typeface="Calibri" pitchFamily="34" charset="0"/>
                <a:ea typeface="Calibri" pitchFamily="34" charset="-122"/>
                <a:cs typeface="Calibri" pitchFamily="34" charset="-120"/>
              </a:rPr>
              <a:t>« Kangaba, 30 octobre (AMAP) Six (6) personnes ont trouvé la mort vendredi, dans l’éboulement d’un puit minier, transformé en galerie, dans la commune rurale de Nouga précisément dans un site d’orpaillage très isolé du village de Dioulafoundou, a appris l’AMAP de source locale. La même source précise que les personnes qui ont trouvé la mort sont tous des ressortissants du Burkina Faso. »</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Enjeux sûreté</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300" dirty="0"/>
          </a:p>
          <a:p>
            <a:pPr indent="0" marL="0">
              <a:spcBef>
                <a:spcPts val="800"/>
              </a:spcBef>
              <a:spcAft>
                <a:spcPts val="300"/>
              </a:spcAft>
              <a:buNone/>
            </a:pPr>
            <a:r>
              <a:rPr lang="en-US" sz="13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AMAP — Agence Malienne Presse</a:t>
            </a:r>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 — 30 octobre 2026, 22 h UTC   ·   Cotation : Probable</a:t>
            </a:r>
            <a:endParaRPr lang="en-US" sz="1300" dirty="0"/>
          </a:p>
        </p:txBody>
      </p:sp>
      <p:pic>
        <p:nvPicPr>
          <p:cNvPr id="11" name="Image 0" descr="preencoded.png">
            <a:hlinkClick r:id="rId3" tooltip=""/>
          </p:cNvPr>
          <p:cNvPicPr>
            <a:picLocks noChangeAspect="1"/>
          </p:cNvPicPr>
          <p:nvPr/>
        </p:nvPicPr>
        <p:blipFill>
          <a:blip r:embed="rId2"/>
          <a:stretch>
            <a:fillRect/>
          </a:stretch>
        </p:blipFill>
        <p:spPr>
          <a:xfrm>
            <a:off x="7635240" y="2075688"/>
            <a:ext cx="4114800" cy="3086100"/>
          </a:xfrm>
          <a:prstGeom prst="rect">
            <a:avLst/>
          </a:prstGeom>
        </p:spPr>
      </p:pic>
      <p:sp>
        <p:nvSpPr>
          <p:cNvPr id="12" name="Text 9"/>
          <p:cNvSpPr/>
          <p:nvPr/>
        </p:nvSpPr>
        <p:spPr>
          <a:xfrm>
            <a:off x="7635240" y="519836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amap.ml</a:t>
            </a:r>
            <a:endParaRPr lang="en-US" sz="900" dirty="0"/>
          </a:p>
        </p:txBody>
      </p:sp>
      <p:sp>
        <p:nvSpPr>
          <p:cNvPr id="13"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BURKINA FASO : ANTITERRORISME OU RÉPRESSION, POURQUOI IBRAHIM TRAORÉ A RÉTABLI LA PEINE DE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37E TOUR DU FASO 2026: TOM WIJFJE FRAPPE FORT D’ENTRÉE, SOULEYMANE KONÉ DÉCROCHE LA DEUXIÈME PLACE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RÉTABLISSEMENT DE LA PEINE DE MORT POUR CRIMES ÉCONOMIQUES AU BURKINA : ET SI C’ÉTAIT AU TOGO?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Icilome · Togo Actualite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UNE PROMESSE D’ÉCHANGE D’IPHONE VIRE AU MEURTRE PRÉSUMÉ D’UNE JEUNE FILLE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PEINE DE MORT RÉINTRODUITE POUR CERTAINS CRIMES DANS LE NOUVEAU CODE PÉNAL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(BF)</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RÉTABLIT LA PEINE DE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(BF) · 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COOPÉRATION MILITAIRE: OUVERTURE DE LA DEUXIÈME SESSION DE COMITÉ MIXTE DE SUIVI BURKINA FASO-EGYPTE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Wakat Sera · 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RÉSULTATS PROVISOIRES : AVIS D’APPEL À MANIFESTATION D’INTÉRÊT N02026-025/A2N-CAM/10 POUR LA CONSTITUTION D’UNE LISTE RESTREINTE DE CABINETS QUALIFIÉS EN SERVICES DE CONSULTANCE POUR LA CONDUITE DU DIAGNOSTIC, LA MISE EN CONFORMITÉ ET LA MODERNISATION DES PRATIQUES EN RESSOURCES HUMAINES DE L’ ASSOCIATION NODDE NOOTO (A2N)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CLIMAT ET SÉCURITÉ AU SAHEL : LE BURKINA FASO PASSE À L’ACTION POUR SA STRATÉGIE NATIONALE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124 jours ; 5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Gao : Tamy Moudary Touré, acteur du développement local, toujours porté disparu</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30 octobre 2026. Lieu : Gao, Mali. Actualité sécuritaire. Une seule source à ce stade (Malijet)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Malijet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Enlevé le 7 avril 2024 à Gounzoureye, dans la région de Gao, Tamy Moudary Touré reste introuvable. Selon des autorités locales, ses ravisseurs le soupçonnaient de collaborer avec l’armée malienne. Son enlèvement, marqué par la mort de son fils et des violences sexuelles que sa fille aurait subies, 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Risque d'enlèvement : discrétion des déplacements, suivi des personnels en mission et des visiteurs, vérification des procédures de crise et des contacts d'urgence.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Malijet</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30 octobre 2026, 18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313214"/>
          </a:xfrm>
          <a:prstGeom prst="rect">
            <a:avLst/>
          </a:prstGeom>
        </p:spPr>
      </p:pic>
      <p:sp>
        <p:nvSpPr>
          <p:cNvPr id="13" name="Text 10"/>
          <p:cNvSpPr/>
          <p:nvPr/>
        </p:nvSpPr>
        <p:spPr>
          <a:xfrm>
            <a:off x="7635240" y="4425478"/>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malijet.com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SIX MOIS APRÈS SON ENLÈVEMENT À BAMAKO, L’OPPOSANT MOUNTAGA TALL ET SON FILS TOUJOURS INTROUVABLES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Points Chauds 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DRAME SUR LA RN3 : UN CAR SE RENVERSE ENTRE BAMAKO ET KATI, LE BILAN S’ALOURDIT À 1 MORT ET 37 BLESSÉS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Mali 24 · Malijet · AMAP — Agence Malienne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PRÈS DE DJENNÉ, SOUNGA, DERNIER VILLAGE DE MOUGNA À RÉSISTER AU JNIM, ATTAQUÉ PAR LES JIHADISTES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Points Chauds Online · 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13 CIVILS TUÉS PAR UNE FRAPPE DE DRONE PRÈS DE LA FRONTIÈRE MAURITANIENNE, L’ARMÉE AFFIRME AVOIR VISÉ DES « TERRORISTES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Points Chauds Online · 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CE QUE L’ON SAIT DE LA MORT MYSTÉRIEUSE DU JEUNE COMMERÇANT BOCAR LY</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TOURNÉE DES LAURÉATS DE LA BIENNALE DE TOMBOUCTOU 2025 : LE COUP D’ENVOI DONNÉ À BOUGOUNI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ENLÈVEMENT DE QUATRE ENSEIGNANTS À SAN : LA SYNERGIE DES SYNDICATS DE L’ÉDUCATION DE LA RÉGION EXIGE LEUR LIBÉRATION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DISPARITIONS INQUIÉTANTES, MORTS SUSPECTES… QUE SE PASSE-T-IL AVEC LA JEUNESSE MALIENNE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ATTAQUE DE TRAPPES ET LA VERRIÈRE : LA QUALIFICATION DU MOBILE RACISTE AU CŒUR DU DÉBAT SÉCURITAIRE ET SOCIÉTAL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10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Niger-Tchad, le jeu dangereux de Déby Kaka</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30 octobre 2026. Lieu : Niger. Actualité sécuritaire. Une seule source à ce stade (Tamtaminfo)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Tamtaminfo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Les tensions entre le Niger et le Tchad viennent de franchir un seuil préoccupant. L’accusation d’une frappe de drone sur le territoire nigérien, le démenti catégorique de N’Djamena et les soupçons antérieurs de déstabilisation politique menacent les relations entre deux pays dont la coopération demeure essentielle à la sécurité du Sahel. Une question s’impose.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Tamtaminfo</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30 octobre 2026, 5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3430141"/>
          </a:xfrm>
          <a:prstGeom prst="rect">
            <a:avLst/>
          </a:prstGeom>
        </p:spPr>
      </p:pic>
      <p:sp>
        <p:nvSpPr>
          <p:cNvPr id="13" name="Text 10"/>
          <p:cNvSpPr/>
          <p:nvPr/>
        </p:nvSpPr>
        <p:spPr>
          <a:xfrm>
            <a:off x="7635240" y="5542405"/>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tamtaminfo.com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TCHAD : LE PAYS DÉMENT LES ACCUSATIONS DU NIGER CONCERNANT UNE FRAPPE DE DRONE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France 24 · 24heureinfo.com · AllAfrica (NE) · Maliactu · RFI Afrique · Malijet · ANP — Agence Nigérienne Presse · Journal du Tchad · Tchadinfos · Africanews — Chaine panafricaine · Africanews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TENSIONS AU SAHEL : N’DJAMENA DÉMENT CATÉGORIQUEMENT TOUTE IMPLICATION DANS UNE FRAPPE AU NIGER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Mali 24 · Points Chauds 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ATTAQUE D’UN DRONE TCHADIEN AU NIGER : L’ADRODEV SALUE LES EFFORTS DES AUTORITÉS À MAINTENIR LA PAIX AU SAHEL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NIGER GOVERNOR’S CONVOY CRASH KILLS FOUR STUDENTS, DRIVER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Premium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TCHAD-NIGER : UNE NOUVELLE ESCALADE ENTRE MAHAMAT IDRISS DÉBY ET ABDOURAHAMANE TIANI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DÉNONCE UNE ATTAQUE DE DRONE DU TCHAD AVEC «L'APPUI DE LA FRANCE»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(NE)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LANCEMENT OFFICIEL DE LA CARAVANE DE SENSIBILISATION ET DE FORMATION SUR LES BONNES PRATIQUES DE GREFFES ET PARQUETS ET L’ÉTABLISSEMENT DES PIÈCES D’EXÉCUTION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BREF: ATTAQUE, AGRICULTURE, SPORT …LES INFORMATIONS DE LA SEMAINE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Studio Kalangou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SOUVERAINETÉ ALIMENTAIRE : DES HOMMES ET DES FEMMES RURALES, PRINCIPAUX ACTEURS DE LA RÉSILIENCE AU NIGER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124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Un appel au soutien et à la solidarité avec les ministres de la région de la Volta au milieu des attaques incessantes de la centrale nucléaire</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30 octobre 2026. Lieu : Ghana. Actualité sécuritaire. Une seule source à ce stade (JoyOnline)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JoyOnline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The incessant attacks on Ministers from the Volta Region by the New Patriotic Party (NPP) and sections of the media perceived as sympathetic to it are increasingly worrying.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30 octobre 2026, 11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920181"/>
          </a:xfrm>
          <a:prstGeom prst="rect">
            <a:avLst/>
          </a:prstGeom>
        </p:spPr>
      </p:pic>
      <p:sp>
        <p:nvSpPr>
          <p:cNvPr id="13" name="Text 10"/>
          <p:cNvSpPr/>
          <p:nvPr/>
        </p:nvSpPr>
        <p:spPr>
          <a:xfrm>
            <a:off x="7635240" y="5032445"/>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myjoyonline.com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GHANA : UNE JEUNE FEMME MEURT APRÈS L’EXPLOSION D’UN SEX-TOY</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UNE FEMME TUÉE PAR LE TRAIN TEMA-AFIENYA ALORS QUE LES HABITANTS RÉCLAMENT UNE PASSERELLE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SEPT MORTS PAR BALLE PAR DES HOMMES ARMÉS LORS DE FUNÉRAILLES DANS UNE ÉGLISE EN JORDANIE, SELON DES RESPONSABLES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CIRCONSCRIPTION DU NPP WALEWALE CONDAMNE LES ATTAQUES PERSONNELLES CONTRE UN DÉPUTÉ ET APPELLE À LA DISCIPLINE DE PARTI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GAF ORGANISERA UNE DÉMONSTRATION DE PUISSANCE DE FEU DE COMBAT TERRESTRE À BUNDASE LE 30 OCTOBRE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16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LES FORTES PLUIES, PRINCIPALE MENACE POUR LA CULTURE DU CACAO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(GH)</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16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NEW YORK : UN ADOLESCENT GHANÉEN DE 15 ANS ABATTU PAR BALLE SUR LE CHEMIN DE L'ÉCOLE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22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POLICE TRAQUE UN SUSPECT APRÈS LA MORT DE DEUX PERSONNES À SAKUMONO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20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NSCS CONSULTE LES PARTIES PRENANTES SUR LA NOUVELLE STRATÉGIE DE SÉCURITÉ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Ghanaian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125 jours ; aucun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Togo: La Cour de justice de la CEDEAO exige l’éxécution de son arrêt du 29 janvier</a:t>
            </a:r>
            <a:endParaRPr lang="en-US" sz="2200" dirty="0"/>
          </a:p>
        </p:txBody>
      </p:sp>
      <p:sp>
        <p:nvSpPr>
          <p:cNvPr id="13" name="Text 11"/>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Contexte</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Fait rapporté le vendredi 30 octobre 2026. Lieu : Lomé, Togo. Actualité sécuritaire. Une seule source à ce stade (Togo Actualite) : à confirmer par un second média.</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Ce que rapportent les sources</a:t>
            </a:r>
            <a:endParaRPr lang="en-US" sz="1300" dirty="0"/>
          </a:p>
          <a:p>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Togo Actualite : </a:t>
            </a:r>
            <a:pPr indent="0" marL="0">
              <a:spcAft>
                <a:spcPts val="300"/>
              </a:spcAft>
              <a:buNone/>
            </a:pPr>
            <a:r>
              <a:rPr lang="en-US" sz="1300" i="1" dirty="0">
                <a:solidFill>
                  <a:srgbClr val="1F2937"/>
                </a:solidFill>
                <a:latin typeface="Calibri" pitchFamily="34" charset="0"/>
                <a:ea typeface="Calibri" pitchFamily="34" charset="-122"/>
                <a:cs typeface="Calibri" pitchFamily="34" charset="-120"/>
              </a:rPr>
              <a:t>« Le régime de Faure Gnassingbé et ses soutiens ont dû l’apprendre à leurs dépens. Alors que s’ouvre ce jeudi 29 octobre à l’Université de Lomé un colloque international sur les juridictions régionales, les changements constitutionnels et la souveraineté des États, la Cour de justice de la CEDEAO revient à la charge. »</a:t>
            </a:r>
            <a:endParaRPr lang="en-US" sz="1300" dirty="0"/>
          </a:p>
          <a:p>
            <a:pPr indent="0" marL="0">
              <a:spcBef>
                <a:spcPts val="800"/>
              </a:spcBef>
              <a:spcAft>
                <a:spcPts val="300"/>
              </a:spcAft>
              <a:buNone/>
            </a:pPr>
            <a:r>
              <a:rPr lang="en-US" sz="1400" b="1" dirty="0">
                <a:solidFill>
                  <a:srgbClr val="1F6B5E"/>
                </a:solidFill>
                <a:latin typeface="Calibri" pitchFamily="34" charset="0"/>
                <a:ea typeface="Calibri" pitchFamily="34" charset="-122"/>
                <a:cs typeface="Calibri" pitchFamily="34" charset="-120"/>
              </a:rPr>
              <a:t>Enjeux sûreté</a:t>
            </a:r>
            <a:endParaRPr lang="en-US" sz="1300" dirty="0"/>
          </a:p>
          <a:p>
            <a:pPr indent="0" marL="0">
              <a:spcAft>
                <a:spcPts val="300"/>
              </a:spcAft>
              <a:buNone/>
            </a:pPr>
            <a:r>
              <a:rPr lang="en-US" sz="13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300" dirty="0"/>
          </a:p>
          <a:p>
            <a:pPr indent="0" marL="0">
              <a:spcBef>
                <a:spcPts val="800"/>
              </a:spcBef>
              <a:spcAft>
                <a:spcPts val="300"/>
              </a:spcAft>
              <a:buNone/>
            </a:pPr>
            <a:r>
              <a:rPr lang="en-US" sz="13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 Actualite</a:t>
            </a:r>
            <a:pPr indent="0" marL="0">
              <a:spcAft>
                <a:spcPts val="300"/>
              </a:spcAft>
              <a:buNone/>
            </a:pPr>
            <a:r>
              <a:rPr lang="en-US" sz="1300" b="1" dirty="0">
                <a:solidFill>
                  <a:srgbClr val="1F2937"/>
                </a:solidFill>
                <a:latin typeface="Calibri" pitchFamily="34" charset="0"/>
                <a:ea typeface="Calibri" pitchFamily="34" charset="-122"/>
                <a:cs typeface="Calibri" pitchFamily="34" charset="-120"/>
              </a:rPr>
              <a:t> — 30 octobre 2026, 11 h UTC   ·   Cotation : Non confirmé</a:t>
            </a:r>
            <a:endParaRPr lang="en-US" sz="1300" dirty="0"/>
          </a:p>
        </p:txBody>
      </p:sp>
      <p:pic>
        <p:nvPicPr>
          <p:cNvPr id="14" name="Image 0" descr="preencoded.png">
            <a:hlinkClick r:id="rId3" tooltip=""/>
          </p:cNvPr>
          <p:cNvPicPr>
            <a:picLocks noChangeAspect="1"/>
          </p:cNvPicPr>
          <p:nvPr/>
        </p:nvPicPr>
        <p:blipFill>
          <a:blip r:embed="rId2"/>
          <a:stretch>
            <a:fillRect/>
          </a:stretch>
        </p:blipFill>
        <p:spPr>
          <a:xfrm>
            <a:off x="7635240" y="2075688"/>
            <a:ext cx="4114800" cy="2230993"/>
          </a:xfrm>
          <a:prstGeom prst="rect">
            <a:avLst/>
          </a:prstGeom>
        </p:spPr>
      </p:pic>
      <p:sp>
        <p:nvSpPr>
          <p:cNvPr id="15" name="Text 12"/>
          <p:cNvSpPr/>
          <p:nvPr/>
        </p:nvSpPr>
        <p:spPr>
          <a:xfrm>
            <a:off x="7635240" y="4343257"/>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togoactualite.com</a:t>
            </a:r>
            <a:endParaRPr lang="en-US" sz="900" dirty="0"/>
          </a:p>
        </p:txBody>
      </p:sp>
      <p:sp>
        <p:nvSpPr>
          <p:cNvPr id="16" name="Text 1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7" name="Text 1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63 ANS APRÈS SA MORT, LE PREMIER PRÉSIDENT DU TOGO N’A TOUJOURS PAS DE TOMBE DANS SON PAYS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TOGO/CRISE POLITIQUE : L’UDS-TOGO RÉCLAME UNE GRANDE CONCERTATION NATIONALE INCLUSIVE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Togo Actualite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 : LA CRISE DE L’ÉLECTRICITÉ, SYMPTÔME D’UNE GOUVERNANCE DÉFAILLANTE SELON QUATRE REGROUPEMENTS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Togo Actualite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CRISE DES VOCATIONS ET CRISE FINANCIÈRE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TOGO RENFORCE LA VIGILANCE FACE À LA MENACE DE LA MALADIE À VIRUS EBOLA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WHATSAPP : LA FAUSSE ALERTE AU VOTE POUR PIRATER VOTRE COMPTE FAIT SON RETOUR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SAVANES : LE LANSA SENSIBILISE LES ACTEURS AGROALIMENTAIRES À LA SÉCURITÉ SANITAIRE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24heureinfo.com · 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 POURQUOI OBÉIR ENCORE ?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AVC AU TOGO : LES CONSEILS DU PR MOFOU BELO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24heureinfo.com · 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124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Sécurité au Bénin : le MSEC dresse son bilan et trace son cap pour les trois prochaines années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Bénin. Actualité sécuritaire. Une seule source à ce stade (Alwihda Info (Tchad))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Alwihda Info (Tchad)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Le Bénin et ses partenaires ont lancé l'atelier stratégique du Mécanisme de stabilité des États côtiers pour évaluer trois ans d'actions contre l'extrémisme violent et préparer le prochain triennat.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16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753126"/>
          </a:xfrm>
          <a:prstGeom prst="rect">
            <a:avLst/>
          </a:prstGeom>
        </p:spPr>
      </p:pic>
      <p:sp>
        <p:nvSpPr>
          <p:cNvPr id="13" name="Text 10"/>
          <p:cNvSpPr/>
          <p:nvPr/>
        </p:nvSpPr>
        <p:spPr>
          <a:xfrm>
            <a:off x="7635240" y="4865390"/>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alwihdainfo.com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NUEE MENACE DE FERMER TOUT LE PAYS ET EXIGE LE RETRAIT DES SOLDATS DU SIÈGE DE LA BEDC</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Sun Nigeria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7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122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Semaine du Soldat 2026 : les forces de sécurité à l’assaut des déchets à Madina</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Conakry, Guinée. Actualité sécuritaire. Une seule source à ce stade (Guinee7.com)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Guinee7.com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Conakry – Les Forces de défense et de sécurité ont mené, mardi 27 octobre 2026, une opération de nettoyage et de curage des caniveaux au marché Madina, à Conakry, dans le cadre de la Semaine du Soldat 2026. L’intervention a concerné les abords du marché Avaria jusqu’au grand pont de Madina. Des camions et des […]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19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724448"/>
          </a:xfrm>
          <a:prstGeom prst="rect">
            <a:avLst/>
          </a:prstGeom>
        </p:spPr>
      </p:pic>
      <p:sp>
        <p:nvSpPr>
          <p:cNvPr id="13" name="Text 10"/>
          <p:cNvSpPr/>
          <p:nvPr/>
        </p:nvSpPr>
        <p:spPr>
          <a:xfrm>
            <a:off x="7635240" y="4836712"/>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guinee7.com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FARANAH : LA COLÈRE ÉCLATE APRÈS LA MORT D’UN ÉTUDIANT DE L’ISAV, LA DIRECTION APPORTE DES PRÉCISIONS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MORT MYSTÉRIEUSE DE SOULEYMANE TOURÉ : SA MÈRE ET SA SŒUR VEULENT TOUTE LA VÉRITÉ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BOUBACAR YACINE DIALLO ALERTE : « SI NOUS N’Y PRENONS PAS GARDE, LA PRESSE TRADITIONNELLE RISQUE DE SUCCOMBER ET DE DEVENIR LA RISÉE DU PUBLIC…»</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 NOUS SOMMES PRÊTS À PARTIR, MAIS… » : LE PLAIDOYER DES VENDEURS DE BÉTAIL DE TOMBOLIA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KINDIA : UNE FEMME DE 68 ANS MEURT DANS UN INCENDIE À KÈNENDÉ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INSÉCURITÉ À LABÉ : LE JOURNALISTE BOUBACAR GARKI DIALLO VICTIME DE CAMBRIOLAGE, SES ÉQUIPEMENTS DE TRAVAIL EMPORTÉ PAR LES MALFAITEURS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17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MAIRIE DE DIXINN : POURQUOI LES FEMMES BALAYEUSES ONT RENONCÉ À LEUR MANIFESTATION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APPEL À MANIFESTATION D’INTÉRÊT POUR LES SERVICES DE CONSULTANTS LOCAUX EN AUDIT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KANKAN : UN INCENDIE CAUSE D’IMPORTANTS DÉGÂTS AU QUARTIER BORDO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8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214 jours ; aucun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Libéria : Un ancien responsable de la NSA, Jallah, cherche une nouvelle piste après une condamnation pour viol et enlèvement légaux</a:t>
            </a:r>
            <a:endParaRPr lang="en-US" sz="2200" dirty="0"/>
          </a:p>
        </p:txBody>
      </p:sp>
      <p:sp>
        <p:nvSpPr>
          <p:cNvPr id="13" name="Text 11"/>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30 octobre 2026. Lieu : Monrovia, Liberia. Actualité sécuritaire. Une seule source à ce stade (FrontPageAfrica — Liberia)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FrontPageAfrica — Liberia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Monrovia – Criminal Court “E” at the Temple of Justice has scheduled a hearing for Monday, November 2, at 10 a.m. on a motion for a new trial…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Risque d'enlèvement : discrétion des déplacements, suivi des personnels en mission et des visiteurs, vérification des procédures de crise et des contacts d'urgence.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30 octobre 2026, 7 h UTC   ·   Cotation : Probable</a:t>
            </a:r>
            <a:endParaRPr lang="en-US" sz="1400" dirty="0"/>
          </a:p>
        </p:txBody>
      </p:sp>
      <p:sp>
        <p:nvSpPr>
          <p:cNvPr id="14" name="Text 1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UN DAUPHIN TUÉ ET MASSACRÉ AVANT L'ARRIVÉE DE L'ÉQUIPE DE SECOURS DE LA NAFAA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LE JUGE CITE DES PREUVES POUR DÉCLARER PETER BON JALLAH, MEMBRE DU PERSONNEL DE LA NSA, COUPABLE DE VIOL ET D'ENLÈVEMENT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VICTIMES DE GUERRE ET SURVIVANTS MANIFESTENT DEVANT LE TRIBUNAL ET AU CAPITOLE ALORS QUE LE PRÉSIDENT DE LA CHAMBRE S'ENGAGE À SOUMETTRE LE PROJET DE LOI SUR LA COUR DEVANT LA PLÉNIÈRE MARDI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PÈRE ANTHONY AJOUTE L'AUTONOMISATION DES JEUNES À SON APOSTOLAT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APPELLE À LA PARTICIPATION SIGNIFICATIVE DES FEMMES DEPUIS LES NÉGOCIATIONS DE PAIX JUSQU’À LA MISE EN ŒUVRE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OUVRE LA VOIE À LA PRÉSIDENCE DU CONSEIL DE SÉCURITÉ DE L’ONU : LE MINISTRE DES AFFAIRES ÉTRANGÈRES NYANTI SOULIGNE LE PARCOURS HISTORIQUE DU PAYS, DES SANCTIONS AU LEADERSHIP MONDIAL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DANS LE CADRE DE LA TENTATIVE DE LA DÉFENSE D’ANNULER LA CONDAMNATION DE PETER BON JALLAH</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VISION D'UN ANCIEN CHEF DE LA SÉCURITÉ POUR LE SERVICE D'IMMIGRATION DU LIBÉRIA JOUE ENFIN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IMPOSE DES RÈGLES D'ISOLEMENT ET DE SURVEILLANCE DE 21 JOURS AUX VOYAGEURS FACE À LA MENACE RÉGIONALE D'EBOLA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123 jours ; 3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Drame en Italie : un couple sénégalais retrouvé mort, leur bébé de 7 mois entre les mains des médecins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samedi 31 octobre 2026. Lieu : Sénégal. Actualité politique. Une seule source à ce stade (Seneweb)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Seneweb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Une tragédie frappe une famille sénégalaise établie en Italie. Un couple de ressortissants sénégalais a été retrouvé mort à Bocca d’Enza, dans la province de Parme, à la suite d’une présumée intoxication au monoxyde de carbone.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31 octobre 2026, 1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612571"/>
          </a:xfrm>
          <a:prstGeom prst="rect">
            <a:avLst/>
          </a:prstGeom>
        </p:spPr>
      </p:pic>
      <p:sp>
        <p:nvSpPr>
          <p:cNvPr id="13" name="Text 10"/>
          <p:cNvSpPr/>
          <p:nvPr/>
        </p:nvSpPr>
        <p:spPr>
          <a:xfrm>
            <a:off x="7635240" y="4724835"/>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seneweb.com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MORT DE FALLOU SÈNE À L'UGB : LE GENDARME RECONNAÎT AVOIR OUVERT LE FEU SUR LES MANIFESTANTS,1AN FERME REQUIS DEVANT LE TRIBUNAL MILITAIRE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Pressafrik</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20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 ENFANT DE 3 ANS TUÉ PAR UN BUS : LE RÉCIT POIGNANT D’UN TÉMOIN (VIDÉO)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SeneNews · 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KAOLACK : DÉCOUVERTE D’UN HOMME DE 76 ANS MORT EN DÉCOMPOSITION À SON DOMICILE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SeneNews · 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CISJORDANIE OCCUPÉE: L'OPÉRATION ISRAÉLIENNE SE POURSUIT À HÉBRON, 5000 PERSONNES SANS DOMICILE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MORT DE FALLOU SÈNE : LE PROCÈS S’OUVRE HUIT ANS APRÈS LES ÉVÉNEMENTS À L’UGB</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 IL FAUT ARRÊTER OUSMANE SONKO » : ARONA DIOUF INVOQUE LES « VAR » ET CONTRE-ATTAQUE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“IMPOSTURE POLITIQUE”: BALLA FOFANA FOFANA ATTAQUE SONKO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30 octobre 2026, 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NGOR : UN CLIENT DU BAR-RESTAURANT TIMIS DÉFÉRÉ POUR TENTATIVE DE MEURTRE AVEC UN PIEU EN BOIS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SUSPECT DE L’ATTENTAT DE TRAPPES RECONNAÎT AVOIR CIBLÉ DES PERSONNES MUSULMANES OU D’ORIGINE AFRICAINE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29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CDCDCD"/>
        </a:solidFill>
      </p:bgPr>
    </p:bg>
    <p:spTree>
      <p:nvGrpSpPr>
        <p:cNvPr id="1" name=""/>
        <p:cNvGrpSpPr/>
        <p:nvPr/>
      </p:nvGrpSpPr>
      <p:grpSpPr>
        <a:xfrm>
          <a:off x="0" y="0"/>
          <a:ext cx="0" cy="0"/>
          <a:chOff x="0" y="0"/>
          <a:chExt cx="0" cy="0"/>
        </a:xfrm>
      </p:grpSpPr>
      <p:sp>
        <p:nvSpPr>
          <p:cNvPr id="2" name="Text 0"/>
          <p:cNvSpPr/>
          <p:nvPr/>
        </p:nvSpPr>
        <p:spPr>
          <a:xfrm>
            <a:off x="457200" y="2377440"/>
            <a:ext cx="11247120" cy="1097280"/>
          </a:xfrm>
          <a:prstGeom prst="rect">
            <a:avLst/>
          </a:prstGeom>
          <a:noFill/>
          <a:ln/>
        </p:spPr>
        <p:txBody>
          <a:bodyPr wrap="square" rtlCol="0" anchor="ctr"/>
          <a:lstStyle/>
          <a:p>
            <a:pPr algn="ctr" indent="0" marL="0">
              <a:buNone/>
            </a:pPr>
            <a:r>
              <a:rPr lang="en-US" sz="6000" dirty="0">
                <a:solidFill>
                  <a:srgbClr val="111111"/>
                </a:solidFill>
                <a:latin typeface="Arial Narrow" pitchFamily="34" charset="0"/>
                <a:ea typeface="Arial Narrow" pitchFamily="34" charset="-122"/>
                <a:cs typeface="Arial Narrow" pitchFamily="34" charset="-120"/>
              </a:rPr>
              <a:t>MERCI</a:t>
            </a:r>
            <a:endParaRPr lang="en-US" sz="6000" dirty="0"/>
          </a:p>
        </p:txBody>
      </p:sp>
      <p:sp>
        <p:nvSpPr>
          <p:cNvPr id="3" name="Text 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4" name="Text 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31/10/26   |   42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mensuel de sûreté — 31 octobre 2026</dc:title>
  <dc:subject>PptxGenJS Presentation</dc:subject>
  <dc:creator>SentiqS</dc:creator>
  <cp:lastModifiedBy>SentiqS</cp:lastModifiedBy>
  <cp:revision>1</cp:revision>
  <dcterms:created xsi:type="dcterms:W3CDTF">2026-10-31T02:08:09Z</dcterms:created>
  <dcterms:modified xsi:type="dcterms:W3CDTF">2026-10-31T02:08:09Z</dcterms:modified>
</cp:coreProperties>
</file>