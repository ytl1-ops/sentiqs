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linfodrome.com/societe/126925-tensions-permanentes-entre-le-district-autonome-d-abidjan-et-les-mairies-le-cpc-est-il-bel-et-bien-mort"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linfodrome.com/societe/126820-projets-de-sa-mandature-le-president-sortant-de-la-jci-emeraude-dresse-un-bilan-de-95-de-taux-d-execution"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linfodrome.com/societe/126904-guiglo-etouffees-par-la-flambee-des-prix-les-vendeuses-de-poissons-en-greve"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linfodrome.com/societe/126894-lutte-contre-le-cancer-du-sein-linfodrome-combat-les-rumeurs-et-sensibilise-les-populations" TargetMode="External"/><Relationship Id="rId2" Type="http://schemas.openxmlformats.org/officeDocument/2006/relationships/hyperlink" Target="https://fr.allafrica.com/stories/202610230151.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linfodrome.com/politique/126898-hausse-des-prix-du-poisson-assale-tiemoko-revele-une-dependance-de-la-cote-d-ivoire-a-88-8-aux-importations" TargetMode="External"/><Relationship Id="rId2" Type="http://schemas.openxmlformats.org/officeDocument/2006/relationships/hyperlink" Target="https://fr.allafrica.com/stories/202610230529.html"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linfodrome.com/politique/126944-charnier-de-yopougon-26-ans-apres-amadou-coulibaly-oppose-les-violences-du-passe-a-l-ere-ouattara" TargetMode="External"/><Relationship Id="rId2" Type="http://schemas.openxmlformats.org/officeDocument/2006/relationships/hyperlink" Target="https://fr.allafrica.com/stories/202610270670.html" TargetMode="External"/><Relationship Id="rId3" Type="http://schemas.openxmlformats.org/officeDocument/2006/relationships/hyperlink" Target="https://www.linfodrome.com/economie/126924-interpol-renforce-les-capacites-des-enqueteurs-ivoiriens-pour-traquer-les-avoirs-des-criminels" TargetMode="External"/><Relationship Id="rId4" Type="http://schemas.openxmlformats.org/officeDocument/2006/relationships/hyperlink" Target="https://fr.allafrica.com/stories/202610260533.html" TargetMode="External"/><Relationship Id="rId5" Type="http://schemas.openxmlformats.org/officeDocument/2006/relationships/hyperlink" Target="https://www.alwihdainfo.com/cote-divoire-securite-alimentaire-et-securisation-fonciere-le-gouvernement-soutient-les-femmes-productrices/" TargetMode="External"/><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linfodrome.com/economie/126857-prikro-la-relance-de-la-cafeiculture-et-la-promotion-du-mais-engagees-dans-l-iffou" TargetMode="External"/><Relationship Id="rId2" Type="http://schemas.openxmlformats.org/officeDocument/2006/relationships/hyperlink" Target="https://www.linfodrome.com/politique/126830-le-frere-de-tidjane-thiam-inculpe-pour-17-chefs-d-accusation-dont-l-assassinat-et-des-actes-terroristes" TargetMode="External"/><Relationship Id="rId3" Type="http://schemas.openxmlformats.org/officeDocument/2006/relationships/hyperlink" Target="https://fr.allafrica.com/stories/202610240165.html" TargetMode="External"/><Relationship Id="rId4" Type="http://schemas.openxmlformats.org/officeDocument/2006/relationships/hyperlink" Target="https://www.linfodrome.com/societe/126823-cote-d-ivoire-la-fondation-konrad-adenauer-renforce-ses-actions-en-faveur-de-la-democratie-et-de-la-securite" TargetMode="External"/><Relationship Id="rId5" Type="http://schemas.openxmlformats.org/officeDocument/2006/relationships/hyperlink" Target="https://fr.allafrica.com/stories/202610230399.html" TargetMode="Externa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linfodrome.com/international/126817-avant-la-grande-marche-du-24-coctobre-emmanuel-macron-face-un-attentat"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fr.allafrica.com/stories/202610250016.html"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fr.allafrica.com/stories/202610230254.html"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fr.allafrica.com/stories/202610220451.html" TargetMode="External"/><Relationship Id="rId2" Type="http://schemas.openxmlformats.org/officeDocument/2006/relationships/hyperlink" Target="https://burkina24.com/2026/10/28/entrepreneuriat-feminin-a-korsimoro-le-combat-inspirant-des-femmes-pour-lautonomie-financiere/" TargetMode="External"/><Relationship Id="rId3" Type="http://schemas.openxmlformats.org/officeDocument/2006/relationships/hyperlink" Target="https://faso7.com/2026/10/24/securite-numerique-au-burkina-la-bclcc-lance-la-2%e1%b5%89-semaine-nationale-de-lutte-contre-la-cybercriminalite/" TargetMode="External"/><Relationship Id="rId4" Type="http://schemas.openxmlformats.org/officeDocument/2006/relationships/hyperlink" Target="https://www.wakatsera.com/cooperation-le-ministre-de-la-securite-recoit-une-delegation-de-luicn/" TargetMode="External"/><Relationship Id="rId5" Type="http://schemas.openxmlformats.org/officeDocument/2006/relationships/hyperlink" Target="https://faso7.com/2026/10/23/construction-au-burkina-faso-lordre-des-ingenieurs-alerte-sur-les-risques-lies-aux-faux-professionnels/" TargetMode="External"/><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alwihdainfo.com/burkina-faso-turquie-une-offensive-diplomatique-denvergure-pour-consolider-la-cooperation-bilaterale/" TargetMode="External"/><Relationship Id="rId2" Type="http://schemas.openxmlformats.org/officeDocument/2006/relationships/hyperlink" Target="https://fr.allafrica.com/stories/202610170103.html" TargetMode="External"/><Relationship Id="rId3" Type="http://schemas.openxmlformats.org/officeDocument/2006/relationships/hyperlink" Target="https://www.lesahel.org/vis-dappel-a-candidatures-pour-le-recrutement-de-personnel-a-la-radio-confederale-daande-liptako/" TargetMode="External"/><Relationship Id="rId4" Type="http://schemas.openxmlformats.org/officeDocument/2006/relationships/hyperlink" Target="https://www.linfodrome.com/economie/126922-roaming-uemoa-4-pays-unissent-leurs-reseaux-pour-alleger-la-facture-des-usagers" TargetMode="External"/><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mali24.info/mali-ce-que-lon-sait-de-la-mort-mysterieuse-du-jeune-commercant-bocar-ly/"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mali24.info/tournee-des-laureats-de-la-biennale-de-tombouctou-2025-le-coup-denvoi-donne-a-bougouni/" TargetMode="External"/><Relationship Id="rId2" Type="http://schemas.openxmlformats.org/officeDocument/2006/relationships/hyperlink" Target="https://fr.allafrica.com/stories/202610270196.html" TargetMode="External"/><Relationship Id="rId3" Type="http://schemas.openxmlformats.org/officeDocument/2006/relationships/hyperlink" Target="https://mali24.info/enlevement-de-quatre-enseignants-a-san-la-synergie-des-syndicats-de-leducation-de-la-region-exige-leur-liberation/" TargetMode="External"/><Relationship Id="rId4" Type="http://schemas.openxmlformats.org/officeDocument/2006/relationships/hyperlink" Target="https://maliactu.net/mali-disparitions-inquietantes-morts-suspectes-que-se-passe-t-il-avec-la-jeunesse-malienne/" TargetMode="External"/><Relationship Id="rId5" Type="http://schemas.openxmlformats.org/officeDocument/2006/relationships/hyperlink" Target="https://maliactu.net/attaque-de-trappes-et-la-verriere-la-qualification-du-mobile-raciste-au-coeur-du-debat-securitaire-et-societal/" TargetMode="External"/><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www.dakaractu.com/Mali-le-bilan-de-l-attaque-meurtriere-du-weekend-dernier-monte-a-54-morts-armee_a277413.html" TargetMode="External"/><Relationship Id="rId2" Type="http://schemas.openxmlformats.org/officeDocument/2006/relationships/hyperlink" Target="https://fr.allafrica.com/stories/202610230641.html" TargetMode="External"/><Relationship Id="rId3" Type="http://schemas.openxmlformats.org/officeDocument/2006/relationships/hyperlink" Target="https://maliactu.net/lutte-contre-le-terrorisme-a-kayes-la-police-frappe-au-coeur-des-reseaux-de-soutien-logistique-des-gat/" TargetMode="External"/><Relationship Id="rId4" Type="http://schemas.openxmlformats.org/officeDocument/2006/relationships/hyperlink" Target="https://www.hrw.org/fr/news/2026/10/22/mali-larmee-et-lafrica-corps-controle-par-la-russie-ont-commis-de-nouveaux-abus" TargetMode="External"/><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maliactu.net/frappe-de-drone-a-agadez-le-niger-convoque-lambassadeur-du-tchad-et-annonce-des-recours-internationaux/" TargetMode="External"/><Relationship Id="rId2" Type="http://schemas.openxmlformats.org/officeDocument/2006/relationships/hyperlink" Target="https://www.rfi.fr/fr/afrique/20261028-le-tchad-rejette-les-accusations-du-niger-apr%C3%A8s-une-frappe-de-drone" TargetMode="External"/><Relationship Id="rId3" Type="http://schemas.openxmlformats.org/officeDocument/2006/relationships/hyperlink" Target="https://malijet.com/actualite-sur-afrique/312537-tchad-niger-ndjamena-rejette-les-accusations-de-frappe-de.html" TargetMode="External"/><Relationship Id="rId4" Type="http://schemas.openxmlformats.org/officeDocument/2006/relationships/hyperlink" Target="https://anp.ne/frappe-de-drones-tchadiens-dans-la-region-dagadez-lambassadeur-tchadien-au-niger-convoque-au-cabinet-du-ministre-des-affaires-etrangeres/" TargetMode="External"/><Relationship Id="rId6" Type="http://schemas.openxmlformats.org/officeDocument/2006/relationships/hyperlink" Target="https://maliactu.net/frappe-de-drone-a-agadez-le-niger-convoque-lambassadeur-du-tchad-et-annonce-des-recours-internationaux/" TargetMode="External"/><Relationship Id="rId7" Type="http://schemas.openxmlformats.org/officeDocument/2006/relationships/hyperlink" Target="https://maliactu.net/frappe-de-drone-a-agadez-le-niger-convoque-lambassadeur-du-tchad-et-annonce-des-recours-internationaux/" TargetMode="External"/><Relationship Id="rId5" Type="http://schemas.openxmlformats.org/officeDocument/2006/relationships/image" Target="../media/image-20-1.jpe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www.premiumtimesng.com/news/headlines/920915-niger-governors-convoy-crash-kills-four-students-driver.html" TargetMode="External"/><Relationship Id="rId2" Type="http://schemas.openxmlformats.org/officeDocument/2006/relationships/hyperlink" Target="https://www.jeuneafrique.com/1856094/politique/tchad-niger-une-nouvelle-escalade-entre-mahamat-idriss-deby-et-abdourahamane-tiani/" TargetMode="External"/><Relationship Id="rId3" Type="http://schemas.openxmlformats.org/officeDocument/2006/relationships/hyperlink" Target="https://fr.allafrica.com/stories/202610270200.html" TargetMode="External"/><Relationship Id="rId4" Type="http://schemas.openxmlformats.org/officeDocument/2006/relationships/hyperlink" Target="https://anp.ne/lancement-officiel-de-la-caravane-de-sensibilisation-et-de-formation-sur-les-bonnes-pratiques-de-greffes-et-parquets-et-letablissement-des-pieces-dexecution/" TargetMode="External"/><Relationship Id="rId5" Type="http://schemas.openxmlformats.org/officeDocument/2006/relationships/hyperlink" Target="https://www.studiokalangou.org/142868-en-bref-attaque-agriculture-sport-les-informations-de-la-semaine" TargetMode="External"/><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tchadinfos.com/2026/10/27/pourquoi-ndjamena-sort-enfin-de-son-silence-face-a-niamey/" TargetMode="External"/><Relationship Id="rId2" Type="http://schemas.openxmlformats.org/officeDocument/2006/relationships/hyperlink" Target="https://www.lesahel.org/avis-a-manifestation-dinteret-n003-ca-tafouk-tv-2026/" TargetMode="External"/><Relationship Id="rId3" Type="http://schemas.openxmlformats.org/officeDocument/2006/relationships/hyperlink" Target="https://anp.ne/agadez-le-gouverneur-preside-une-reunion-elargie-du-conseil-regional-de-securite-3/" TargetMode="External"/><Relationship Id="rId4" Type="http://schemas.openxmlformats.org/officeDocument/2006/relationships/hyperlink" Target="https://www.tsa-algerie.com/alerte-la-presidence-annonce-lenvoi-dunites-de-larmee-nationale-au-niger/" TargetMode="External"/><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www.myjoyonline.com/woman-killed-by-tema-afienya-train-as-residents-demand-footbridge/" TargetMode="External"/><Relationship Id="rId3" Type="http://schemas.openxmlformats.org/officeDocument/2006/relationships/hyperlink" Target="https://www.myjoyonline.com/woman-killed-by-tema-afienya-train-as-residents-demand-footbridge/" TargetMode="External"/><Relationship Id="rId4" Type="http://schemas.openxmlformats.org/officeDocument/2006/relationships/hyperlink" Target="https://www.myjoyonline.com/woman-killed-by-tema-afienya-train-as-residents-demand-footbridge/" TargetMode="External"/><Relationship Id="rId2" Type="http://schemas.openxmlformats.org/officeDocument/2006/relationships/image" Target="../media/image-23-1.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www.myjoyonline.com/seven-shot-dead-by-gunmen-at-church-funeral-in-jordan-officials-say/" TargetMode="External"/><Relationship Id="rId2" Type="http://schemas.openxmlformats.org/officeDocument/2006/relationships/hyperlink" Target="https://www.myjoyonline.com/npp-walewale-constituency-condemns-personal-attacks-against-mp-urges-party-discipline/" TargetMode="External"/><Relationship Id="rId3" Type="http://schemas.openxmlformats.org/officeDocument/2006/relationships/hyperlink" Target="https://www.myjoyonline.com/gaf-to-stage-land-combat-firepower-demonstration-at-bundase-on-october-30/" TargetMode="External"/><Relationship Id="rId4" Type="http://schemas.openxmlformats.org/officeDocument/2006/relationships/hyperlink" Target="https://fr.allafrica.com/stories/202610160127.html" TargetMode="External"/><Relationship Id="rId5" Type="http://schemas.openxmlformats.org/officeDocument/2006/relationships/hyperlink" Target="https://www.myjoyonline.com/grasag-president-calls-for-sustainable-funding-for-agricultural-research-in-africa/" TargetMode="External"/><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www.myjoyonline.com/ghana-developing-first-national-action-plan-on-youth-peace-and-security-osman-ayariga/" TargetMode="External"/><Relationship Id="rId2" Type="http://schemas.openxmlformats.org/officeDocument/2006/relationships/hyperlink" Target="https://www.myjoyonline.com/three-arrested-in-atewa-forest-as-naimos-launches-operation-green-shield/" TargetMode="External"/><Relationship Id="rId3" Type="http://schemas.openxmlformats.org/officeDocument/2006/relationships/hyperlink" Target="https://www.gbcghanaonline.com/general/ghana-challenges-un-to-turn-historical-justice-promises-into-action/2026/" TargetMode="External"/><Relationship Id="rId4" Type="http://schemas.openxmlformats.org/officeDocument/2006/relationships/hyperlink" Target="https://www.gbcghanaonline.com/news/galamsey-will-persist-if-financiers-go-untouched/2026/" TargetMode="External"/><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togoweb.net/63-ans-apres-sa-mort-le-premier-president-du-togo-na-toujours-pas-de-tombe-dans-son-pays/?utm_source=rss&amp;utm_medium=rss&amp;utm_campaign=63-ans-apres-sa-mort-le-premier-president-du-togo-na-toujours-pas-de-tombe-dans-son-pays" TargetMode="External"/><Relationship Id="rId3" Type="http://schemas.openxmlformats.org/officeDocument/2006/relationships/hyperlink" Target="https://togoweb.net/63-ans-apres-sa-mort-le-premier-president-du-togo-na-toujours-pas-de-tombe-dans-son-pays/?utm_source=rss&utm_medium=rss&utm_campaign=63-ans-apres-sa-mort-le-premier-president-du-togo-na-toujours-pas-de-tombe-dans-son-pays" TargetMode="External"/><Relationship Id="rId4" Type="http://schemas.openxmlformats.org/officeDocument/2006/relationships/hyperlink" Target="https://togoweb.net/63-ans-apres-sa-mort-le-premier-president-du-togo-na-toujours-pas-de-tombe-dans-son-pays/?utm_source=rss&amp;utm_medium=rss&amp;utm_campaign=63-ans-apres-sa-mort-le-premier-president-du-togo-na-toujours-pas-de-tombe-dans-son-pays" TargetMode="External"/><Relationship Id="rId2" Type="http://schemas.openxmlformats.org/officeDocument/2006/relationships/image" Target="../media/image-26-1.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lenouveaureporter.com/whatsapp-la-fausse-alerte-au-vote-pour-pirater-votre-compte-fait-son-retour/" TargetMode="External"/><Relationship Id="rId2" Type="http://schemas.openxmlformats.org/officeDocument/2006/relationships/hyperlink" Target="https://lenouveaureporter.com/genie-imhotep-saison-3-le-lycee-zebevi-stoppe-le-lycee-tokoin2-dans-son-elan/" TargetMode="External"/><Relationship Id="rId3" Type="http://schemas.openxmlformats.org/officeDocument/2006/relationships/hyperlink" Target="https://24heureinfo.com/societe/togo-la-securite-renforcee-sur-le-littoral-de-lome-apres-le-demantelement-des-installations-illegales/" TargetMode="External"/><Relationship Id="rId4" Type="http://schemas.openxmlformats.org/officeDocument/2006/relationships/hyperlink" Target="https://www.jeuneafrique.com/1855636/economie-entreprises/soutenu-par-lunion-africaine-le-togolais-gilbert-houngbo-reussira-t-il-a-conserver-la-tete-de-loit/" TargetMode="External"/><Relationship Id="rId5" Type="http://schemas.openxmlformats.org/officeDocument/2006/relationships/hyperlink" Target="https://fr.allafrica.com/stories/202610260692.html" TargetMode="External"/><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fr.allafrica.com/stories/202610260369.html" TargetMode="External"/><Relationship Id="rId2" Type="http://schemas.openxmlformats.org/officeDocument/2006/relationships/hyperlink" Target="https://fr.allafrica.com/stories/202610260367.html" TargetMode="External"/><Relationship Id="rId3" Type="http://schemas.openxmlformats.org/officeDocument/2006/relationships/hyperlink" Target="https://24heureinfo.com/politique/tsevie-les-forces-de-securite-deployees-sur-le-site-du-meeting-reporte-du-cncc/" TargetMode="External"/><Relationship Id="rId4" Type="http://schemas.openxmlformats.org/officeDocument/2006/relationships/hyperlink" Target="https://24heureinfo.com/sante/ebola-africa-cdc-convoque-les-ministres-africains-de-la-sante-en-urgence/" TargetMode="External"/><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thesun.ng/nuee-threatens-nationwide-shutdown-demands-withdrawal-of-soldiers-from-bedc-hqtrs/" TargetMode="External"/><Relationship Id="rId3" Type="http://schemas.openxmlformats.org/officeDocument/2006/relationships/hyperlink" Target="https://thesun.ng/nuee-threatens-nationwide-shutdown-demands-withdrawal-of-soldiers-from-bedc-hqtrs/" TargetMode="External"/><Relationship Id="rId4" Type="http://schemas.openxmlformats.org/officeDocument/2006/relationships/hyperlink" Target="https://thesun.ng/nuee-threatens-nationwide-shutdown-demands-withdrawal-of-soldiers-from-bedc-hqtrs/" TargetMode="External"/><Relationship Id="rId2" Type="http://schemas.openxmlformats.org/officeDocument/2006/relationships/image" Target="../media/image-29-1.jpe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www.guinee7.com/2026/10/25/mort-mysterieuse-de-souleymane-toure-sa-mere-et-sa-soeur-veulent-toute-la-verite/"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guineematin.com/2026/10/26/insecurite-a-labe-le-journaliste-boubacar-garki-diallo-victime-de-cambriolage-ses-equipements-de-travail-emporte-par-les-malfaiteurs/?utm_source=rss&amp;utm_medium=rss&amp;utm_campaign=insecurite-a-labe-le-journaliste-boubacar-garki-diallo-victime-de-cambriolage-ses-equipements-de-travail-emporte-par-les-malfaiteurs" TargetMode="External"/><Relationship Id="rId2" Type="http://schemas.openxmlformats.org/officeDocument/2006/relationships/hyperlink" Target="https://www.guinee7.com/2026/10/26/mairie-de-dixinn-pourquoi-les-femmes-balayeuses-ont-renonce-a-leur-manifestation/" TargetMode="External"/><Relationship Id="rId3" Type="http://schemas.openxmlformats.org/officeDocument/2006/relationships/hyperlink" Target="https://guineematin.com/2026/10/26/appel-a-manifestation-dinteret-pour-les-services-de-consultants-locaux-en-audit/?utm_source=rss&amp;utm_medium=rss&amp;utm_campaign=appel-a-manifestation-dinteret-pour-les-services-de-consultants-locaux-en-audit" TargetMode="External"/><Relationship Id="rId4" Type="http://schemas.openxmlformats.org/officeDocument/2006/relationships/hyperlink" Target="https://guineematin.com/2026/10/26/kankan-un-incendie-cause-dimportants-degats-au-quartier-bordo/?utm_source=rss&amp;utm_medium=rss&amp;utm_campaign=kankan-un-incendie-cause-dimportants-degats-au-quartier-bordo" TargetMode="External"/><Relationship Id="rId5" Type="http://schemas.openxmlformats.org/officeDocument/2006/relationships/hyperlink" Target="https://guineematin.com/2026/10/24/loi-de-finances-rectificative-2026-entre-crise-petroliere-et-retards-des-projets-la-ministre-de-leconomie-mariama-cire-sylla-sexplique/?utm_source=rss&amp;utm_medium=rss&amp;utm_campaign=loi-de-finances-rectificative-2026-entre-crise-petroliere-et-retards-des-projets-la-ministre-de-leconomie-mariama-cire-sylla-sexplique" TargetMode="External"/><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www.guinee7.com/2026/10/24/election-feguifoot-comex-argent-achat-voix-sponsor-editorial/" TargetMode="External"/><Relationship Id="rId2" Type="http://schemas.openxmlformats.org/officeDocument/2006/relationships/hyperlink" Target="https://guineematin.com/2026/10/23/cellcom-guinee-la-fesatel-alerte-sur-les-salaires-impayes-et-reclame-louverture-urgente-de-negociations/?utm_source=rss&amp;utm_medium=rss&amp;utm_campaign=cellcom-guinee-la-fesatel-alerte-sur-les-salaires-impayes-et-reclame-louverture-urgente-de-negociations" TargetMode="External"/><Relationship Id="rId3" Type="http://schemas.openxmlformats.org/officeDocument/2006/relationships/hyperlink" Target="https://guineematin.com/2026/10/27/tpi-de-coyah-le-procureur-aliou-diallo-prend-officiellement-la-tete-du-parquet/?utm_source=rss&amp;utm_medium=rss&amp;utm_campaign=tpi-de-coyah-le-procureur-aliou-diallo-prend-officiellement-la-tete-du-parquet" TargetMode="External"/><Relationship Id="rId4" Type="http://schemas.openxmlformats.org/officeDocument/2006/relationships/hyperlink" Target="https://guineelive.com/2026/10/27/forecariah-friki-keita-reprend-ses-fonctions-a-la-tete-de-la-dpe-ce-mardi/" TargetMode="External"/><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frontpageafricaonline.com/liberia-dolphin-killed-butchered-before-nafaa-rescue-team-arrived/" TargetMode="Externa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frontpageafricaonline.com/liberia-judge-cites-evidence-in-finding-nsa-staff-peter-bon-jallah-guilty-of-statutory-rape-kidnapping/" TargetMode="External"/><Relationship Id="rId2" Type="http://schemas.openxmlformats.org/officeDocument/2006/relationships/hyperlink" Target="https://frontpageafricaonline.com/liberia-war-victims-survivors-protest-at-court-office-capitol-as-house-chairman-pledges-to-put-court-bill-before-plenary-tuesday/" TargetMode="External"/><Relationship Id="rId3" Type="http://schemas.openxmlformats.org/officeDocument/2006/relationships/hyperlink" Target="https://frontpageafricaonline.com/liberia-inside-the-defense-bid-to-overturn-the-peter-bon-jallah-conviction/" TargetMode="External"/><Relationship Id="rId4" Type="http://schemas.openxmlformats.org/officeDocument/2006/relationships/hyperlink" Target="https://frontpageafricaonline.com/a-former-security-chiefs-vision-for-liberias-immigration-service-finally-plays/" TargetMode="External"/><Relationship Id="rId5" Type="http://schemas.openxmlformats.org/officeDocument/2006/relationships/hyperlink" Target="https://gnnliberia.com/liberia-imposes-21-day-isolation-and-monitoring-rules-for-travelers-amid-regional-ebola-threat/" TargetMode="External"/><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gnnliberia.com/afl-fires-two-soldiers-over-assault/" TargetMode="Externa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www.dakaractu.com/Touba-un-debat-sur-les-moteurs-de-Jakarta-se-termine-par-la-mort-de-Baye-M-Diop_a277553.html" TargetMode="External"/><Relationship Id="rId3" Type="http://schemas.openxmlformats.org/officeDocument/2006/relationships/hyperlink" Target="https://www.dakaractu.com/Touba-un-debat-sur-les-moteurs-de-Jakarta-se-termine-par-la-mort-de-Baye-M-Diop_a277553.html" TargetMode="External"/><Relationship Id="rId4" Type="http://schemas.openxmlformats.org/officeDocument/2006/relationships/hyperlink" Target="https://www.dakaractu.com/Touba-un-debat-sur-les-moteurs-de-Jakarta-se-termine-par-la-mort-de-Baye-M-Diop_a277553.html" TargetMode="External"/><Relationship Id="rId2" Type="http://schemas.openxmlformats.org/officeDocument/2006/relationships/image" Target="../media/image-36-1.jpe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www.dakaractu.com/Mort-d-Aminata-Sy-le-suspect-invoque-une-chute-les-constatations-decrivent-des-violences_a277552.html" TargetMode="External"/><Relationship Id="rId2" Type="http://schemas.openxmlformats.org/officeDocument/2006/relationships/hyperlink" Target="https://www.dakaractu.com/Talibou-Diallo-tue-au-cou-et-au-thorax-une-dispute-entre-colocataires-pour-une-prise-electrique-au-coeur-du-drame_a277548.html" TargetMode="External"/><Relationship Id="rId3" Type="http://schemas.openxmlformats.org/officeDocument/2006/relationships/hyperlink" Target="https://www.seneweb.com/fr/news/Societe/lyceenne-tuee-a-podor-de-lhistoire-damour-au-drame_n_999001966.html" TargetMode="External"/><Relationship Id="rId4" Type="http://schemas.openxmlformats.org/officeDocument/2006/relationships/hyperlink" Target="https://aps.sn/immeuble-effondre-a-thies-un-mort-et-deux-blesses-selon-le-bilan-provisoire/" TargetMode="External"/><Relationship Id="rId5" Type="http://schemas.openxmlformats.org/officeDocument/2006/relationships/hyperlink" Target="https://www.pressafrik.com/&#8203;Pacte-de-stabilite-sociale-le-gouvernement-vise-71-d-execution-des-engagements-en-decembre_a313655.html" TargetMode="External"/><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hyperlink" Target="https://www.seneweb.com/fr/news/Societe/malika-un-locataire-interpelle-pour-avoir-poignarde-a-mort-son-voisin-lors-dune-altercation_n_999001887.html" TargetMode="External"/><Relationship Id="rId2" Type="http://schemas.openxmlformats.org/officeDocument/2006/relationships/hyperlink" Target="https://www.dakaractu.com/Meurtre-presume-d-Aminata-Sy-a-Podor-le-suspect-retrouve-dans-une-cachette-et-arrete-a-Mbacke_a277514.html" TargetMode="External"/><Relationship Id="rId3" Type="http://schemas.openxmlformats.org/officeDocument/2006/relationships/hyperlink" Target="https://www.senenews.com/actualites/karamo-cisse-ndiaye-avoue-pourquoi-jai-tue-aminata-sy-sa-mere-ne-voulait-pas_604186.html" TargetMode="External"/><Relationship Id="rId4" Type="http://schemas.openxmlformats.org/officeDocument/2006/relationships/hyperlink" Target="https://www.seneweb.com/fr/news/Societe/drame-a-ziguinchor-un-commercant-retrouve-mort-pendu-apres-la-perte-de-800-000-f-cfa_n_999001835.html" TargetMode="External"/><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runner/work/SentiqS/SentiqS/scripts/assets/grsci/couverture-abidjan.jpg">    </p:cNvPr>
          <p:cNvPicPr>
            <a:picLocks noChangeAspect="1"/>
          </p:cNvPicPr>
          <p:nvPr/>
        </p:nvPicPr>
        <p:blipFill>
          <a:blip r:embed="rId1"/>
          <a:stretch>
            <a:fillRect/>
          </a:stretch>
        </p:blipFill>
        <p:spPr>
          <a:xfrm>
            <a:off x="182880" y="91440"/>
            <a:ext cx="11795760" cy="5852160"/>
          </a:xfrm>
          <a:prstGeom prst="rect">
            <a:avLst/>
          </a:prstGeom>
        </p:spPr>
      </p:pic>
      <p:sp>
        <p:nvSpPr>
          <p:cNvPr id="3" name="Text 0"/>
          <p:cNvSpPr/>
          <p:nvPr/>
        </p:nvSpPr>
        <p:spPr>
          <a:xfrm>
            <a:off x="2286000" y="228600"/>
            <a:ext cx="7589520" cy="1280160"/>
          </a:xfrm>
          <a:prstGeom prst="rect">
            <a:avLst/>
          </a:prstGeom>
          <a:noFill/>
          <a:ln/>
          <a:effectLst>
            <a:outerShdw sx="100000" sy="100000" kx="0" ky="0" algn="bl" rotWithShape="0" blurRad="76200" dist="25400" dir="2700000">
              <a:srgbClr val="000000">
                <a:alpha val="60000"/>
              </a:srgbClr>
            </a:outerShdw>
          </a:effectLst>
        </p:spPr>
        <p:txBody>
          <a:bodyPr wrap="square" rtlCol="0" anchor="ctr"/>
          <a:lstStyle/>
          <a:p>
            <a:pPr algn="ctr" indent="0" marL="0">
              <a:buNone/>
            </a:pPr>
            <a:r>
              <a:rPr lang="en-US" sz="4400" dirty="0">
                <a:solidFill>
                  <a:srgbClr val="FFFFFF"/>
                </a:solidFill>
                <a:latin typeface="Arial Narrow" pitchFamily="34" charset="0"/>
                <a:ea typeface="Arial Narrow" pitchFamily="34" charset="-122"/>
                <a:cs typeface="Arial Narrow" pitchFamily="34" charset="-120"/>
              </a:rPr>
              <a:t>RAPPORT MENSUEL</a:t>
            </a:r>
            <a:endParaRPr lang="en-US" sz="4400" dirty="0"/>
          </a:p>
          <a:p>
            <a:pPr algn="ctr" indent="0" marL="0">
              <a:buNone/>
            </a:pPr>
            <a:r>
              <a:rPr lang="en-US" sz="4400" dirty="0">
                <a:solidFill>
                  <a:srgbClr val="FFFFFF"/>
                </a:solidFill>
                <a:latin typeface="Arial Narrow" pitchFamily="34" charset="0"/>
                <a:ea typeface="Arial Narrow" pitchFamily="34" charset="-122"/>
                <a:cs typeface="Arial Narrow" pitchFamily="34" charset="-120"/>
              </a:rPr>
              <a:t>DE SÛRETÉ</a:t>
            </a:r>
            <a:endParaRPr lang="en-US" sz="4400" dirty="0"/>
          </a:p>
        </p:txBody>
      </p:sp>
      <p:sp>
        <p:nvSpPr>
          <p:cNvPr id="4" name="Shape 1"/>
          <p:cNvSpPr/>
          <p:nvPr/>
        </p:nvSpPr>
        <p:spPr>
          <a:xfrm>
            <a:off x="3200400" y="1600200"/>
            <a:ext cx="5760720" cy="0"/>
          </a:xfrm>
          <a:prstGeom prst="line">
            <a:avLst/>
          </a:prstGeom>
          <a:noFill/>
          <a:ln w="38100">
            <a:solidFill>
              <a:srgbClr val="000000"/>
            </a:solidFill>
            <a:prstDash val="solid"/>
          </a:ln>
        </p:spPr>
      </p:sp>
      <p:sp>
        <p:nvSpPr>
          <p:cNvPr id="5" name="Text 2"/>
          <p:cNvSpPr/>
          <p:nvPr/>
        </p:nvSpPr>
        <p:spPr>
          <a:xfrm>
            <a:off x="2286000" y="1691640"/>
            <a:ext cx="7589520" cy="502920"/>
          </a:xfrm>
          <a:prstGeom prst="rect">
            <a:avLst/>
          </a:prstGeom>
          <a:noFill/>
          <a:ln/>
          <a:effectLst>
            <a:outerShdw sx="100000" sy="100000" kx="0" ky="0" algn="bl" rotWithShape="0" blurRad="76200" dist="25400" dir="2700000">
              <a:srgbClr val="000000">
                <a:alpha val="60000"/>
              </a:srgbClr>
            </a:outerShdw>
          </a:effectLst>
        </p:spPr>
        <p:txBody>
          <a:bodyPr wrap="square" rtlCol="0" anchor="ct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SentiqS</a:t>
            </a:r>
            <a:endParaRPr lang="en-US" sz="2400" dirty="0"/>
          </a:p>
        </p:txBody>
      </p:sp>
      <p:sp>
        <p:nvSpPr>
          <p:cNvPr id="6" name="Text 3"/>
          <p:cNvSpPr/>
          <p:nvPr/>
        </p:nvSpPr>
        <p:spPr>
          <a:xfrm>
            <a:off x="7589520" y="5074920"/>
            <a:ext cx="4297680" cy="365760"/>
          </a:xfrm>
          <a:prstGeom prst="rect">
            <a:avLst/>
          </a:prstGeom>
          <a:noFill/>
          <a:ln/>
        </p:spPr>
        <p:txBody>
          <a:bodyPr wrap="square" rtlCol="0" anchor="ctr"/>
          <a:lstStyle/>
          <a:p>
            <a:pPr algn="r" indent="0" marL="0">
              <a:buNone/>
            </a:pPr>
            <a:r>
              <a:rPr lang="en-US" sz="2000" b="1" dirty="0">
                <a:solidFill>
                  <a:srgbClr val="FFFFFF"/>
                </a:solidFill>
                <a:latin typeface="Calibri" pitchFamily="34" charset="0"/>
                <a:ea typeface="Calibri" pitchFamily="34" charset="-122"/>
                <a:cs typeface="Calibri" pitchFamily="34" charset="-120"/>
              </a:rPr>
              <a:t>28 OCTOBRE 2026</a:t>
            </a:r>
            <a:endParaRPr lang="en-US" sz="2000" dirty="0"/>
          </a:p>
        </p:txBody>
      </p:sp>
      <p:sp>
        <p:nvSpPr>
          <p:cNvPr id="7" name="Text 4"/>
          <p:cNvSpPr/>
          <p:nvPr/>
        </p:nvSpPr>
        <p:spPr>
          <a:xfrm>
            <a:off x="5760720" y="5486400"/>
            <a:ext cx="6126480" cy="320040"/>
          </a:xfrm>
          <a:prstGeom prst="rect">
            <a:avLst/>
          </a:prstGeom>
          <a:noFill/>
          <a:ln/>
          <a:effectLst>
            <a:outerShdw sx="100000" sy="100000" kx="0" ky="0" algn="bl" rotWithShape="0" blurRad="50800" dist="12700" dir="2700000">
              <a:srgbClr val="000000">
                <a:alpha val="70000"/>
              </a:srgbClr>
            </a:outerShdw>
          </a:effectLst>
        </p:spPr>
        <p:txBody>
          <a:bodyPr wrap="square" rtlCol="0" anchor="ctr"/>
          <a:lstStyle/>
          <a:p>
            <a:pPr algn="r" indent="0" marL="0">
              <a:buNone/>
            </a:pPr>
            <a:r>
              <a:rPr lang="en-US" sz="1400" dirty="0">
                <a:solidFill>
                  <a:srgbClr val="FFFFFF"/>
                </a:solidFill>
                <a:latin typeface="Calibri" pitchFamily="34" charset="0"/>
                <a:ea typeface="Calibri" pitchFamily="34" charset="-122"/>
                <a:cs typeface="Calibri" pitchFamily="34" charset="-120"/>
              </a:rPr>
              <a:t>Période du 1er au 28 octobre 2026</a:t>
            </a:r>
            <a:endParaRPr lang="en-US" sz="1400" dirty="0"/>
          </a:p>
        </p:txBody>
      </p:sp>
      <p:pic>
        <p:nvPicPr>
          <p:cNvPr id="8" name="Image 1" descr="/home/runner/work/SentiqS/SentiqS/scripts/assets/grsci/afrique.png">    </p:cNvPr>
          <p:cNvPicPr>
            <a:picLocks noChangeAspect="1"/>
          </p:cNvPicPr>
          <p:nvPr/>
        </p:nvPicPr>
        <p:blipFill>
          <a:blip r:embed="rId2"/>
          <a:stretch>
            <a:fillRect/>
          </a:stretch>
        </p:blipFill>
        <p:spPr>
          <a:xfrm>
            <a:off x="9235440" y="6172200"/>
            <a:ext cx="548640" cy="548640"/>
          </a:xfrm>
          <a:prstGeom prst="rect">
            <a:avLst/>
          </a:prstGeom>
        </p:spPr>
      </p:pic>
      <p:sp>
        <p:nvSpPr>
          <p:cNvPr id="9" name="Text 5"/>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0" name="Text 6"/>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0</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TABLE DES MATIÈRES</a:t>
            </a:r>
            <a:endParaRPr lang="en-US" sz="2800" dirty="0"/>
          </a:p>
        </p:txBody>
      </p:sp>
      <p:sp>
        <p:nvSpPr>
          <p:cNvPr id="4" name="Shape 2"/>
          <p:cNvSpPr/>
          <p:nvPr/>
        </p:nvSpPr>
        <p:spPr>
          <a:xfrm>
            <a:off x="457200" y="960120"/>
            <a:ext cx="11292840" cy="0"/>
          </a:xfrm>
          <a:prstGeom prst="line">
            <a:avLst/>
          </a:prstGeom>
          <a:noFill/>
          <a:ln w="6350">
            <a:solidFill>
              <a:srgbClr val="A3A3A3"/>
            </a:solidFill>
            <a:prstDash val="solid"/>
          </a:ln>
        </p:spPr>
      </p:sp>
      <p:sp>
        <p:nvSpPr>
          <p:cNvPr id="5" name="Shape 3"/>
          <p:cNvSpPr/>
          <p:nvPr/>
        </p:nvSpPr>
        <p:spPr>
          <a:xfrm>
            <a:off x="457200" y="1143000"/>
            <a:ext cx="5532120" cy="4754880"/>
          </a:xfrm>
          <a:prstGeom prst="rect">
            <a:avLst/>
          </a:prstGeom>
          <a:solidFill>
            <a:srgbClr val="FFFFFF"/>
          </a:solidFill>
          <a:ln w="9525">
            <a:solidFill>
              <a:srgbClr val="1F2937"/>
            </a:solidFill>
            <a:prstDash val="solid"/>
          </a:ln>
        </p:spPr>
      </p:sp>
      <p:sp>
        <p:nvSpPr>
          <p:cNvPr id="6" name="Text 4"/>
          <p:cNvSpPr/>
          <p:nvPr/>
        </p:nvSpPr>
        <p:spPr>
          <a:xfrm>
            <a:off x="457200" y="1188720"/>
            <a:ext cx="5532120" cy="365760"/>
          </a:xfrm>
          <a:prstGeom prst="rect">
            <a:avLst/>
          </a:prstGeom>
          <a:noFill/>
          <a:ln/>
        </p:spPr>
        <p:txBody>
          <a:bodyPr wrap="square" rtlCol="0" anchor="ctr"/>
          <a:lstStyle/>
          <a:p>
            <a:pPr algn="ctr" indent="0" marL="0">
              <a:buNone/>
            </a:pPr>
            <a:r>
              <a:rPr lang="en-US" sz="1500" dirty="0">
                <a:solidFill>
                  <a:srgbClr val="1F6B5E"/>
                </a:solidFill>
                <a:latin typeface="Arial Narrow" pitchFamily="34" charset="0"/>
                <a:ea typeface="Arial Narrow" pitchFamily="34" charset="-122"/>
                <a:cs typeface="Arial Narrow" pitchFamily="34" charset="-120"/>
              </a:rPr>
              <a:t>FAITS MARQUANTS EN CÔTE D'IVOIRE</a:t>
            </a:r>
            <a:endParaRPr lang="en-US" sz="1500" dirty="0"/>
          </a:p>
        </p:txBody>
      </p:sp>
      <p:sp>
        <p:nvSpPr>
          <p:cNvPr id="7" name="Text 5"/>
          <p:cNvSpPr/>
          <p:nvPr/>
        </p:nvSpPr>
        <p:spPr>
          <a:xfrm>
            <a:off x="640080" y="1645920"/>
            <a:ext cx="5166360" cy="4206240"/>
          </a:xfrm>
          <a:prstGeom prst="rect">
            <a:avLst/>
          </a:prstGeom>
          <a:noFill/>
          <a:ln/>
        </p:spPr>
        <p:txBody>
          <a:bodyPr wrap="square" rtlCol="0" anchor="t"/>
          <a:lstStyle/>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POLITIQUE</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TENSIONS PERMANENTES ENTRE LE DISTRICT AUTONOME D’ABIDJAN ET LES MAIRIES : LE CPC…</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PROJETS DE SA MANDATURE: LE PRÉSIDENT SORTANT DE LA JCI ÉMERAUDE DRESSE UN BILAN …</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GUIGLO : ETOUFFÉES PAR LA FLAMBÉE DES PRIX, LES VENDEUSES DE POISSONS EN GRÈVE</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LUTTE CONTRE LE CANCER DU SEIN : LINFODROME COMBAT LES RUMEURS ET SENSIBILISE LES…</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CRISE AU SEIN DU PDCI/RDA - « L'ÉLÉPHANT » SE CASSERA-T-IL UNE DEUXIÈME PATTE ?</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SOCIAL</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HAUSSE DES PRIX DU POISSON : ASSALÉ TIÉMOKO RÉVÈLE UNE DÉPENDANCE DE LA CÔTE D’IV…</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DANANÉ/CHIRURGIE HUMANITAIRE - 134 PATIENTS OPÉRÉS GRATUITEMENT, DONT 114 POUR UN…</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SÉCURITÉ</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CHARNIER DE YOPOUGON : 26 ANS APRÈS, AMADOU COULIBALY OPPOSE LES VIOLENCES DU PAS…</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PRIX NATIONAL D'EXCELLENCE 2026 - RAPHAËL DIAMALA KOUASSI HISSE M'BAHIAKRO SUR LE…</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INTERPOL RENFORCE LES CAPACITÉS DES ENQUÊTEURS IVOIRIENS POUR TRAQUER LES AVOIRS …</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QUERELLES DE SUCCESSION OU PROFANATION D'UN HÉRITAGE ?</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CÔTE D'IVOIRE : SÉCURITÉ ALIMENTAIRE ET SÉCURISATION FONCIÈRE, LE GOUVERNEMENT SO…</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PRIKRO : LA RELANCE DE LA CAFÉICULTURE ET LA PROMOTION DU MAÏS ENGAGÉES DANS L’IFFOU</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DIVERS</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AVANT LA GRANDE MARCHE DU 24 COCTOBRE ; EMMANUEL MACRON FACE UN ATTENTAT</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PRIX DU POISSON EN CÔTE D'IVOIRE - L'INTERPROFESSION PÊCHE SALUE LES MESURES GOUV…</a:t>
            </a:r>
            <a:endParaRPr lang="en-US" sz="900" dirty="0"/>
          </a:p>
        </p:txBody>
      </p:sp>
      <p:sp>
        <p:nvSpPr>
          <p:cNvPr id="8" name="Shape 6"/>
          <p:cNvSpPr/>
          <p:nvPr/>
        </p:nvSpPr>
        <p:spPr>
          <a:xfrm>
            <a:off x="6217920" y="1143000"/>
            <a:ext cx="5532120" cy="4754880"/>
          </a:xfrm>
          <a:prstGeom prst="rect">
            <a:avLst/>
          </a:prstGeom>
          <a:solidFill>
            <a:srgbClr val="FFFFFF"/>
          </a:solidFill>
          <a:ln w="9525">
            <a:solidFill>
              <a:srgbClr val="1F2937"/>
            </a:solidFill>
            <a:prstDash val="solid"/>
          </a:ln>
        </p:spPr>
      </p:sp>
      <p:sp>
        <p:nvSpPr>
          <p:cNvPr id="9" name="Text 7"/>
          <p:cNvSpPr/>
          <p:nvPr/>
        </p:nvSpPr>
        <p:spPr>
          <a:xfrm>
            <a:off x="6217920" y="1188720"/>
            <a:ext cx="5532120" cy="365760"/>
          </a:xfrm>
          <a:prstGeom prst="rect">
            <a:avLst/>
          </a:prstGeom>
          <a:noFill/>
          <a:ln/>
        </p:spPr>
        <p:txBody>
          <a:bodyPr wrap="square" rtlCol="0" anchor="ctr"/>
          <a:lstStyle/>
          <a:p>
            <a:pPr algn="ctr" indent="0" marL="0">
              <a:buNone/>
            </a:pPr>
            <a:r>
              <a:rPr lang="en-US" sz="1500" dirty="0">
                <a:solidFill>
                  <a:srgbClr val="1F6B5E"/>
                </a:solidFill>
                <a:latin typeface="Arial Narrow" pitchFamily="34" charset="0"/>
                <a:ea typeface="Arial Narrow" pitchFamily="34" charset="-122"/>
                <a:cs typeface="Arial Narrow" pitchFamily="34" charset="-120"/>
              </a:rPr>
              <a:t>DYNAMIQUES SOUS-RÉGIONALES</a:t>
            </a:r>
            <a:endParaRPr lang="en-US" sz="1500" dirty="0"/>
          </a:p>
        </p:txBody>
      </p:sp>
      <p:sp>
        <p:nvSpPr>
          <p:cNvPr id="10" name="Text 8"/>
          <p:cNvSpPr/>
          <p:nvPr/>
        </p:nvSpPr>
        <p:spPr>
          <a:xfrm>
            <a:off x="6400800" y="1645920"/>
            <a:ext cx="5166360" cy="4206240"/>
          </a:xfrm>
          <a:prstGeom prst="rect">
            <a:avLst/>
          </a:prstGeom>
          <a:noFill/>
          <a:ln/>
        </p:spPr>
        <p:txBody>
          <a:bodyPr wrap="square" rtlCol="0" anchor="t"/>
          <a:lstStyle/>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BURKINA FASO</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LA PEINE DE MORT RÉINTRODUITE POUR CERTAINS CRIMES DANS LE NOUVEAU CODE PÉNAL</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MALI</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MALI : CE QUE L’ON SAIT DE LA MORT MYSTÉRIEUSE DU JEUNE COMMERÇANT BOCAR LY</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NIGER</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FRAPPE DE DRONE À AGADEZ : LE NIGER CONVOQUE L’AMBASSADEUR DU TCHAD ET ANNONCE DE…</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GHANA</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WOMAN KILLED BY TEMA-AFIENYA TRAIN AS RESIDENTS DEMAND FOOTBRIDGE</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TOGO</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63 ANS APRÈS SA MORT, LE PREMIER PRÉSIDENT DU TOGO N’A TOUJOURS PAS DE TOMBE DANS…</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BÉNIN</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NUEE THREATENS NATIONWIDE SHUTDOWN, DEMANDS WITHDRAWAL OF SOLDIERS FROM BEDC HQTRS</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GUINÉE</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MORT MYSTÉRIEUSE DE SOULEYMANE TOURÉ : SA MÈRE ET SA SŒUR VEULENT TOUTE LA VÉRITÉ</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LIBERIA</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LIBÉRIA : UN DAUPHIN TUÉ ET MASSACRÉ AVANT L'ARRIVÉE DE L'ÉQUIPE DE SECOURS DE LA…</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SÉNÉGAL</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TOUBA : UN DÉBAT SUR LES MOTEURS DE JAKARTA SE TERMINE PAR LA MORT DE BAYE M. DIOP</a:t>
            </a:r>
            <a:endParaRPr lang="en-US" sz="900" dirty="0"/>
          </a:p>
        </p:txBody>
      </p:sp>
      <p:sp>
        <p:nvSpPr>
          <p:cNvPr id="11" name="Text 9"/>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2" name="Text 10"/>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DCDCD"/>
        </a:solidFill>
      </p:bgPr>
    </p:bg>
    <p:spTree>
      <p:nvGrpSpPr>
        <p:cNvPr id="1" name=""/>
        <p:cNvGrpSpPr/>
        <p:nvPr/>
      </p:nvGrpSpPr>
      <p:grpSpPr>
        <a:xfrm>
          <a:off x="0" y="0"/>
          <a:ext cx="0" cy="0"/>
          <a:chOff x="0" y="0"/>
          <a:chExt cx="0" cy="0"/>
        </a:xfrm>
      </p:grpSpPr>
      <p:pic>
        <p:nvPicPr>
          <p:cNvPr id="2" name="Image 0" descr="/home/runner/work/SentiqS/SentiqS/scripts/assets/grsci/carte-ci.jpg">    </p:cNvPr>
          <p:cNvPicPr>
            <a:picLocks noChangeAspect="1"/>
          </p:cNvPicPr>
          <p:nvPr/>
        </p:nvPicPr>
        <p:blipFill>
          <a:blip r:embed="rId1"/>
          <a:stretch>
            <a:fillRect/>
          </a:stretch>
        </p:blipFill>
        <p:spPr>
          <a:xfrm>
            <a:off x="4754880" y="640080"/>
            <a:ext cx="2926080" cy="2926080"/>
          </a:xfrm>
          <a:prstGeom prst="rect">
            <a:avLst/>
          </a:prstGeom>
        </p:spPr>
      </p:pic>
      <p:sp>
        <p:nvSpPr>
          <p:cNvPr id="3" name="Text 0"/>
          <p:cNvSpPr/>
          <p:nvPr/>
        </p:nvSpPr>
        <p:spPr>
          <a:xfrm>
            <a:off x="457200" y="4023360"/>
            <a:ext cx="11247120" cy="822960"/>
          </a:xfrm>
          <a:prstGeom prst="rect">
            <a:avLst/>
          </a:prstGeom>
          <a:noFill/>
          <a:ln/>
        </p:spPr>
        <p:txBody>
          <a:bodyPr wrap="square" rtlCol="0" anchor="ctr"/>
          <a:lstStyle/>
          <a:p>
            <a:pPr algn="ctr" indent="0" marL="0">
              <a:buNone/>
            </a:pPr>
            <a:r>
              <a:rPr lang="en-US" sz="4400" dirty="0">
                <a:solidFill>
                  <a:srgbClr val="111111"/>
                </a:solidFill>
                <a:latin typeface="Arial Narrow" pitchFamily="34" charset="0"/>
                <a:ea typeface="Arial Narrow" pitchFamily="34" charset="-122"/>
                <a:cs typeface="Arial Narrow" pitchFamily="34" charset="-120"/>
              </a:rPr>
              <a:t>FAITS MARQUANTS EN CÔTE D'IVOIRE</a:t>
            </a:r>
            <a:endParaRPr lang="en-US" sz="4400" dirty="0"/>
          </a:p>
        </p:txBody>
      </p:sp>
      <p:sp>
        <p:nvSpPr>
          <p:cNvPr id="4" name="Shape 1"/>
          <p:cNvSpPr/>
          <p:nvPr/>
        </p:nvSpPr>
        <p:spPr>
          <a:xfrm>
            <a:off x="4206240" y="4846320"/>
            <a:ext cx="3749040" cy="0"/>
          </a:xfrm>
          <a:prstGeom prst="line">
            <a:avLst/>
          </a:prstGeom>
          <a:noFill/>
          <a:ln w="50800">
            <a:solidFill>
              <a:srgbClr val="000000"/>
            </a:solidFill>
            <a:prstDash val="solid"/>
          </a:ln>
        </p:spPr>
      </p:sp>
      <p:sp>
        <p:nvSpPr>
          <p:cNvPr id="5" name="Text 2"/>
          <p:cNvSpPr/>
          <p:nvPr/>
        </p:nvSpPr>
        <p:spPr>
          <a:xfrm>
            <a:off x="1371600" y="5074920"/>
            <a:ext cx="9418320" cy="640080"/>
          </a:xfrm>
          <a:prstGeom prst="rect">
            <a:avLst/>
          </a:prstGeom>
          <a:noFill/>
          <a:ln/>
        </p:spPr>
        <p:txBody>
          <a:bodyPr wrap="square" rtlCol="0" anchor="ctr"/>
          <a:lstStyle/>
          <a:p>
            <a:pPr algn="ctr" indent="0" marL="0">
              <a:buNone/>
            </a:pPr>
            <a:r>
              <a:rPr lang="en-US" sz="1100" i="1" dirty="0">
                <a:solidFill>
                  <a:srgbClr val="333333"/>
                </a:solidFill>
                <a:latin typeface="Calibri" pitchFamily="34" charset="0"/>
                <a:ea typeface="Calibri" pitchFamily="34" charset="-122"/>
                <a:cs typeface="Calibri" pitchFamily="34" charset="-120"/>
              </a:rPr>
              <a:t>Faits marquants : textes établis à partir des médias cités, dont les chapôs sont reproduits entre guillemets. Les « enjeux sûreté » sont des repères par type d'événement, à valider et compléter par l'analyste.</a:t>
            </a:r>
            <a:endParaRPr lang="en-US" sz="1100" dirty="0"/>
          </a:p>
        </p:txBody>
      </p:sp>
      <p:sp>
        <p:nvSpPr>
          <p:cNvPr id="6" name="Text 3"/>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7" name="Text 4"/>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POLITIQUE</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121 jours ; aucun signal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Tensions permanentes entre le District Autonome d’Abidjan et les Mairies : le CPC est-il bel et bien mort</a:t>
            </a:r>
            <a:endParaRPr lang="en-US" sz="2200" dirty="0"/>
          </a:p>
        </p:txBody>
      </p:sp>
      <p:sp>
        <p:nvSpPr>
          <p:cNvPr id="11" name="Text 9"/>
          <p:cNvSpPr/>
          <p:nvPr/>
        </p:nvSpPr>
        <p:spPr>
          <a:xfrm>
            <a:off x="640080" y="2029968"/>
            <a:ext cx="1097280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mardi 27 octobre 2026. Lieu : Côte d'Ivoire. Actualité politique. Une seule source à ce stade (Linfodrome)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Climat politique à suivre : en mesurer l'incidence sur la stabilité locale et les déplacements.</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27 octobre 2026, 13 h UTC</a:t>
            </a:r>
            <a:endParaRPr lang="en-US" sz="14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POLITIQUE</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Projets de sa mandature: le président sortant de la JCI Émeraude dresse un bilan de 95% de taux d’exécution</a:t>
            </a:r>
            <a:endParaRPr lang="en-US" sz="2200" dirty="0"/>
          </a:p>
        </p:txBody>
      </p:sp>
      <p:sp>
        <p:nvSpPr>
          <p:cNvPr id="10" name="Text 8"/>
          <p:cNvSpPr/>
          <p:nvPr/>
        </p:nvSpPr>
        <p:spPr>
          <a:xfrm>
            <a:off x="640080" y="1755648"/>
            <a:ext cx="10972800" cy="414223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samedi 24 octobre 2026. Lieu : Côte d'Ivoire. Actualité politique. Une seule source à ce stade (Linfodrome)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Climat politique à suivre : tensions possibles autour des échéances et des décisions institutionnelles. Adapter la veille et les déplacements aux dates sensibles.</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24 octobre 2026, 6 h UTC</a:t>
            </a:r>
            <a:endParaRPr lang="en-US" sz="1400" dirty="0"/>
          </a:p>
        </p:txBody>
      </p:sp>
      <p:sp>
        <p:nvSpPr>
          <p:cNvPr id="11" name="Text 9"/>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2" name="Text 10"/>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POLITIQUE</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Guiglo : Etouffées par la flambée des prix, les vendeuses de poissons en grève</a:t>
            </a:r>
            <a:endParaRPr lang="en-US" sz="2200" dirty="0"/>
          </a:p>
        </p:txBody>
      </p:sp>
      <p:sp>
        <p:nvSpPr>
          <p:cNvPr id="10" name="Text 8"/>
          <p:cNvSpPr/>
          <p:nvPr/>
        </p:nvSpPr>
        <p:spPr>
          <a:xfrm>
            <a:off x="640080" y="1755648"/>
            <a:ext cx="10972800" cy="414223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lundi 26 octobre 2026. Lieu : Côte d'Ivoire. Actualité politique. Une seule source à ce stade (Linfodrome)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Perturbations possibles de l'activité et de la circulation : éviter les rassemblements, prévoir des horaires décalés ou le travail à distance, informer les personnels.</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26 octobre 2026, 18 h UTC</a:t>
            </a:r>
            <a:endParaRPr lang="en-US" sz="1400" dirty="0"/>
          </a:p>
        </p:txBody>
      </p:sp>
      <p:sp>
        <p:nvSpPr>
          <p:cNvPr id="11" name="Text 9"/>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2" name="Text 10"/>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POLITIQUE</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LUTTE CONTRE LE CANCER DU SEIN : LINFODROME COMBAT LES RUMEURS ET SENSIBILISE LES POPULATIONS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16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CRISE AU SEIN DU PDCI/RDA - « L'ÉLÉPHANT » SE CASSERA-T-IL UNE DEUXIÈME PATTE ?</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9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SOCIAL</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05840"/>
            <a:ext cx="10972800" cy="292608"/>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121 jours ; aucun signal du jour)</a:t>
            </a:r>
            <a:endParaRPr lang="en-US" sz="1100" dirty="0"/>
          </a:p>
        </p:txBody>
      </p:sp>
      <p:sp>
        <p:nvSpPr>
          <p:cNvPr id="10" name="Text 8"/>
          <p:cNvSpPr/>
          <p:nvPr/>
        </p:nvSpPr>
        <p:spPr>
          <a:xfrm>
            <a:off x="640080" y="1325880"/>
            <a:ext cx="10972800" cy="452628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HAUSSE DES PRIX DU POISSON : ASSALÉ TIÉMOKO RÉVÈLE UNE DÉPENDANCE DE LA CÔTE D’IVOIRE À 88,8 % AUX IMPORTATIONS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9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DANANÉ/CHIRURGIE HUMANITAIRE - 134 PATIENTS OPÉRÉS GRATUITEMENT, DONT 114 POUR UNE HERNIE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17 h UTC</a:t>
            </a:r>
            <a:endParaRPr lang="en-US" sz="1300" dirty="0"/>
          </a:p>
        </p:txBody>
      </p:sp>
      <p:sp>
        <p:nvSpPr>
          <p:cNvPr id="11" name="Text 9"/>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2" name="Text 10"/>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III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SÉCURITÉ</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05840"/>
            <a:ext cx="10972800" cy="292608"/>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121 jours ; aucun signal du jour)</a:t>
            </a:r>
            <a:endParaRPr lang="en-US" sz="1100" dirty="0"/>
          </a:p>
        </p:txBody>
      </p:sp>
      <p:sp>
        <p:nvSpPr>
          <p:cNvPr id="10" name="Text 8"/>
          <p:cNvSpPr/>
          <p:nvPr/>
        </p:nvSpPr>
        <p:spPr>
          <a:xfrm>
            <a:off x="640080" y="1325880"/>
            <a:ext cx="10972800" cy="452628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CHARNIER DE YOPOUGON : 26 ANS APRÈS, AMADOU COULIBALY OPPOSE LES VIOLENCES DU PASSÉ À L’ÈRE OUATTARA</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18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PRIX NATIONAL D'EXCELLENCE 2026 - RAPHAËL DIAMALA KOUASSI HISSE M'BAHIAKRO SUR LE PODIUM DES MEILLEURS MAIRES DU PAYS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16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INTERPOL RENFORCE LES CAPACITÉS DES ENQUÊTEURS IVOIRIENS POUR TRAQUER LES AVOIRS DES CRIMINELS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13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QUERELLES DE SUCCESSION OU PROFANATION D'UN HÉRITAGE ?</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13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CÔTE D'IVOIRE : SÉCURITÉ ALIMENTAIRE ET SÉCURISATION FONCIÈRE, LE GOUVERNEMENT SOUTIENT LES FEMMES PRODUCTRICES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Alwihda Info (Tchad)</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9 h UTC</a:t>
            </a:r>
            <a:endParaRPr lang="en-US" sz="1300" dirty="0"/>
          </a:p>
        </p:txBody>
      </p:sp>
      <p:sp>
        <p:nvSpPr>
          <p:cNvPr id="11" name="Text 9"/>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2" name="Text 10"/>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III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SÉCURITÉ</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PRIKRO : LA RELANCE DE LA CAFÉICULTURE ET LA PROMOTION DU MAÏS ENGAGÉES DANS L’IFFOU</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25 octobre 2026, 21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LE FRÈRE DE TIDJANE THIAM INCULPÉ POUR 17 CHEFS D’ACCUSATION, DONT L’ASSASSINAT ET DES ACTES TERRORISTES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18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LUTTE CONTRE LES AVC - « VITE », UNE APPLICATION POUR SAUVER DES VIES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18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CÔTE D’IVOIRE : LA FONDATION KONRAD-ADENAUER RENFORCE SES ACTIONS EN FAVEUR DE LA DÉMOCRATIE ET DE LA SÉCURITÉ</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9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L'AUDIENCE SUR L'ÉLECTION DE TIDJANE THIAM À LA TÊTE DU PDCI RENVOYÉE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12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DIVERS</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121 jours ; aucun signal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Avant la grande marche du 24 coctobre ; Emmanuel Macron face un attentat</a:t>
            </a:r>
            <a:endParaRPr lang="en-US" sz="2200" dirty="0"/>
          </a:p>
        </p:txBody>
      </p:sp>
      <p:sp>
        <p:nvSpPr>
          <p:cNvPr id="11" name="Text 9"/>
          <p:cNvSpPr/>
          <p:nvPr/>
        </p:nvSpPr>
        <p:spPr>
          <a:xfrm>
            <a:off x="640080" y="2029968"/>
            <a:ext cx="1097280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vendredi 23 octobre 2026. Lieu : Côte d'Ivoire. Actualité économique. Une seule source à ce stade (Linfodrome)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Perturbations possibles de l'activité et de la circulation : éviter les rassemblements, prévoir des horaires décalés ou le travail à distance, informer les personnels.</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23 octobre 2026, 22 h UTC</a:t>
            </a:r>
            <a:endParaRPr lang="en-US" sz="14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DIVERS</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PRIX DU POISSON EN CÔTE D'IVOIRE - L'INTERPROFESSION PÊCHE SALUE LES MESURES GOUVERNEMENTALES ET PROMET DE NOUVELLES BAISSES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25 octobre 2026, 4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DCDCD"/>
        </a:solidFill>
      </p:bgPr>
    </p:bg>
    <p:spTree>
      <p:nvGrpSpPr>
        <p:cNvPr id="1" name=""/>
        <p:cNvGrpSpPr/>
        <p:nvPr/>
      </p:nvGrpSpPr>
      <p:grpSpPr>
        <a:xfrm>
          <a:off x="0" y="0"/>
          <a:ext cx="0" cy="0"/>
          <a:chOff x="0" y="0"/>
          <a:chExt cx="0" cy="0"/>
        </a:xfrm>
      </p:grpSpPr>
      <p:pic>
        <p:nvPicPr>
          <p:cNvPr id="2" name="Image 0" descr="/home/runner/work/SentiqS/SentiqS/scripts/assets/grsci/afrique.png">    </p:cNvPr>
          <p:cNvPicPr>
            <a:picLocks noChangeAspect="1"/>
          </p:cNvPicPr>
          <p:nvPr/>
        </p:nvPicPr>
        <p:blipFill>
          <a:blip r:embed="rId1"/>
          <a:stretch>
            <a:fillRect/>
          </a:stretch>
        </p:blipFill>
        <p:spPr>
          <a:xfrm>
            <a:off x="4754880" y="640080"/>
            <a:ext cx="2926080" cy="2926080"/>
          </a:xfrm>
          <a:prstGeom prst="rect">
            <a:avLst/>
          </a:prstGeom>
        </p:spPr>
      </p:pic>
      <p:sp>
        <p:nvSpPr>
          <p:cNvPr id="3" name="Text 0"/>
          <p:cNvSpPr/>
          <p:nvPr/>
        </p:nvSpPr>
        <p:spPr>
          <a:xfrm>
            <a:off x="457200" y="4023360"/>
            <a:ext cx="11247120" cy="822960"/>
          </a:xfrm>
          <a:prstGeom prst="rect">
            <a:avLst/>
          </a:prstGeom>
          <a:noFill/>
          <a:ln/>
        </p:spPr>
        <p:txBody>
          <a:bodyPr wrap="square" rtlCol="0" anchor="ctr"/>
          <a:lstStyle/>
          <a:p>
            <a:pPr algn="ctr" indent="0" marL="0">
              <a:buNone/>
            </a:pPr>
            <a:r>
              <a:rPr lang="en-US" sz="4400" dirty="0">
                <a:solidFill>
                  <a:srgbClr val="111111"/>
                </a:solidFill>
                <a:latin typeface="Arial Narrow" pitchFamily="34" charset="0"/>
                <a:ea typeface="Arial Narrow" pitchFamily="34" charset="-122"/>
                <a:cs typeface="Arial Narrow" pitchFamily="34" charset="-120"/>
              </a:rPr>
              <a:t>DYNAMIQUES RÉGIONALES</a:t>
            </a:r>
            <a:endParaRPr lang="en-US" sz="4400" dirty="0"/>
          </a:p>
        </p:txBody>
      </p:sp>
      <p:sp>
        <p:nvSpPr>
          <p:cNvPr id="4" name="Shape 1"/>
          <p:cNvSpPr/>
          <p:nvPr/>
        </p:nvSpPr>
        <p:spPr>
          <a:xfrm>
            <a:off x="4206240" y="4846320"/>
            <a:ext cx="3749040" cy="0"/>
          </a:xfrm>
          <a:prstGeom prst="line">
            <a:avLst/>
          </a:prstGeom>
          <a:noFill/>
          <a:ln w="50800">
            <a:solidFill>
              <a:srgbClr val="000000"/>
            </a:solidFill>
            <a:prstDash val="solid"/>
          </a:ln>
        </p:spPr>
      </p:sp>
      <p:sp>
        <p:nvSpPr>
          <p:cNvPr id="5" name="Text 2"/>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6" name="Text 3"/>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Burkina Faso : situation Fin octobre</a:t>
            </a:r>
            <a:endParaRPr lang="en-US" sz="2800" dirty="0"/>
          </a:p>
        </p:txBody>
      </p:sp>
      <p:sp>
        <p:nvSpPr>
          <p:cNvPr id="4" name="Shape 2"/>
          <p:cNvSpPr/>
          <p:nvPr/>
        </p:nvSpPr>
        <p:spPr>
          <a:xfrm>
            <a:off x="10881360" y="274320"/>
            <a:ext cx="905256" cy="283464"/>
          </a:xfrm>
          <a:prstGeom prst="rect">
            <a:avLst/>
          </a:prstGeom>
          <a:solidFill>
            <a:srgbClr val="EF2B2D"/>
          </a:solidFill>
          <a:ln w="12700">
            <a:solidFill>
              <a:srgbClr val="EF2B2D"/>
            </a:solidFill>
            <a:prstDash val="solid"/>
          </a:ln>
        </p:spPr>
      </p:sp>
      <p:sp>
        <p:nvSpPr>
          <p:cNvPr id="5" name="Shape 3"/>
          <p:cNvSpPr/>
          <p:nvPr/>
        </p:nvSpPr>
        <p:spPr>
          <a:xfrm>
            <a:off x="10881360" y="557784"/>
            <a:ext cx="905256" cy="283464"/>
          </a:xfrm>
          <a:prstGeom prst="rect">
            <a:avLst/>
          </a:prstGeom>
          <a:solidFill>
            <a:srgbClr val="009E49"/>
          </a:solidFill>
          <a:ln w="12700">
            <a:solidFill>
              <a:srgbClr val="009E49"/>
            </a:solidFill>
            <a:prstDash val="solid"/>
          </a:ln>
        </p:spPr>
      </p:sp>
      <p:sp>
        <p:nvSpPr>
          <p:cNvPr id="6" name="Shape 4"/>
          <p:cNvSpPr/>
          <p:nvPr/>
        </p:nvSpPr>
        <p:spPr>
          <a:xfrm>
            <a:off x="10881360" y="274320"/>
            <a:ext cx="905256" cy="566928"/>
          </a:xfrm>
          <a:prstGeom prst="rect">
            <a:avLst/>
          </a:prstGeom>
          <a:ln w="6350">
            <a:solidFill>
              <a:srgbClr val="1F2937"/>
            </a:solidFill>
            <a:prstDash val="solid"/>
          </a:ln>
        </p:spPr>
      </p:sp>
      <p:sp>
        <p:nvSpPr>
          <p:cNvPr id="7" name="Shape 5"/>
          <p:cNvSpPr/>
          <p:nvPr/>
        </p:nvSpPr>
        <p:spPr>
          <a:xfrm>
            <a:off x="457200" y="960120"/>
            <a:ext cx="11292840" cy="0"/>
          </a:xfrm>
          <a:prstGeom prst="line">
            <a:avLst/>
          </a:prstGeom>
          <a:noFill/>
          <a:ln w="6350">
            <a:solidFill>
              <a:srgbClr val="A3A3A3"/>
            </a:solidFill>
            <a:prstDash val="solid"/>
          </a:ln>
        </p:spPr>
      </p:sp>
      <p:sp>
        <p:nvSpPr>
          <p:cNvPr id="8" name="Text 6"/>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moyenne (incident vérifié le plus récent : 121 jours ; 1 signal du jour)</a:t>
            </a:r>
            <a:endParaRPr lang="en-US" sz="1100" dirty="0"/>
          </a:p>
        </p:txBody>
      </p:sp>
      <p:sp>
        <p:nvSpPr>
          <p:cNvPr id="9" name="Text 7"/>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La peine de mort réintroduite pour certains crimes dans le nouveau Code pénal</a:t>
            </a:r>
            <a:endParaRPr lang="en-US" sz="2200" dirty="0"/>
          </a:p>
        </p:txBody>
      </p:sp>
      <p:sp>
        <p:nvSpPr>
          <p:cNvPr id="10" name="Text 8"/>
          <p:cNvSpPr/>
          <p:nvPr/>
        </p:nvSpPr>
        <p:spPr>
          <a:xfrm>
            <a:off x="640080" y="2029968"/>
            <a:ext cx="1097280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vendredi 23 octobre 2026. Lieu : Burkina Faso. Actualité sécuritaire. Une seule source à ce stade (AllAfrica (BF))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AllAfrica (BF) : </a:t>
            </a:r>
            <a:pPr indent="0" marL="0">
              <a:spcAft>
                <a:spcPts val="300"/>
              </a:spcAft>
              <a:buNone/>
            </a:pPr>
            <a:r>
              <a:rPr lang="en-US" sz="1400" i="1" dirty="0">
                <a:solidFill>
                  <a:srgbClr val="1F2937"/>
                </a:solidFill>
                <a:latin typeface="Calibri" pitchFamily="34" charset="0"/>
                <a:ea typeface="Calibri" pitchFamily="34" charset="-122"/>
                <a:cs typeface="Calibri" pitchFamily="34" charset="-120"/>
              </a:rPr>
              <a:t>« [allAfrica] Le Burkina Faso franchit une nouvelle étape dans le durcissement de sa législation pénale. Réunis mardi 20 octobre 2026, les 71 députés de l'Assemblée législative du peuple (ALP) ont adopté à l'unanimité un nouveau Code pénal réintroduisant la peine de mort pour plusieurs crimes, notamment le terrorisme, l'espionnage et la trahison. »</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Évolution du cadre juridique et sécuritaire : à intégrer à l'analyse pays et à la sensibilisation des personnels expatriés et locaux.</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AllAfrica (BF)</a:t>
            </a:r>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 — 23 octobre 2026, 10 h UTC   ·   Cotation : Probable</a:t>
            </a:r>
            <a:endParaRPr lang="en-US" sz="1400" dirty="0"/>
          </a:p>
        </p:txBody>
      </p:sp>
      <p:sp>
        <p:nvSpPr>
          <p:cNvPr id="11" name="Text 9"/>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2" name="Text 10"/>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Burkina Faso</a:t>
            </a:r>
            <a:endParaRPr lang="en-US" sz="2800" dirty="0"/>
          </a:p>
        </p:txBody>
      </p:sp>
      <p:sp>
        <p:nvSpPr>
          <p:cNvPr id="4" name="Shape 2"/>
          <p:cNvSpPr/>
          <p:nvPr/>
        </p:nvSpPr>
        <p:spPr>
          <a:xfrm>
            <a:off x="10881360" y="274320"/>
            <a:ext cx="905256" cy="283464"/>
          </a:xfrm>
          <a:prstGeom prst="rect">
            <a:avLst/>
          </a:prstGeom>
          <a:solidFill>
            <a:srgbClr val="EF2B2D"/>
          </a:solidFill>
          <a:ln w="12700">
            <a:solidFill>
              <a:srgbClr val="EF2B2D"/>
            </a:solidFill>
            <a:prstDash val="solid"/>
          </a:ln>
        </p:spPr>
      </p:sp>
      <p:sp>
        <p:nvSpPr>
          <p:cNvPr id="5" name="Shape 3"/>
          <p:cNvSpPr/>
          <p:nvPr/>
        </p:nvSpPr>
        <p:spPr>
          <a:xfrm>
            <a:off x="10881360" y="557784"/>
            <a:ext cx="905256" cy="283464"/>
          </a:xfrm>
          <a:prstGeom prst="rect">
            <a:avLst/>
          </a:prstGeom>
          <a:solidFill>
            <a:srgbClr val="009E49"/>
          </a:solidFill>
          <a:ln w="12700">
            <a:solidFill>
              <a:srgbClr val="009E49"/>
            </a:solidFill>
            <a:prstDash val="solid"/>
          </a:ln>
        </p:spPr>
      </p:sp>
      <p:sp>
        <p:nvSpPr>
          <p:cNvPr id="6" name="Shape 4"/>
          <p:cNvSpPr/>
          <p:nvPr/>
        </p:nvSpPr>
        <p:spPr>
          <a:xfrm>
            <a:off x="10881360" y="274320"/>
            <a:ext cx="905256" cy="566928"/>
          </a:xfrm>
          <a:prstGeom prst="rect">
            <a:avLst/>
          </a:prstGeom>
          <a:ln w="6350">
            <a:solidFill>
              <a:srgbClr val="1F2937"/>
            </a:solidFill>
            <a:prstDash val="solid"/>
          </a:ln>
        </p:spPr>
      </p:sp>
      <p:sp>
        <p:nvSpPr>
          <p:cNvPr id="7" name="Shape 5"/>
          <p:cNvSpPr/>
          <p:nvPr/>
        </p:nvSpPr>
        <p:spPr>
          <a:xfrm>
            <a:off x="457200" y="960120"/>
            <a:ext cx="11292840" cy="0"/>
          </a:xfrm>
          <a:prstGeom prst="line">
            <a:avLst/>
          </a:prstGeom>
          <a:noFill/>
          <a:ln w="6350">
            <a:solidFill>
              <a:srgbClr val="A3A3A3"/>
            </a:solidFill>
            <a:prstDash val="solid"/>
          </a:ln>
        </p:spPr>
      </p:sp>
      <p:sp>
        <p:nvSpPr>
          <p:cNvPr id="8" name="Text 6"/>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LE PAYS RÉTABLIT LA PEINE DE MORT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AllAfrica (BF) · HRW_fr sur X/Twitter</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22 octobre 2026, 15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ENTREPRENEURIAT FÉMININ À KORSIMORO : LE COMBAT INSPIRANT DES FEMMES POUR L’AUTONOMIE FINANCIÈRE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Burkina24</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28 octobre 2026, 8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SÉCURITÉ NUMÉRIQUE AU BURKINA : LA BCLCC LANCE LA 2ᵉ SEMAINE NATIONALE DE LUTTE CONTRE LA CYBERCRIMINALITÉ</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Faso7</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13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COOPÉRATION: LE MINISTRE DE LA SÉCURITÉ REÇOIT UNE DÉLÉGATION DE L’UICN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Wakat Sera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12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CONSTRUCTION AU BURKINA FASO : L’ORDRE DES INGÉNIEURS ALERTE SUR LES RISQUES LIÉS AUX FAUX PROFESSIONNELS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Faso7</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14 h UTC</a:t>
            </a:r>
            <a:endParaRPr lang="en-US" sz="1300" dirty="0"/>
          </a:p>
        </p:txBody>
      </p:sp>
      <p:sp>
        <p:nvSpPr>
          <p:cNvPr id="9" name="Text 7"/>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0" name="Text 8"/>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Burkina Faso</a:t>
            </a:r>
            <a:endParaRPr lang="en-US" sz="2800" dirty="0"/>
          </a:p>
        </p:txBody>
      </p:sp>
      <p:sp>
        <p:nvSpPr>
          <p:cNvPr id="4" name="Shape 2"/>
          <p:cNvSpPr/>
          <p:nvPr/>
        </p:nvSpPr>
        <p:spPr>
          <a:xfrm>
            <a:off x="10881360" y="274320"/>
            <a:ext cx="905256" cy="283464"/>
          </a:xfrm>
          <a:prstGeom prst="rect">
            <a:avLst/>
          </a:prstGeom>
          <a:solidFill>
            <a:srgbClr val="EF2B2D"/>
          </a:solidFill>
          <a:ln w="12700">
            <a:solidFill>
              <a:srgbClr val="EF2B2D"/>
            </a:solidFill>
            <a:prstDash val="solid"/>
          </a:ln>
        </p:spPr>
      </p:sp>
      <p:sp>
        <p:nvSpPr>
          <p:cNvPr id="5" name="Shape 3"/>
          <p:cNvSpPr/>
          <p:nvPr/>
        </p:nvSpPr>
        <p:spPr>
          <a:xfrm>
            <a:off x="10881360" y="557784"/>
            <a:ext cx="905256" cy="283464"/>
          </a:xfrm>
          <a:prstGeom prst="rect">
            <a:avLst/>
          </a:prstGeom>
          <a:solidFill>
            <a:srgbClr val="009E49"/>
          </a:solidFill>
          <a:ln w="12700">
            <a:solidFill>
              <a:srgbClr val="009E49"/>
            </a:solidFill>
            <a:prstDash val="solid"/>
          </a:ln>
        </p:spPr>
      </p:sp>
      <p:sp>
        <p:nvSpPr>
          <p:cNvPr id="6" name="Shape 4"/>
          <p:cNvSpPr/>
          <p:nvPr/>
        </p:nvSpPr>
        <p:spPr>
          <a:xfrm>
            <a:off x="10881360" y="274320"/>
            <a:ext cx="905256" cy="566928"/>
          </a:xfrm>
          <a:prstGeom prst="rect">
            <a:avLst/>
          </a:prstGeom>
          <a:ln w="6350">
            <a:solidFill>
              <a:srgbClr val="1F2937"/>
            </a:solidFill>
            <a:prstDash val="solid"/>
          </a:ln>
        </p:spPr>
      </p:sp>
      <p:sp>
        <p:nvSpPr>
          <p:cNvPr id="7" name="Shape 5"/>
          <p:cNvSpPr/>
          <p:nvPr/>
        </p:nvSpPr>
        <p:spPr>
          <a:xfrm>
            <a:off x="457200" y="960120"/>
            <a:ext cx="11292840" cy="0"/>
          </a:xfrm>
          <a:prstGeom prst="line">
            <a:avLst/>
          </a:prstGeom>
          <a:noFill/>
          <a:ln w="6350">
            <a:solidFill>
              <a:srgbClr val="A3A3A3"/>
            </a:solidFill>
            <a:prstDash val="solid"/>
          </a:ln>
        </p:spPr>
      </p:sp>
      <p:sp>
        <p:nvSpPr>
          <p:cNvPr id="8" name="Text 6"/>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BURKINA FASO-TURQUIE : UNE OFFENSIVE DIPLOMATIQUE D’ENVERGURE POUR CONSOLIDER LA COOPÉRATION BILATÉRALE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Alwihda Info (Tchad)</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9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EXPANSION GÉOGRAPHIQUE DU TERRORISME SAHÉLIEN - IMPLICATIONS POUR LE GHANA</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AllAfrica (GH)</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17 octobre 2026, 19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VIS D’APPEL À CANDIDATURES POUR LE RECRUTEMENT DE PERSONNEL À LA RADIO CONFÉDÉRALE DAANDÈ LIPTAKO</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Le Sahel</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16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ROAMING UEMOA : 4 PAYS UNISSENT LEURS RÉSEAUX POUR ALLÉGER LA FACTURE DES USAGERS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11 h UTC</a:t>
            </a:r>
            <a:endParaRPr lang="en-US" sz="1300" dirty="0"/>
          </a:p>
        </p:txBody>
      </p:sp>
      <p:sp>
        <p:nvSpPr>
          <p:cNvPr id="9" name="Text 7"/>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0" name="Text 8"/>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Mali</a:t>
            </a:r>
            <a:endParaRPr lang="en-US" sz="2800" dirty="0"/>
          </a:p>
        </p:txBody>
      </p:sp>
      <p:sp>
        <p:nvSpPr>
          <p:cNvPr id="4" name="Shape 2"/>
          <p:cNvSpPr/>
          <p:nvPr/>
        </p:nvSpPr>
        <p:spPr>
          <a:xfrm>
            <a:off x="10881360" y="274320"/>
            <a:ext cx="301752" cy="566928"/>
          </a:xfrm>
          <a:prstGeom prst="rect">
            <a:avLst/>
          </a:prstGeom>
          <a:solidFill>
            <a:srgbClr val="14B53A"/>
          </a:solidFill>
          <a:ln w="12700">
            <a:solidFill>
              <a:srgbClr val="14B53A"/>
            </a:solidFill>
            <a:prstDash val="solid"/>
          </a:ln>
        </p:spPr>
      </p:sp>
      <p:sp>
        <p:nvSpPr>
          <p:cNvPr id="5" name="Shape 3"/>
          <p:cNvSpPr/>
          <p:nvPr/>
        </p:nvSpPr>
        <p:spPr>
          <a:xfrm>
            <a:off x="11183112" y="274320"/>
            <a:ext cx="301752" cy="566928"/>
          </a:xfrm>
          <a:prstGeom prst="rect">
            <a:avLst/>
          </a:prstGeom>
          <a:solidFill>
            <a:srgbClr val="FCD116"/>
          </a:solidFill>
          <a:ln w="12700">
            <a:solidFill>
              <a:srgbClr val="FCD116"/>
            </a:solidFill>
            <a:prstDash val="solid"/>
          </a:ln>
        </p:spPr>
      </p:sp>
      <p:sp>
        <p:nvSpPr>
          <p:cNvPr id="6" name="Shape 4"/>
          <p:cNvSpPr/>
          <p:nvPr/>
        </p:nvSpPr>
        <p:spPr>
          <a:xfrm>
            <a:off x="11484864" y="274320"/>
            <a:ext cx="301752" cy="566928"/>
          </a:xfrm>
          <a:prstGeom prst="rect">
            <a:avLst/>
          </a:prstGeom>
          <a:solidFill>
            <a:srgbClr val="CE1126"/>
          </a:solidFill>
          <a:ln w="12700">
            <a:solidFill>
              <a:srgbClr val="CE1126"/>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moyenne (incident vérifié le plus récent : 121 jours ; 4 signaux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Mali : Ce que l’on sait de la mort mystérieuse du jeune commerçant Bocar Ly</a:t>
            </a:r>
            <a:endParaRPr lang="en-US" sz="2200" dirty="0"/>
          </a:p>
        </p:txBody>
      </p:sp>
      <p:sp>
        <p:nvSpPr>
          <p:cNvPr id="11" name="Text 9"/>
          <p:cNvSpPr/>
          <p:nvPr/>
        </p:nvSpPr>
        <p:spPr>
          <a:xfrm>
            <a:off x="640080" y="2029968"/>
            <a:ext cx="1097280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mardi 27 octobre 2026. Lieu : Mali. Actualité sécuritaire. Une seule source à ce stade (Mali 24)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Mali 24 : </a:t>
            </a:r>
            <a:pPr indent="0" marL="0">
              <a:spcAft>
                <a:spcPts val="300"/>
              </a:spcAft>
              <a:buNone/>
            </a:pPr>
            <a:r>
              <a:rPr lang="en-US" sz="1400" i="1" dirty="0">
                <a:solidFill>
                  <a:srgbClr val="1F2937"/>
                </a:solidFill>
                <a:latin typeface="Calibri" pitchFamily="34" charset="0"/>
                <a:ea typeface="Calibri" pitchFamily="34" charset="-122"/>
                <a:cs typeface="Calibri" pitchFamily="34" charset="-120"/>
              </a:rPr>
              <a:t>« Porté disparu depuis le vendredi 23 octobre 2026 à 19 heures, le corps sans vie du jeune Bocar Ly, commerçant L’article Mali : Ce que l’on sait de la mort mystérieuse du jeune commerçant Bocar Ly est apparu en premier sur Mali 24. »</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sécuritaire à suivre : vérifier son incidence sur les sites, les itinéraires et les personnels présents dans la zone.</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Mali 24</a:t>
            </a:r>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 — 27 octobre 2026, 14 h UTC   ·   Cotation : Non confirmé</a:t>
            </a:r>
            <a:endParaRPr lang="en-US" sz="14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Mali</a:t>
            </a:r>
            <a:endParaRPr lang="en-US" sz="2800" dirty="0"/>
          </a:p>
        </p:txBody>
      </p:sp>
      <p:sp>
        <p:nvSpPr>
          <p:cNvPr id="4" name="Shape 2"/>
          <p:cNvSpPr/>
          <p:nvPr/>
        </p:nvSpPr>
        <p:spPr>
          <a:xfrm>
            <a:off x="10881360" y="274320"/>
            <a:ext cx="301752" cy="566928"/>
          </a:xfrm>
          <a:prstGeom prst="rect">
            <a:avLst/>
          </a:prstGeom>
          <a:solidFill>
            <a:srgbClr val="14B53A"/>
          </a:solidFill>
          <a:ln w="12700">
            <a:solidFill>
              <a:srgbClr val="14B53A"/>
            </a:solidFill>
            <a:prstDash val="solid"/>
          </a:ln>
        </p:spPr>
      </p:sp>
      <p:sp>
        <p:nvSpPr>
          <p:cNvPr id="5" name="Shape 3"/>
          <p:cNvSpPr/>
          <p:nvPr/>
        </p:nvSpPr>
        <p:spPr>
          <a:xfrm>
            <a:off x="11183112" y="274320"/>
            <a:ext cx="301752" cy="566928"/>
          </a:xfrm>
          <a:prstGeom prst="rect">
            <a:avLst/>
          </a:prstGeom>
          <a:solidFill>
            <a:srgbClr val="FCD116"/>
          </a:solidFill>
          <a:ln w="12700">
            <a:solidFill>
              <a:srgbClr val="FCD116"/>
            </a:solidFill>
            <a:prstDash val="solid"/>
          </a:ln>
        </p:spPr>
      </p:sp>
      <p:sp>
        <p:nvSpPr>
          <p:cNvPr id="6" name="Shape 4"/>
          <p:cNvSpPr/>
          <p:nvPr/>
        </p:nvSpPr>
        <p:spPr>
          <a:xfrm>
            <a:off x="11484864" y="274320"/>
            <a:ext cx="301752" cy="566928"/>
          </a:xfrm>
          <a:prstGeom prst="rect">
            <a:avLst/>
          </a:prstGeom>
          <a:solidFill>
            <a:srgbClr val="CE1126"/>
          </a:solidFill>
          <a:ln w="12700">
            <a:solidFill>
              <a:srgbClr val="CE1126"/>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TOURNÉE DES LAURÉATS DE LA BIENNALE DE TOMBOUCTOU 2025 : LE COUP D’ENVOI DONNÉ À BOUGOUNI</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Mali 24</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12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TREIZE CIVILS TUÉS PAR UNE FRAPPE DE DRONE DE L'ARMÉE, DANS LA RÉGION DE TOMBOUCTOU</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AllAfrica (ML) · RFI Afrique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ENLÈVEMENT DE QUATRE ENSEIGNANTS À SAN : LA SYNERGIE DES SYNDICATS DE L’ÉDUCATION DE LA RÉGION EXIGE LEUR LIBÉRATION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Mali 24</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16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MALI : DISPARITIONS INQUIÉTANTES, MORTS SUSPECTES… QUE SE PASSE-T-IL AVEC LA JEUNESSE MALIENNE ?</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Maliactu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13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ATTAQUE DE TRAPPES ET LA VERRIÈRE : LA QUALIFICATION DU MOBILE RACISTE AU CŒUR DU DÉBAT SÉCURITAIRE ET SOCIÉTAL</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Maliactu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10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Mali</a:t>
            </a:r>
            <a:endParaRPr lang="en-US" sz="2800" dirty="0"/>
          </a:p>
        </p:txBody>
      </p:sp>
      <p:sp>
        <p:nvSpPr>
          <p:cNvPr id="4" name="Shape 2"/>
          <p:cNvSpPr/>
          <p:nvPr/>
        </p:nvSpPr>
        <p:spPr>
          <a:xfrm>
            <a:off x="10881360" y="274320"/>
            <a:ext cx="301752" cy="566928"/>
          </a:xfrm>
          <a:prstGeom prst="rect">
            <a:avLst/>
          </a:prstGeom>
          <a:solidFill>
            <a:srgbClr val="14B53A"/>
          </a:solidFill>
          <a:ln w="12700">
            <a:solidFill>
              <a:srgbClr val="14B53A"/>
            </a:solidFill>
            <a:prstDash val="solid"/>
          </a:ln>
        </p:spPr>
      </p:sp>
      <p:sp>
        <p:nvSpPr>
          <p:cNvPr id="5" name="Shape 3"/>
          <p:cNvSpPr/>
          <p:nvPr/>
        </p:nvSpPr>
        <p:spPr>
          <a:xfrm>
            <a:off x="11183112" y="274320"/>
            <a:ext cx="301752" cy="566928"/>
          </a:xfrm>
          <a:prstGeom prst="rect">
            <a:avLst/>
          </a:prstGeom>
          <a:solidFill>
            <a:srgbClr val="FCD116"/>
          </a:solidFill>
          <a:ln w="12700">
            <a:solidFill>
              <a:srgbClr val="FCD116"/>
            </a:solidFill>
            <a:prstDash val="solid"/>
          </a:ln>
        </p:spPr>
      </p:sp>
      <p:sp>
        <p:nvSpPr>
          <p:cNvPr id="6" name="Shape 4"/>
          <p:cNvSpPr/>
          <p:nvPr/>
        </p:nvSpPr>
        <p:spPr>
          <a:xfrm>
            <a:off x="11484864" y="274320"/>
            <a:ext cx="301752" cy="566928"/>
          </a:xfrm>
          <a:prstGeom prst="rect">
            <a:avLst/>
          </a:prstGeom>
          <a:solidFill>
            <a:srgbClr val="CE1126"/>
          </a:solidFill>
          <a:ln w="12700">
            <a:solidFill>
              <a:srgbClr val="CE1126"/>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MALI : LE BILAN DE L'ATTAQUE MEURTRIÈRE DU WEEKEND DERNIER MONTE À 54 MORTS (ARMÉE)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Dakar Actu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25 octobre 2026, 4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BENSON DIAKITÉ, ANCIENNE GRANDE VOIX DE RFI, EST MORT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AllAfrica (ML) · RFI Afrique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23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LUTTE CONTRE LE TERRORISME À KAYES : LA POLICE FRAPPE AU CŒUR DES RÉSEAUX DE SOUTIEN LOGISTIQUE DES GAT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Maliactu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14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MALI : L’ARMÉE ET L’AFRICA CORPS, CONTRÔLÉ PAR LA RUSSIE, ONT COMMIS DE NOUVEAUX ABUS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HRW_fr sur X/Twitter</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22 octobre 2026, 4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III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Niger</a:t>
            </a:r>
            <a:endParaRPr lang="en-US" sz="2800" dirty="0"/>
          </a:p>
        </p:txBody>
      </p:sp>
      <p:sp>
        <p:nvSpPr>
          <p:cNvPr id="4" name="Shape 2"/>
          <p:cNvSpPr/>
          <p:nvPr/>
        </p:nvSpPr>
        <p:spPr>
          <a:xfrm>
            <a:off x="10881360" y="274320"/>
            <a:ext cx="905256" cy="188976"/>
          </a:xfrm>
          <a:prstGeom prst="rect">
            <a:avLst/>
          </a:prstGeom>
          <a:solidFill>
            <a:srgbClr val="E05206"/>
          </a:solidFill>
          <a:ln w="12700">
            <a:solidFill>
              <a:srgbClr val="E05206"/>
            </a:solidFill>
            <a:prstDash val="solid"/>
          </a:ln>
        </p:spPr>
      </p:sp>
      <p:sp>
        <p:nvSpPr>
          <p:cNvPr id="5" name="Shape 3"/>
          <p:cNvSpPr/>
          <p:nvPr/>
        </p:nvSpPr>
        <p:spPr>
          <a:xfrm>
            <a:off x="10881360" y="463296"/>
            <a:ext cx="905256" cy="188976"/>
          </a:xfrm>
          <a:prstGeom prst="rect">
            <a:avLst/>
          </a:prstGeom>
          <a:solidFill>
            <a:srgbClr val="FFFFFF"/>
          </a:solidFill>
          <a:ln w="12700">
            <a:solidFill>
              <a:srgbClr val="FFFFFF"/>
            </a:solidFill>
            <a:prstDash val="solid"/>
          </a:ln>
        </p:spPr>
      </p:sp>
      <p:sp>
        <p:nvSpPr>
          <p:cNvPr id="6" name="Shape 4"/>
          <p:cNvSpPr/>
          <p:nvPr/>
        </p:nvSpPr>
        <p:spPr>
          <a:xfrm>
            <a:off x="10881360" y="652272"/>
            <a:ext cx="905256" cy="188976"/>
          </a:xfrm>
          <a:prstGeom prst="rect">
            <a:avLst/>
          </a:prstGeom>
          <a:solidFill>
            <a:srgbClr val="0DB02B"/>
          </a:solidFill>
          <a:ln w="12700">
            <a:solidFill>
              <a:srgbClr val="0DB02B"/>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119 jours ; aucun signal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Frappe de drone à Agadez : le Niger convoque l’ambassadeur du Tchad et annonce des recours internationaux</a:t>
            </a:r>
            <a:endParaRPr lang="en-US" sz="2200" dirty="0"/>
          </a:p>
        </p:txBody>
      </p:sp>
      <p:sp>
        <p:nvSpPr>
          <p:cNvPr id="11" name="Text 9"/>
          <p:cNvSpPr/>
          <p:nvPr/>
        </p:nvSpPr>
        <p:spPr>
          <a:xfrm>
            <a:off x="640080" y="2029968"/>
            <a:ext cx="6812280" cy="3867912"/>
          </a:xfrm>
          <a:prstGeom prst="rect">
            <a:avLst/>
          </a:prstGeom>
          <a:noFill/>
          <a:ln/>
        </p:spPr>
        <p:txBody>
          <a:bodyPr wrap="square" rtlCol="0" anchor="t"/>
          <a:lstStyle/>
          <a:p>
            <a:pPr indent="0" marL="0">
              <a:spcBef>
                <a:spcPts val="800"/>
              </a:spcBef>
              <a:spcAft>
                <a:spcPts val="300"/>
              </a:spcAft>
              <a:buNone/>
            </a:pPr>
            <a:r>
              <a:rPr lang="en-US" sz="1200" b="1" dirty="0">
                <a:solidFill>
                  <a:srgbClr val="1F6B5E"/>
                </a:solidFill>
                <a:latin typeface="Calibri" pitchFamily="34" charset="0"/>
                <a:ea typeface="Calibri" pitchFamily="34" charset="-122"/>
                <a:cs typeface="Calibri" pitchFamily="34" charset="-120"/>
              </a:rPr>
              <a:t>Contexte</a:t>
            </a:r>
            <a:endParaRPr lang="en-US" sz="1100" dirty="0"/>
          </a:p>
          <a:p>
            <a:pPr indent="0" marL="0">
              <a:spcAft>
                <a:spcPts val="300"/>
              </a:spcAft>
              <a:buNone/>
            </a:pPr>
            <a:r>
              <a:rPr lang="en-US" sz="1100" dirty="0">
                <a:solidFill>
                  <a:srgbClr val="1F2937"/>
                </a:solidFill>
                <a:latin typeface="Calibri" pitchFamily="34" charset="0"/>
                <a:ea typeface="Calibri" pitchFamily="34" charset="-122"/>
                <a:cs typeface="Calibri" pitchFamily="34" charset="-120"/>
              </a:rPr>
              <a:t>Fait rapporté le mercredi 28 octobre 2026. Lieu : Niamey, Niger. Actualité politique. Repris par 8 médias distincts (Maliactu, RFI Afrique, Malijet, ANP — Agence Nigérienne Presse, Journal du Tchad, Tchadinfos, Africanews — Chaine panafricaine, Africanews) : le fait est recoupé.</a:t>
            </a:r>
            <a:endParaRPr lang="en-US" sz="1100" dirty="0"/>
          </a:p>
          <a:p>
            <a:pPr indent="0" marL="0">
              <a:spcBef>
                <a:spcPts val="800"/>
              </a:spcBef>
              <a:spcAft>
                <a:spcPts val="300"/>
              </a:spcAft>
              <a:buNone/>
            </a:pPr>
            <a:r>
              <a:rPr lang="en-US" sz="1200" b="1" dirty="0">
                <a:solidFill>
                  <a:srgbClr val="1F6B5E"/>
                </a:solidFill>
                <a:latin typeface="Calibri" pitchFamily="34" charset="0"/>
                <a:ea typeface="Calibri" pitchFamily="34" charset="-122"/>
                <a:cs typeface="Calibri" pitchFamily="34" charset="-120"/>
              </a:rPr>
              <a:t>Ce que rapportent les sources</a:t>
            </a:r>
            <a:endParaRPr lang="en-US" sz="1100" dirty="0"/>
          </a:p>
          <a:p>
            <a:pPr indent="0" marL="0">
              <a:spcAft>
                <a:spcPts val="300"/>
              </a:spcAft>
              <a:buNone/>
            </a:pPr>
            <a:r>
              <a:rPr lang="en-US" sz="1100" b="1" dirty="0">
                <a:solidFill>
                  <a:srgbClr val="1F2937"/>
                </a:solidFill>
                <a:latin typeface="Calibri" pitchFamily="34" charset="0"/>
                <a:ea typeface="Calibri" pitchFamily="34" charset="-122"/>
                <a:cs typeface="Calibri" pitchFamily="34" charset="-120"/>
              </a:rPr>
              <a:t>Maliactu : </a:t>
            </a:r>
            <a:pPr indent="0" marL="0">
              <a:spcAft>
                <a:spcPts val="300"/>
              </a:spcAft>
              <a:buNone/>
            </a:pPr>
            <a:r>
              <a:rPr lang="en-US" sz="1100" i="1" dirty="0">
                <a:solidFill>
                  <a:srgbClr val="1F2937"/>
                </a:solidFill>
                <a:latin typeface="Calibri" pitchFamily="34" charset="0"/>
                <a:ea typeface="Calibri" pitchFamily="34" charset="-122"/>
                <a:cs typeface="Calibri" pitchFamily="34" charset="-120"/>
              </a:rPr>
              <a:t>« Mali Actu - maliactu.net - Mali Actualités, Les Actus et Informations sur le Mali Mali Actu Frappe de drone à Agadez : le Niger convoque l’ambassadeur du Tchad et annonce des recours internationaux Les relations entre Niamey et N’Djamena connaissent une nouvelle tension après une frappe de drone signalée le 24 octobre dans la région nigérienne d’Agadez. »</a:t>
            </a:r>
            <a:endParaRPr lang="en-US" sz="1100" dirty="0"/>
          </a:p>
          <a:p>
            <a:pPr indent="0" marL="0">
              <a:spcAft>
                <a:spcPts val="300"/>
              </a:spcAft>
              <a:buNone/>
            </a:pPr>
            <a:r>
              <a:rPr lang="en-US" sz="1100" b="1" dirty="0">
                <a:solidFill>
                  <a:srgbClr val="1F2937"/>
                </a:solidFill>
                <a:latin typeface="Calibri" pitchFamily="34" charset="0"/>
                <a:ea typeface="Calibri" pitchFamily="34" charset="-122"/>
                <a:cs typeface="Calibri" pitchFamily="34" charset="-120"/>
              </a:rPr>
              <a:t>RFI Afrique : </a:t>
            </a:r>
            <a:pPr indent="0" marL="0">
              <a:spcAft>
                <a:spcPts val="300"/>
              </a:spcAft>
              <a:buNone/>
            </a:pPr>
            <a:r>
              <a:rPr lang="en-US" sz="1100" i="1" dirty="0">
                <a:solidFill>
                  <a:srgbClr val="1F2937"/>
                </a:solidFill>
                <a:latin typeface="Calibri" pitchFamily="34" charset="0"/>
                <a:ea typeface="Calibri" pitchFamily="34" charset="-122"/>
                <a:cs typeface="Calibri" pitchFamily="34" charset="-120"/>
              </a:rPr>
              <a:t>« Le Niger accuse son voisin d’avoir mené « une frappe aérienne par drone menée depuis le territoire du Tchad » et à laquelle aurait, selon lui, participé la France. L’incident aurait eu lieu le 24 octobre à 1 heure du matin à l’est d’Emi Lulu, non loin des frontières algérienne et libyenne. »</a:t>
            </a:r>
            <a:endParaRPr lang="en-US" sz="1100" dirty="0"/>
          </a:p>
          <a:p>
            <a:pPr indent="0" marL="0">
              <a:spcBef>
                <a:spcPts val="800"/>
              </a:spcBef>
              <a:spcAft>
                <a:spcPts val="300"/>
              </a:spcAft>
              <a:buNone/>
            </a:pPr>
            <a:r>
              <a:rPr lang="en-US" sz="1200" b="1" dirty="0">
                <a:solidFill>
                  <a:srgbClr val="1F6B5E"/>
                </a:solidFill>
                <a:latin typeface="Calibri" pitchFamily="34" charset="0"/>
                <a:ea typeface="Calibri" pitchFamily="34" charset="-122"/>
                <a:cs typeface="Calibri" pitchFamily="34" charset="-120"/>
              </a:rPr>
              <a:t>Enjeux sûreté</a:t>
            </a:r>
            <a:endParaRPr lang="en-US" sz="1100" dirty="0"/>
          </a:p>
          <a:p>
            <a:pPr indent="0" marL="0">
              <a:spcAft>
                <a:spcPts val="300"/>
              </a:spcAft>
              <a:buNone/>
            </a:pPr>
            <a:r>
              <a:rPr lang="en-US" sz="1100" dirty="0">
                <a:solidFill>
                  <a:srgbClr val="1F2937"/>
                </a:solidFill>
                <a:latin typeface="Calibri" pitchFamily="34" charset="0"/>
                <a:ea typeface="Calibri" pitchFamily="34" charset="-122"/>
                <a:cs typeface="Calibri" pitchFamily="34" charset="-120"/>
              </a:rPr>
              <a:t>Menace armée sur les axes et localités de la zone : réévaluer les déplacements terrestres (horaires, convois, itinéraires de repli) et les consignes des sites et des personnels présents à proximité.</a:t>
            </a:r>
            <a:endParaRPr lang="en-US" sz="1100" dirty="0"/>
          </a:p>
          <a:p>
            <a:pPr indent="0" marL="0">
              <a:spcBef>
                <a:spcPts val="800"/>
              </a:spcBef>
              <a:spcAft>
                <a:spcPts val="300"/>
              </a:spcAft>
              <a:buNone/>
            </a:pPr>
            <a:r>
              <a:rPr lang="en-US" sz="1100" b="1" dirty="0">
                <a:solidFill>
                  <a:srgbClr val="1F2937"/>
                </a:solidFill>
                <a:latin typeface="Calibri" pitchFamily="34" charset="0"/>
                <a:ea typeface="Calibri" pitchFamily="34" charset="-122"/>
                <a:cs typeface="Calibri" pitchFamily="34" charset="-120"/>
              </a:rPr>
              <a:t>Sources : </a:t>
            </a:r>
            <a:pPr indent="0" marL="0">
              <a:spcAft>
                <a:spcPts val="300"/>
              </a:spcAft>
              <a:buNone/>
            </a:pPr>
            <a:r>
              <a:rPr lang="en-US" sz="11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Maliactu</a:t>
            </a:r>
            <a:pPr indent="0" marL="0">
              <a:spcAft>
                <a:spcPts val="300"/>
              </a:spcAft>
              <a:buNone/>
            </a:pPr>
            <a:r>
              <a:rPr lang="en-US" sz="11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 RFI Afrique</a:t>
            </a:r>
            <a:pPr indent="0" marL="0">
              <a:spcAft>
                <a:spcPts val="300"/>
              </a:spcAft>
              <a:buNone/>
            </a:pPr>
            <a:r>
              <a:rPr lang="en-US" sz="11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Malijet</a:t>
            </a:r>
            <a:pPr indent="0" marL="0">
              <a:spcAft>
                <a:spcPts val="300"/>
              </a:spcAft>
              <a:buNone/>
            </a:pPr>
            <a:r>
              <a:rPr lang="en-US" sz="11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 · ANP — Agence Nigérienne Presse</a:t>
            </a:r>
            <a:pPr indent="0" marL="0">
              <a:spcAft>
                <a:spcPts val="300"/>
              </a:spcAft>
              <a:buNone/>
            </a:pPr>
            <a:r>
              <a:rPr lang="en-US" sz="1100" dirty="0">
                <a:solidFill>
                  <a:srgbClr val="1F2937"/>
                </a:solidFill>
                <a:latin typeface="Calibri" pitchFamily="34" charset="0"/>
                <a:ea typeface="Calibri" pitchFamily="34" charset="-122"/>
                <a:cs typeface="Calibri" pitchFamily="34" charset="-120"/>
              </a:rPr>
              <a:t> · Journal du Tchad · Tchadinfos · Africanews — Chaine panafricaine · Africanews</a:t>
            </a:r>
            <a:pPr indent="0" marL="0">
              <a:spcAft>
                <a:spcPts val="300"/>
              </a:spcAft>
              <a:buNone/>
            </a:pPr>
            <a:r>
              <a:rPr lang="en-US" sz="1100" b="1" dirty="0">
                <a:solidFill>
                  <a:srgbClr val="1F2937"/>
                </a:solidFill>
                <a:latin typeface="Calibri" pitchFamily="34" charset="0"/>
                <a:ea typeface="Calibri" pitchFamily="34" charset="-122"/>
                <a:cs typeface="Calibri" pitchFamily="34" charset="-120"/>
              </a:rPr>
              <a:t> — 28 octobre 2026, 7 h UTC   ·   Cotation : Confirmé</a:t>
            </a:r>
            <a:endParaRPr lang="en-US" sz="1100" dirty="0"/>
          </a:p>
        </p:txBody>
      </p:sp>
      <p:pic>
        <p:nvPicPr>
          <p:cNvPr id="12" name="Image 0" descr="preencoded.png">
            <a:hlinkClick r:id="rId6" tooltip=""/>
          </p:cNvPr>
          <p:cNvPicPr>
            <a:picLocks noChangeAspect="1"/>
          </p:cNvPicPr>
          <p:nvPr/>
        </p:nvPicPr>
        <p:blipFill>
          <a:blip r:embed="rId5"/>
          <a:stretch>
            <a:fillRect/>
          </a:stretch>
        </p:blipFill>
        <p:spPr>
          <a:xfrm>
            <a:off x="7635240" y="2075688"/>
            <a:ext cx="4114800" cy="2314575"/>
          </a:xfrm>
          <a:prstGeom prst="rect">
            <a:avLst/>
          </a:prstGeom>
        </p:spPr>
      </p:pic>
      <p:sp>
        <p:nvSpPr>
          <p:cNvPr id="13" name="Text 10"/>
          <p:cNvSpPr/>
          <p:nvPr/>
        </p:nvSpPr>
        <p:spPr>
          <a:xfrm>
            <a:off x="7635240" y="4426839"/>
            <a:ext cx="4114800" cy="256032"/>
          </a:xfrm>
          <a:prstGeom prst="rect">
            <a:avLst/>
          </a:prstGeom>
          <a:noFill/>
          <a:ln/>
        </p:spPr>
        <p:txBody>
          <a:bodyPr wrap="square" rtlCol="0" anchor="ctr"/>
          <a:lstStyle/>
          <a:p>
            <a:pPr algn="r" indent="0" marL="0">
              <a:buNone/>
            </a:pPr>
            <a:r>
              <a:rPr lang="en-US" sz="900" u="sng" dirty="0">
                <a:solidFill>
                  <a:srgbClr val="1F6B5E"/>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Photo : © maliactu.net</a:t>
            </a:r>
            <a:endParaRPr lang="en-US" sz="900" dirty="0"/>
          </a:p>
        </p:txBody>
      </p:sp>
      <p:sp>
        <p:nvSpPr>
          <p:cNvPr id="14" name="Text 11"/>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5" name="Text 12"/>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III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Niger</a:t>
            </a:r>
            <a:endParaRPr lang="en-US" sz="2800" dirty="0"/>
          </a:p>
        </p:txBody>
      </p:sp>
      <p:sp>
        <p:nvSpPr>
          <p:cNvPr id="4" name="Shape 2"/>
          <p:cNvSpPr/>
          <p:nvPr/>
        </p:nvSpPr>
        <p:spPr>
          <a:xfrm>
            <a:off x="10881360" y="274320"/>
            <a:ext cx="905256" cy="188976"/>
          </a:xfrm>
          <a:prstGeom prst="rect">
            <a:avLst/>
          </a:prstGeom>
          <a:solidFill>
            <a:srgbClr val="E05206"/>
          </a:solidFill>
          <a:ln w="12700">
            <a:solidFill>
              <a:srgbClr val="E05206"/>
            </a:solidFill>
            <a:prstDash val="solid"/>
          </a:ln>
        </p:spPr>
      </p:sp>
      <p:sp>
        <p:nvSpPr>
          <p:cNvPr id="5" name="Shape 3"/>
          <p:cNvSpPr/>
          <p:nvPr/>
        </p:nvSpPr>
        <p:spPr>
          <a:xfrm>
            <a:off x="10881360" y="463296"/>
            <a:ext cx="905256" cy="188976"/>
          </a:xfrm>
          <a:prstGeom prst="rect">
            <a:avLst/>
          </a:prstGeom>
          <a:solidFill>
            <a:srgbClr val="FFFFFF"/>
          </a:solidFill>
          <a:ln w="12700">
            <a:solidFill>
              <a:srgbClr val="FFFFFF"/>
            </a:solidFill>
            <a:prstDash val="solid"/>
          </a:ln>
        </p:spPr>
      </p:sp>
      <p:sp>
        <p:nvSpPr>
          <p:cNvPr id="6" name="Shape 4"/>
          <p:cNvSpPr/>
          <p:nvPr/>
        </p:nvSpPr>
        <p:spPr>
          <a:xfrm>
            <a:off x="10881360" y="652272"/>
            <a:ext cx="905256" cy="188976"/>
          </a:xfrm>
          <a:prstGeom prst="rect">
            <a:avLst/>
          </a:prstGeom>
          <a:solidFill>
            <a:srgbClr val="0DB02B"/>
          </a:solidFill>
          <a:ln w="12700">
            <a:solidFill>
              <a:srgbClr val="0DB02B"/>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NIGER GOVERNOR’S CONVOY CRASH KILLS FOUR STUDENTS, DRIVER</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Premium Times · Vanguard</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28 octobre 2026, 6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TCHAD-NIGER : UNE NOUVELLE ESCALADE ENTRE MAHAMAT IDRISS DÉBY ET ABDOURAHAMANE TIANI</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Jeune Afrique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16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LE PAYS DÉNONCE UNE ATTAQUE DE DRONE DU TCHAD AVEC «L'APPUI DE LA FRANCE»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AllAfrica (NE) · RFI Afrique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LANCEMENT OFFICIEL DE LA CARAVANE DE SENSIBILISATION ET DE FORMATION SUR LES BONNES PRATIQUES DE GREFFES ET PARQUETS ET L’ÉTABLISSEMENT DES PIÈCES D’EXÉCUTION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ANP — Agence Nigérienne Presse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20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EN BREF: ATTAQUE, AGRICULTURE, SPORT …LES INFORMATIONS DE LA SEMAINE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Studio Kalangou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14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III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Niger</a:t>
            </a:r>
            <a:endParaRPr lang="en-US" sz="2800" dirty="0"/>
          </a:p>
        </p:txBody>
      </p:sp>
      <p:sp>
        <p:nvSpPr>
          <p:cNvPr id="4" name="Shape 2"/>
          <p:cNvSpPr/>
          <p:nvPr/>
        </p:nvSpPr>
        <p:spPr>
          <a:xfrm>
            <a:off x="10881360" y="274320"/>
            <a:ext cx="905256" cy="188976"/>
          </a:xfrm>
          <a:prstGeom prst="rect">
            <a:avLst/>
          </a:prstGeom>
          <a:solidFill>
            <a:srgbClr val="E05206"/>
          </a:solidFill>
          <a:ln w="12700">
            <a:solidFill>
              <a:srgbClr val="E05206"/>
            </a:solidFill>
            <a:prstDash val="solid"/>
          </a:ln>
        </p:spPr>
      </p:sp>
      <p:sp>
        <p:nvSpPr>
          <p:cNvPr id="5" name="Shape 3"/>
          <p:cNvSpPr/>
          <p:nvPr/>
        </p:nvSpPr>
        <p:spPr>
          <a:xfrm>
            <a:off x="10881360" y="463296"/>
            <a:ext cx="905256" cy="188976"/>
          </a:xfrm>
          <a:prstGeom prst="rect">
            <a:avLst/>
          </a:prstGeom>
          <a:solidFill>
            <a:srgbClr val="FFFFFF"/>
          </a:solidFill>
          <a:ln w="12700">
            <a:solidFill>
              <a:srgbClr val="FFFFFF"/>
            </a:solidFill>
            <a:prstDash val="solid"/>
          </a:ln>
        </p:spPr>
      </p:sp>
      <p:sp>
        <p:nvSpPr>
          <p:cNvPr id="6" name="Shape 4"/>
          <p:cNvSpPr/>
          <p:nvPr/>
        </p:nvSpPr>
        <p:spPr>
          <a:xfrm>
            <a:off x="10881360" y="652272"/>
            <a:ext cx="905256" cy="188976"/>
          </a:xfrm>
          <a:prstGeom prst="rect">
            <a:avLst/>
          </a:prstGeom>
          <a:solidFill>
            <a:srgbClr val="0DB02B"/>
          </a:solidFill>
          <a:ln w="12700">
            <a:solidFill>
              <a:srgbClr val="0DB02B"/>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POURQUOI N’DJAMÉNA SORT ENFIN DE SON SILENCE FACE À NIAMEY ?</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Tchadinfos</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AVIS À MANIFESTATION D’INTÉRÊT N°003/CA/TAFOUK TV/2026</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Le Sahel</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14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AGADEZ : LE GOUVERNEUR PRÉSIDE UNE RÉUNION ÉLARGIE DU CONSEIL RÉGIONAL DE SÉCURITÉ</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ANP — Agence Nigérienne Presse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13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ALERTE – LA PRÉSIDENCE ANNONCE L’ENVOI D’UNITÉS DE L’ARMÉE NATIONALE AU NIGER</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tsa-algerie.com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15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Ghana</a:t>
            </a:r>
            <a:endParaRPr lang="en-US" sz="2800" dirty="0"/>
          </a:p>
        </p:txBody>
      </p:sp>
      <p:sp>
        <p:nvSpPr>
          <p:cNvPr id="4" name="Shape 2"/>
          <p:cNvSpPr/>
          <p:nvPr/>
        </p:nvSpPr>
        <p:spPr>
          <a:xfrm>
            <a:off x="10881360" y="274320"/>
            <a:ext cx="905256" cy="188976"/>
          </a:xfrm>
          <a:prstGeom prst="rect">
            <a:avLst/>
          </a:prstGeom>
          <a:solidFill>
            <a:srgbClr val="CE1126"/>
          </a:solidFill>
          <a:ln w="12700">
            <a:solidFill>
              <a:srgbClr val="CE1126"/>
            </a:solidFill>
            <a:prstDash val="solid"/>
          </a:ln>
        </p:spPr>
      </p:sp>
      <p:sp>
        <p:nvSpPr>
          <p:cNvPr id="5" name="Shape 3"/>
          <p:cNvSpPr/>
          <p:nvPr/>
        </p:nvSpPr>
        <p:spPr>
          <a:xfrm>
            <a:off x="10881360" y="463296"/>
            <a:ext cx="905256" cy="188976"/>
          </a:xfrm>
          <a:prstGeom prst="rect">
            <a:avLst/>
          </a:prstGeom>
          <a:solidFill>
            <a:srgbClr val="FCD116"/>
          </a:solidFill>
          <a:ln w="12700">
            <a:solidFill>
              <a:srgbClr val="FCD116"/>
            </a:solidFill>
            <a:prstDash val="solid"/>
          </a:ln>
        </p:spPr>
      </p:sp>
      <p:sp>
        <p:nvSpPr>
          <p:cNvPr id="6" name="Shape 4"/>
          <p:cNvSpPr/>
          <p:nvPr/>
        </p:nvSpPr>
        <p:spPr>
          <a:xfrm>
            <a:off x="10881360" y="652272"/>
            <a:ext cx="905256" cy="188976"/>
          </a:xfrm>
          <a:prstGeom prst="rect">
            <a:avLst/>
          </a:prstGeom>
          <a:solidFill>
            <a:srgbClr val="006B3F"/>
          </a:solidFill>
          <a:ln w="12700">
            <a:solidFill>
              <a:srgbClr val="006B3F"/>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121 jours ; aucun signal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Woman killed by Tema-Afienya train as residents demand footbridge</a:t>
            </a:r>
            <a:endParaRPr lang="en-US" sz="2200" dirty="0"/>
          </a:p>
        </p:txBody>
      </p:sp>
      <p:sp>
        <p:nvSpPr>
          <p:cNvPr id="11" name="Text 9"/>
          <p:cNvSpPr/>
          <p:nvPr/>
        </p:nvSpPr>
        <p:spPr>
          <a:xfrm>
            <a:off x="640080" y="2029968"/>
            <a:ext cx="681228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mercredi 28 octobre 2026. Lieu : Ghana. Actualité sécuritaire. Une seule source à ce stade (JoyOnline)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JoyOnline : </a:t>
            </a:r>
            <a:pPr indent="0" marL="0">
              <a:spcAft>
                <a:spcPts val="300"/>
              </a:spcAft>
              <a:buNone/>
            </a:pPr>
            <a:r>
              <a:rPr lang="en-US" sz="1400" i="1" dirty="0">
                <a:solidFill>
                  <a:srgbClr val="1F2937"/>
                </a:solidFill>
                <a:latin typeface="Calibri" pitchFamily="34" charset="0"/>
                <a:ea typeface="Calibri" pitchFamily="34" charset="-122"/>
                <a:cs typeface="Calibri" pitchFamily="34" charset="-120"/>
              </a:rPr>
              <a:t>« Une femme non identifiée a été tuée après avoir été heurtée par un train de voyageurs sur la ligne ferroviaire Tema-Afienya à Mataheko-Sebrepo, incitant les habitants à renouveler leurs appels en faveur d'une passerelle pour assurer une traversée plus sûre entre les communautés de la région. »</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sécuritaire à suivre : vérifier son incidence sur les sites, les itinéraires et les personnels présents dans la zone.</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 — 28 octobre 2026, 7 h UTC   ·   Cotation : Probable</a:t>
            </a:r>
            <a:endParaRPr lang="en-US" sz="1400" dirty="0"/>
          </a:p>
        </p:txBody>
      </p:sp>
      <p:pic>
        <p:nvPicPr>
          <p:cNvPr id="12" name="Image 0" descr="preencoded.png">
            <a:hlinkClick r:id="rId3" tooltip=""/>
          </p:cNvPr>
          <p:cNvPicPr>
            <a:picLocks noChangeAspect="1"/>
          </p:cNvPicPr>
          <p:nvPr/>
        </p:nvPicPr>
        <p:blipFill>
          <a:blip r:embed="rId2"/>
          <a:stretch>
            <a:fillRect/>
          </a:stretch>
        </p:blipFill>
        <p:spPr>
          <a:xfrm>
            <a:off x="7635240" y="2075688"/>
            <a:ext cx="4114800" cy="2467273"/>
          </a:xfrm>
          <a:prstGeom prst="rect">
            <a:avLst/>
          </a:prstGeom>
        </p:spPr>
      </p:pic>
      <p:sp>
        <p:nvSpPr>
          <p:cNvPr id="13" name="Text 10"/>
          <p:cNvSpPr/>
          <p:nvPr/>
        </p:nvSpPr>
        <p:spPr>
          <a:xfrm>
            <a:off x="7635240" y="4579537"/>
            <a:ext cx="4114800" cy="256032"/>
          </a:xfrm>
          <a:prstGeom prst="rect">
            <a:avLst/>
          </a:prstGeom>
          <a:noFill/>
          <a:ln/>
        </p:spPr>
        <p:txBody>
          <a:bodyPr wrap="square" rtlCol="0" anchor="ctr"/>
          <a:lstStyle/>
          <a:p>
            <a:pPr algn="r" indent="0" marL="0">
              <a:buNone/>
            </a:pPr>
            <a:r>
              <a:rPr lang="en-US" sz="9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Photo : © myjoyonline.com</a:t>
            </a:r>
            <a:endParaRPr lang="en-US" sz="900" dirty="0"/>
          </a:p>
        </p:txBody>
      </p:sp>
      <p:sp>
        <p:nvSpPr>
          <p:cNvPr id="14" name="Text 11"/>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5" name="Text 12"/>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Ghana</a:t>
            </a:r>
            <a:endParaRPr lang="en-US" sz="2800" dirty="0"/>
          </a:p>
        </p:txBody>
      </p:sp>
      <p:sp>
        <p:nvSpPr>
          <p:cNvPr id="4" name="Shape 2"/>
          <p:cNvSpPr/>
          <p:nvPr/>
        </p:nvSpPr>
        <p:spPr>
          <a:xfrm>
            <a:off x="10881360" y="274320"/>
            <a:ext cx="905256" cy="188976"/>
          </a:xfrm>
          <a:prstGeom prst="rect">
            <a:avLst/>
          </a:prstGeom>
          <a:solidFill>
            <a:srgbClr val="CE1126"/>
          </a:solidFill>
          <a:ln w="12700">
            <a:solidFill>
              <a:srgbClr val="CE1126"/>
            </a:solidFill>
            <a:prstDash val="solid"/>
          </a:ln>
        </p:spPr>
      </p:sp>
      <p:sp>
        <p:nvSpPr>
          <p:cNvPr id="5" name="Shape 3"/>
          <p:cNvSpPr/>
          <p:nvPr/>
        </p:nvSpPr>
        <p:spPr>
          <a:xfrm>
            <a:off x="10881360" y="463296"/>
            <a:ext cx="905256" cy="188976"/>
          </a:xfrm>
          <a:prstGeom prst="rect">
            <a:avLst/>
          </a:prstGeom>
          <a:solidFill>
            <a:srgbClr val="FCD116"/>
          </a:solidFill>
          <a:ln w="12700">
            <a:solidFill>
              <a:srgbClr val="FCD116"/>
            </a:solidFill>
            <a:prstDash val="solid"/>
          </a:ln>
        </p:spPr>
      </p:sp>
      <p:sp>
        <p:nvSpPr>
          <p:cNvPr id="6" name="Shape 4"/>
          <p:cNvSpPr/>
          <p:nvPr/>
        </p:nvSpPr>
        <p:spPr>
          <a:xfrm>
            <a:off x="10881360" y="652272"/>
            <a:ext cx="905256" cy="188976"/>
          </a:xfrm>
          <a:prstGeom prst="rect">
            <a:avLst/>
          </a:prstGeom>
          <a:solidFill>
            <a:srgbClr val="006B3F"/>
          </a:solidFill>
          <a:ln w="12700">
            <a:solidFill>
              <a:srgbClr val="006B3F"/>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SEVEN SHOT DEAD BY GUNMEN AT CHURCH FUNERAL IN JORDAN, OFFICIALS SAY</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18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NPP WALEWALE CONSTITUENCY CONDEMNS PERSONAL ATTACKS AGAINST MP, URGES PARTY DISCIPLINE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15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GAF TO STAGE LAND COMBAT FIREPOWER DEMONSTRATION AT BUNDASE ON OCTOBER 30</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16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LES FORTES PLUIES, PRINCIPALE MENACE POUR LA CULTURE DU CACAO</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AllAfrica (GH)</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16 octobre 2026, 7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LE PRÉSIDENT DU GRASAG APPELLE À UN FINANCEMENT DURABLE DE LA RECHERCHE AGRICOLE EN AFRIQUE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Ghana</a:t>
            </a:r>
            <a:endParaRPr lang="en-US" sz="2800" dirty="0"/>
          </a:p>
        </p:txBody>
      </p:sp>
      <p:sp>
        <p:nvSpPr>
          <p:cNvPr id="4" name="Shape 2"/>
          <p:cNvSpPr/>
          <p:nvPr/>
        </p:nvSpPr>
        <p:spPr>
          <a:xfrm>
            <a:off x="10881360" y="274320"/>
            <a:ext cx="905256" cy="188976"/>
          </a:xfrm>
          <a:prstGeom prst="rect">
            <a:avLst/>
          </a:prstGeom>
          <a:solidFill>
            <a:srgbClr val="CE1126"/>
          </a:solidFill>
          <a:ln w="12700">
            <a:solidFill>
              <a:srgbClr val="CE1126"/>
            </a:solidFill>
            <a:prstDash val="solid"/>
          </a:ln>
        </p:spPr>
      </p:sp>
      <p:sp>
        <p:nvSpPr>
          <p:cNvPr id="5" name="Shape 3"/>
          <p:cNvSpPr/>
          <p:nvPr/>
        </p:nvSpPr>
        <p:spPr>
          <a:xfrm>
            <a:off x="10881360" y="463296"/>
            <a:ext cx="905256" cy="188976"/>
          </a:xfrm>
          <a:prstGeom prst="rect">
            <a:avLst/>
          </a:prstGeom>
          <a:solidFill>
            <a:srgbClr val="FCD116"/>
          </a:solidFill>
          <a:ln w="12700">
            <a:solidFill>
              <a:srgbClr val="FCD116"/>
            </a:solidFill>
            <a:prstDash val="solid"/>
          </a:ln>
        </p:spPr>
      </p:sp>
      <p:sp>
        <p:nvSpPr>
          <p:cNvPr id="6" name="Shape 4"/>
          <p:cNvSpPr/>
          <p:nvPr/>
        </p:nvSpPr>
        <p:spPr>
          <a:xfrm>
            <a:off x="10881360" y="652272"/>
            <a:ext cx="905256" cy="188976"/>
          </a:xfrm>
          <a:prstGeom prst="rect">
            <a:avLst/>
          </a:prstGeom>
          <a:solidFill>
            <a:srgbClr val="006B3F"/>
          </a:solidFill>
          <a:ln w="12700">
            <a:solidFill>
              <a:srgbClr val="006B3F"/>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LE GHANA ÉLABORE SON PREMIER PLAN D’ACTION NATIONAL SUR LA JEUNESSE, LA PAIX ET LA SÉCURITÉ – OSMAN AYARIGA</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18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THREE ARRESTED IN ATEWA FOREST AS NAIMOS LAUNCHES OPERATION GREEN SHIELD</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17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GHANA CHALLENGES UN TO TURN HISTORICAL JUSTICE PROMISES INTO ACTION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GBC Ghana 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15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GALAMSEY PERSISTERA SI LES FINANCIERS NE SONT PAS TOUCHÉS — ANALYSTE EN SÉCURITÉ</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GBC Ghana 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12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Togo</a:t>
            </a:r>
            <a:endParaRPr lang="en-US" sz="2800" dirty="0"/>
          </a:p>
        </p:txBody>
      </p:sp>
      <p:sp>
        <p:nvSpPr>
          <p:cNvPr id="4" name="Shape 2"/>
          <p:cNvSpPr/>
          <p:nvPr/>
        </p:nvSpPr>
        <p:spPr>
          <a:xfrm>
            <a:off x="10881360" y="274320"/>
            <a:ext cx="905256" cy="113386"/>
          </a:xfrm>
          <a:prstGeom prst="rect">
            <a:avLst/>
          </a:prstGeom>
          <a:solidFill>
            <a:srgbClr val="006A4E"/>
          </a:solidFill>
          <a:ln w="12700">
            <a:solidFill>
              <a:srgbClr val="006A4E"/>
            </a:solidFill>
            <a:prstDash val="solid"/>
          </a:ln>
        </p:spPr>
      </p:sp>
      <p:sp>
        <p:nvSpPr>
          <p:cNvPr id="5" name="Shape 3"/>
          <p:cNvSpPr/>
          <p:nvPr/>
        </p:nvSpPr>
        <p:spPr>
          <a:xfrm>
            <a:off x="10881360" y="387706"/>
            <a:ext cx="905256" cy="113386"/>
          </a:xfrm>
          <a:prstGeom prst="rect">
            <a:avLst/>
          </a:prstGeom>
          <a:solidFill>
            <a:srgbClr val="FFCE00"/>
          </a:solidFill>
          <a:ln w="12700">
            <a:solidFill>
              <a:srgbClr val="FFCE00"/>
            </a:solidFill>
            <a:prstDash val="solid"/>
          </a:ln>
        </p:spPr>
      </p:sp>
      <p:sp>
        <p:nvSpPr>
          <p:cNvPr id="6" name="Shape 4"/>
          <p:cNvSpPr/>
          <p:nvPr/>
        </p:nvSpPr>
        <p:spPr>
          <a:xfrm>
            <a:off x="10881360" y="501091"/>
            <a:ext cx="905256" cy="113386"/>
          </a:xfrm>
          <a:prstGeom prst="rect">
            <a:avLst/>
          </a:prstGeom>
          <a:solidFill>
            <a:srgbClr val="006A4E"/>
          </a:solidFill>
          <a:ln w="12700">
            <a:solidFill>
              <a:srgbClr val="006A4E"/>
            </a:solidFill>
            <a:prstDash val="solid"/>
          </a:ln>
        </p:spPr>
      </p:sp>
      <p:sp>
        <p:nvSpPr>
          <p:cNvPr id="7" name="Shape 5"/>
          <p:cNvSpPr/>
          <p:nvPr/>
        </p:nvSpPr>
        <p:spPr>
          <a:xfrm>
            <a:off x="10881360" y="614477"/>
            <a:ext cx="905256" cy="113386"/>
          </a:xfrm>
          <a:prstGeom prst="rect">
            <a:avLst/>
          </a:prstGeom>
          <a:solidFill>
            <a:srgbClr val="FFCE00"/>
          </a:solidFill>
          <a:ln w="12700">
            <a:solidFill>
              <a:srgbClr val="FFCE00"/>
            </a:solidFill>
            <a:prstDash val="solid"/>
          </a:ln>
        </p:spPr>
      </p:sp>
      <p:sp>
        <p:nvSpPr>
          <p:cNvPr id="8" name="Shape 6"/>
          <p:cNvSpPr/>
          <p:nvPr/>
        </p:nvSpPr>
        <p:spPr>
          <a:xfrm>
            <a:off x="10881360" y="727862"/>
            <a:ext cx="905256" cy="113386"/>
          </a:xfrm>
          <a:prstGeom prst="rect">
            <a:avLst/>
          </a:prstGeom>
          <a:solidFill>
            <a:srgbClr val="006A4E"/>
          </a:solidFill>
          <a:ln w="12700">
            <a:solidFill>
              <a:srgbClr val="006A4E"/>
            </a:solidFill>
            <a:prstDash val="solid"/>
          </a:ln>
        </p:spPr>
      </p:sp>
      <p:sp>
        <p:nvSpPr>
          <p:cNvPr id="9" name="Shape 7"/>
          <p:cNvSpPr/>
          <p:nvPr/>
        </p:nvSpPr>
        <p:spPr>
          <a:xfrm>
            <a:off x="10881360" y="274320"/>
            <a:ext cx="905256" cy="566928"/>
          </a:xfrm>
          <a:prstGeom prst="rect">
            <a:avLst/>
          </a:prstGeom>
          <a:ln w="6350">
            <a:solidFill>
              <a:srgbClr val="1F2937"/>
            </a:solidFill>
            <a:prstDash val="solid"/>
          </a:ln>
        </p:spPr>
      </p:sp>
      <p:sp>
        <p:nvSpPr>
          <p:cNvPr id="10" name="Shape 8"/>
          <p:cNvSpPr/>
          <p:nvPr/>
        </p:nvSpPr>
        <p:spPr>
          <a:xfrm>
            <a:off x="457200" y="960120"/>
            <a:ext cx="11292840" cy="0"/>
          </a:xfrm>
          <a:prstGeom prst="line">
            <a:avLst/>
          </a:prstGeom>
          <a:noFill/>
          <a:ln w="6350">
            <a:solidFill>
              <a:srgbClr val="A3A3A3"/>
            </a:solidFill>
            <a:prstDash val="solid"/>
          </a:ln>
        </p:spPr>
      </p:sp>
      <p:sp>
        <p:nvSpPr>
          <p:cNvPr id="11" name="Text 9"/>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122 jours ; aucun signal du jour)</a:t>
            </a:r>
            <a:endParaRPr lang="en-US" sz="1100" dirty="0"/>
          </a:p>
        </p:txBody>
      </p:sp>
      <p:sp>
        <p:nvSpPr>
          <p:cNvPr id="12" name="Text 10"/>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63 ans après sa mort, le premier président du Togo n’a toujours pas de tombe dans son pays</a:t>
            </a:r>
            <a:endParaRPr lang="en-US" sz="2200" dirty="0"/>
          </a:p>
        </p:txBody>
      </p:sp>
      <p:sp>
        <p:nvSpPr>
          <p:cNvPr id="13" name="Text 11"/>
          <p:cNvSpPr/>
          <p:nvPr/>
        </p:nvSpPr>
        <p:spPr>
          <a:xfrm>
            <a:off x="640080" y="2029968"/>
            <a:ext cx="681228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jeudi 1er octobre 2026. Lieu : Togo. Actualité politique. Une seule source à ce stade (Togoweb)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Togoweb : </a:t>
            </a:r>
            <a:pPr indent="0" marL="0">
              <a:spcAft>
                <a:spcPts val="300"/>
              </a:spcAft>
              <a:buNone/>
            </a:pPr>
            <a:r>
              <a:rPr lang="en-US" sz="1400" i="1" dirty="0">
                <a:solidFill>
                  <a:srgbClr val="1F2937"/>
                </a:solidFill>
                <a:latin typeface="Calibri" pitchFamily="34" charset="0"/>
                <a:ea typeface="Calibri" pitchFamily="34" charset="-122"/>
                <a:cs typeface="Calibri" pitchFamily="34" charset="-120"/>
              </a:rPr>
              <a:t>« Il n’existe, à ce jour, ni statue, ni mausolée, ni musée officiel dédié à Sylvanus Olympio dans le pays qu’il a mené à l’indépendance. Le premier président togolais repose toujours à Agoué, au Bénin, faute d’avoir été rapatrié malgré une promesse présidentielle vieille de quinze ans. »</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Climat politique à suivre : tensions possibles autour des échéances et des décisions institutionnelles. Adapter la veille et les déplacements aux dates sensibles.</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Togoweb</a:t>
            </a:r>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 — 1 octobre 2026, 9 h UTC   ·   Cotation : Non confirmé</a:t>
            </a:r>
            <a:endParaRPr lang="en-US" sz="1400" dirty="0"/>
          </a:p>
        </p:txBody>
      </p:sp>
      <p:pic>
        <p:nvPicPr>
          <p:cNvPr id="14" name="Image 0" descr="preencoded.png">
            <a:hlinkClick r:id="rId3" tooltip=""/>
          </p:cNvPr>
          <p:cNvPicPr>
            <a:picLocks noChangeAspect="1"/>
          </p:cNvPicPr>
          <p:nvPr/>
        </p:nvPicPr>
        <p:blipFill>
          <a:blip r:embed="rId2"/>
          <a:stretch>
            <a:fillRect/>
          </a:stretch>
        </p:blipFill>
        <p:spPr>
          <a:xfrm>
            <a:off x="7635240" y="2075688"/>
            <a:ext cx="4114800" cy="2525358"/>
          </a:xfrm>
          <a:prstGeom prst="rect">
            <a:avLst/>
          </a:prstGeom>
        </p:spPr>
      </p:pic>
      <p:sp>
        <p:nvSpPr>
          <p:cNvPr id="15" name="Text 12"/>
          <p:cNvSpPr/>
          <p:nvPr/>
        </p:nvSpPr>
        <p:spPr>
          <a:xfrm>
            <a:off x="7635240" y="4637622"/>
            <a:ext cx="4114800" cy="256032"/>
          </a:xfrm>
          <a:prstGeom prst="rect">
            <a:avLst/>
          </a:prstGeom>
          <a:noFill/>
          <a:ln/>
        </p:spPr>
        <p:txBody>
          <a:bodyPr wrap="square" rtlCol="0" anchor="ctr"/>
          <a:lstStyle/>
          <a:p>
            <a:pPr algn="r" indent="0" marL="0">
              <a:buNone/>
            </a:pPr>
            <a:r>
              <a:rPr lang="en-US" sz="9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Photo : © togoweb.net</a:t>
            </a:r>
            <a:endParaRPr lang="en-US" sz="900" dirty="0"/>
          </a:p>
        </p:txBody>
      </p:sp>
      <p:sp>
        <p:nvSpPr>
          <p:cNvPr id="16" name="Text 13"/>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7" name="Text 14"/>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Togo</a:t>
            </a:r>
            <a:endParaRPr lang="en-US" sz="2800" dirty="0"/>
          </a:p>
        </p:txBody>
      </p:sp>
      <p:sp>
        <p:nvSpPr>
          <p:cNvPr id="4" name="Shape 2"/>
          <p:cNvSpPr/>
          <p:nvPr/>
        </p:nvSpPr>
        <p:spPr>
          <a:xfrm>
            <a:off x="10881360" y="274320"/>
            <a:ext cx="905256" cy="113386"/>
          </a:xfrm>
          <a:prstGeom prst="rect">
            <a:avLst/>
          </a:prstGeom>
          <a:solidFill>
            <a:srgbClr val="006A4E"/>
          </a:solidFill>
          <a:ln w="12700">
            <a:solidFill>
              <a:srgbClr val="006A4E"/>
            </a:solidFill>
            <a:prstDash val="solid"/>
          </a:ln>
        </p:spPr>
      </p:sp>
      <p:sp>
        <p:nvSpPr>
          <p:cNvPr id="5" name="Shape 3"/>
          <p:cNvSpPr/>
          <p:nvPr/>
        </p:nvSpPr>
        <p:spPr>
          <a:xfrm>
            <a:off x="10881360" y="387706"/>
            <a:ext cx="905256" cy="113386"/>
          </a:xfrm>
          <a:prstGeom prst="rect">
            <a:avLst/>
          </a:prstGeom>
          <a:solidFill>
            <a:srgbClr val="FFCE00"/>
          </a:solidFill>
          <a:ln w="12700">
            <a:solidFill>
              <a:srgbClr val="FFCE00"/>
            </a:solidFill>
            <a:prstDash val="solid"/>
          </a:ln>
        </p:spPr>
      </p:sp>
      <p:sp>
        <p:nvSpPr>
          <p:cNvPr id="6" name="Shape 4"/>
          <p:cNvSpPr/>
          <p:nvPr/>
        </p:nvSpPr>
        <p:spPr>
          <a:xfrm>
            <a:off x="10881360" y="501091"/>
            <a:ext cx="905256" cy="113386"/>
          </a:xfrm>
          <a:prstGeom prst="rect">
            <a:avLst/>
          </a:prstGeom>
          <a:solidFill>
            <a:srgbClr val="006A4E"/>
          </a:solidFill>
          <a:ln w="12700">
            <a:solidFill>
              <a:srgbClr val="006A4E"/>
            </a:solidFill>
            <a:prstDash val="solid"/>
          </a:ln>
        </p:spPr>
      </p:sp>
      <p:sp>
        <p:nvSpPr>
          <p:cNvPr id="7" name="Shape 5"/>
          <p:cNvSpPr/>
          <p:nvPr/>
        </p:nvSpPr>
        <p:spPr>
          <a:xfrm>
            <a:off x="10881360" y="614477"/>
            <a:ext cx="905256" cy="113386"/>
          </a:xfrm>
          <a:prstGeom prst="rect">
            <a:avLst/>
          </a:prstGeom>
          <a:solidFill>
            <a:srgbClr val="FFCE00"/>
          </a:solidFill>
          <a:ln w="12700">
            <a:solidFill>
              <a:srgbClr val="FFCE00"/>
            </a:solidFill>
            <a:prstDash val="solid"/>
          </a:ln>
        </p:spPr>
      </p:sp>
      <p:sp>
        <p:nvSpPr>
          <p:cNvPr id="8" name="Shape 6"/>
          <p:cNvSpPr/>
          <p:nvPr/>
        </p:nvSpPr>
        <p:spPr>
          <a:xfrm>
            <a:off x="10881360" y="727862"/>
            <a:ext cx="905256" cy="113386"/>
          </a:xfrm>
          <a:prstGeom prst="rect">
            <a:avLst/>
          </a:prstGeom>
          <a:solidFill>
            <a:srgbClr val="006A4E"/>
          </a:solidFill>
          <a:ln w="12700">
            <a:solidFill>
              <a:srgbClr val="006A4E"/>
            </a:solidFill>
            <a:prstDash val="solid"/>
          </a:ln>
        </p:spPr>
      </p:sp>
      <p:sp>
        <p:nvSpPr>
          <p:cNvPr id="9" name="Shape 7"/>
          <p:cNvSpPr/>
          <p:nvPr/>
        </p:nvSpPr>
        <p:spPr>
          <a:xfrm>
            <a:off x="10881360" y="274320"/>
            <a:ext cx="905256" cy="566928"/>
          </a:xfrm>
          <a:prstGeom prst="rect">
            <a:avLst/>
          </a:prstGeom>
          <a:ln w="6350">
            <a:solidFill>
              <a:srgbClr val="1F2937"/>
            </a:solidFill>
            <a:prstDash val="solid"/>
          </a:ln>
        </p:spPr>
      </p:sp>
      <p:sp>
        <p:nvSpPr>
          <p:cNvPr id="10" name="Shape 8"/>
          <p:cNvSpPr/>
          <p:nvPr/>
        </p:nvSpPr>
        <p:spPr>
          <a:xfrm>
            <a:off x="457200" y="960120"/>
            <a:ext cx="11292840" cy="0"/>
          </a:xfrm>
          <a:prstGeom prst="line">
            <a:avLst/>
          </a:prstGeom>
          <a:noFill/>
          <a:ln w="6350">
            <a:solidFill>
              <a:srgbClr val="A3A3A3"/>
            </a:solidFill>
            <a:prstDash val="solid"/>
          </a:ln>
        </p:spPr>
      </p:sp>
      <p:sp>
        <p:nvSpPr>
          <p:cNvPr id="11" name="Text 9"/>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WHATSAPP : LA FAUSSE ALERTE AU VOTE POUR PIRATER VOTRE COMPTE FAIT SON RETOUR</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Le Nouveau Reporter</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10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GÉNIE IMHOTEP SAISON 3 : LE LYCÉE ZÉBÉVI STOPPE LE LYCÉE TOKOIN2 DANS SON ÉLAN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Le Nouveau Reporter</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28 octobre 2026, 8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TOGO : LA SÉCURITÉ RENFORCÉE SUR LE LITTORAL DE LOMÉ APRÈS LE DÉMANTÈLEMENT DES INSTALLATIONS ILLÉGALES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24heureinfo.com · Togo Actualite · Icilome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28 octobre 2026, 7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SOUTENU PAR L’UNION AFRICAINE, LE TOGOLAIS GILBERT HOUNGBO RÉUSSIRA-T-IL À CONSERVER LA TÊTE DE L’OIT ?</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Jeune Afrique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13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VERS UNE PAIX DES CHAMPS ?</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AllAfrica (TG)</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15 h UTC</a:t>
            </a:r>
            <a:endParaRPr lang="en-US" sz="13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Togo</a:t>
            </a:r>
            <a:endParaRPr lang="en-US" sz="2800" dirty="0"/>
          </a:p>
        </p:txBody>
      </p:sp>
      <p:sp>
        <p:nvSpPr>
          <p:cNvPr id="4" name="Shape 2"/>
          <p:cNvSpPr/>
          <p:nvPr/>
        </p:nvSpPr>
        <p:spPr>
          <a:xfrm>
            <a:off x="10881360" y="274320"/>
            <a:ext cx="905256" cy="113386"/>
          </a:xfrm>
          <a:prstGeom prst="rect">
            <a:avLst/>
          </a:prstGeom>
          <a:solidFill>
            <a:srgbClr val="006A4E"/>
          </a:solidFill>
          <a:ln w="12700">
            <a:solidFill>
              <a:srgbClr val="006A4E"/>
            </a:solidFill>
            <a:prstDash val="solid"/>
          </a:ln>
        </p:spPr>
      </p:sp>
      <p:sp>
        <p:nvSpPr>
          <p:cNvPr id="5" name="Shape 3"/>
          <p:cNvSpPr/>
          <p:nvPr/>
        </p:nvSpPr>
        <p:spPr>
          <a:xfrm>
            <a:off x="10881360" y="387706"/>
            <a:ext cx="905256" cy="113386"/>
          </a:xfrm>
          <a:prstGeom prst="rect">
            <a:avLst/>
          </a:prstGeom>
          <a:solidFill>
            <a:srgbClr val="FFCE00"/>
          </a:solidFill>
          <a:ln w="12700">
            <a:solidFill>
              <a:srgbClr val="FFCE00"/>
            </a:solidFill>
            <a:prstDash val="solid"/>
          </a:ln>
        </p:spPr>
      </p:sp>
      <p:sp>
        <p:nvSpPr>
          <p:cNvPr id="6" name="Shape 4"/>
          <p:cNvSpPr/>
          <p:nvPr/>
        </p:nvSpPr>
        <p:spPr>
          <a:xfrm>
            <a:off x="10881360" y="501091"/>
            <a:ext cx="905256" cy="113386"/>
          </a:xfrm>
          <a:prstGeom prst="rect">
            <a:avLst/>
          </a:prstGeom>
          <a:solidFill>
            <a:srgbClr val="006A4E"/>
          </a:solidFill>
          <a:ln w="12700">
            <a:solidFill>
              <a:srgbClr val="006A4E"/>
            </a:solidFill>
            <a:prstDash val="solid"/>
          </a:ln>
        </p:spPr>
      </p:sp>
      <p:sp>
        <p:nvSpPr>
          <p:cNvPr id="7" name="Shape 5"/>
          <p:cNvSpPr/>
          <p:nvPr/>
        </p:nvSpPr>
        <p:spPr>
          <a:xfrm>
            <a:off x="10881360" y="614477"/>
            <a:ext cx="905256" cy="113386"/>
          </a:xfrm>
          <a:prstGeom prst="rect">
            <a:avLst/>
          </a:prstGeom>
          <a:solidFill>
            <a:srgbClr val="FFCE00"/>
          </a:solidFill>
          <a:ln w="12700">
            <a:solidFill>
              <a:srgbClr val="FFCE00"/>
            </a:solidFill>
            <a:prstDash val="solid"/>
          </a:ln>
        </p:spPr>
      </p:sp>
      <p:sp>
        <p:nvSpPr>
          <p:cNvPr id="8" name="Shape 6"/>
          <p:cNvSpPr/>
          <p:nvPr/>
        </p:nvSpPr>
        <p:spPr>
          <a:xfrm>
            <a:off x="10881360" y="727862"/>
            <a:ext cx="905256" cy="113386"/>
          </a:xfrm>
          <a:prstGeom prst="rect">
            <a:avLst/>
          </a:prstGeom>
          <a:solidFill>
            <a:srgbClr val="006A4E"/>
          </a:solidFill>
          <a:ln w="12700">
            <a:solidFill>
              <a:srgbClr val="006A4E"/>
            </a:solidFill>
            <a:prstDash val="solid"/>
          </a:ln>
        </p:spPr>
      </p:sp>
      <p:sp>
        <p:nvSpPr>
          <p:cNvPr id="9" name="Shape 7"/>
          <p:cNvSpPr/>
          <p:nvPr/>
        </p:nvSpPr>
        <p:spPr>
          <a:xfrm>
            <a:off x="10881360" y="274320"/>
            <a:ext cx="905256" cy="566928"/>
          </a:xfrm>
          <a:prstGeom prst="rect">
            <a:avLst/>
          </a:prstGeom>
          <a:ln w="6350">
            <a:solidFill>
              <a:srgbClr val="1F2937"/>
            </a:solidFill>
            <a:prstDash val="solid"/>
          </a:ln>
        </p:spPr>
      </p:sp>
      <p:sp>
        <p:nvSpPr>
          <p:cNvPr id="10" name="Shape 8"/>
          <p:cNvSpPr/>
          <p:nvPr/>
        </p:nvSpPr>
        <p:spPr>
          <a:xfrm>
            <a:off x="457200" y="960120"/>
            <a:ext cx="11292840" cy="0"/>
          </a:xfrm>
          <a:prstGeom prst="line">
            <a:avLst/>
          </a:prstGeom>
          <a:noFill/>
          <a:ln w="6350">
            <a:solidFill>
              <a:srgbClr val="A3A3A3"/>
            </a:solidFill>
            <a:prstDash val="solid"/>
          </a:ln>
        </p:spPr>
      </p:sp>
      <p:sp>
        <p:nvSpPr>
          <p:cNvPr id="11" name="Text 9"/>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STOCKS DE SÉCURITÉ - RECORD DE 31 000 TONNES COLLECTÉES EN 2025</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AllAfrica (TG)</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11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LA PLAGE DE LOMÉ SOUS SURVEILLANCE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AllAfrica (TG)</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11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TSÉVIÉ : LES FORCES DE SÉCURITÉ DÉPLOYÉES SUR LE SITE DU MEETING REPORTÉ DU CNCC</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24heureinfo.com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25 octobre 2026, 20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EBOLA : AFRICA CDC CONVOQUE LES MINISTRES AFRICAINS DE LA SANTÉ EN URGENCE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24heureinfo.com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25 octobre 2026, 10 h UTC</a:t>
            </a:r>
            <a:endParaRPr lang="en-US" sz="13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VI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Bénin</a:t>
            </a:r>
            <a:endParaRPr lang="en-US" sz="2800" dirty="0"/>
          </a:p>
        </p:txBody>
      </p:sp>
      <p:sp>
        <p:nvSpPr>
          <p:cNvPr id="4" name="Shape 2"/>
          <p:cNvSpPr/>
          <p:nvPr/>
        </p:nvSpPr>
        <p:spPr>
          <a:xfrm>
            <a:off x="10881360" y="274320"/>
            <a:ext cx="362102" cy="566928"/>
          </a:xfrm>
          <a:prstGeom prst="rect">
            <a:avLst/>
          </a:prstGeom>
          <a:solidFill>
            <a:srgbClr val="008751"/>
          </a:solidFill>
          <a:ln w="12700">
            <a:solidFill>
              <a:srgbClr val="008751"/>
            </a:solidFill>
            <a:prstDash val="solid"/>
          </a:ln>
        </p:spPr>
      </p:sp>
      <p:sp>
        <p:nvSpPr>
          <p:cNvPr id="5" name="Shape 3"/>
          <p:cNvSpPr/>
          <p:nvPr/>
        </p:nvSpPr>
        <p:spPr>
          <a:xfrm>
            <a:off x="11243462" y="274320"/>
            <a:ext cx="543154" cy="283464"/>
          </a:xfrm>
          <a:prstGeom prst="rect">
            <a:avLst/>
          </a:prstGeom>
          <a:solidFill>
            <a:srgbClr val="FCD116"/>
          </a:solidFill>
          <a:ln w="12700">
            <a:solidFill>
              <a:srgbClr val="FCD116"/>
            </a:solidFill>
            <a:prstDash val="solid"/>
          </a:ln>
        </p:spPr>
      </p:sp>
      <p:sp>
        <p:nvSpPr>
          <p:cNvPr id="6" name="Shape 4"/>
          <p:cNvSpPr/>
          <p:nvPr/>
        </p:nvSpPr>
        <p:spPr>
          <a:xfrm>
            <a:off x="11243462" y="557784"/>
            <a:ext cx="543154" cy="283464"/>
          </a:xfrm>
          <a:prstGeom prst="rect">
            <a:avLst/>
          </a:prstGeom>
          <a:solidFill>
            <a:srgbClr val="E8112D"/>
          </a:solidFill>
          <a:ln w="12700">
            <a:solidFill>
              <a:srgbClr val="E8112D"/>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121 jours ; aucun signal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NUEE threatens nationwide shutdown, demands withdrawal of soldiers from BEDC hqtrs</a:t>
            </a:r>
            <a:endParaRPr lang="en-US" sz="2200" dirty="0"/>
          </a:p>
        </p:txBody>
      </p:sp>
      <p:sp>
        <p:nvSpPr>
          <p:cNvPr id="11" name="Text 9"/>
          <p:cNvSpPr/>
          <p:nvPr/>
        </p:nvSpPr>
        <p:spPr>
          <a:xfrm>
            <a:off x="640080" y="2029968"/>
            <a:ext cx="681228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samedi 24 octobre 2026. Lieu : Bénin. Actualité sécuritaire. Une seule source à ce stade (The Sun Nigeria)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sécuritaire à suivre : vérifier son incidence sur les sites, les itinéraires et les personnels présents dans la zone.</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Sun Nigeria</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24 octobre 2026, 7 h UTC</a:t>
            </a:r>
            <a:endParaRPr lang="en-US" sz="1400" dirty="0"/>
          </a:p>
        </p:txBody>
      </p:sp>
      <p:pic>
        <p:nvPicPr>
          <p:cNvPr id="12" name="Image 0" descr="preencoded.png">
            <a:hlinkClick r:id="rId3" tooltip=""/>
          </p:cNvPr>
          <p:cNvPicPr>
            <a:picLocks noChangeAspect="1"/>
          </p:cNvPicPr>
          <p:nvPr/>
        </p:nvPicPr>
        <p:blipFill>
          <a:blip r:embed="rId2"/>
          <a:stretch>
            <a:fillRect/>
          </a:stretch>
        </p:blipFill>
        <p:spPr>
          <a:xfrm>
            <a:off x="7635240" y="2075688"/>
            <a:ext cx="4114800" cy="3652935"/>
          </a:xfrm>
          <a:prstGeom prst="rect">
            <a:avLst/>
          </a:prstGeom>
        </p:spPr>
      </p:pic>
      <p:sp>
        <p:nvSpPr>
          <p:cNvPr id="13" name="Text 10"/>
          <p:cNvSpPr/>
          <p:nvPr/>
        </p:nvSpPr>
        <p:spPr>
          <a:xfrm>
            <a:off x="7635240" y="5765199"/>
            <a:ext cx="4114800" cy="256032"/>
          </a:xfrm>
          <a:prstGeom prst="rect">
            <a:avLst/>
          </a:prstGeom>
          <a:noFill/>
          <a:ln/>
        </p:spPr>
        <p:txBody>
          <a:bodyPr wrap="square" rtlCol="0" anchor="ctr"/>
          <a:lstStyle/>
          <a:p>
            <a:pPr algn="r" indent="0" marL="0">
              <a:buNone/>
            </a:pPr>
            <a:r>
              <a:rPr lang="en-US" sz="9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Photo : © thesun.ng</a:t>
            </a:r>
            <a:endParaRPr lang="en-US" sz="900" dirty="0"/>
          </a:p>
        </p:txBody>
      </p:sp>
      <p:sp>
        <p:nvSpPr>
          <p:cNvPr id="14" name="Text 11"/>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5" name="Text 12"/>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VII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Guinée</a:t>
            </a:r>
            <a:endParaRPr lang="en-US" sz="2800" dirty="0"/>
          </a:p>
        </p:txBody>
      </p:sp>
      <p:sp>
        <p:nvSpPr>
          <p:cNvPr id="4" name="Shape 2"/>
          <p:cNvSpPr/>
          <p:nvPr/>
        </p:nvSpPr>
        <p:spPr>
          <a:xfrm>
            <a:off x="10881360" y="274320"/>
            <a:ext cx="301752" cy="566928"/>
          </a:xfrm>
          <a:prstGeom prst="rect">
            <a:avLst/>
          </a:prstGeom>
          <a:solidFill>
            <a:srgbClr val="CE1126"/>
          </a:solidFill>
          <a:ln w="12700">
            <a:solidFill>
              <a:srgbClr val="CE1126"/>
            </a:solidFill>
            <a:prstDash val="solid"/>
          </a:ln>
        </p:spPr>
      </p:sp>
      <p:sp>
        <p:nvSpPr>
          <p:cNvPr id="5" name="Shape 3"/>
          <p:cNvSpPr/>
          <p:nvPr/>
        </p:nvSpPr>
        <p:spPr>
          <a:xfrm>
            <a:off x="11183112" y="274320"/>
            <a:ext cx="301752" cy="566928"/>
          </a:xfrm>
          <a:prstGeom prst="rect">
            <a:avLst/>
          </a:prstGeom>
          <a:solidFill>
            <a:srgbClr val="FCD116"/>
          </a:solidFill>
          <a:ln w="12700">
            <a:solidFill>
              <a:srgbClr val="FCD116"/>
            </a:solidFill>
            <a:prstDash val="solid"/>
          </a:ln>
        </p:spPr>
      </p:sp>
      <p:sp>
        <p:nvSpPr>
          <p:cNvPr id="6" name="Shape 4"/>
          <p:cNvSpPr/>
          <p:nvPr/>
        </p:nvSpPr>
        <p:spPr>
          <a:xfrm>
            <a:off x="11484864" y="274320"/>
            <a:ext cx="301752" cy="566928"/>
          </a:xfrm>
          <a:prstGeom prst="rect">
            <a:avLst/>
          </a:prstGeom>
          <a:solidFill>
            <a:srgbClr val="009460"/>
          </a:solidFill>
          <a:ln w="12700">
            <a:solidFill>
              <a:srgbClr val="0094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119 jours ; aucun signal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Mort mystérieuse de Souleymane Touré : sa mère et sa sœur veulent toute la vérité</a:t>
            </a:r>
            <a:endParaRPr lang="en-US" sz="2200" dirty="0"/>
          </a:p>
        </p:txBody>
      </p:sp>
      <p:sp>
        <p:nvSpPr>
          <p:cNvPr id="11" name="Text 9"/>
          <p:cNvSpPr/>
          <p:nvPr/>
        </p:nvSpPr>
        <p:spPr>
          <a:xfrm>
            <a:off x="640080" y="2029968"/>
            <a:ext cx="1097280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dimanche 25 octobre 2026. Lieu : Guinée. Actualité sécuritaire. Une seule source à ce stade (Guinee7.com)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sécuritaire à suivre : vérifier son incidence sur les sites, les itinéraires et les personnels présents dans la zone.</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Guinee7.com</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25 octobre 2026, 20 h UTC</a:t>
            </a:r>
            <a:endParaRPr lang="en-US" sz="14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VII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Guinée</a:t>
            </a:r>
            <a:endParaRPr lang="en-US" sz="2800" dirty="0"/>
          </a:p>
        </p:txBody>
      </p:sp>
      <p:sp>
        <p:nvSpPr>
          <p:cNvPr id="4" name="Shape 2"/>
          <p:cNvSpPr/>
          <p:nvPr/>
        </p:nvSpPr>
        <p:spPr>
          <a:xfrm>
            <a:off x="10881360" y="274320"/>
            <a:ext cx="301752" cy="566928"/>
          </a:xfrm>
          <a:prstGeom prst="rect">
            <a:avLst/>
          </a:prstGeom>
          <a:solidFill>
            <a:srgbClr val="CE1126"/>
          </a:solidFill>
          <a:ln w="12700">
            <a:solidFill>
              <a:srgbClr val="CE1126"/>
            </a:solidFill>
            <a:prstDash val="solid"/>
          </a:ln>
        </p:spPr>
      </p:sp>
      <p:sp>
        <p:nvSpPr>
          <p:cNvPr id="5" name="Shape 3"/>
          <p:cNvSpPr/>
          <p:nvPr/>
        </p:nvSpPr>
        <p:spPr>
          <a:xfrm>
            <a:off x="11183112" y="274320"/>
            <a:ext cx="301752" cy="566928"/>
          </a:xfrm>
          <a:prstGeom prst="rect">
            <a:avLst/>
          </a:prstGeom>
          <a:solidFill>
            <a:srgbClr val="FCD116"/>
          </a:solidFill>
          <a:ln w="12700">
            <a:solidFill>
              <a:srgbClr val="FCD116"/>
            </a:solidFill>
            <a:prstDash val="solid"/>
          </a:ln>
        </p:spPr>
      </p:sp>
      <p:sp>
        <p:nvSpPr>
          <p:cNvPr id="6" name="Shape 4"/>
          <p:cNvSpPr/>
          <p:nvPr/>
        </p:nvSpPr>
        <p:spPr>
          <a:xfrm>
            <a:off x="11484864" y="274320"/>
            <a:ext cx="301752" cy="566928"/>
          </a:xfrm>
          <a:prstGeom prst="rect">
            <a:avLst/>
          </a:prstGeom>
          <a:solidFill>
            <a:srgbClr val="009460"/>
          </a:solidFill>
          <a:ln w="12700">
            <a:solidFill>
              <a:srgbClr val="0094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INSÉCURITÉ À LABÉ : LE JOURNALISTE BOUBACAR GARKI DIALLO VICTIME DE CAMBRIOLAGE, SES ÉQUIPEMENTS DE TRAVAIL EMPORTÉ PAR LES MALFAITEURS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Guineematin.com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17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MAIRIE DE DIXINN : POURQUOI LES FEMMES BALAYEUSES ONT RENONCÉ À LEUR MANIFESTATION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Guinee7.com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14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APPEL À MANIFESTATION D’INTÉRÊT POUR LES SERVICES DE CONSULTANTS LOCAUX EN AUDIT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Guineematin.com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9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KANKAN : UN INCENDIE CAUSE D’IMPORTANTS DÉGÂTS AU QUARTIER BORDO</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Guineematin.com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8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LOI DE FINANCES RECTIFICATIVE 2026 : ENTRE CRISE PÉTROLIÈRE ET RETARDS DES PROJETS, LA MINISTRE DE L’ÉCONOMIE, MARIAMA CIRÉ SYLLA, S’EXPLIQUE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Guineematin.com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22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VII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Guinée</a:t>
            </a:r>
            <a:endParaRPr lang="en-US" sz="2800" dirty="0"/>
          </a:p>
        </p:txBody>
      </p:sp>
      <p:sp>
        <p:nvSpPr>
          <p:cNvPr id="4" name="Shape 2"/>
          <p:cNvSpPr/>
          <p:nvPr/>
        </p:nvSpPr>
        <p:spPr>
          <a:xfrm>
            <a:off x="10881360" y="274320"/>
            <a:ext cx="301752" cy="566928"/>
          </a:xfrm>
          <a:prstGeom prst="rect">
            <a:avLst/>
          </a:prstGeom>
          <a:solidFill>
            <a:srgbClr val="CE1126"/>
          </a:solidFill>
          <a:ln w="12700">
            <a:solidFill>
              <a:srgbClr val="CE1126"/>
            </a:solidFill>
            <a:prstDash val="solid"/>
          </a:ln>
        </p:spPr>
      </p:sp>
      <p:sp>
        <p:nvSpPr>
          <p:cNvPr id="5" name="Shape 3"/>
          <p:cNvSpPr/>
          <p:nvPr/>
        </p:nvSpPr>
        <p:spPr>
          <a:xfrm>
            <a:off x="11183112" y="274320"/>
            <a:ext cx="301752" cy="566928"/>
          </a:xfrm>
          <a:prstGeom prst="rect">
            <a:avLst/>
          </a:prstGeom>
          <a:solidFill>
            <a:srgbClr val="FCD116"/>
          </a:solidFill>
          <a:ln w="12700">
            <a:solidFill>
              <a:srgbClr val="FCD116"/>
            </a:solidFill>
            <a:prstDash val="solid"/>
          </a:ln>
        </p:spPr>
      </p:sp>
      <p:sp>
        <p:nvSpPr>
          <p:cNvPr id="6" name="Shape 4"/>
          <p:cNvSpPr/>
          <p:nvPr/>
        </p:nvSpPr>
        <p:spPr>
          <a:xfrm>
            <a:off x="11484864" y="274320"/>
            <a:ext cx="301752" cy="566928"/>
          </a:xfrm>
          <a:prstGeom prst="rect">
            <a:avLst/>
          </a:prstGeom>
          <a:solidFill>
            <a:srgbClr val="009460"/>
          </a:solidFill>
          <a:ln w="12700">
            <a:solidFill>
              <a:srgbClr val="0094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ÉLECTION FÉGUIFOOT : L’ARGENT DES VOIX MENACE LE FOOTBALL</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Guinee7.com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8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CELLCOM GUINÉE : LA FESATEL ALERTE SUR LES SALAIRES IMPAYÉS ET RÉCLAME L’OUVERTURE URGENTE DE NÉGOCIATIONS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Guineematin.com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19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TPI DE COYAH : LE PROCUREUR ALIOU DIALLO PREND OFFICIELLEMENT LA TÊTE DU PARQUET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Guineematin.com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FORÉCARIAH : FRIKI KEITA REPREND SES FONCTIONS À LA TÊTE DE LA DPE CE MARDI</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Guineelive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13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1600" dirty="0">
                <a:solidFill>
                  <a:srgbClr val="FFFFFF"/>
                </a:solidFill>
                <a:latin typeface="Arial Narrow" pitchFamily="34" charset="0"/>
                <a:ea typeface="Arial Narrow" pitchFamily="34" charset="-122"/>
                <a:cs typeface="Arial Narrow" pitchFamily="34" charset="-120"/>
              </a:rPr>
              <a:t>VIII</a:t>
            </a:r>
            <a:endParaRPr lang="en-US" sz="16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Liberia</a:t>
            </a:r>
            <a:endParaRPr lang="en-US" sz="2800" dirty="0"/>
          </a:p>
        </p:txBody>
      </p:sp>
      <p:sp>
        <p:nvSpPr>
          <p:cNvPr id="4" name="Shape 2"/>
          <p:cNvSpPr/>
          <p:nvPr/>
        </p:nvSpPr>
        <p:spPr>
          <a:xfrm>
            <a:off x="10881360" y="274320"/>
            <a:ext cx="905256" cy="113386"/>
          </a:xfrm>
          <a:prstGeom prst="rect">
            <a:avLst/>
          </a:prstGeom>
          <a:solidFill>
            <a:srgbClr val="BF0A30"/>
          </a:solidFill>
          <a:ln w="12700">
            <a:solidFill>
              <a:srgbClr val="BF0A30"/>
            </a:solidFill>
            <a:prstDash val="solid"/>
          </a:ln>
        </p:spPr>
      </p:sp>
      <p:sp>
        <p:nvSpPr>
          <p:cNvPr id="5" name="Shape 3"/>
          <p:cNvSpPr/>
          <p:nvPr/>
        </p:nvSpPr>
        <p:spPr>
          <a:xfrm>
            <a:off x="10881360" y="387706"/>
            <a:ext cx="905256" cy="113386"/>
          </a:xfrm>
          <a:prstGeom prst="rect">
            <a:avLst/>
          </a:prstGeom>
          <a:solidFill>
            <a:srgbClr val="FFFFFF"/>
          </a:solidFill>
          <a:ln w="12700">
            <a:solidFill>
              <a:srgbClr val="FFFFFF"/>
            </a:solidFill>
            <a:prstDash val="solid"/>
          </a:ln>
        </p:spPr>
      </p:sp>
      <p:sp>
        <p:nvSpPr>
          <p:cNvPr id="6" name="Shape 4"/>
          <p:cNvSpPr/>
          <p:nvPr/>
        </p:nvSpPr>
        <p:spPr>
          <a:xfrm>
            <a:off x="10881360" y="501091"/>
            <a:ext cx="905256" cy="113386"/>
          </a:xfrm>
          <a:prstGeom prst="rect">
            <a:avLst/>
          </a:prstGeom>
          <a:solidFill>
            <a:srgbClr val="BF0A30"/>
          </a:solidFill>
          <a:ln w="12700">
            <a:solidFill>
              <a:srgbClr val="BF0A30"/>
            </a:solidFill>
            <a:prstDash val="solid"/>
          </a:ln>
        </p:spPr>
      </p:sp>
      <p:sp>
        <p:nvSpPr>
          <p:cNvPr id="7" name="Shape 5"/>
          <p:cNvSpPr/>
          <p:nvPr/>
        </p:nvSpPr>
        <p:spPr>
          <a:xfrm>
            <a:off x="10881360" y="614477"/>
            <a:ext cx="905256" cy="113386"/>
          </a:xfrm>
          <a:prstGeom prst="rect">
            <a:avLst/>
          </a:prstGeom>
          <a:solidFill>
            <a:srgbClr val="FFFFFF"/>
          </a:solidFill>
          <a:ln w="12700">
            <a:solidFill>
              <a:srgbClr val="FFFFFF"/>
            </a:solidFill>
            <a:prstDash val="solid"/>
          </a:ln>
        </p:spPr>
      </p:sp>
      <p:sp>
        <p:nvSpPr>
          <p:cNvPr id="8" name="Shape 6"/>
          <p:cNvSpPr/>
          <p:nvPr/>
        </p:nvSpPr>
        <p:spPr>
          <a:xfrm>
            <a:off x="10881360" y="727862"/>
            <a:ext cx="905256" cy="113386"/>
          </a:xfrm>
          <a:prstGeom prst="rect">
            <a:avLst/>
          </a:prstGeom>
          <a:solidFill>
            <a:srgbClr val="BF0A30"/>
          </a:solidFill>
          <a:ln w="12700">
            <a:solidFill>
              <a:srgbClr val="BF0A30"/>
            </a:solidFill>
            <a:prstDash val="solid"/>
          </a:ln>
        </p:spPr>
      </p:sp>
      <p:sp>
        <p:nvSpPr>
          <p:cNvPr id="9" name="Shape 7"/>
          <p:cNvSpPr/>
          <p:nvPr/>
        </p:nvSpPr>
        <p:spPr>
          <a:xfrm>
            <a:off x="10881360" y="274320"/>
            <a:ext cx="905256" cy="566928"/>
          </a:xfrm>
          <a:prstGeom prst="rect">
            <a:avLst/>
          </a:prstGeom>
          <a:ln w="6350">
            <a:solidFill>
              <a:srgbClr val="1F2937"/>
            </a:solidFill>
            <a:prstDash val="solid"/>
          </a:ln>
        </p:spPr>
      </p:sp>
      <p:sp>
        <p:nvSpPr>
          <p:cNvPr id="10" name="Shape 8"/>
          <p:cNvSpPr/>
          <p:nvPr/>
        </p:nvSpPr>
        <p:spPr>
          <a:xfrm>
            <a:off x="457200" y="960120"/>
            <a:ext cx="11292840" cy="0"/>
          </a:xfrm>
          <a:prstGeom prst="line">
            <a:avLst/>
          </a:prstGeom>
          <a:noFill/>
          <a:ln w="6350">
            <a:solidFill>
              <a:srgbClr val="A3A3A3"/>
            </a:solidFill>
            <a:prstDash val="solid"/>
          </a:ln>
        </p:spPr>
      </p:sp>
      <p:sp>
        <p:nvSpPr>
          <p:cNvPr id="11" name="Text 9"/>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moyenne (incident vérifié le plus récent : 211 jours ; 1 signal du jour)</a:t>
            </a:r>
            <a:endParaRPr lang="en-US" sz="1100" dirty="0"/>
          </a:p>
        </p:txBody>
      </p:sp>
      <p:sp>
        <p:nvSpPr>
          <p:cNvPr id="12" name="Text 10"/>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Libéria : Un dauphin tué et massacré avant l'arrivée de l'équipe de secours de la NaFAA</a:t>
            </a:r>
            <a:endParaRPr lang="en-US" sz="2200" dirty="0"/>
          </a:p>
        </p:txBody>
      </p:sp>
      <p:sp>
        <p:nvSpPr>
          <p:cNvPr id="13" name="Text 11"/>
          <p:cNvSpPr/>
          <p:nvPr/>
        </p:nvSpPr>
        <p:spPr>
          <a:xfrm>
            <a:off x="640080" y="2029968"/>
            <a:ext cx="1097280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mardi 27 octobre 2026. Lieu : Monrovia, Liberia. Actualité sécuritaire. Une seule source à ce stade (FrontPageAfrica — Liberia)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FrontPageAfrica — Liberia : </a:t>
            </a:r>
            <a:pPr indent="0" marL="0">
              <a:spcAft>
                <a:spcPts val="300"/>
              </a:spcAft>
              <a:buNone/>
            </a:pPr>
            <a:r>
              <a:rPr lang="en-US" sz="1400" i="1" dirty="0">
                <a:solidFill>
                  <a:srgbClr val="1F2937"/>
                </a:solidFill>
                <a:latin typeface="Calibri" pitchFamily="34" charset="0"/>
                <a:ea typeface="Calibri" pitchFamily="34" charset="-122"/>
                <a:cs typeface="Calibri" pitchFamily="34" charset="-120"/>
              </a:rPr>
              <a:t>« Monrovia — Ce qui a commencé comme un moment d'espoir pour les défenseurs de l'environnement s'est terminé par une frustration après qu'un dauphin qui s'est échoué à Miami Beach à Monrovia a été tué et… »</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Menace armée sur les axes et localités de la zone : réévaluer les déplacements terrestres (horaires, convois, itinéraires de repli) et les consignes des sites et des personnels présents à proximité.</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FrontPageAfrica — Liberia</a:t>
            </a:r>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 — 27 octobre 2026, 5 h UTC   ·   Cotation : Probable</a:t>
            </a:r>
            <a:endParaRPr lang="en-US" sz="1400" dirty="0"/>
          </a:p>
        </p:txBody>
      </p:sp>
      <p:sp>
        <p:nvSpPr>
          <p:cNvPr id="14" name="Text 12"/>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5" name="Text 13"/>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1600" dirty="0">
                <a:solidFill>
                  <a:srgbClr val="FFFFFF"/>
                </a:solidFill>
                <a:latin typeface="Arial Narrow" pitchFamily="34" charset="0"/>
                <a:ea typeface="Arial Narrow" pitchFamily="34" charset="-122"/>
                <a:cs typeface="Arial Narrow" pitchFamily="34" charset="-120"/>
              </a:rPr>
              <a:t>VIII</a:t>
            </a:r>
            <a:endParaRPr lang="en-US" sz="16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Liberia</a:t>
            </a:r>
            <a:endParaRPr lang="en-US" sz="2800" dirty="0"/>
          </a:p>
        </p:txBody>
      </p:sp>
      <p:sp>
        <p:nvSpPr>
          <p:cNvPr id="4" name="Shape 2"/>
          <p:cNvSpPr/>
          <p:nvPr/>
        </p:nvSpPr>
        <p:spPr>
          <a:xfrm>
            <a:off x="10881360" y="274320"/>
            <a:ext cx="905256" cy="113386"/>
          </a:xfrm>
          <a:prstGeom prst="rect">
            <a:avLst/>
          </a:prstGeom>
          <a:solidFill>
            <a:srgbClr val="BF0A30"/>
          </a:solidFill>
          <a:ln w="12700">
            <a:solidFill>
              <a:srgbClr val="BF0A30"/>
            </a:solidFill>
            <a:prstDash val="solid"/>
          </a:ln>
        </p:spPr>
      </p:sp>
      <p:sp>
        <p:nvSpPr>
          <p:cNvPr id="5" name="Shape 3"/>
          <p:cNvSpPr/>
          <p:nvPr/>
        </p:nvSpPr>
        <p:spPr>
          <a:xfrm>
            <a:off x="10881360" y="387706"/>
            <a:ext cx="905256" cy="113386"/>
          </a:xfrm>
          <a:prstGeom prst="rect">
            <a:avLst/>
          </a:prstGeom>
          <a:solidFill>
            <a:srgbClr val="FFFFFF"/>
          </a:solidFill>
          <a:ln w="12700">
            <a:solidFill>
              <a:srgbClr val="FFFFFF"/>
            </a:solidFill>
            <a:prstDash val="solid"/>
          </a:ln>
        </p:spPr>
      </p:sp>
      <p:sp>
        <p:nvSpPr>
          <p:cNvPr id="6" name="Shape 4"/>
          <p:cNvSpPr/>
          <p:nvPr/>
        </p:nvSpPr>
        <p:spPr>
          <a:xfrm>
            <a:off x="10881360" y="501091"/>
            <a:ext cx="905256" cy="113386"/>
          </a:xfrm>
          <a:prstGeom prst="rect">
            <a:avLst/>
          </a:prstGeom>
          <a:solidFill>
            <a:srgbClr val="BF0A30"/>
          </a:solidFill>
          <a:ln w="12700">
            <a:solidFill>
              <a:srgbClr val="BF0A30"/>
            </a:solidFill>
            <a:prstDash val="solid"/>
          </a:ln>
        </p:spPr>
      </p:sp>
      <p:sp>
        <p:nvSpPr>
          <p:cNvPr id="7" name="Shape 5"/>
          <p:cNvSpPr/>
          <p:nvPr/>
        </p:nvSpPr>
        <p:spPr>
          <a:xfrm>
            <a:off x="10881360" y="614477"/>
            <a:ext cx="905256" cy="113386"/>
          </a:xfrm>
          <a:prstGeom prst="rect">
            <a:avLst/>
          </a:prstGeom>
          <a:solidFill>
            <a:srgbClr val="FFFFFF"/>
          </a:solidFill>
          <a:ln w="12700">
            <a:solidFill>
              <a:srgbClr val="FFFFFF"/>
            </a:solidFill>
            <a:prstDash val="solid"/>
          </a:ln>
        </p:spPr>
      </p:sp>
      <p:sp>
        <p:nvSpPr>
          <p:cNvPr id="8" name="Shape 6"/>
          <p:cNvSpPr/>
          <p:nvPr/>
        </p:nvSpPr>
        <p:spPr>
          <a:xfrm>
            <a:off x="10881360" y="727862"/>
            <a:ext cx="905256" cy="113386"/>
          </a:xfrm>
          <a:prstGeom prst="rect">
            <a:avLst/>
          </a:prstGeom>
          <a:solidFill>
            <a:srgbClr val="BF0A30"/>
          </a:solidFill>
          <a:ln w="12700">
            <a:solidFill>
              <a:srgbClr val="BF0A30"/>
            </a:solidFill>
            <a:prstDash val="solid"/>
          </a:ln>
        </p:spPr>
      </p:sp>
      <p:sp>
        <p:nvSpPr>
          <p:cNvPr id="9" name="Shape 7"/>
          <p:cNvSpPr/>
          <p:nvPr/>
        </p:nvSpPr>
        <p:spPr>
          <a:xfrm>
            <a:off x="10881360" y="274320"/>
            <a:ext cx="905256" cy="566928"/>
          </a:xfrm>
          <a:prstGeom prst="rect">
            <a:avLst/>
          </a:prstGeom>
          <a:ln w="6350">
            <a:solidFill>
              <a:srgbClr val="1F2937"/>
            </a:solidFill>
            <a:prstDash val="solid"/>
          </a:ln>
        </p:spPr>
      </p:sp>
      <p:sp>
        <p:nvSpPr>
          <p:cNvPr id="10" name="Shape 8"/>
          <p:cNvSpPr/>
          <p:nvPr/>
        </p:nvSpPr>
        <p:spPr>
          <a:xfrm>
            <a:off x="457200" y="960120"/>
            <a:ext cx="11292840" cy="0"/>
          </a:xfrm>
          <a:prstGeom prst="line">
            <a:avLst/>
          </a:prstGeom>
          <a:noFill/>
          <a:ln w="6350">
            <a:solidFill>
              <a:srgbClr val="A3A3A3"/>
            </a:solidFill>
            <a:prstDash val="solid"/>
          </a:ln>
        </p:spPr>
      </p:sp>
      <p:sp>
        <p:nvSpPr>
          <p:cNvPr id="11" name="Text 9"/>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LIBERIA: JUDGE CITES EVIDENCE IN FINDING NSA STAFF PETER BON JALLAH GUILTY OF STATUTORY RAPE, KIDNAPPING</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FrontPageAfrica — Liberia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15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LIBERIA: WAR VICTIMS, SURVIVORS PROTEST AT COURT OFFICE, CAPITOL AS HOUSE CHAIRMAN PLEDGES TO PUT COURT BILL BEFORE PLENARY TUESDAY</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FrontPageAfrica — Liberia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5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LIBÉRIA : DANS LE CADRE DE LA TENTATIVE DE LA DÉFENSE D’ANNULER LA CONDAMNATION DE PETER BON JALLAH</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FrontPageAfrica — Liberia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28 octobre 2026, 7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LA VISION D'UN ANCIEN CHEF DE LA SÉCURITÉ POUR LE SERVICE D'IMMIGRATION DU LIBÉRIA JOUE ENFIN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FrontPageAfrica — Liberia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6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LE LIBÉRIA IMPOSE DES RÈGLES D'ISOLEMENT ET DE SURVEILLANCE DE 21 JOURS AUX VOYAGEURS FACE À LA MENACE RÉGIONALE D'EBOLA</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Global News Network Liberia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22 h UTC</a:t>
            </a:r>
            <a:endParaRPr lang="en-US" sz="13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1600" dirty="0">
                <a:solidFill>
                  <a:srgbClr val="FFFFFF"/>
                </a:solidFill>
                <a:latin typeface="Arial Narrow" pitchFamily="34" charset="0"/>
                <a:ea typeface="Arial Narrow" pitchFamily="34" charset="-122"/>
                <a:cs typeface="Arial Narrow" pitchFamily="34" charset="-120"/>
              </a:rPr>
              <a:t>VIII</a:t>
            </a:r>
            <a:endParaRPr lang="en-US" sz="16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Liberia</a:t>
            </a:r>
            <a:endParaRPr lang="en-US" sz="2800" dirty="0"/>
          </a:p>
        </p:txBody>
      </p:sp>
      <p:sp>
        <p:nvSpPr>
          <p:cNvPr id="4" name="Shape 2"/>
          <p:cNvSpPr/>
          <p:nvPr/>
        </p:nvSpPr>
        <p:spPr>
          <a:xfrm>
            <a:off x="10881360" y="274320"/>
            <a:ext cx="905256" cy="113386"/>
          </a:xfrm>
          <a:prstGeom prst="rect">
            <a:avLst/>
          </a:prstGeom>
          <a:solidFill>
            <a:srgbClr val="BF0A30"/>
          </a:solidFill>
          <a:ln w="12700">
            <a:solidFill>
              <a:srgbClr val="BF0A30"/>
            </a:solidFill>
            <a:prstDash val="solid"/>
          </a:ln>
        </p:spPr>
      </p:sp>
      <p:sp>
        <p:nvSpPr>
          <p:cNvPr id="5" name="Shape 3"/>
          <p:cNvSpPr/>
          <p:nvPr/>
        </p:nvSpPr>
        <p:spPr>
          <a:xfrm>
            <a:off x="10881360" y="387706"/>
            <a:ext cx="905256" cy="113386"/>
          </a:xfrm>
          <a:prstGeom prst="rect">
            <a:avLst/>
          </a:prstGeom>
          <a:solidFill>
            <a:srgbClr val="FFFFFF"/>
          </a:solidFill>
          <a:ln w="12700">
            <a:solidFill>
              <a:srgbClr val="FFFFFF"/>
            </a:solidFill>
            <a:prstDash val="solid"/>
          </a:ln>
        </p:spPr>
      </p:sp>
      <p:sp>
        <p:nvSpPr>
          <p:cNvPr id="6" name="Shape 4"/>
          <p:cNvSpPr/>
          <p:nvPr/>
        </p:nvSpPr>
        <p:spPr>
          <a:xfrm>
            <a:off x="10881360" y="501091"/>
            <a:ext cx="905256" cy="113386"/>
          </a:xfrm>
          <a:prstGeom prst="rect">
            <a:avLst/>
          </a:prstGeom>
          <a:solidFill>
            <a:srgbClr val="BF0A30"/>
          </a:solidFill>
          <a:ln w="12700">
            <a:solidFill>
              <a:srgbClr val="BF0A30"/>
            </a:solidFill>
            <a:prstDash val="solid"/>
          </a:ln>
        </p:spPr>
      </p:sp>
      <p:sp>
        <p:nvSpPr>
          <p:cNvPr id="7" name="Shape 5"/>
          <p:cNvSpPr/>
          <p:nvPr/>
        </p:nvSpPr>
        <p:spPr>
          <a:xfrm>
            <a:off x="10881360" y="614477"/>
            <a:ext cx="905256" cy="113386"/>
          </a:xfrm>
          <a:prstGeom prst="rect">
            <a:avLst/>
          </a:prstGeom>
          <a:solidFill>
            <a:srgbClr val="FFFFFF"/>
          </a:solidFill>
          <a:ln w="12700">
            <a:solidFill>
              <a:srgbClr val="FFFFFF"/>
            </a:solidFill>
            <a:prstDash val="solid"/>
          </a:ln>
        </p:spPr>
      </p:sp>
      <p:sp>
        <p:nvSpPr>
          <p:cNvPr id="8" name="Shape 6"/>
          <p:cNvSpPr/>
          <p:nvPr/>
        </p:nvSpPr>
        <p:spPr>
          <a:xfrm>
            <a:off x="10881360" y="727862"/>
            <a:ext cx="905256" cy="113386"/>
          </a:xfrm>
          <a:prstGeom prst="rect">
            <a:avLst/>
          </a:prstGeom>
          <a:solidFill>
            <a:srgbClr val="BF0A30"/>
          </a:solidFill>
          <a:ln w="12700">
            <a:solidFill>
              <a:srgbClr val="BF0A30"/>
            </a:solidFill>
            <a:prstDash val="solid"/>
          </a:ln>
        </p:spPr>
      </p:sp>
      <p:sp>
        <p:nvSpPr>
          <p:cNvPr id="9" name="Shape 7"/>
          <p:cNvSpPr/>
          <p:nvPr/>
        </p:nvSpPr>
        <p:spPr>
          <a:xfrm>
            <a:off x="10881360" y="274320"/>
            <a:ext cx="905256" cy="566928"/>
          </a:xfrm>
          <a:prstGeom prst="rect">
            <a:avLst/>
          </a:prstGeom>
          <a:ln w="6350">
            <a:solidFill>
              <a:srgbClr val="1F2937"/>
            </a:solidFill>
            <a:prstDash val="solid"/>
          </a:ln>
        </p:spPr>
      </p:sp>
      <p:sp>
        <p:nvSpPr>
          <p:cNvPr id="10" name="Shape 8"/>
          <p:cNvSpPr/>
          <p:nvPr/>
        </p:nvSpPr>
        <p:spPr>
          <a:xfrm>
            <a:off x="457200" y="960120"/>
            <a:ext cx="11292840" cy="0"/>
          </a:xfrm>
          <a:prstGeom prst="line">
            <a:avLst/>
          </a:prstGeom>
          <a:noFill/>
          <a:ln w="6350">
            <a:solidFill>
              <a:srgbClr val="A3A3A3"/>
            </a:solidFill>
            <a:prstDash val="solid"/>
          </a:ln>
        </p:spPr>
      </p:sp>
      <p:sp>
        <p:nvSpPr>
          <p:cNvPr id="11" name="Text 9"/>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L'AFL TIRE SUR DEUX SOLDATS À LA SUITE D'UN ASSAUT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Global News Network Liberia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22 octobre 2026, 17 h UTC</a:t>
            </a:r>
            <a:endParaRPr lang="en-US" sz="13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IX</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Sénégal</a:t>
            </a:r>
            <a:endParaRPr lang="en-US" sz="2800" dirty="0"/>
          </a:p>
        </p:txBody>
      </p:sp>
      <p:sp>
        <p:nvSpPr>
          <p:cNvPr id="4" name="Shape 2"/>
          <p:cNvSpPr/>
          <p:nvPr/>
        </p:nvSpPr>
        <p:spPr>
          <a:xfrm>
            <a:off x="10881360" y="274320"/>
            <a:ext cx="301752" cy="566928"/>
          </a:xfrm>
          <a:prstGeom prst="rect">
            <a:avLst/>
          </a:prstGeom>
          <a:solidFill>
            <a:srgbClr val="00853F"/>
          </a:solidFill>
          <a:ln w="12700">
            <a:solidFill>
              <a:srgbClr val="00853F"/>
            </a:solidFill>
            <a:prstDash val="solid"/>
          </a:ln>
        </p:spPr>
      </p:sp>
      <p:sp>
        <p:nvSpPr>
          <p:cNvPr id="5" name="Shape 3"/>
          <p:cNvSpPr/>
          <p:nvPr/>
        </p:nvSpPr>
        <p:spPr>
          <a:xfrm>
            <a:off x="11183112" y="274320"/>
            <a:ext cx="301752" cy="566928"/>
          </a:xfrm>
          <a:prstGeom prst="rect">
            <a:avLst/>
          </a:prstGeom>
          <a:solidFill>
            <a:srgbClr val="FDEF42"/>
          </a:solidFill>
          <a:ln w="12700">
            <a:solidFill>
              <a:srgbClr val="FDEF42"/>
            </a:solidFill>
            <a:prstDash val="solid"/>
          </a:ln>
        </p:spPr>
      </p:sp>
      <p:sp>
        <p:nvSpPr>
          <p:cNvPr id="6" name="Shape 4"/>
          <p:cNvSpPr/>
          <p:nvPr/>
        </p:nvSpPr>
        <p:spPr>
          <a:xfrm>
            <a:off x="11484864" y="274320"/>
            <a:ext cx="301752" cy="566928"/>
          </a:xfrm>
          <a:prstGeom prst="rect">
            <a:avLst/>
          </a:prstGeom>
          <a:solidFill>
            <a:srgbClr val="E31B23"/>
          </a:solidFill>
          <a:ln w="12700">
            <a:solidFill>
              <a:srgbClr val="E31B23"/>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moyenne (incident vérifié le plus récent : 120 jours ; 5 signaux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Touba : un débat sur les moteurs de Jakarta se termine par la mort de Baye M. Diop</a:t>
            </a:r>
            <a:endParaRPr lang="en-US" sz="2200" dirty="0"/>
          </a:p>
        </p:txBody>
      </p:sp>
      <p:sp>
        <p:nvSpPr>
          <p:cNvPr id="11" name="Text 9"/>
          <p:cNvSpPr/>
          <p:nvPr/>
        </p:nvSpPr>
        <p:spPr>
          <a:xfrm>
            <a:off x="640080" y="2029968"/>
            <a:ext cx="681228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mercredi 28 octobre 2026. Lieu : Sénégal. Actualité politique. Une seule source à ce stade (Dakar Actu)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Dakar Actu : </a:t>
            </a:r>
            <a:pPr indent="0" marL="0">
              <a:spcAft>
                <a:spcPts val="300"/>
              </a:spcAft>
              <a:buNone/>
            </a:pPr>
            <a:r>
              <a:rPr lang="en-US" sz="1400" i="1" dirty="0">
                <a:solidFill>
                  <a:srgbClr val="1F2937"/>
                </a:solidFill>
                <a:latin typeface="Calibri" pitchFamily="34" charset="0"/>
                <a:ea typeface="Calibri" pitchFamily="34" charset="-122"/>
                <a:cs typeface="Calibri" pitchFamily="34" charset="-120"/>
              </a:rPr>
              <a:t>« Une discussion entre deux amis a dégénéré dans la nuit du 26 au 27 octobre à Darou Khoudoss. Selon L’Observateur, Baye M. Diop a été mortellement poignardé par un conducteur de Jakarta qui a pris la fuite. Le différend portait sur la puissance et les caractéristiques des moteurs de motos Jakarta. Il s’est achevé par la mort de Baye M. »</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Climat politique à suivre : en mesurer l'incidence sur la stabilité locale et les déplacements.</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Dakar Actu</a:t>
            </a:r>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 — 28 octobre 2026, 8 h UTC   ·   Cotation : Probable</a:t>
            </a:r>
            <a:endParaRPr lang="en-US" sz="1400" dirty="0"/>
          </a:p>
        </p:txBody>
      </p:sp>
      <p:pic>
        <p:nvPicPr>
          <p:cNvPr id="12" name="Image 0" descr="preencoded.png">
            <a:hlinkClick r:id="rId3" tooltip=""/>
          </p:cNvPr>
          <p:cNvPicPr>
            <a:picLocks noChangeAspect="1"/>
          </p:cNvPicPr>
          <p:nvPr/>
        </p:nvPicPr>
        <p:blipFill>
          <a:blip r:embed="rId2"/>
          <a:stretch>
            <a:fillRect/>
          </a:stretch>
        </p:blipFill>
        <p:spPr>
          <a:xfrm>
            <a:off x="7635240" y="2075688"/>
            <a:ext cx="4114800" cy="2314575"/>
          </a:xfrm>
          <a:prstGeom prst="rect">
            <a:avLst/>
          </a:prstGeom>
        </p:spPr>
      </p:pic>
      <p:sp>
        <p:nvSpPr>
          <p:cNvPr id="13" name="Text 10"/>
          <p:cNvSpPr/>
          <p:nvPr/>
        </p:nvSpPr>
        <p:spPr>
          <a:xfrm>
            <a:off x="7635240" y="4426839"/>
            <a:ext cx="4114800" cy="256032"/>
          </a:xfrm>
          <a:prstGeom prst="rect">
            <a:avLst/>
          </a:prstGeom>
          <a:noFill/>
          <a:ln/>
        </p:spPr>
        <p:txBody>
          <a:bodyPr wrap="square" rtlCol="0" anchor="ctr"/>
          <a:lstStyle/>
          <a:p>
            <a:pPr algn="r" indent="0" marL="0">
              <a:buNone/>
            </a:pPr>
            <a:r>
              <a:rPr lang="en-US" sz="9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Photo : © dakaractu.com</a:t>
            </a:r>
            <a:endParaRPr lang="en-US" sz="900" dirty="0"/>
          </a:p>
        </p:txBody>
      </p:sp>
      <p:sp>
        <p:nvSpPr>
          <p:cNvPr id="14" name="Text 11"/>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5" name="Text 12"/>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IX</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Sénégal</a:t>
            </a:r>
            <a:endParaRPr lang="en-US" sz="2800" dirty="0"/>
          </a:p>
        </p:txBody>
      </p:sp>
      <p:sp>
        <p:nvSpPr>
          <p:cNvPr id="4" name="Shape 2"/>
          <p:cNvSpPr/>
          <p:nvPr/>
        </p:nvSpPr>
        <p:spPr>
          <a:xfrm>
            <a:off x="10881360" y="274320"/>
            <a:ext cx="301752" cy="566928"/>
          </a:xfrm>
          <a:prstGeom prst="rect">
            <a:avLst/>
          </a:prstGeom>
          <a:solidFill>
            <a:srgbClr val="00853F"/>
          </a:solidFill>
          <a:ln w="12700">
            <a:solidFill>
              <a:srgbClr val="00853F"/>
            </a:solidFill>
            <a:prstDash val="solid"/>
          </a:ln>
        </p:spPr>
      </p:sp>
      <p:sp>
        <p:nvSpPr>
          <p:cNvPr id="5" name="Shape 3"/>
          <p:cNvSpPr/>
          <p:nvPr/>
        </p:nvSpPr>
        <p:spPr>
          <a:xfrm>
            <a:off x="11183112" y="274320"/>
            <a:ext cx="301752" cy="566928"/>
          </a:xfrm>
          <a:prstGeom prst="rect">
            <a:avLst/>
          </a:prstGeom>
          <a:solidFill>
            <a:srgbClr val="FDEF42"/>
          </a:solidFill>
          <a:ln w="12700">
            <a:solidFill>
              <a:srgbClr val="FDEF42"/>
            </a:solidFill>
            <a:prstDash val="solid"/>
          </a:ln>
        </p:spPr>
      </p:sp>
      <p:sp>
        <p:nvSpPr>
          <p:cNvPr id="6" name="Shape 4"/>
          <p:cNvSpPr/>
          <p:nvPr/>
        </p:nvSpPr>
        <p:spPr>
          <a:xfrm>
            <a:off x="11484864" y="274320"/>
            <a:ext cx="301752" cy="566928"/>
          </a:xfrm>
          <a:prstGeom prst="rect">
            <a:avLst/>
          </a:prstGeom>
          <a:solidFill>
            <a:srgbClr val="E31B23"/>
          </a:solidFill>
          <a:ln w="12700">
            <a:solidFill>
              <a:srgbClr val="E31B23"/>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MORT D’AMINATA SY : LE SUSPECT INVOQUE UNE CHUTE, LES CONSTATATIONS DÉCRIVENT DES VIOLENCES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Dakar Actu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28 octobre 2026, 8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TALIBOU DIALLO TUÉ AU COU ET AU THORAX : UNE DISPUTE ENTRE COLOCATAIRES POUR UNE PRISE ÉLECTRIQUE, AU CŒUR DU DRAME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Dakar Actu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28 octobre 2026, 8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LYCÉENNE TUÉE À PODOR : DE L'HISTOIRE D'AMOUR AU DRAME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Seneweb</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28 octobre 2026, 7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IMMEUBLE EFFONDRÉ À THIÈS : UN MORT ET DEUX BLESSÉS, SELON LE BILAN PROVISOIRE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APS — Agence Sénégalaise Presse · Pressafrik</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PACTE DE STABILITÉ SOCIALE : LE GOUVERNEMENT VISE 71 % D’EXÉCUTION DES ENGAGEMENTS EN DÉCEMBRE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Pressafrik · APS — Agence Sénégalaise Presse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15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IX</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Sénégal</a:t>
            </a:r>
            <a:endParaRPr lang="en-US" sz="2800" dirty="0"/>
          </a:p>
        </p:txBody>
      </p:sp>
      <p:sp>
        <p:nvSpPr>
          <p:cNvPr id="4" name="Shape 2"/>
          <p:cNvSpPr/>
          <p:nvPr/>
        </p:nvSpPr>
        <p:spPr>
          <a:xfrm>
            <a:off x="10881360" y="274320"/>
            <a:ext cx="301752" cy="566928"/>
          </a:xfrm>
          <a:prstGeom prst="rect">
            <a:avLst/>
          </a:prstGeom>
          <a:solidFill>
            <a:srgbClr val="00853F"/>
          </a:solidFill>
          <a:ln w="12700">
            <a:solidFill>
              <a:srgbClr val="00853F"/>
            </a:solidFill>
            <a:prstDash val="solid"/>
          </a:ln>
        </p:spPr>
      </p:sp>
      <p:sp>
        <p:nvSpPr>
          <p:cNvPr id="5" name="Shape 3"/>
          <p:cNvSpPr/>
          <p:nvPr/>
        </p:nvSpPr>
        <p:spPr>
          <a:xfrm>
            <a:off x="11183112" y="274320"/>
            <a:ext cx="301752" cy="566928"/>
          </a:xfrm>
          <a:prstGeom prst="rect">
            <a:avLst/>
          </a:prstGeom>
          <a:solidFill>
            <a:srgbClr val="FDEF42"/>
          </a:solidFill>
          <a:ln w="12700">
            <a:solidFill>
              <a:srgbClr val="FDEF42"/>
            </a:solidFill>
            <a:prstDash val="solid"/>
          </a:ln>
        </p:spPr>
      </p:sp>
      <p:sp>
        <p:nvSpPr>
          <p:cNvPr id="6" name="Shape 4"/>
          <p:cNvSpPr/>
          <p:nvPr/>
        </p:nvSpPr>
        <p:spPr>
          <a:xfrm>
            <a:off x="11484864" y="274320"/>
            <a:ext cx="301752" cy="566928"/>
          </a:xfrm>
          <a:prstGeom prst="rect">
            <a:avLst/>
          </a:prstGeom>
          <a:solidFill>
            <a:srgbClr val="E31B23"/>
          </a:solidFill>
          <a:ln w="12700">
            <a:solidFill>
              <a:srgbClr val="E31B23"/>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MALIKA : UN LOCATAIRE INTERPELLÉ POUR AVOIR POIGNARDÉ À MORT SON VOISIN LORS D'UNE ALTERCATION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Seneweb</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13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MEURTRE PRÉSUMÉ D’AMINATA SY À PODOR : LE SUSPECT RETROUVÉ DANS UNE CACHETTE ET ARRÊTÉ À MBACKÉ</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Dakar Actu · Seneweb</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11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KARAMO CISSÉ NDIAYE ARRÊTÉ POUR LE MEURTRE D’AMINATA SY APRÈS UNE DISPUTE VIOLENTE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SeneNews</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8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DRAME À ZIGUINCHOR : UN COMMERÇANT RETROUVÉ MORT PENDU APRÈS LA PERTE DE 800 000 F CFA</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Seneweb</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23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CDCDCD"/>
        </a:solidFill>
      </p:bgPr>
    </p:bg>
    <p:spTree>
      <p:nvGrpSpPr>
        <p:cNvPr id="1" name=""/>
        <p:cNvGrpSpPr/>
        <p:nvPr/>
      </p:nvGrpSpPr>
      <p:grpSpPr>
        <a:xfrm>
          <a:off x="0" y="0"/>
          <a:ext cx="0" cy="0"/>
          <a:chOff x="0" y="0"/>
          <a:chExt cx="0" cy="0"/>
        </a:xfrm>
      </p:grpSpPr>
      <p:sp>
        <p:nvSpPr>
          <p:cNvPr id="2" name="Text 0"/>
          <p:cNvSpPr/>
          <p:nvPr/>
        </p:nvSpPr>
        <p:spPr>
          <a:xfrm>
            <a:off x="457200" y="2377440"/>
            <a:ext cx="11247120" cy="1097280"/>
          </a:xfrm>
          <a:prstGeom prst="rect">
            <a:avLst/>
          </a:prstGeom>
          <a:noFill/>
          <a:ln/>
        </p:spPr>
        <p:txBody>
          <a:bodyPr wrap="square" rtlCol="0" anchor="ctr"/>
          <a:lstStyle/>
          <a:p>
            <a:pPr algn="ctr" indent="0" marL="0">
              <a:buNone/>
            </a:pPr>
            <a:r>
              <a:rPr lang="en-US" sz="6000" dirty="0">
                <a:solidFill>
                  <a:srgbClr val="111111"/>
                </a:solidFill>
                <a:latin typeface="Arial Narrow" pitchFamily="34" charset="0"/>
                <a:ea typeface="Arial Narrow" pitchFamily="34" charset="-122"/>
                <a:cs typeface="Arial Narrow" pitchFamily="34" charset="-120"/>
              </a:rPr>
              <a:t>MERCI</a:t>
            </a:r>
            <a:endParaRPr lang="en-US" sz="6000" dirty="0"/>
          </a:p>
        </p:txBody>
      </p:sp>
      <p:sp>
        <p:nvSpPr>
          <p:cNvPr id="3" name="Text 1"/>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4" name="Text 2"/>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28/10/26   |   39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Rapport mensuel de sûreté — 28 octobre 2026</dc:title>
  <dc:subject>PptxGenJS Presentation</dc:subject>
  <dc:creator>SentiqS</dc:creator>
  <cp:lastModifiedBy>SentiqS</cp:lastModifiedBy>
  <cp:revision>1</cp:revision>
  <dcterms:created xsi:type="dcterms:W3CDTF">2026-10-28T09:22:09Z</dcterms:created>
  <dcterms:modified xsi:type="dcterms:W3CDTF">2026-10-28T09:22:09Z</dcterms:modified>
</cp:coreProperties>
</file>