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linfodrome.com/societe/126925-tensions-permanentes-entre-le-district-autonome-d-abidjan-et-les-mairies-le-cpc-est-il-bel-et-bien-mort"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www.linfodrome.com/societe/126820-projets-de-sa-mandature-le-president-sortant-de-la-jci-emeraude-dresse-un-bilan-de-95-de-taux-d-execution"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linfodrome.com/societe/126904-guiglo-etouffees-par-la-flambee-des-prix-les-vendeuses-de-poissons-en-greve" TargetMode="External"/><Relationship Id="rId2" Type="http://schemas.openxmlformats.org/officeDocument/2006/relationships/hyperlink" Target="https://www.linfodrome.com/societe/126894-lutte-contre-le-cancer-du-sein-linfodrome-combat-les-rumeurs-et-sensibilise-les-populations" TargetMode="External"/><Relationship Id="rId3" Type="http://schemas.openxmlformats.org/officeDocument/2006/relationships/hyperlink" Target="https://fr.allafrica.com/stories/202610230151.html" TargetMode="External"/><Relationship Id="rId4" Type="http://schemas.openxmlformats.org/officeDocument/2006/relationships/hyperlink" Target="https://www.linfodrome.com/societe/126971-octobre-rose-ariel-sheney-sur-tous-les-fronts-apres-une-epreuve-personnelle-liee-au-deces-de-son-epouse" TargetMode="External"/><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linfodrome.com/cuisine/126988-pommes-bananes-kiwis-cette-erreur-de-rangement-fait-murir-vos-fruits-beaucoup-trop-vite" TargetMode="External"/><Relationship Id="rId2" Type="http://schemas.openxmlformats.org/officeDocument/2006/relationships/hyperlink" Target="https://fr.allafrica.com/stories/202610280689.html" TargetMode="External"/><Relationship Id="rId3" Type="http://schemas.openxmlformats.org/officeDocument/2006/relationships/hyperlink" Target="https://www.linfodrome.com/societe/126963-bouna-les-victimes-d-accidents-de-la-route-pourront-desormais-prises-en-charge-gratuitement-aux-urgences" TargetMode="External"/><Relationship Id="rId4" Type="http://schemas.openxmlformats.org/officeDocument/2006/relationships/hyperlink" Target="https://www.alwihdainfo.com/cote-divoire-le-gouvernement-mise-sur-la-ponadepa-ii-pour-atteindre-la-souverainete-alimentaire-dici-2030/" TargetMode="External"/><Relationship Id="rId5" Type="http://schemas.openxmlformats.org/officeDocument/2006/relationships/hyperlink" Target="https://www.linfodrome.com/societe/126955-lutte-contre-le-gaspillage-alimentaire-le-comite-de-concertation-etat-secteur-prive-preconise-un-cadre-national" TargetMode="External"/><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linfodrome.com/politique/126898-hausse-des-prix-du-poisson-assale-tiemoko-revele-une-dependance-de-la-cote-d-ivoire-a-88-8-aux-importations" TargetMode="External"/><Relationship Id="rId2" Type="http://schemas.openxmlformats.org/officeDocument/2006/relationships/hyperlink" Target="https://fr.allafrica.com/stories/202610230529.html"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fr.allafrica.com/stories/202610280621.html" TargetMode="External"/><Relationship Id="rId2" Type="http://schemas.openxmlformats.org/officeDocument/2006/relationships/hyperlink" Target="https://www.ecowas.int/the-3rd-abidjan-border-forum-the-ecowas-permanent-representation-to-the-african-union-commits-to-people-centred-border-governance/" TargetMode="External"/><Relationship Id="rId3" Type="http://schemas.openxmlformats.org/officeDocument/2006/relationships/hyperlink" Target="https://www.linfodrome.com/politique/126944-charnier-de-yopougon-26-ans-apres-amadou-coulibaly-oppose-les-violences-du-passe-a-l-ere-ouattara" TargetMode="External"/><Relationship Id="rId4" Type="http://schemas.openxmlformats.org/officeDocument/2006/relationships/hyperlink" Target="https://fr.allafrica.com/stories/202610270670.html" TargetMode="External"/><Relationship Id="rId5" Type="http://schemas.openxmlformats.org/officeDocument/2006/relationships/hyperlink" Target="https://www.linfodrome.com/economie/126924-interpol-renforce-les-capacites-des-enqueteurs-ivoiriens-pour-traquer-les-avoirs-des-criminels" TargetMode="External"/><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fr.allafrica.com/stories/202610260533.html" TargetMode="External"/><Relationship Id="rId2" Type="http://schemas.openxmlformats.org/officeDocument/2006/relationships/hyperlink" Target="https://www.alwihdainfo.com/cote-divoire-securite-alimentaire-et-securisation-fonciere-le-gouvernement-soutient-les-femmes-productrices/" TargetMode="External"/><Relationship Id="rId3" Type="http://schemas.openxmlformats.org/officeDocument/2006/relationships/hyperlink" Target="https://www.linfodrome.com/economie/126857-prikro-la-relance-de-la-cafeiculture-et-la-promotion-du-mais-engagees-dans-l-iffou" TargetMode="External"/><Relationship Id="rId4" Type="http://schemas.openxmlformats.org/officeDocument/2006/relationships/hyperlink" Target="https://www.linfodrome.com/politique/126830-le-frere-de-tidjane-thiam-inculpe-pour-17-chefs-d-accusation-dont-l-assassinat-et-des-actes-terroristes" TargetMode="External"/><Relationship Id="rId5" Type="http://schemas.openxmlformats.org/officeDocument/2006/relationships/hyperlink" Target="https://fr.allafrica.com/stories/202610240165.html" TargetMode="External"/><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www.linfodrome.com/faits-divers/126964-gonzagueville-elle-lui-refuse-le-sexe-il-la-tue-et-jette-son-corps-dans-une-decharge-d-ordures" TargetMode="Externa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www.linfodrome.com/international/126817-avant-la-grande-marche-du-24-coctobre-emmanuel-macron-face-un-attentat"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fr.allafrica.com/stories/202610250016.html" TargetMode="Externa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www.wakatsera.com/une-promesse-dechange-diphone-vire-au-meurtre-presume-dune-jeune-fille/" TargetMode="External"/><Relationship Id="rId3" Type="http://schemas.openxmlformats.org/officeDocument/2006/relationships/hyperlink" Target="https://www.wakatsera.com/une-promesse-dechange-diphone-vire-au-meurtre-presume-dune-jeune-fille/" TargetMode="External"/><Relationship Id="rId4" Type="http://schemas.openxmlformats.org/officeDocument/2006/relationships/hyperlink" Target="https://www.wakatsera.com/une-promesse-dechange-diphone-vire-au-meurtre-presume-dune-jeune-fille/" TargetMode="External"/><Relationship Id="rId2" Type="http://schemas.openxmlformats.org/officeDocument/2006/relationships/image" Target="../media/image-15-1.jpe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fr.allafrica.com/stories/202610230254.html" TargetMode="External"/><Relationship Id="rId2" Type="http://schemas.openxmlformats.org/officeDocument/2006/relationships/hyperlink" Target="https://fr.allafrica.com/stories/202610220451.html" TargetMode="External"/><Relationship Id="rId3" Type="http://schemas.openxmlformats.org/officeDocument/2006/relationships/hyperlink" Target="https://burkina24.com/2026/10/28/le-mgdp-accueille-la-2e-session-du-comite-mixte-de-suivi-de-la-cooperation-militaire-et-technique-egypte-burkina-faso/" TargetMode="External"/><Relationship Id="rId4" Type="http://schemas.openxmlformats.org/officeDocument/2006/relationships/hyperlink" Target="https://faso7.com/2026/10/28/climat-et-securite-au-sahel-le-burkina-faso-passe-a-laction-pour-sa-strategie-nationale/" TargetMode="External"/><Relationship Id="rId5" Type="http://schemas.openxmlformats.org/officeDocument/2006/relationships/hyperlink" Target="https://burkina24.com/2026/10/28/climat-paix-securite-le-burkina-faso-mise-sur-une-meilleure-coordination-des-acteurs/" TargetMode="External"/><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burkina24.com/2026/10/28/entrepreneuriat-feminin-a-korsimoro-le-combat-inspirant-des-femmes-pour-lautonomie-financiere/" TargetMode="External"/><Relationship Id="rId2" Type="http://schemas.openxmlformats.org/officeDocument/2006/relationships/hyperlink" Target="https://faso7.com/2026/10/24/securite-numerique-au-burkina-la-bclcc-lance-la-2%e1%b5%89-semaine-nationale-de-lutte-contre-la-cybercriminalite/" TargetMode="External"/><Relationship Id="rId3" Type="http://schemas.openxmlformats.org/officeDocument/2006/relationships/hyperlink" Target="https://www.wakatsera.com/cooperation-le-ministre-de-la-securite-recoit-une-delegation-de-luicn/" TargetMode="External"/><Relationship Id="rId4" Type="http://schemas.openxmlformats.org/officeDocument/2006/relationships/hyperlink" Target="https://faso7.com/2026/10/23/construction-au-burkina-faso-lordre-des-ingenieurs-alerte-sur-les-risques-lies-aux-faux-professionnels/" TargetMode="External"/><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pointschauds.info/mali-13-civils-tues-par-une-frappe-de-drone-pres-de-la-frontiere-mauritanienne-larmee-affirme-avoir-vise-des-terroristes/" TargetMode="External"/><Relationship Id="rId2" Type="http://schemas.openxmlformats.org/officeDocument/2006/relationships/hyperlink" Target="https://fr.allafrica.com/stories/202610270196.html" TargetMode="External"/><Relationship Id="rId3" Type="http://schemas.openxmlformats.org/officeDocument/2006/relationships/hyperlink" Target="https://www.rfi.fr/fr/afrique/20261026-mali-treize-civils-tu%C3%A9s-par-une-frappe-de-drone-de-l-arm%C3%A9e-dans-la-r%C3%A9gion-de-tombouctou" TargetMode="External"/><Relationship Id="rId5" Type="http://schemas.openxmlformats.org/officeDocument/2006/relationships/hyperlink" Target="https://pointschauds.info/mali-13-civils-tues-par-une-frappe-de-drone-pres-de-la-frontiere-mauritanienne-larmee-affirme-avoir-vise-des-terroristes/" TargetMode="External"/><Relationship Id="rId6" Type="http://schemas.openxmlformats.org/officeDocument/2006/relationships/hyperlink" Target="https://pointschauds.info/mali-13-civils-tues-par-une-frappe-de-drone-pres-de-la-frontiere-mauritanienne-larmee-affirme-avoir-vise-des-terroristes/" TargetMode="External"/><Relationship Id="rId4" Type="http://schemas.openxmlformats.org/officeDocument/2006/relationships/image" Target="../media/image-18-1.jpe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mali24.info/mali-ce-que-lon-sait-de-la-mort-mysterieuse-du-jeune-commercant-bocar-ly/" TargetMode="External"/><Relationship Id="rId2" Type="http://schemas.openxmlformats.org/officeDocument/2006/relationships/hyperlink" Target="https://mali24.info/tournee-des-laureats-de-la-biennale-de-tombouctou-2025-le-coup-denvoi-donne-a-bougouni/" TargetMode="External"/><Relationship Id="rId3" Type="http://schemas.openxmlformats.org/officeDocument/2006/relationships/hyperlink" Target="https://mali24.info/enlevement-de-quatre-enseignants-a-san-la-synergie-des-syndicats-de-leducation-de-la-region-exige-leur-liberation/" TargetMode="External"/><Relationship Id="rId4" Type="http://schemas.openxmlformats.org/officeDocument/2006/relationships/hyperlink" Target="https://maliactu.net/mali-disparitions-inquietantes-morts-suspectes-que-se-passe-t-il-avec-la-jeunesse-malienne/" TargetMode="External"/><Relationship Id="rId5" Type="http://schemas.openxmlformats.org/officeDocument/2006/relationships/hyperlink" Target="https://maliactu.net/attaque-de-trappes-et-la-verriere-la-qualification-du-mobile-raciste-au-coeur-du-debat-securitaire-et-societal/" TargetMode="External"/><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www.dakaractu.com/Mali-le-bilan-de-l-attaque-meurtriere-du-weekend-dernier-monte-a-54-morts-armee_a277413.html" TargetMode="External"/><Relationship Id="rId2" Type="http://schemas.openxmlformats.org/officeDocument/2006/relationships/hyperlink" Target="https://fr.allafrica.com/stories/202610230641.html" TargetMode="External"/><Relationship Id="rId3" Type="http://schemas.openxmlformats.org/officeDocument/2006/relationships/hyperlink" Target="https://maliactu.net/lutte-contre-le-terrorisme-a-kayes-la-police-frappe-au-coeur-des-reseaux-de-soutien-logistique-des-gat/" TargetMode="External"/><Relationship Id="rId4" Type="http://schemas.openxmlformats.org/officeDocument/2006/relationships/hyperlink" Target="https://www.hrw.org/fr/news/2026/10/22/mali-larmee-et-lafrica-corps-controle-par-la-russie-ont-commis-de-nouveaux-abus" TargetMode="External"/><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pointschauds.info/frappe-de-drone-pres-dagadez-ndjamena-dement-toute-implication-et-met-niamey-au-defi-de-fournir-des-preuves/" TargetMode="External"/><Relationship Id="rId2" Type="http://schemas.openxmlformats.org/officeDocument/2006/relationships/hyperlink" Target="https://malijet.com/actualite-sur-afrique/312537-tchad-niger-ndjamena-rejette-les-accusations-de-frappe-de.html" TargetMode="External"/><Relationship Id="rId3" Type="http://schemas.openxmlformats.org/officeDocument/2006/relationships/hyperlink" Target="https://anp.ne/frappe-de-drones-tchadiens-dans-la-region-dagadez-lambassadeur-tchadien-au-niger-convoque-au-cabinet-du-ministre-des-affaires-etrangeres/" TargetMode="External"/><Relationship Id="rId4" Type="http://schemas.openxmlformats.org/officeDocument/2006/relationships/hyperlink" Target="https://journaldutchad.com/frappe-de-drone-au-niger-niamey-accuse-le-tchad-ndjamena-rejette-les-accusations/" TargetMode="External"/><Relationship Id="rId6" Type="http://schemas.openxmlformats.org/officeDocument/2006/relationships/hyperlink" Target="https://pointschauds.info/frappe-de-drone-pres-dagadez-ndjamena-dement-toute-implication-et-met-niamey-au-defi-de-fournir-des-preuves/" TargetMode="External"/><Relationship Id="rId7" Type="http://schemas.openxmlformats.org/officeDocument/2006/relationships/hyperlink" Target="https://pointschauds.info/frappe-de-drone-pres-dagadez-ndjamena-dement-toute-implication-et-met-niamey-au-defi-de-fournir-des-preuves/" TargetMode="External"/><Relationship Id="rId5" Type="http://schemas.openxmlformats.org/officeDocument/2006/relationships/image" Target="../media/image-21-1.jpeg"/><Relationship Id="rId8" Type="http://schemas.openxmlformats.org/officeDocument/2006/relationships/slideLayout" Target="../slideLayouts/slideLayout1.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24heureinfo.com/afrique/niger-niamey-accuse-le-tchad-et-la-france-apres-une-frappe-de-drone-meurtriere/" TargetMode="External"/><Relationship Id="rId2" Type="http://schemas.openxmlformats.org/officeDocument/2006/relationships/hyperlink" Target="https://www.premiumtimesng.com/news/headlines/920915-niger-governors-convoy-crash-kills-four-students-driver.html" TargetMode="External"/><Relationship Id="rId3" Type="http://schemas.openxmlformats.org/officeDocument/2006/relationships/hyperlink" Target="https://www.jeuneafrique.com/1856094/politique/tchad-niger-une-nouvelle-escalade-entre-mahamat-idriss-deby-et-abdourahamane-tiani/" TargetMode="External"/><Relationship Id="rId4" Type="http://schemas.openxmlformats.org/officeDocument/2006/relationships/hyperlink" Target="https://fr.allafrica.com/stories/202610270200.html" TargetMode="External"/><Relationship Id="rId5" Type="http://schemas.openxmlformats.org/officeDocument/2006/relationships/hyperlink" Target="https://anp.ne/lancement-officiel-de-la-caravane-de-sensibilisation-et-de-formation-sur-les-bonnes-pratiques-de-greffes-et-parquets-et-letablissement-des-pieces-dexecution/" TargetMode="External"/><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www.studiokalangou.org/142868-en-bref-attaque-agriculture-sport-les-informations-de-la-semaine" TargetMode="External"/><Relationship Id="rId2" Type="http://schemas.openxmlformats.org/officeDocument/2006/relationships/hyperlink" Target="https://anp.ne/tillaberi-le-gouverneur-preside-la-reunion-ordinaire-du-conseil-regional-de-securite-crs/" TargetMode="External"/><Relationship Id="rId3" Type="http://schemas.openxmlformats.org/officeDocument/2006/relationships/hyperlink" Target="https://www.lesahel.org/securite-nucleaire-lhanea-organise-un-atelier-de-revision-de-son-plan-inssp/" TargetMode="External"/><Relationship Id="rId4" Type="http://schemas.openxmlformats.org/officeDocument/2006/relationships/hyperlink" Target="https://www.vanguardngr.com/2026/10/4-students-one-lady-killed-in-niger-governors-convoy-road-crash/" TargetMode="External"/><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icilome.com/2026/10/ghana-une-jeune-femme-meurt-apres-lexplosion-dun-sex-toy/" TargetMode="External"/><Relationship Id="rId3" Type="http://schemas.openxmlformats.org/officeDocument/2006/relationships/hyperlink" Target="https://icilome.com/2026/10/ghana-une-jeune-femme-meurt-apres-lexplosion-dun-sex-toy/" TargetMode="External"/><Relationship Id="rId4" Type="http://schemas.openxmlformats.org/officeDocument/2006/relationships/hyperlink" Target="https://icilome.com/2026/10/ghana-une-jeune-femme-meurt-apres-lexplosion-dun-sex-toy/" TargetMode="External"/><Relationship Id="rId2" Type="http://schemas.openxmlformats.org/officeDocument/2006/relationships/image" Target="../media/image-24-1.jpe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hyperlink" Target="https://www.myjoyonline.com/woman-killed-by-tema-afienya-train-as-residents-demand-footbridge/" TargetMode="External"/><Relationship Id="rId2" Type="http://schemas.openxmlformats.org/officeDocument/2006/relationships/hyperlink" Target="https://www.myjoyonline.com/seven-shot-dead-by-gunmen-at-church-funeral-in-jordan-officials-say/" TargetMode="External"/><Relationship Id="rId3" Type="http://schemas.openxmlformats.org/officeDocument/2006/relationships/hyperlink" Target="https://www.myjoyonline.com/npp-walewale-constituency-condemns-personal-attacks-against-mp-urges-party-discipline/" TargetMode="External"/><Relationship Id="rId4" Type="http://schemas.openxmlformats.org/officeDocument/2006/relationships/hyperlink" Target="https://www.myjoyonline.com/gaf-to-stage-land-combat-firepower-demonstration-at-bundase-on-october-30/" TargetMode="External"/><Relationship Id="rId5" Type="http://schemas.openxmlformats.org/officeDocument/2006/relationships/hyperlink" Target="https://fr.allafrica.com/stories/202610160127.html" TargetMode="External"/><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www.myjoyonline.com/details-of-thousands-of-us-immigration-agents-leaked-in-major-hack/" TargetMode="External"/><Relationship Id="rId2" Type="http://schemas.openxmlformats.org/officeDocument/2006/relationships/hyperlink" Target="https://www.myjoyonline.com/npp-will-prioritise-education-over-material-incentives-in-zongo-communities-nasara-coordinator/" TargetMode="External"/><Relationship Id="rId3" Type="http://schemas.openxmlformats.org/officeDocument/2006/relationships/hyperlink" Target="https://ghanaiantimes.com.gh/firefighters-respond-to-vehicular-incident-involving-hydrogen-peroxide-at-goriyiri/" TargetMode="External"/><Relationship Id="rId4" Type="http://schemas.openxmlformats.org/officeDocument/2006/relationships/hyperlink" Target="https://www.myjoyonline.com/forestry-commission-plans-armed-camps-to-protect-subri-forest-reserve-from-galamsey/" TargetMode="External"/><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hyperlink" Target="https://togoweb.net/63-ans-apres-sa-mort-le-premier-president-du-togo-na-toujours-pas-de-tombe-dans-son-pays/?utm_source=rss&amp;utm_medium=rss&amp;utm_campaign=63-ans-apres-sa-mort-le-premier-president-du-togo-na-toujours-pas-de-tombe-dans-son-pays" TargetMode="External"/><Relationship Id="rId3" Type="http://schemas.openxmlformats.org/officeDocument/2006/relationships/hyperlink" Target="https://togoweb.net/63-ans-apres-sa-mort-le-premier-president-du-togo-na-toujours-pas-de-tombe-dans-son-pays/?utm_source=rss&utm_medium=rss&utm_campaign=63-ans-apres-sa-mort-le-premier-president-du-togo-na-toujours-pas-de-tombe-dans-son-pays" TargetMode="External"/><Relationship Id="rId4" Type="http://schemas.openxmlformats.org/officeDocument/2006/relationships/hyperlink" Target="https://togoweb.net/63-ans-apres-sa-mort-le-premier-president-du-togo-na-toujours-pas-de-tombe-dans-son-pays/?utm_source=rss&amp;utm_medium=rss&amp;utm_campaign=63-ans-apres-sa-mort-le-premier-president-du-togo-na-toujours-pas-de-tombe-dans-son-pays" TargetMode="External"/><Relationship Id="rId2" Type="http://schemas.openxmlformats.org/officeDocument/2006/relationships/image" Target="../media/image-27-1.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lenouveaureporter.com/whatsapp-la-fausse-alerte-au-vote-pour-pirater-votre-compte-fait-son-retour/" TargetMode="External"/><Relationship Id="rId2" Type="http://schemas.openxmlformats.org/officeDocument/2006/relationships/hyperlink" Target="https://atop.tg/togo-russie-des-accords-de-partenariat-et-memorandum-dentente-signes-en-presence-du-president-du-conseil/" TargetMode="External"/><Relationship Id="rId3" Type="http://schemas.openxmlformats.org/officeDocument/2006/relationships/hyperlink" Target="https://fr.allafrica.com/stories/202610280544.html" TargetMode="External"/><Relationship Id="rId4" Type="http://schemas.openxmlformats.org/officeDocument/2006/relationships/hyperlink" Target="https://icilome.com/2026/10/sommet-russie-afrique-le-togo-elargit-son-partenariat-avec-moscou-de-leducation-aux-droits-de-lhomme/" TargetMode="External"/><Relationship Id="rId5" Type="http://schemas.openxmlformats.org/officeDocument/2006/relationships/hyperlink" Target="https://24heureinfo.com/societe/eufycam-s4-vs-reolink-duo-3-poe-vs-solocam-s340/" TargetMode="External"/><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hyperlink" Target="https://icilome.com/2026/10/togo-une-traque-sans-traqueur/" TargetMode="External"/><Relationship Id="rId2" Type="http://schemas.openxmlformats.org/officeDocument/2006/relationships/hyperlink" Target="https://lenouveaureporter.com/genie-imhotep-saison-3-le-lycee-zebevi-stoppe-le-lycee-tokoin2-dans-son-elan/" TargetMode="External"/><Relationship Id="rId3" Type="http://schemas.openxmlformats.org/officeDocument/2006/relationships/hyperlink" Target="https://24heureinfo.com/societe/togo-la-securite-renforcee-sur-le-littoral-de-lome-apres-le-demantelement-des-installations-illegales/" TargetMode="External"/><Relationship Id="rId4" Type="http://schemas.openxmlformats.org/officeDocument/2006/relationships/hyperlink" Target="https://www.jeuneafrique.com/1855636/economie-entreprises/soutenu-par-lunion-africaine-le-togolais-gilbert-houngbo-reussira-t-il-a-conserver-la-tete-de-loit/" TargetMode="External"/><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hyperlink" Target="https://www.alwihdainfo.com/securite-au-benin-le-msec-dresse-son-bilan-et-trace-son-cap-pour-les-trois-prochaines-annees/" TargetMode="External"/><Relationship Id="rId3" Type="http://schemas.openxmlformats.org/officeDocument/2006/relationships/hyperlink" Target="https://www.alwihdainfo.com/securite-au-benin-le-msec-dresse-son-bilan-et-trace-son-cap-pour-les-trois-prochaines-annees/" TargetMode="External"/><Relationship Id="rId4" Type="http://schemas.openxmlformats.org/officeDocument/2006/relationships/hyperlink" Target="https://www.alwihdainfo.com/securite-au-benin-le-msec-dresse-son-bilan-et-trace-son-cap-pour-les-trois-prochaines-annees/" TargetMode="External"/><Relationship Id="rId2" Type="http://schemas.openxmlformats.org/officeDocument/2006/relationships/image" Target="../media/image-30-1.jpe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hyperlink" Target="https://thesun.ng/nuee-threatens-nationwide-shutdown-demands-withdrawal-of-soldiers-from-bedc-hqtrs/" TargetMode="Externa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www.guinee7.com/2026/10/28/semaine-du-soldat-2026-les-forces-de-securite-a-lassaut-des-dechets-a-madina/" TargetMode="External"/><Relationship Id="rId3" Type="http://schemas.openxmlformats.org/officeDocument/2006/relationships/hyperlink" Target="https://www.guinee7.com/2026/10/28/semaine-du-soldat-2026-les-forces-de-securite-a-lassaut-des-dechets-a-madina/" TargetMode="External"/><Relationship Id="rId4" Type="http://schemas.openxmlformats.org/officeDocument/2006/relationships/hyperlink" Target="https://www.guinee7.com/2026/10/28/semaine-du-soldat-2026-les-forces-de-securite-a-lassaut-des-dechets-a-madina/" TargetMode="External"/><Relationship Id="rId2" Type="http://schemas.openxmlformats.org/officeDocument/2006/relationships/image" Target="../media/image-32-1.jpe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hyperlink" Target="https://www.guinee7.com/2026/10/28/faranah-la-colere-eclate-apres-la-mort-dun-etudiant-de-lisav-la-direction-apporte-des-precisions/" TargetMode="External"/><Relationship Id="rId2" Type="http://schemas.openxmlformats.org/officeDocument/2006/relationships/hyperlink" Target="https://www.guinee7.com/2026/10/25/mort-mysterieuse-de-souleymane-toure-sa-mere-et-sa-soeur-veulent-toute-la-verite/" TargetMode="External"/><Relationship Id="rId3" Type="http://schemas.openxmlformats.org/officeDocument/2006/relationships/hyperlink" Target="https://guineematin.com/2026/10/28/kindia-une-femme-de-68-ans-meurt-dans-un-incendie-a-kenende/?utm_source=rss&amp;utm_medium=rss&amp;utm_campaign=kindia-une-femme-de-68-ans-meurt-dans-un-incendie-a-kenende" TargetMode="External"/><Relationship Id="rId4" Type="http://schemas.openxmlformats.org/officeDocument/2006/relationships/hyperlink" Target="https://guineematin.com/2026/10/26/insecurite-a-labe-le-journaliste-boubacar-garki-diallo-victime-de-cambriolage-ses-equipements-de-travail-emporte-par-les-malfaiteurs/?utm_source=rss&amp;utm_medium=rss&amp;utm_campaign=insecurite-a-labe-le-journaliste-boubacar-garki-diallo-victime-de-cambriolage-ses-equipements-de-travail-emporte-par-les-malfaiteurs" TargetMode="External"/><Relationship Id="rId5" Type="http://schemas.openxmlformats.org/officeDocument/2006/relationships/hyperlink" Target="https://www.guinee7.com/2026/10/26/mairie-de-dixinn-pourquoi-les-femmes-balayeuses-ont-renonce-a-leur-manifestation/" TargetMode="External"/><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hyperlink" Target="https://guineematin.com/2026/10/26/appel-a-manifestation-dinteret-pour-les-services-de-consultants-locaux-en-audit/?utm_source=rss&amp;utm_medium=rss&amp;utm_campaign=appel-a-manifestation-dinteret-pour-les-services-de-consultants-locaux-en-audit" TargetMode="External"/><Relationship Id="rId2" Type="http://schemas.openxmlformats.org/officeDocument/2006/relationships/hyperlink" Target="https://guineematin.com/2026/10/26/kankan-un-incendie-cause-dimportants-degats-au-quartier-bordo/?utm_source=rss&amp;utm_medium=rss&amp;utm_campaign=kankan-un-incendie-cause-dimportants-degats-au-quartier-bordo" TargetMode="External"/><Relationship Id="rId3" Type="http://schemas.openxmlformats.org/officeDocument/2006/relationships/hyperlink" Target="https://guineematin.com/2026/10/24/loi-de-finances-rectificative-2026-entre-crise-petroliere-et-retards-des-projets-la-ministre-de-leconomie-mariama-cire-sylla-sexplique/?utm_source=rss&amp;utm_medium=rss&amp;utm_campaign=loi-de-finances-rectificative-2026-entre-crise-petroliere-et-retards-des-projets-la-ministre-de-leconomie-mariama-cire-sylla-sexplique" TargetMode="External"/><Relationship Id="rId4" Type="http://schemas.openxmlformats.org/officeDocument/2006/relationships/hyperlink" Target="https://www.guinee7.com/2026/10/24/election-feguifoot-comex-argent-achat-voix-sponsor-editorial/" TargetMode="External"/><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hyperlink" Target="https://frontpageafricaonline.com/liberia-dolphin-killed-butchered-before-nafaa-rescue-team-arrived/" TargetMode="Externa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hyperlink" Target="https://frontpageafricaonline.com/liberia-judge-cites-evidence-in-finding-nsa-staff-peter-bon-jallah-guilty-of-statutory-rape-kidnapping/" TargetMode="External"/><Relationship Id="rId2" Type="http://schemas.openxmlformats.org/officeDocument/2006/relationships/hyperlink" Target="https://frontpageafricaonline.com/liberia-war-victims-survivors-protest-at-court-office-capitol-as-house-chairman-pledges-to-put-court-bill-before-plenary-tuesday/" TargetMode="External"/><Relationship Id="rId3" Type="http://schemas.openxmlformats.org/officeDocument/2006/relationships/hyperlink" Target="https://frontpageafricaonline.com/liberia-inside-the-defense-bid-to-overturn-the-peter-bon-jallah-conviction/" TargetMode="External"/><Relationship Id="rId4" Type="http://schemas.openxmlformats.org/officeDocument/2006/relationships/hyperlink" Target="https://frontpageafricaonline.com/a-former-security-chiefs-vision-for-liberias-immigration-service-finally-plays/" TargetMode="External"/><Relationship Id="rId5" Type="http://schemas.openxmlformats.org/officeDocument/2006/relationships/hyperlink" Target="https://gnnliberia.com/liberia-imposes-21-day-isolation-and-monitoring-rules-for-travelers-amid-regional-ebola-threat/" TargetMode="External"/><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hyperlink" Target="https://gnnliberia.com/afl-fires-two-soldiers-over-assault/" TargetMode="Externa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hyperlink" Target="https://www.linfodrome.com/international/126992-menaces-de-mort-contre-sonko-ce-que-pastef-reproche-a-des-cadres-de-kiiraay" TargetMode="Externa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hyperlink" Target="https://www.pressafrik.com/&#8203;Kedougou-67-millions-de-FCFA-emportes-lors-d-une-attaque-armee-contre-un-site-minier-a-Faranding_a313698.html" TargetMode="External"/><Relationship Id="rId2" Type="http://schemas.openxmlformats.org/officeDocument/2006/relationships/hyperlink" Target="https://www.pressafrik.com/Touba-un-jeune-livreur-de-22-ans-tue-a-l-arme-blanche-au-quartier-30-Serigne-Cheikh-Bombali_a313692.html" TargetMode="External"/><Relationship Id="rId3" Type="http://schemas.openxmlformats.org/officeDocument/2006/relationships/hyperlink" Target="https://www.pressafrik.com/Malika-une-dispute-entre-deux-ferrailleurs-autour-d-une-prise-electrique-vire-au-meurtre_a313691.html" TargetMode="External"/><Relationship Id="rId4" Type="http://schemas.openxmlformats.org/officeDocument/2006/relationships/hyperlink" Target="https://www.pressafrik.com/Malika-un-individu-soupconne-de-meurtre-interpelle-par-la-Police_a313689.html" TargetMode="External"/><Relationship Id="rId5" Type="http://schemas.openxmlformats.org/officeDocument/2006/relationships/hyperlink" Target="https://www.pressafrik.com/Meurtre-atroce-de-la-lyceene-Aminata-Sy-a-Podor-comment-le-suspect-a-t-il-arrete-a-Mbacke-apres-une-cavale_a313687.html" TargetMode="External"/><Relationship Id="rId6" Type="http://schemas.openxmlformats.org/officeDocument/2006/relationships/slideLayout" Target="../slideLayouts/slideLayout1.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hyperlink" Target="https://www.dakaractu.com/Touba-un-debat-sur-les-moteurs-de-Jakarta-se-termine-par-la-mort-de-Baye-M-Diop_a277553.html" TargetMode="External"/><Relationship Id="rId2" Type="http://schemas.openxmlformats.org/officeDocument/2006/relationships/hyperlink" Target="https://www.dakaractu.com/Mort-d-Aminata-Sy-le-suspect-invoque-une-chute-les-constatations-decrivent-des-violences_a277552.html" TargetMode="External"/><Relationship Id="rId3" Type="http://schemas.openxmlformats.org/officeDocument/2006/relationships/hyperlink" Target="https://www.dakaractu.com/Talibou-Diallo-tue-au-cou-et-au-thorax-une-dispute-entre-colocataires-pour-une-prise-electrique-au-coeur-du-drame_a277548.html" TargetMode="External"/><Relationship Id="rId4" Type="http://schemas.openxmlformats.org/officeDocument/2006/relationships/hyperlink" Target="https://www.seneweb.com/fr/news/Societe/lyceenne-tuee-a-podor-de-lhistoire-damour-au-drame_n_999001966.html" TargetMode="External"/><Relationship Id="rId5" Type="http://schemas.openxmlformats.org/officeDocument/2006/relationships/slideLayout" Target="../slideLayouts/slideLayout1.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runner/work/SentiqS/SentiqS/scripts/assets/grsci/couverture-abidjan.jpg">    </p:cNvPr>
          <p:cNvPicPr>
            <a:picLocks noChangeAspect="1"/>
          </p:cNvPicPr>
          <p:nvPr/>
        </p:nvPicPr>
        <p:blipFill>
          <a:blip r:embed="rId1"/>
          <a:stretch>
            <a:fillRect/>
          </a:stretch>
        </p:blipFill>
        <p:spPr>
          <a:xfrm>
            <a:off x="182880" y="91440"/>
            <a:ext cx="11795760" cy="5852160"/>
          </a:xfrm>
          <a:prstGeom prst="rect">
            <a:avLst/>
          </a:prstGeom>
        </p:spPr>
      </p:pic>
      <p:sp>
        <p:nvSpPr>
          <p:cNvPr id="3" name="Text 0"/>
          <p:cNvSpPr/>
          <p:nvPr/>
        </p:nvSpPr>
        <p:spPr>
          <a:xfrm>
            <a:off x="2286000" y="228600"/>
            <a:ext cx="7589520" cy="1280160"/>
          </a:xfrm>
          <a:prstGeom prst="rect">
            <a:avLst/>
          </a:prstGeom>
          <a:noFill/>
          <a:ln/>
          <a:effectLst>
            <a:outerShdw sx="100000" sy="100000" kx="0" ky="0" algn="bl" rotWithShape="0" blurRad="76200" dist="25400" dir="2700000">
              <a:srgbClr val="000000">
                <a:alpha val="60000"/>
              </a:srgbClr>
            </a:outerShdw>
          </a:effectLst>
        </p:spPr>
        <p:txBody>
          <a:bodyPr wrap="square" rtlCol="0" anchor="ctr"/>
          <a:lstStyle/>
          <a:p>
            <a:pPr algn="ctr" indent="0" marL="0">
              <a:buNone/>
            </a:pPr>
            <a:r>
              <a:rPr lang="en-US" sz="4400" dirty="0">
                <a:solidFill>
                  <a:srgbClr val="FFFFFF"/>
                </a:solidFill>
                <a:latin typeface="Arial Narrow" pitchFamily="34" charset="0"/>
                <a:ea typeface="Arial Narrow" pitchFamily="34" charset="-122"/>
                <a:cs typeface="Arial Narrow" pitchFamily="34" charset="-120"/>
              </a:rPr>
              <a:t>RAPPORT MENSUEL</a:t>
            </a:r>
            <a:endParaRPr lang="en-US" sz="4400" dirty="0"/>
          </a:p>
          <a:p>
            <a:pPr algn="ctr" indent="0" marL="0">
              <a:buNone/>
            </a:pPr>
            <a:r>
              <a:rPr lang="en-US" sz="4400" dirty="0">
                <a:solidFill>
                  <a:srgbClr val="FFFFFF"/>
                </a:solidFill>
                <a:latin typeface="Arial Narrow" pitchFamily="34" charset="0"/>
                <a:ea typeface="Arial Narrow" pitchFamily="34" charset="-122"/>
                <a:cs typeface="Arial Narrow" pitchFamily="34" charset="-120"/>
              </a:rPr>
              <a:t>DE SÛRETÉ</a:t>
            </a:r>
            <a:endParaRPr lang="en-US" sz="4400" dirty="0"/>
          </a:p>
        </p:txBody>
      </p:sp>
      <p:sp>
        <p:nvSpPr>
          <p:cNvPr id="4" name="Shape 1"/>
          <p:cNvSpPr/>
          <p:nvPr/>
        </p:nvSpPr>
        <p:spPr>
          <a:xfrm>
            <a:off x="3200400" y="1600200"/>
            <a:ext cx="5760720" cy="0"/>
          </a:xfrm>
          <a:prstGeom prst="line">
            <a:avLst/>
          </a:prstGeom>
          <a:noFill/>
          <a:ln w="38100">
            <a:solidFill>
              <a:srgbClr val="000000"/>
            </a:solidFill>
            <a:prstDash val="solid"/>
          </a:ln>
        </p:spPr>
      </p:sp>
      <p:sp>
        <p:nvSpPr>
          <p:cNvPr id="5" name="Text 2"/>
          <p:cNvSpPr/>
          <p:nvPr/>
        </p:nvSpPr>
        <p:spPr>
          <a:xfrm>
            <a:off x="2286000" y="1691640"/>
            <a:ext cx="7589520" cy="502920"/>
          </a:xfrm>
          <a:prstGeom prst="rect">
            <a:avLst/>
          </a:prstGeom>
          <a:noFill/>
          <a:ln/>
          <a:effectLst>
            <a:outerShdw sx="100000" sy="100000" kx="0" ky="0" algn="bl" rotWithShape="0" blurRad="76200" dist="25400" dir="2700000">
              <a:srgbClr val="000000">
                <a:alpha val="60000"/>
              </a:srgbClr>
            </a:outerShdw>
          </a:effectLst>
        </p:spPr>
        <p:txBody>
          <a:bodyPr wrap="square" rtlCol="0" anchor="ct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SentiqS</a:t>
            </a:r>
            <a:endParaRPr lang="en-US" sz="2400" dirty="0"/>
          </a:p>
        </p:txBody>
      </p:sp>
      <p:sp>
        <p:nvSpPr>
          <p:cNvPr id="6" name="Text 3"/>
          <p:cNvSpPr/>
          <p:nvPr/>
        </p:nvSpPr>
        <p:spPr>
          <a:xfrm>
            <a:off x="7589520" y="5074920"/>
            <a:ext cx="4297680" cy="365760"/>
          </a:xfrm>
          <a:prstGeom prst="rect">
            <a:avLst/>
          </a:prstGeom>
          <a:noFill/>
          <a:ln/>
        </p:spPr>
        <p:txBody>
          <a:bodyPr wrap="square" rtlCol="0" anchor="ctr"/>
          <a:lstStyle/>
          <a:p>
            <a:pPr algn="r" indent="0" marL="0">
              <a:buNone/>
            </a:pPr>
            <a:r>
              <a:rPr lang="en-US" sz="2000" b="1" dirty="0">
                <a:solidFill>
                  <a:srgbClr val="FFFFFF"/>
                </a:solidFill>
                <a:latin typeface="Calibri" pitchFamily="34" charset="0"/>
                <a:ea typeface="Calibri" pitchFamily="34" charset="-122"/>
                <a:cs typeface="Calibri" pitchFamily="34" charset="-120"/>
              </a:rPr>
              <a:t>29 OCTOBRE 2026</a:t>
            </a:r>
            <a:endParaRPr lang="en-US" sz="2000" dirty="0"/>
          </a:p>
        </p:txBody>
      </p:sp>
      <p:sp>
        <p:nvSpPr>
          <p:cNvPr id="7" name="Text 4"/>
          <p:cNvSpPr/>
          <p:nvPr/>
        </p:nvSpPr>
        <p:spPr>
          <a:xfrm>
            <a:off x="5760720" y="5486400"/>
            <a:ext cx="6126480" cy="320040"/>
          </a:xfrm>
          <a:prstGeom prst="rect">
            <a:avLst/>
          </a:prstGeom>
          <a:noFill/>
          <a:ln/>
          <a:effectLst>
            <a:outerShdw sx="100000" sy="100000" kx="0" ky="0" algn="bl" rotWithShape="0" blurRad="50800" dist="12700" dir="2700000">
              <a:srgbClr val="000000">
                <a:alpha val="70000"/>
              </a:srgbClr>
            </a:outerShdw>
          </a:effectLst>
        </p:spPr>
        <p:txBody>
          <a:bodyPr wrap="square" rtlCol="0" anchor="ctr"/>
          <a:lstStyle/>
          <a:p>
            <a:pPr algn="r" indent="0" marL="0">
              <a:buNone/>
            </a:pPr>
            <a:r>
              <a:rPr lang="en-US" sz="1400" dirty="0">
                <a:solidFill>
                  <a:srgbClr val="FFFFFF"/>
                </a:solidFill>
                <a:latin typeface="Calibri" pitchFamily="34" charset="0"/>
                <a:ea typeface="Calibri" pitchFamily="34" charset="-122"/>
                <a:cs typeface="Calibri" pitchFamily="34" charset="-120"/>
              </a:rPr>
              <a:t>Période du 1er au 29 octobre 2026</a:t>
            </a:r>
            <a:endParaRPr lang="en-US" sz="1400" dirty="0"/>
          </a:p>
        </p:txBody>
      </p:sp>
      <p:pic>
        <p:nvPicPr>
          <p:cNvPr id="8" name="Image 1" descr="/home/runner/work/SentiqS/SentiqS/scripts/assets/grsci/afrique.png">    </p:cNvPr>
          <p:cNvPicPr>
            <a:picLocks noChangeAspect="1"/>
          </p:cNvPicPr>
          <p:nvPr/>
        </p:nvPicPr>
        <p:blipFill>
          <a:blip r:embed="rId2"/>
          <a:stretch>
            <a:fillRect/>
          </a:stretch>
        </p:blipFill>
        <p:spPr>
          <a:xfrm>
            <a:off x="9235440" y="6172200"/>
            <a:ext cx="548640" cy="548640"/>
          </a:xfrm>
          <a:prstGeom prst="rect">
            <a:avLst/>
          </a:prstGeom>
        </p:spPr>
      </p:pic>
      <p:sp>
        <p:nvSpPr>
          <p:cNvPr id="9" name="Text 5"/>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0" name="Text 6"/>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0</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TABLE DES MATIÈRES</a:t>
            </a:r>
            <a:endParaRPr lang="en-US" sz="2800" dirty="0"/>
          </a:p>
        </p:txBody>
      </p:sp>
      <p:sp>
        <p:nvSpPr>
          <p:cNvPr id="4" name="Shape 2"/>
          <p:cNvSpPr/>
          <p:nvPr/>
        </p:nvSpPr>
        <p:spPr>
          <a:xfrm>
            <a:off x="457200" y="960120"/>
            <a:ext cx="11292840" cy="0"/>
          </a:xfrm>
          <a:prstGeom prst="line">
            <a:avLst/>
          </a:prstGeom>
          <a:noFill/>
          <a:ln w="6350">
            <a:solidFill>
              <a:srgbClr val="A3A3A3"/>
            </a:solidFill>
            <a:prstDash val="solid"/>
          </a:ln>
        </p:spPr>
      </p:sp>
      <p:sp>
        <p:nvSpPr>
          <p:cNvPr id="5" name="Shape 3"/>
          <p:cNvSpPr/>
          <p:nvPr/>
        </p:nvSpPr>
        <p:spPr>
          <a:xfrm>
            <a:off x="457200" y="1143000"/>
            <a:ext cx="5532120" cy="4754880"/>
          </a:xfrm>
          <a:prstGeom prst="rect">
            <a:avLst/>
          </a:prstGeom>
          <a:solidFill>
            <a:srgbClr val="FFFFFF"/>
          </a:solidFill>
          <a:ln w="9525">
            <a:solidFill>
              <a:srgbClr val="1F2937"/>
            </a:solidFill>
            <a:prstDash val="solid"/>
          </a:ln>
        </p:spPr>
      </p:sp>
      <p:sp>
        <p:nvSpPr>
          <p:cNvPr id="6" name="Text 4"/>
          <p:cNvSpPr/>
          <p:nvPr/>
        </p:nvSpPr>
        <p:spPr>
          <a:xfrm>
            <a:off x="457200" y="1188720"/>
            <a:ext cx="5532120" cy="365760"/>
          </a:xfrm>
          <a:prstGeom prst="rect">
            <a:avLst/>
          </a:prstGeom>
          <a:noFill/>
          <a:ln/>
        </p:spPr>
        <p:txBody>
          <a:bodyPr wrap="square" rtlCol="0" anchor="ctr"/>
          <a:lstStyle/>
          <a:p>
            <a:pPr algn="ctr" indent="0" marL="0">
              <a:buNone/>
            </a:pPr>
            <a:r>
              <a:rPr lang="en-US" sz="1500" dirty="0">
                <a:solidFill>
                  <a:srgbClr val="1F6B5E"/>
                </a:solidFill>
                <a:latin typeface="Arial Narrow" pitchFamily="34" charset="0"/>
                <a:ea typeface="Arial Narrow" pitchFamily="34" charset="-122"/>
                <a:cs typeface="Arial Narrow" pitchFamily="34" charset="-120"/>
              </a:rPr>
              <a:t>FAITS MARQUANTS EN CÔTE D'IVOIRE</a:t>
            </a:r>
            <a:endParaRPr lang="en-US" sz="1500" dirty="0"/>
          </a:p>
        </p:txBody>
      </p:sp>
      <p:sp>
        <p:nvSpPr>
          <p:cNvPr id="7" name="Text 5"/>
          <p:cNvSpPr/>
          <p:nvPr/>
        </p:nvSpPr>
        <p:spPr>
          <a:xfrm>
            <a:off x="640080" y="1645920"/>
            <a:ext cx="5166360" cy="4206240"/>
          </a:xfrm>
          <a:prstGeom prst="rect">
            <a:avLst/>
          </a:prstGeom>
          <a:noFill/>
          <a:ln/>
        </p:spPr>
        <p:txBody>
          <a:bodyPr wrap="square" rtlCol="0" anchor="t"/>
          <a:lstStyle/>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POLITIQUE</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TENSIONS PERMANENTES ENTRE LE DISTRICT AUTONOME D’ABIDJAN ET LES MAIRIES : LE CPC…</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PROJETS DE SA MANDATURE: LE PRÉSIDENT SORTANT DE LA JCI ÉMERAUDE DRESSE UN BILAN …</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GUIGLO : ETOUFFÉES PAR LA FLAMBÉE DES PRIX, LES VENDEUSES DE POISSONS EN GRÈVE</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LUTTE CONTRE LE CANCER DU SEIN : LINFODROME COMBAT LES RUMEURS ET SENSIBILISE LES…</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CRISE AU SEIN DU PDCI/RDA - « L'ÉLÉPHANT » SE CASSERA-T-IL UNE DEUXIÈME PATTE ?</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OCTOBRE ROSE : ARIEL SHENEY SUR TOUS LES FRONTS APRÈS UNE ÉPREUVE PERSONNELLE LIÉ…</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SOCIAL</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POMMES, BANANES, KIWIS : CETTE ERREUR DE RANGEMENT FAIT MÛRIR VOS FRUITS BEAUCOUP…</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GASPILLAGE ALIMENTAIRE - LE CCESP PLAIDE POUR UN PACTE NATIONAL</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BOUNA : LES VICTIMES D’ACCIDENTS DE LA ROUTE POURRONT DÉSORMAIS PRISES EN CHARGE …</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CÔTE D'IVOIRE : LE GOUVERNEMENT MISE SUR LA PONADEPA II POUR ATTEINDRE LA SOUVERA…</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LUTTE CONTRE LE GASPILLAGE ALIMENTAIRE : LE COMITÉ DE CONCERTATION ÉTAT-SECTEUR P…</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HAUSSE DES PRIX DU POISSON : ASSALÉ TIÉMOKO RÉVÈLE UNE DÉPENDANCE DE LA CÔTE D’IV…</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SÉCURITÉ</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ABIDJAN - CAP VERS UNE COOPÉRATION MILITAIRE BILATÉRALE</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3ÈME FORUM FRONTIÈRES D'ABIDJAN : LA REPRÉSENTATION PERMANENTE DE LA CEDEAO AUPRÈ…</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CHARNIER DE YOPOUGON : 26 ANS APRÈS, AMADOU COULIBALY OPPOSE LES VIOLENCES DU PAS…</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PRIX NATIONAL D'EXCELLENCE 2026 - RAPHAËL DIAMALA KOUASSI HISSE M'BAHIAKRO SUR LE…</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INTERPOL RENFORCE LES CAPACITÉS DES ENQUÊTEURS IVOIRIENS POUR TRAQUER LES AVOIRS …</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QUERELLES DE SUCCESSION OU PROFANATION D'UN HÉRITAGE ?</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DIVERS</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GONZAGUEVILLE : ELLE LUI REFUSE LE SEXE, IL LA TUE ET JETTE SON CORPS DANS UNE DÉ…</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AVANT LA GRANDE MARCHE DU 24 COCTOBRE ; EMMANUEL MACRON FACE UN ATTENTAT</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PRIX DU POISSON EN CÔTE D'IVOIRE - L'INTERPROFESSION PÊCHE SALUE LES MESURES GOUV…</a:t>
            </a:r>
            <a:endParaRPr lang="en-US" sz="900" dirty="0"/>
          </a:p>
        </p:txBody>
      </p:sp>
      <p:sp>
        <p:nvSpPr>
          <p:cNvPr id="8" name="Shape 6"/>
          <p:cNvSpPr/>
          <p:nvPr/>
        </p:nvSpPr>
        <p:spPr>
          <a:xfrm>
            <a:off x="6217920" y="1143000"/>
            <a:ext cx="5532120" cy="4754880"/>
          </a:xfrm>
          <a:prstGeom prst="rect">
            <a:avLst/>
          </a:prstGeom>
          <a:solidFill>
            <a:srgbClr val="FFFFFF"/>
          </a:solidFill>
          <a:ln w="9525">
            <a:solidFill>
              <a:srgbClr val="1F2937"/>
            </a:solidFill>
            <a:prstDash val="solid"/>
          </a:ln>
        </p:spPr>
      </p:sp>
      <p:sp>
        <p:nvSpPr>
          <p:cNvPr id="9" name="Text 7"/>
          <p:cNvSpPr/>
          <p:nvPr/>
        </p:nvSpPr>
        <p:spPr>
          <a:xfrm>
            <a:off x="6217920" y="1188720"/>
            <a:ext cx="5532120" cy="365760"/>
          </a:xfrm>
          <a:prstGeom prst="rect">
            <a:avLst/>
          </a:prstGeom>
          <a:noFill/>
          <a:ln/>
        </p:spPr>
        <p:txBody>
          <a:bodyPr wrap="square" rtlCol="0" anchor="ctr"/>
          <a:lstStyle/>
          <a:p>
            <a:pPr algn="ctr" indent="0" marL="0">
              <a:buNone/>
            </a:pPr>
            <a:r>
              <a:rPr lang="en-US" sz="1500" dirty="0">
                <a:solidFill>
                  <a:srgbClr val="1F6B5E"/>
                </a:solidFill>
                <a:latin typeface="Arial Narrow" pitchFamily="34" charset="0"/>
                <a:ea typeface="Arial Narrow" pitchFamily="34" charset="-122"/>
                <a:cs typeface="Arial Narrow" pitchFamily="34" charset="-120"/>
              </a:rPr>
              <a:t>DYNAMIQUES SOUS-RÉGIONALES</a:t>
            </a:r>
            <a:endParaRPr lang="en-US" sz="1500" dirty="0"/>
          </a:p>
        </p:txBody>
      </p:sp>
      <p:sp>
        <p:nvSpPr>
          <p:cNvPr id="10" name="Text 8"/>
          <p:cNvSpPr/>
          <p:nvPr/>
        </p:nvSpPr>
        <p:spPr>
          <a:xfrm>
            <a:off x="6400800" y="1645920"/>
            <a:ext cx="5166360" cy="4206240"/>
          </a:xfrm>
          <a:prstGeom prst="rect">
            <a:avLst/>
          </a:prstGeom>
          <a:noFill/>
          <a:ln/>
        </p:spPr>
        <p:txBody>
          <a:bodyPr wrap="square" rtlCol="0" anchor="t"/>
          <a:lstStyle/>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BURKINA FASO</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UNE PROMESSE D’ÉCHANGE D’IPHONE VIRE AU MEURTRE PRÉSUMÉ D’UNE JEUNE FILLE</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MALI</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MALI : 13 CIVILS TUÉS PAR UNE FRAPPE DE DRONE PRÈS DE LA FRONTIÈRE MAURITANIENNE,…</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NIGER</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FRAPPE DE DRONE PRÈS D’AGADEZ : N’DJAMENA DÉMENT TOUTE IMPLICATION ET MET NIAMEY …</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GHANA</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GHANA : UNE JEUNE FEMME MEURT APRÈS L’EXPLOSION D’UN SEX-TOY</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TOGO</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63 ANS APRÈS SA MORT, LE PREMIER PRÉSIDENT DU TOGO N’A TOUJOURS PAS DE TOMBE DANS…</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BÉNIN</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SÉCURITÉ AU BÉNIN : LE MSEC DRESSE SON BILAN ET TRACE SON CAP POUR LES TROIS PROC…</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GUINÉE</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SEMAINE DU SOLDAT 2026 : LES FORCES DE SÉCURITÉ À L’ASSAUT DES DÉCHETS À MADINA</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LIBERIA</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LIBÉRIA : UN DAUPHIN TUÉ ET MASSACRÉ AVANT L'ARRIVÉE DE L'ÉQUIPE DE SECOURS DE LA…</a:t>
            </a:r>
            <a:endParaRPr lang="en-US" sz="900" dirty="0"/>
          </a:p>
          <a:p>
            <a:pPr indent="0" marL="0">
              <a:spcBef>
                <a:spcPts val="600"/>
              </a:spcBef>
              <a:spcAft>
                <a:spcPts val="200"/>
              </a:spcAft>
              <a:buNone/>
            </a:pPr>
            <a:r>
              <a:rPr lang="en-US" sz="900" b="1" dirty="0">
                <a:solidFill>
                  <a:srgbClr val="1F6B5E"/>
                </a:solidFill>
                <a:latin typeface="Calibri" pitchFamily="34" charset="0"/>
                <a:ea typeface="Calibri" pitchFamily="34" charset="-122"/>
                <a:cs typeface="Calibri" pitchFamily="34" charset="-120"/>
              </a:rPr>
              <a:t>SÉNÉGAL</a:t>
            </a:r>
            <a:endParaRPr lang="en-US" sz="900" dirty="0"/>
          </a:p>
          <a:p>
            <a:pPr marL="342900" indent="-342900">
              <a:spcAft>
                <a:spcPts val="200"/>
              </a:spcAft>
              <a:buSzPct val="100000"/>
              <a:buChar char="❑"/>
            </a:pPr>
            <a:r>
              <a:rPr lang="en-US" sz="900" dirty="0">
                <a:solidFill>
                  <a:srgbClr val="1F2937"/>
                </a:solidFill>
                <a:latin typeface="Calibri" pitchFamily="34" charset="0"/>
                <a:ea typeface="Calibri" pitchFamily="34" charset="-122"/>
                <a:cs typeface="Calibri" pitchFamily="34" charset="-120"/>
              </a:rPr>
              <a:t>MENACES DE MORT CONTRE SONKO : CE QUE PASTEF REPROCHE À DES CADRES DE KIIRAAY</a:t>
            </a:r>
            <a:endParaRPr lang="en-US" sz="900" dirty="0"/>
          </a:p>
        </p:txBody>
      </p:sp>
      <p:sp>
        <p:nvSpPr>
          <p:cNvPr id="11" name="Text 9"/>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2" name="Text 10"/>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CDCDCD"/>
        </a:solidFill>
      </p:bgPr>
    </p:bg>
    <p:spTree>
      <p:nvGrpSpPr>
        <p:cNvPr id="1" name=""/>
        <p:cNvGrpSpPr/>
        <p:nvPr/>
      </p:nvGrpSpPr>
      <p:grpSpPr>
        <a:xfrm>
          <a:off x="0" y="0"/>
          <a:ext cx="0" cy="0"/>
          <a:chOff x="0" y="0"/>
          <a:chExt cx="0" cy="0"/>
        </a:xfrm>
      </p:grpSpPr>
      <p:pic>
        <p:nvPicPr>
          <p:cNvPr id="2" name="Image 0" descr="/home/runner/work/SentiqS/SentiqS/scripts/assets/grsci/carte-ci.jpg">    </p:cNvPr>
          <p:cNvPicPr>
            <a:picLocks noChangeAspect="1"/>
          </p:cNvPicPr>
          <p:nvPr/>
        </p:nvPicPr>
        <p:blipFill>
          <a:blip r:embed="rId1"/>
          <a:stretch>
            <a:fillRect/>
          </a:stretch>
        </p:blipFill>
        <p:spPr>
          <a:xfrm>
            <a:off x="4754880" y="640080"/>
            <a:ext cx="2926080" cy="2926080"/>
          </a:xfrm>
          <a:prstGeom prst="rect">
            <a:avLst/>
          </a:prstGeom>
        </p:spPr>
      </p:pic>
      <p:sp>
        <p:nvSpPr>
          <p:cNvPr id="3" name="Text 0"/>
          <p:cNvSpPr/>
          <p:nvPr/>
        </p:nvSpPr>
        <p:spPr>
          <a:xfrm>
            <a:off x="457200" y="4023360"/>
            <a:ext cx="11247120" cy="822960"/>
          </a:xfrm>
          <a:prstGeom prst="rect">
            <a:avLst/>
          </a:prstGeom>
          <a:noFill/>
          <a:ln/>
        </p:spPr>
        <p:txBody>
          <a:bodyPr wrap="square" rtlCol="0" anchor="ctr"/>
          <a:lstStyle/>
          <a:p>
            <a:pPr algn="ctr" indent="0" marL="0">
              <a:buNone/>
            </a:pPr>
            <a:r>
              <a:rPr lang="en-US" sz="4400" dirty="0">
                <a:solidFill>
                  <a:srgbClr val="111111"/>
                </a:solidFill>
                <a:latin typeface="Arial Narrow" pitchFamily="34" charset="0"/>
                <a:ea typeface="Arial Narrow" pitchFamily="34" charset="-122"/>
                <a:cs typeface="Arial Narrow" pitchFamily="34" charset="-120"/>
              </a:rPr>
              <a:t>FAITS MARQUANTS EN CÔTE D'IVOIRE</a:t>
            </a:r>
            <a:endParaRPr lang="en-US" sz="4400" dirty="0"/>
          </a:p>
        </p:txBody>
      </p:sp>
      <p:sp>
        <p:nvSpPr>
          <p:cNvPr id="4" name="Shape 1"/>
          <p:cNvSpPr/>
          <p:nvPr/>
        </p:nvSpPr>
        <p:spPr>
          <a:xfrm>
            <a:off x="4206240" y="4846320"/>
            <a:ext cx="3749040" cy="0"/>
          </a:xfrm>
          <a:prstGeom prst="line">
            <a:avLst/>
          </a:prstGeom>
          <a:noFill/>
          <a:ln w="50800">
            <a:solidFill>
              <a:srgbClr val="000000"/>
            </a:solidFill>
            <a:prstDash val="solid"/>
          </a:ln>
        </p:spPr>
      </p:sp>
      <p:sp>
        <p:nvSpPr>
          <p:cNvPr id="5" name="Text 2"/>
          <p:cNvSpPr/>
          <p:nvPr/>
        </p:nvSpPr>
        <p:spPr>
          <a:xfrm>
            <a:off x="1371600" y="5074920"/>
            <a:ext cx="9418320" cy="640080"/>
          </a:xfrm>
          <a:prstGeom prst="rect">
            <a:avLst/>
          </a:prstGeom>
          <a:noFill/>
          <a:ln/>
        </p:spPr>
        <p:txBody>
          <a:bodyPr wrap="square" rtlCol="0" anchor="ctr"/>
          <a:lstStyle/>
          <a:p>
            <a:pPr algn="ctr" indent="0" marL="0">
              <a:buNone/>
            </a:pPr>
            <a:r>
              <a:rPr lang="en-US" sz="1100" i="1" dirty="0">
                <a:solidFill>
                  <a:srgbClr val="333333"/>
                </a:solidFill>
                <a:latin typeface="Calibri" pitchFamily="34" charset="0"/>
                <a:ea typeface="Calibri" pitchFamily="34" charset="-122"/>
                <a:cs typeface="Calibri" pitchFamily="34" charset="-120"/>
              </a:rPr>
              <a:t>Faits marquants : textes établis à partir des médias cités, dont les chapôs sont reproduits entre guillemets. Les « enjeux sûreté » sont des repères par type d'événement, à valider et compléter par l'analyste.</a:t>
            </a:r>
            <a:endParaRPr lang="en-US" sz="1100" dirty="0"/>
          </a:p>
        </p:txBody>
      </p:sp>
      <p:sp>
        <p:nvSpPr>
          <p:cNvPr id="6" name="Text 3"/>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7" name="Text 4"/>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POLITIQUE</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moyenne (incident vérifié le plus récent : 121 jours ; 3 signaux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Tensions permanentes entre le District Autonome d’Abidjan et les Mairies : le CPC est-il bel et bien mort</a:t>
            </a:r>
            <a:endParaRPr lang="en-US" sz="2200" dirty="0"/>
          </a:p>
        </p:txBody>
      </p:sp>
      <p:sp>
        <p:nvSpPr>
          <p:cNvPr id="11" name="Text 9"/>
          <p:cNvSpPr/>
          <p:nvPr/>
        </p:nvSpPr>
        <p:spPr>
          <a:xfrm>
            <a:off x="640080" y="2029968"/>
            <a:ext cx="1097280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mardi 27 octobre 2026. Lieu : Côte d'Ivoire. Actualité politique. Une seule source à ce stade (Linfodrome)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i="1" dirty="0">
                <a:solidFill>
                  <a:srgbClr val="6B7280"/>
                </a:solidFill>
                <a:latin typeface="Calibri" pitchFamily="34" charset="0"/>
                <a:ea typeface="Calibri" pitchFamily="34" charset="-122"/>
                <a:cs typeface="Calibri" pitchFamily="34" charset="-120"/>
              </a:rPr>
              <a:t>Les médias n'en publient que le titre dans leur flux : le détail est à lire dans l'article (lien ci-dessous).</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Climat politique à suivre : en mesurer l'incidence sur la stabilité locale et les déplacements.</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300"/>
              </a:spcAft>
              <a:buNone/>
            </a:pPr>
            <a:r>
              <a:rPr lang="en-US" sz="1400" dirty="0">
                <a:solidFill>
                  <a:srgbClr val="1F2937"/>
                </a:solidFill>
                <a:latin typeface="Calibri" pitchFamily="34" charset="0"/>
                <a:ea typeface="Calibri" pitchFamily="34" charset="-122"/>
                <a:cs typeface="Calibri" pitchFamily="34" charset="-120"/>
              </a:rPr>
              <a:t> — 27 octobre 2026, 13 h UTC</a:t>
            </a:r>
            <a:endParaRPr lang="en-US" sz="1400" dirty="0"/>
          </a:p>
        </p:txBody>
      </p:sp>
      <p:sp>
        <p:nvSpPr>
          <p:cNvPr id="12" name="Text 10"/>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3"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POLITIQUE</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Projets de sa mandature: le président sortant de la JCI Émeraude dresse un bilan de 95% de taux d’exécution</a:t>
            </a:r>
            <a:endParaRPr lang="en-US" sz="2200" dirty="0"/>
          </a:p>
        </p:txBody>
      </p:sp>
      <p:sp>
        <p:nvSpPr>
          <p:cNvPr id="10" name="Text 8"/>
          <p:cNvSpPr/>
          <p:nvPr/>
        </p:nvSpPr>
        <p:spPr>
          <a:xfrm>
            <a:off x="640080" y="1755648"/>
            <a:ext cx="10972800" cy="414223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samedi 24 octobre 2026. Lieu : Côte d'Ivoire. Actualité politique. Une seule source à ce stade (Linfodrome)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i="1" dirty="0">
                <a:solidFill>
                  <a:srgbClr val="6B7280"/>
                </a:solidFill>
                <a:latin typeface="Calibri" pitchFamily="34" charset="0"/>
                <a:ea typeface="Calibri" pitchFamily="34" charset="-122"/>
                <a:cs typeface="Calibri" pitchFamily="34" charset="-120"/>
              </a:rPr>
              <a:t>Les médias n'en publient que le titre dans leur flux : le détail est à lire dans l'article (lien ci-dessous).</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Climat politique à suivre : tensions possibles autour des échéances et des décisions institutionnelles. Adapter la veille et les déplacements aux dates sensibles.</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300"/>
              </a:spcAft>
              <a:buNone/>
            </a:pPr>
            <a:r>
              <a:rPr lang="en-US" sz="1400" dirty="0">
                <a:solidFill>
                  <a:srgbClr val="1F2937"/>
                </a:solidFill>
                <a:latin typeface="Calibri" pitchFamily="34" charset="0"/>
                <a:ea typeface="Calibri" pitchFamily="34" charset="-122"/>
                <a:cs typeface="Calibri" pitchFamily="34" charset="-120"/>
              </a:rPr>
              <a:t> — 24 octobre 2026, 6 h UTC</a:t>
            </a:r>
            <a:endParaRPr lang="en-US" sz="1400" dirty="0"/>
          </a:p>
        </p:txBody>
      </p:sp>
      <p:sp>
        <p:nvSpPr>
          <p:cNvPr id="11" name="Text 9"/>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2" name="Text 10"/>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POLITIQUE</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GUIGLO : ETOUFFÉES PAR LA FLAMBÉE DES PRIX, LES VENDEUSES DE POISSONS EN GRÈVE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18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LUTTE CONTRE LE CANCER DU SEIN : LINFODROME COMBAT LES RUMEURS ET SENSIBILISE LES POPULATIONS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16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CRISE AU SEIN DU PDCI/RDA - « L'ÉLÉPHANT » SE CASSERA-T-IL UNE DEUXIÈME PATTE ?</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9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OCTOBRE ROSE : ARIEL SHENEY SUR TOUS LES FRONTS APRÈS UNE ÉPREUVE PERSONNELLE LIÉE AU DÉCÈS DE SON ÉPOUSE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14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SOCIAL</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05840"/>
            <a:ext cx="10972800" cy="292608"/>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moyenne (incident vérifié le plus récent : 121 jours ; 3 signaux du jour)</a:t>
            </a:r>
            <a:endParaRPr lang="en-US" sz="1100" dirty="0"/>
          </a:p>
        </p:txBody>
      </p:sp>
      <p:sp>
        <p:nvSpPr>
          <p:cNvPr id="10" name="Text 8"/>
          <p:cNvSpPr/>
          <p:nvPr/>
        </p:nvSpPr>
        <p:spPr>
          <a:xfrm>
            <a:off x="640080" y="1325880"/>
            <a:ext cx="10972800" cy="452628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POMMES, BANANES, KIWIS : CETTE ERREUR DE RANGEMENT FAIT MÛRIR VOS FRUITS BEAUCOUP TROP VITE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19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GASPILLAGE ALIMENTAIRE - LE CCESP PLAIDE POUR UN PACTE NATIONAL</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16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BOUNA : LES VICTIMES D’ACCIDENTS DE LA ROUTE POURRONT DÉSORMAIS PRISES EN CHARGE GRATUITEMENT AUX URGENCES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12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CÔTE D'IVOIRE : LE GOUVERNEMENT MISE SUR LA PONADEPA II POUR ATTEINDRE LA SOUVERAINETÉ ALIMENTAIRE D'ICI 2030</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Alwihda Info (Tchad)</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11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LUTTE CONTRE LE GASPILLAGE ALIMENTAIRE : LE COMITÉ DE CONCERTATION ÉTAT-SECTEUR PRIVÉ PRÉCONISE UN CADRE NATIONAL</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p:txBody>
      </p:sp>
      <p:sp>
        <p:nvSpPr>
          <p:cNvPr id="11" name="Text 9"/>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2" name="Text 10"/>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SOCIAL</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HAUSSE DES PRIX DU POISSON : ASSALÉ TIÉMOKO RÉVÈLE UNE DÉPENDANCE DE LA CÔTE D’IVOIRE À 88,8 % AUX IMPORTATIONS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9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DANANÉ/CHIRURGIE HUMANITAIRE - 134 PATIENTS OPÉRÉS GRATUITEMENT, DONT 114 POUR UNE HERNIE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17 h UTC</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III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SÉCURITÉ</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05840"/>
            <a:ext cx="10972800" cy="292608"/>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moyenne (incident vérifié le plus récent : 121 jours ; 3 signaux du jour)</a:t>
            </a:r>
            <a:endParaRPr lang="en-US" sz="1100" dirty="0"/>
          </a:p>
        </p:txBody>
      </p:sp>
      <p:sp>
        <p:nvSpPr>
          <p:cNvPr id="10" name="Text 8"/>
          <p:cNvSpPr/>
          <p:nvPr/>
        </p:nvSpPr>
        <p:spPr>
          <a:xfrm>
            <a:off x="640080" y="1325880"/>
            <a:ext cx="10972800" cy="452628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ABIDJAN - CAP VERS UNE COOPÉRATION MILITAIRE BILATÉRALE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15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3ÈME FORUM FRONTIÈRES D'ABIDJAN : LA REPRÉSENTATION PERMANENTE DE LA CEDEAO AUPRÈS DE L'UNION AFRICAINE S'ENGAGE POUR UNE GOUVERNANCE DES FRONTIÈRES CENTRÉE SUR LES POPULATIONS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CEDEAO — Communiques officiels</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10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CHARNIER DE YOPOUGON : 26 ANS APRÈS, AMADOU COULIBALY OPPOSE LES VIOLENCES DU PASSÉ À L’ÈRE OUATTARA</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18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PRIX NATIONAL D'EXCELLENCE 2026 - RAPHAËL DIAMALA KOUASSI HISSE M'BAHIAKRO SUR LE PODIUM DES MEILLEURS MAIRES DU PAYS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16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INTERPOL RENFORCE LES CAPACITÉS DES ENQUÊTEURS IVOIRIENS POUR TRAQUER LES AVOIRS DES CRIMINELS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13 h UTC</a:t>
            </a:r>
            <a:endParaRPr lang="en-US" sz="1300" dirty="0"/>
          </a:p>
        </p:txBody>
      </p:sp>
      <p:sp>
        <p:nvSpPr>
          <p:cNvPr id="11" name="Text 9"/>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2" name="Text 10"/>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III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SÉCURITÉ</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QUERELLES DE SUCCESSION OU PROFANATION D'UN HÉRITAGE ?</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13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CÔTE D'IVOIRE : SÉCURITÉ ALIMENTAIRE ET SÉCURISATION FONCIÈRE, LE GOUVERNEMENT SOUTIENT LES FEMMES PRODUCTRICES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Alwihda Info (Tchad)</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9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PRIKRO : LA RELANCE DE LA CAFÉICULTURE ET LA PROMOTION DU MAÏS ENGAGÉES DANS L’IFFOU</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25 octobre 2026, 21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FRÈRE DE TIDJANE THIAM INCULPÉ POUR 17 CHEFS D’ACCUSATION, DONT L’ASSASSINAT ET DES ACTES TERRORISTES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18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LUTTE CONTRE LES AVC - « VITE », UNE APPLICATION POUR SAUVER DES VIES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18 h UTC</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DIVERS</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moyenne (incident vérifié le plus récent : 121 jours ; 3 signaux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Gonzagueville : Elle lui refuse le sexe, il la tue et jette son corps dans une décharge d'ordures</a:t>
            </a:r>
            <a:endParaRPr lang="en-US" sz="2200" dirty="0"/>
          </a:p>
        </p:txBody>
      </p:sp>
      <p:sp>
        <p:nvSpPr>
          <p:cNvPr id="11" name="Text 9"/>
          <p:cNvSpPr/>
          <p:nvPr/>
        </p:nvSpPr>
        <p:spPr>
          <a:xfrm>
            <a:off x="640080" y="2029968"/>
            <a:ext cx="1097280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mercredi 28 octobre 2026. Lieu : Côte d'Ivoire. Actualité économique. Une seule source à ce stade (Linfodrome)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Linfodrome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Un jeune homme de 20 ans a été interpellé par la Brigade de recherche et d’intervention (BRI) après la découverte du corps sans vie d’une jeune fille de 18 ans dans une décharge à Gonzagueville, dans la commune de Port-Bouët. Selon les déclarations du suspect rapportées par la police, le drame serait survenu après que la victime lui ait refusé des rapports sexuels.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Incidence possible sur l'environnement des affaires, les approvisionnements et la sûreté des opérations.</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28 octobre 2026, 12 h UTC   ·   Cotation : Probable</a:t>
            </a:r>
            <a:endParaRPr lang="en-US" sz="1400" dirty="0"/>
          </a:p>
        </p:txBody>
      </p:sp>
      <p:sp>
        <p:nvSpPr>
          <p:cNvPr id="12" name="Text 10"/>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3"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DIVERS</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Avant la grande marche du 24 coctobre ; Emmanuel Macron face un attentat</a:t>
            </a:r>
            <a:endParaRPr lang="en-US" sz="2200" dirty="0"/>
          </a:p>
        </p:txBody>
      </p:sp>
      <p:sp>
        <p:nvSpPr>
          <p:cNvPr id="10" name="Text 8"/>
          <p:cNvSpPr/>
          <p:nvPr/>
        </p:nvSpPr>
        <p:spPr>
          <a:xfrm>
            <a:off x="640080" y="1755648"/>
            <a:ext cx="10972800" cy="414223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vendredi 23 octobre 2026. Lieu : Côte d'Ivoire. Actualité économique. Une seule source à ce stade (Linfodrome)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i="1" dirty="0">
                <a:solidFill>
                  <a:srgbClr val="6B7280"/>
                </a:solidFill>
                <a:latin typeface="Calibri" pitchFamily="34" charset="0"/>
                <a:ea typeface="Calibri" pitchFamily="34" charset="-122"/>
                <a:cs typeface="Calibri" pitchFamily="34" charset="-120"/>
              </a:rPr>
              <a:t>Les médias n'en publient que le titre dans leur flux : le détail est à lire dans l'article (lien ci-dessous).</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Perturbations possibles de l'activité et de la circulation : éviter les rassemblements, prévoir des horaires décalés ou le travail à distance, informer les personnels.</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300"/>
              </a:spcAft>
              <a:buNone/>
            </a:pPr>
            <a:r>
              <a:rPr lang="en-US" sz="1400" dirty="0">
                <a:solidFill>
                  <a:srgbClr val="1F2937"/>
                </a:solidFill>
                <a:latin typeface="Calibri" pitchFamily="34" charset="0"/>
                <a:ea typeface="Calibri" pitchFamily="34" charset="-122"/>
                <a:cs typeface="Calibri" pitchFamily="34" charset="-120"/>
              </a:rPr>
              <a:t> — 23 octobre 2026, 22 h UTC</a:t>
            </a:r>
            <a:endParaRPr lang="en-US" sz="1400" dirty="0"/>
          </a:p>
        </p:txBody>
      </p:sp>
      <p:sp>
        <p:nvSpPr>
          <p:cNvPr id="11" name="Text 9"/>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2" name="Text 10"/>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u="sng" dirty="0">
                <a:solidFill>
                  <a:srgbClr val="1F6B5E"/>
                </a:solidFill>
                <a:latin typeface="Arial Narrow" pitchFamily="34" charset="0"/>
                <a:ea typeface="Arial Narrow" pitchFamily="34" charset="-122"/>
                <a:cs typeface="Arial Narrow" pitchFamily="34" charset="-120"/>
              </a:rPr>
              <a:t>- DIVERS</a:t>
            </a:r>
            <a:endParaRPr lang="en-US" sz="2800" dirty="0"/>
          </a:p>
        </p:txBody>
      </p:sp>
      <p:sp>
        <p:nvSpPr>
          <p:cNvPr id="4" name="Shape 2"/>
          <p:cNvSpPr/>
          <p:nvPr/>
        </p:nvSpPr>
        <p:spPr>
          <a:xfrm>
            <a:off x="10881360" y="274320"/>
            <a:ext cx="301752" cy="566928"/>
          </a:xfrm>
          <a:prstGeom prst="rect">
            <a:avLst/>
          </a:prstGeom>
          <a:solidFill>
            <a:srgbClr val="F77F00"/>
          </a:solidFill>
          <a:ln w="12700">
            <a:solidFill>
              <a:srgbClr val="F77F00"/>
            </a:solidFill>
            <a:prstDash val="solid"/>
          </a:ln>
        </p:spPr>
      </p:sp>
      <p:sp>
        <p:nvSpPr>
          <p:cNvPr id="5" name="Shape 3"/>
          <p:cNvSpPr/>
          <p:nvPr/>
        </p:nvSpPr>
        <p:spPr>
          <a:xfrm>
            <a:off x="11183112" y="274320"/>
            <a:ext cx="301752" cy="566928"/>
          </a:xfrm>
          <a:prstGeom prst="rect">
            <a:avLst/>
          </a:prstGeom>
          <a:solidFill>
            <a:srgbClr val="FFFFFF"/>
          </a:solidFill>
          <a:ln w="12700">
            <a:solidFill>
              <a:srgbClr val="FFFFFF"/>
            </a:solidFill>
            <a:prstDash val="solid"/>
          </a:ln>
        </p:spPr>
      </p:sp>
      <p:sp>
        <p:nvSpPr>
          <p:cNvPr id="6" name="Shape 4"/>
          <p:cNvSpPr/>
          <p:nvPr/>
        </p:nvSpPr>
        <p:spPr>
          <a:xfrm>
            <a:off x="11484864" y="274320"/>
            <a:ext cx="301752" cy="566928"/>
          </a:xfrm>
          <a:prstGeom prst="rect">
            <a:avLst/>
          </a:prstGeom>
          <a:solidFill>
            <a:srgbClr val="009E60"/>
          </a:solidFill>
          <a:ln w="12700">
            <a:solidFill>
              <a:srgbClr val="009E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PRIX DU POISSON EN CÔTE D'IVOIRE - L'INTERPROFESSION PÊCHE SALUE LES MESURES GOUVERNEMENTALES ET PROMET DE NOUVELLES BAISSES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AllAfrica (CI)</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25 octobre 2026, 4 h UTC</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CDCDCD"/>
        </a:solidFill>
      </p:bgPr>
    </p:bg>
    <p:spTree>
      <p:nvGrpSpPr>
        <p:cNvPr id="1" name=""/>
        <p:cNvGrpSpPr/>
        <p:nvPr/>
      </p:nvGrpSpPr>
      <p:grpSpPr>
        <a:xfrm>
          <a:off x="0" y="0"/>
          <a:ext cx="0" cy="0"/>
          <a:chOff x="0" y="0"/>
          <a:chExt cx="0" cy="0"/>
        </a:xfrm>
      </p:grpSpPr>
      <p:pic>
        <p:nvPicPr>
          <p:cNvPr id="2" name="Image 0" descr="/home/runner/work/SentiqS/SentiqS/scripts/assets/grsci/afrique.png">    </p:cNvPr>
          <p:cNvPicPr>
            <a:picLocks noChangeAspect="1"/>
          </p:cNvPicPr>
          <p:nvPr/>
        </p:nvPicPr>
        <p:blipFill>
          <a:blip r:embed="rId1"/>
          <a:stretch>
            <a:fillRect/>
          </a:stretch>
        </p:blipFill>
        <p:spPr>
          <a:xfrm>
            <a:off x="4754880" y="640080"/>
            <a:ext cx="2926080" cy="2926080"/>
          </a:xfrm>
          <a:prstGeom prst="rect">
            <a:avLst/>
          </a:prstGeom>
        </p:spPr>
      </p:pic>
      <p:sp>
        <p:nvSpPr>
          <p:cNvPr id="3" name="Text 0"/>
          <p:cNvSpPr/>
          <p:nvPr/>
        </p:nvSpPr>
        <p:spPr>
          <a:xfrm>
            <a:off x="457200" y="4023360"/>
            <a:ext cx="11247120" cy="822960"/>
          </a:xfrm>
          <a:prstGeom prst="rect">
            <a:avLst/>
          </a:prstGeom>
          <a:noFill/>
          <a:ln/>
        </p:spPr>
        <p:txBody>
          <a:bodyPr wrap="square" rtlCol="0" anchor="ctr"/>
          <a:lstStyle/>
          <a:p>
            <a:pPr algn="ctr" indent="0" marL="0">
              <a:buNone/>
            </a:pPr>
            <a:r>
              <a:rPr lang="en-US" sz="4400" dirty="0">
                <a:solidFill>
                  <a:srgbClr val="111111"/>
                </a:solidFill>
                <a:latin typeface="Arial Narrow" pitchFamily="34" charset="0"/>
                <a:ea typeface="Arial Narrow" pitchFamily="34" charset="-122"/>
                <a:cs typeface="Arial Narrow" pitchFamily="34" charset="-120"/>
              </a:rPr>
              <a:t>DYNAMIQUES RÉGIONALES</a:t>
            </a:r>
            <a:endParaRPr lang="en-US" sz="4400" dirty="0"/>
          </a:p>
        </p:txBody>
      </p:sp>
      <p:sp>
        <p:nvSpPr>
          <p:cNvPr id="4" name="Shape 1"/>
          <p:cNvSpPr/>
          <p:nvPr/>
        </p:nvSpPr>
        <p:spPr>
          <a:xfrm>
            <a:off x="4206240" y="4846320"/>
            <a:ext cx="3749040" cy="0"/>
          </a:xfrm>
          <a:prstGeom prst="line">
            <a:avLst/>
          </a:prstGeom>
          <a:noFill/>
          <a:ln w="50800">
            <a:solidFill>
              <a:srgbClr val="000000"/>
            </a:solidFill>
            <a:prstDash val="solid"/>
          </a:ln>
        </p:spPr>
      </p:sp>
      <p:sp>
        <p:nvSpPr>
          <p:cNvPr id="5" name="Text 2"/>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6" name="Text 3"/>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Burkina Faso : situation Fin octobre</a:t>
            </a:r>
            <a:endParaRPr lang="en-US" sz="2800" dirty="0"/>
          </a:p>
        </p:txBody>
      </p:sp>
      <p:sp>
        <p:nvSpPr>
          <p:cNvPr id="4" name="Shape 2"/>
          <p:cNvSpPr/>
          <p:nvPr/>
        </p:nvSpPr>
        <p:spPr>
          <a:xfrm>
            <a:off x="10881360" y="274320"/>
            <a:ext cx="905256" cy="283464"/>
          </a:xfrm>
          <a:prstGeom prst="rect">
            <a:avLst/>
          </a:prstGeom>
          <a:solidFill>
            <a:srgbClr val="EF2B2D"/>
          </a:solidFill>
          <a:ln w="12700">
            <a:solidFill>
              <a:srgbClr val="EF2B2D"/>
            </a:solidFill>
            <a:prstDash val="solid"/>
          </a:ln>
        </p:spPr>
      </p:sp>
      <p:sp>
        <p:nvSpPr>
          <p:cNvPr id="5" name="Shape 3"/>
          <p:cNvSpPr/>
          <p:nvPr/>
        </p:nvSpPr>
        <p:spPr>
          <a:xfrm>
            <a:off x="10881360" y="557784"/>
            <a:ext cx="905256" cy="283464"/>
          </a:xfrm>
          <a:prstGeom prst="rect">
            <a:avLst/>
          </a:prstGeom>
          <a:solidFill>
            <a:srgbClr val="009E49"/>
          </a:solidFill>
          <a:ln w="12700">
            <a:solidFill>
              <a:srgbClr val="009E49"/>
            </a:solidFill>
            <a:prstDash val="solid"/>
          </a:ln>
        </p:spPr>
      </p:sp>
      <p:sp>
        <p:nvSpPr>
          <p:cNvPr id="6" name="Shape 4"/>
          <p:cNvSpPr/>
          <p:nvPr/>
        </p:nvSpPr>
        <p:spPr>
          <a:xfrm>
            <a:off x="10881360" y="274320"/>
            <a:ext cx="905256" cy="566928"/>
          </a:xfrm>
          <a:prstGeom prst="rect">
            <a:avLst/>
          </a:prstGeom>
          <a:ln w="6350">
            <a:solidFill>
              <a:srgbClr val="1F2937"/>
            </a:solidFill>
            <a:prstDash val="solid"/>
          </a:ln>
        </p:spPr>
      </p:sp>
      <p:sp>
        <p:nvSpPr>
          <p:cNvPr id="7" name="Shape 5"/>
          <p:cNvSpPr/>
          <p:nvPr/>
        </p:nvSpPr>
        <p:spPr>
          <a:xfrm>
            <a:off x="457200" y="960120"/>
            <a:ext cx="11292840" cy="0"/>
          </a:xfrm>
          <a:prstGeom prst="line">
            <a:avLst/>
          </a:prstGeom>
          <a:noFill/>
          <a:ln w="6350">
            <a:solidFill>
              <a:srgbClr val="A3A3A3"/>
            </a:solidFill>
            <a:prstDash val="solid"/>
          </a:ln>
        </p:spPr>
      </p:sp>
      <p:sp>
        <p:nvSpPr>
          <p:cNvPr id="8" name="Text 6"/>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faible (incident vérifié le plus récent : 121 jours ; aucun signal du jour)</a:t>
            </a:r>
            <a:endParaRPr lang="en-US" sz="1100" dirty="0"/>
          </a:p>
        </p:txBody>
      </p:sp>
      <p:sp>
        <p:nvSpPr>
          <p:cNvPr id="9" name="Text 7"/>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Une promesse d’échange d’iPhone vire au meurtre présumé d’une jeune fille</a:t>
            </a:r>
            <a:endParaRPr lang="en-US" sz="2200" dirty="0"/>
          </a:p>
        </p:txBody>
      </p:sp>
      <p:sp>
        <p:nvSpPr>
          <p:cNvPr id="10" name="Text 8"/>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mercredi 28 octobre 2026. Lieu : Burkina Faso. Actualité économique. Une seule source à ce stade (Wakat Sera)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Wakat Sera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Attirée par la promesse d’échanger son iPhone 12 contre un iPhone 13, une jeune fille de 18 ans a été tuée à Gonzagueville, dans la commune de Port-Bouët.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Incidence possible sur l'environnement des affaires, les approvisionnements et la sûreté des opérations.</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Wakat Sera</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28 octobre 2026, 16 h UTC   ·   Cotation : Probable</a:t>
            </a:r>
            <a:endParaRPr lang="en-US" sz="1400" dirty="0"/>
          </a:p>
        </p:txBody>
      </p:sp>
      <p:pic>
        <p:nvPicPr>
          <p:cNvPr id="11" name="Image 0" descr="preencoded.png">
            <a:hlinkClick r:id="rId3" tooltip=""/>
          </p:cNvPr>
          <p:cNvPicPr>
            <a:picLocks noChangeAspect="1"/>
          </p:cNvPicPr>
          <p:nvPr/>
        </p:nvPicPr>
        <p:blipFill>
          <a:blip r:embed="rId2"/>
          <a:stretch>
            <a:fillRect/>
          </a:stretch>
        </p:blipFill>
        <p:spPr>
          <a:xfrm>
            <a:off x="8034559" y="2075688"/>
            <a:ext cx="3316162" cy="3657600"/>
          </a:xfrm>
          <a:prstGeom prst="rect">
            <a:avLst/>
          </a:prstGeom>
        </p:spPr>
      </p:pic>
      <p:sp>
        <p:nvSpPr>
          <p:cNvPr id="12" name="Text 9"/>
          <p:cNvSpPr/>
          <p:nvPr/>
        </p:nvSpPr>
        <p:spPr>
          <a:xfrm>
            <a:off x="7635240" y="5769864"/>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Photo : © wakatsera.com</a:t>
            </a:r>
            <a:endParaRPr lang="en-US" sz="900" dirty="0"/>
          </a:p>
        </p:txBody>
      </p:sp>
      <p:sp>
        <p:nvSpPr>
          <p:cNvPr id="13" name="Text 10"/>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4"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Burkina Faso</a:t>
            </a:r>
            <a:endParaRPr lang="en-US" sz="2800" dirty="0"/>
          </a:p>
        </p:txBody>
      </p:sp>
      <p:sp>
        <p:nvSpPr>
          <p:cNvPr id="4" name="Shape 2"/>
          <p:cNvSpPr/>
          <p:nvPr/>
        </p:nvSpPr>
        <p:spPr>
          <a:xfrm>
            <a:off x="10881360" y="274320"/>
            <a:ext cx="905256" cy="283464"/>
          </a:xfrm>
          <a:prstGeom prst="rect">
            <a:avLst/>
          </a:prstGeom>
          <a:solidFill>
            <a:srgbClr val="EF2B2D"/>
          </a:solidFill>
          <a:ln w="12700">
            <a:solidFill>
              <a:srgbClr val="EF2B2D"/>
            </a:solidFill>
            <a:prstDash val="solid"/>
          </a:ln>
        </p:spPr>
      </p:sp>
      <p:sp>
        <p:nvSpPr>
          <p:cNvPr id="5" name="Shape 3"/>
          <p:cNvSpPr/>
          <p:nvPr/>
        </p:nvSpPr>
        <p:spPr>
          <a:xfrm>
            <a:off x="10881360" y="557784"/>
            <a:ext cx="905256" cy="283464"/>
          </a:xfrm>
          <a:prstGeom prst="rect">
            <a:avLst/>
          </a:prstGeom>
          <a:solidFill>
            <a:srgbClr val="009E49"/>
          </a:solidFill>
          <a:ln w="12700">
            <a:solidFill>
              <a:srgbClr val="009E49"/>
            </a:solidFill>
            <a:prstDash val="solid"/>
          </a:ln>
        </p:spPr>
      </p:sp>
      <p:sp>
        <p:nvSpPr>
          <p:cNvPr id="6" name="Shape 4"/>
          <p:cNvSpPr/>
          <p:nvPr/>
        </p:nvSpPr>
        <p:spPr>
          <a:xfrm>
            <a:off x="10881360" y="274320"/>
            <a:ext cx="905256" cy="566928"/>
          </a:xfrm>
          <a:prstGeom prst="rect">
            <a:avLst/>
          </a:prstGeom>
          <a:ln w="6350">
            <a:solidFill>
              <a:srgbClr val="1F2937"/>
            </a:solidFill>
            <a:prstDash val="solid"/>
          </a:ln>
        </p:spPr>
      </p:sp>
      <p:sp>
        <p:nvSpPr>
          <p:cNvPr id="7" name="Shape 5"/>
          <p:cNvSpPr/>
          <p:nvPr/>
        </p:nvSpPr>
        <p:spPr>
          <a:xfrm>
            <a:off x="457200" y="960120"/>
            <a:ext cx="11292840" cy="0"/>
          </a:xfrm>
          <a:prstGeom prst="line">
            <a:avLst/>
          </a:prstGeom>
          <a:noFill/>
          <a:ln w="6350">
            <a:solidFill>
              <a:srgbClr val="A3A3A3"/>
            </a:solidFill>
            <a:prstDash val="solid"/>
          </a:ln>
        </p:spPr>
      </p:sp>
      <p:sp>
        <p:nvSpPr>
          <p:cNvPr id="8" name="Text 6"/>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LA PEINE DE MORT RÉINTRODUITE POUR CERTAINS CRIMES DANS LE NOUVEAU CODE PÉNAL</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AllAfrica (BF)</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10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PAYS RÉTABLIT LA PEINE DE MORT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AllAfrica (BF) · HRW_fr sur X/Twitter</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22 octobre 2026, 15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MGDP ACCUEILLE LA 2E SESSION DU COMITÉ MIXTE DE SUIVI DE LA COOPÉRATION MILITAIRE ET TECHNIQUE ÉGYPTE–BURKINA FASO</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Burkina24</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19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CLIMAT ET SÉCURITÉ AU SAHEL : LE BURKINA FASO PASSE À L’ACTION POUR SA STRATÉGIE NATIONALE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Faso7</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16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CLIMAT-PAIX-SÉCURITÉ : LE BURKINA FASO MISE SUR UNE MEILLEURE COORDINATION DES ACTEURS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Burkina24</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12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p:txBody>
      </p:sp>
      <p:sp>
        <p:nvSpPr>
          <p:cNvPr id="9" name="Text 7"/>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0" name="Text 8"/>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Burkina Faso</a:t>
            </a:r>
            <a:endParaRPr lang="en-US" sz="2800" dirty="0"/>
          </a:p>
        </p:txBody>
      </p:sp>
      <p:sp>
        <p:nvSpPr>
          <p:cNvPr id="4" name="Shape 2"/>
          <p:cNvSpPr/>
          <p:nvPr/>
        </p:nvSpPr>
        <p:spPr>
          <a:xfrm>
            <a:off x="10881360" y="274320"/>
            <a:ext cx="905256" cy="283464"/>
          </a:xfrm>
          <a:prstGeom prst="rect">
            <a:avLst/>
          </a:prstGeom>
          <a:solidFill>
            <a:srgbClr val="EF2B2D"/>
          </a:solidFill>
          <a:ln w="12700">
            <a:solidFill>
              <a:srgbClr val="EF2B2D"/>
            </a:solidFill>
            <a:prstDash val="solid"/>
          </a:ln>
        </p:spPr>
      </p:sp>
      <p:sp>
        <p:nvSpPr>
          <p:cNvPr id="5" name="Shape 3"/>
          <p:cNvSpPr/>
          <p:nvPr/>
        </p:nvSpPr>
        <p:spPr>
          <a:xfrm>
            <a:off x="10881360" y="557784"/>
            <a:ext cx="905256" cy="283464"/>
          </a:xfrm>
          <a:prstGeom prst="rect">
            <a:avLst/>
          </a:prstGeom>
          <a:solidFill>
            <a:srgbClr val="009E49"/>
          </a:solidFill>
          <a:ln w="12700">
            <a:solidFill>
              <a:srgbClr val="009E49"/>
            </a:solidFill>
            <a:prstDash val="solid"/>
          </a:ln>
        </p:spPr>
      </p:sp>
      <p:sp>
        <p:nvSpPr>
          <p:cNvPr id="6" name="Shape 4"/>
          <p:cNvSpPr/>
          <p:nvPr/>
        </p:nvSpPr>
        <p:spPr>
          <a:xfrm>
            <a:off x="10881360" y="274320"/>
            <a:ext cx="905256" cy="566928"/>
          </a:xfrm>
          <a:prstGeom prst="rect">
            <a:avLst/>
          </a:prstGeom>
          <a:ln w="6350">
            <a:solidFill>
              <a:srgbClr val="1F2937"/>
            </a:solidFill>
            <a:prstDash val="solid"/>
          </a:ln>
        </p:spPr>
      </p:sp>
      <p:sp>
        <p:nvSpPr>
          <p:cNvPr id="7" name="Shape 5"/>
          <p:cNvSpPr/>
          <p:nvPr/>
        </p:nvSpPr>
        <p:spPr>
          <a:xfrm>
            <a:off x="457200" y="960120"/>
            <a:ext cx="11292840" cy="0"/>
          </a:xfrm>
          <a:prstGeom prst="line">
            <a:avLst/>
          </a:prstGeom>
          <a:noFill/>
          <a:ln w="6350">
            <a:solidFill>
              <a:srgbClr val="A3A3A3"/>
            </a:solidFill>
            <a:prstDash val="solid"/>
          </a:ln>
        </p:spPr>
      </p:sp>
      <p:sp>
        <p:nvSpPr>
          <p:cNvPr id="8" name="Text 6"/>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ENTREPRENEURIAT FÉMININ À KORSIMORO : LE COMBAT INSPIRANT DES FEMMES POUR L’AUTONOMIE FINANCIÈRE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Burkina24</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8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SÉCURITÉ NUMÉRIQUE AU BURKINA : LA BCLCC LANCE LA 2ᵉ SEMAINE NATIONALE DE LUTTE CONTRE LA CYBERCRIMINALITÉ</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Faso7</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13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COOPÉRATION: LE MINISTRE DE LA SÉCURITÉ REÇOIT UNE DÉLÉGATION DE L’UICN</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Wakat Sera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12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CONSTRUCTION AU BURKINA FASO : L’ORDRE DES INGÉNIEURS ALERTE SUR LES RISQUES LIÉS AUX FAUX PROFESSIONNELS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Faso7</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14 h UTC</a:t>
            </a:r>
            <a:endParaRPr lang="en-US" sz="1300" dirty="0"/>
          </a:p>
        </p:txBody>
      </p:sp>
      <p:sp>
        <p:nvSpPr>
          <p:cNvPr id="9" name="Text 7"/>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0" name="Text 8"/>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Mali</a:t>
            </a:r>
            <a:endParaRPr lang="en-US" sz="2800" dirty="0"/>
          </a:p>
        </p:txBody>
      </p:sp>
      <p:sp>
        <p:nvSpPr>
          <p:cNvPr id="4" name="Shape 2"/>
          <p:cNvSpPr/>
          <p:nvPr/>
        </p:nvSpPr>
        <p:spPr>
          <a:xfrm>
            <a:off x="10881360" y="274320"/>
            <a:ext cx="301752" cy="566928"/>
          </a:xfrm>
          <a:prstGeom prst="rect">
            <a:avLst/>
          </a:prstGeom>
          <a:solidFill>
            <a:srgbClr val="14B53A"/>
          </a:solidFill>
          <a:ln w="12700">
            <a:solidFill>
              <a:srgbClr val="14B53A"/>
            </a:solidFill>
            <a:prstDash val="solid"/>
          </a:ln>
        </p:spPr>
      </p:sp>
      <p:sp>
        <p:nvSpPr>
          <p:cNvPr id="5" name="Shape 3"/>
          <p:cNvSpPr/>
          <p:nvPr/>
        </p:nvSpPr>
        <p:spPr>
          <a:xfrm>
            <a:off x="11183112" y="274320"/>
            <a:ext cx="301752" cy="566928"/>
          </a:xfrm>
          <a:prstGeom prst="rect">
            <a:avLst/>
          </a:prstGeom>
          <a:solidFill>
            <a:srgbClr val="FCD116"/>
          </a:solidFill>
          <a:ln w="12700">
            <a:solidFill>
              <a:srgbClr val="FCD116"/>
            </a:solidFill>
            <a:prstDash val="solid"/>
          </a:ln>
        </p:spPr>
      </p:sp>
      <p:sp>
        <p:nvSpPr>
          <p:cNvPr id="6" name="Shape 4"/>
          <p:cNvSpPr/>
          <p:nvPr/>
        </p:nvSpPr>
        <p:spPr>
          <a:xfrm>
            <a:off x="11484864" y="274320"/>
            <a:ext cx="301752" cy="566928"/>
          </a:xfrm>
          <a:prstGeom prst="rect">
            <a:avLst/>
          </a:prstGeom>
          <a:solidFill>
            <a:srgbClr val="CE1126"/>
          </a:solidFill>
          <a:ln w="12700">
            <a:solidFill>
              <a:srgbClr val="CE1126"/>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moyenne (incident vérifié le plus récent : 122 jours ; 2 signaux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Mali : 13 civils tués par une frappe de drone près de la frontière mauritanienne, l’armée affirme avoir visé des « terroristes »</a:t>
            </a:r>
            <a:endParaRPr lang="en-US" sz="2200" dirty="0"/>
          </a:p>
        </p:txBody>
      </p:sp>
      <p:sp>
        <p:nvSpPr>
          <p:cNvPr id="11" name="Text 9"/>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300" b="1" dirty="0">
                <a:solidFill>
                  <a:srgbClr val="1F6B5E"/>
                </a:solidFill>
                <a:latin typeface="Calibri" pitchFamily="34" charset="0"/>
                <a:ea typeface="Calibri" pitchFamily="34" charset="-122"/>
                <a:cs typeface="Calibri" pitchFamily="34" charset="-120"/>
              </a:rPr>
              <a:t>Contexte</a:t>
            </a:r>
            <a:endParaRPr lang="en-US" sz="1200" dirty="0"/>
          </a:p>
          <a:p>
            <a:pPr indent="0" marL="0">
              <a:spcAft>
                <a:spcPts val="300"/>
              </a:spcAft>
              <a:buNone/>
            </a:pPr>
            <a:r>
              <a:rPr lang="en-US" sz="1200" dirty="0">
                <a:solidFill>
                  <a:srgbClr val="1F2937"/>
                </a:solidFill>
                <a:latin typeface="Calibri" pitchFamily="34" charset="0"/>
                <a:ea typeface="Calibri" pitchFamily="34" charset="-122"/>
                <a:cs typeface="Calibri" pitchFamily="34" charset="-120"/>
              </a:rPr>
              <a:t>Fait rapporté le mercredi 28 octobre 2026. Lieu : Bamako, Mali. Actualité sécuritaire. Repris par 3 médias distincts (Points Chauds Online, AllAfrica (ML), RFI Afrique) : le fait est recoupé.</a:t>
            </a:r>
            <a:endParaRPr lang="en-US" sz="1200" dirty="0"/>
          </a:p>
          <a:p>
            <a:pPr indent="0" marL="0">
              <a:spcBef>
                <a:spcPts val="800"/>
              </a:spcBef>
              <a:spcAft>
                <a:spcPts val="300"/>
              </a:spcAft>
              <a:buNone/>
            </a:pPr>
            <a:r>
              <a:rPr lang="en-US" sz="1300" b="1" dirty="0">
                <a:solidFill>
                  <a:srgbClr val="1F6B5E"/>
                </a:solidFill>
                <a:latin typeface="Calibri" pitchFamily="34" charset="0"/>
                <a:ea typeface="Calibri" pitchFamily="34" charset="-122"/>
                <a:cs typeface="Calibri" pitchFamily="34" charset="-120"/>
              </a:rPr>
              <a:t>Ce que rapportent les sources</a:t>
            </a:r>
            <a:endParaRPr lang="en-US" sz="1200" dirty="0"/>
          </a:p>
          <a:p>
            <a:pPr indent="0" marL="0">
              <a:spcAft>
                <a:spcPts val="300"/>
              </a:spcAft>
              <a:buNone/>
            </a:pPr>
            <a:r>
              <a:rPr lang="en-US" sz="1200" b="1" dirty="0">
                <a:solidFill>
                  <a:srgbClr val="1F2937"/>
                </a:solidFill>
                <a:latin typeface="Calibri" pitchFamily="34" charset="0"/>
                <a:ea typeface="Calibri" pitchFamily="34" charset="-122"/>
                <a:cs typeface="Calibri" pitchFamily="34" charset="-120"/>
              </a:rPr>
              <a:t>Points Chauds Online : </a:t>
            </a:r>
            <a:pPr indent="0" marL="0">
              <a:spcAft>
                <a:spcPts val="300"/>
              </a:spcAft>
              <a:buNone/>
            </a:pPr>
            <a:r>
              <a:rPr lang="en-US" sz="1200" i="1" dirty="0">
                <a:solidFill>
                  <a:srgbClr val="1F2937"/>
                </a:solidFill>
                <a:latin typeface="Calibri" pitchFamily="34" charset="0"/>
                <a:ea typeface="Calibri" pitchFamily="34" charset="-122"/>
                <a:cs typeface="Calibri" pitchFamily="34" charset="-120"/>
              </a:rPr>
              <a:t>« Une frappe de drone attribuée à l'armée malienne a tué au moins 13 personnes, dont six enfants, dans un campement touareg du cercle de Goundam, à quelques kilomètres de la Mauritanie ; Bamako dit avoir frappé des terroristes. »</a:t>
            </a:r>
            <a:endParaRPr lang="en-US" sz="1200" dirty="0"/>
          </a:p>
          <a:p>
            <a:pPr indent="0" marL="0">
              <a:spcAft>
                <a:spcPts val="300"/>
              </a:spcAft>
              <a:buNone/>
            </a:pPr>
            <a:r>
              <a:rPr lang="en-US" sz="1200" b="1" dirty="0">
                <a:solidFill>
                  <a:srgbClr val="1F2937"/>
                </a:solidFill>
                <a:latin typeface="Calibri" pitchFamily="34" charset="0"/>
                <a:ea typeface="Calibri" pitchFamily="34" charset="-122"/>
                <a:cs typeface="Calibri" pitchFamily="34" charset="-120"/>
              </a:rPr>
              <a:t>AllAfrica (ML) : </a:t>
            </a:r>
            <a:pPr indent="0" marL="0">
              <a:spcAft>
                <a:spcPts val="300"/>
              </a:spcAft>
              <a:buNone/>
            </a:pPr>
            <a:r>
              <a:rPr lang="en-US" sz="1200" i="1" dirty="0">
                <a:solidFill>
                  <a:srgbClr val="1F2937"/>
                </a:solidFill>
                <a:latin typeface="Calibri" pitchFamily="34" charset="0"/>
                <a:ea typeface="Calibri" pitchFamily="34" charset="-122"/>
                <a:cs typeface="Calibri" pitchFamily="34" charset="-120"/>
              </a:rPr>
              <a:t>« [RFI] Au Mali, treize civils, dont six enfants, ont été tués, dans la nuit de dimanche à ce lundi 26 octobre, par une frappe de drone de l'armée malienne, près de Lerneb, dans la région de Tombouctou, selon des informations vérifiées par RFI auprès de nombreuses sources locales. L'état-major n'a pas communiqué sur cette frappe. »</a:t>
            </a:r>
            <a:endParaRPr lang="en-US" sz="1200" dirty="0"/>
          </a:p>
          <a:p>
            <a:pPr indent="0" marL="0">
              <a:spcBef>
                <a:spcPts val="800"/>
              </a:spcBef>
              <a:spcAft>
                <a:spcPts val="300"/>
              </a:spcAft>
              <a:buNone/>
            </a:pPr>
            <a:r>
              <a:rPr lang="en-US" sz="1300" b="1" dirty="0">
                <a:solidFill>
                  <a:srgbClr val="1F6B5E"/>
                </a:solidFill>
                <a:latin typeface="Calibri" pitchFamily="34" charset="0"/>
                <a:ea typeface="Calibri" pitchFamily="34" charset="-122"/>
                <a:cs typeface="Calibri" pitchFamily="34" charset="-120"/>
              </a:rPr>
              <a:t>Enjeux sûreté</a:t>
            </a:r>
            <a:endParaRPr lang="en-US" sz="1200" dirty="0"/>
          </a:p>
          <a:p>
            <a:pPr indent="0" marL="0">
              <a:spcAft>
                <a:spcPts val="300"/>
              </a:spcAft>
              <a:buNone/>
            </a:pPr>
            <a:r>
              <a:rPr lang="en-US" sz="1200" dirty="0">
                <a:solidFill>
                  <a:srgbClr val="1F2937"/>
                </a:solidFill>
                <a:latin typeface="Calibri" pitchFamily="34" charset="0"/>
                <a:ea typeface="Calibri" pitchFamily="34" charset="-122"/>
                <a:cs typeface="Calibri" pitchFamily="34" charset="-120"/>
              </a:rPr>
              <a:t>Menace armée sur les axes et localités de la zone : réévaluer les déplacements terrestres (horaires, convois, itinéraires de repli) et les consignes des sites et des personnels présents à proximité.</a:t>
            </a:r>
            <a:endParaRPr lang="en-US" sz="1200" dirty="0"/>
          </a:p>
          <a:p>
            <a:pPr indent="0" marL="0">
              <a:spcBef>
                <a:spcPts val="800"/>
              </a:spcBef>
              <a:spcAft>
                <a:spcPts val="300"/>
              </a:spcAft>
              <a:buNone/>
            </a:pPr>
            <a:r>
              <a:rPr lang="en-US" sz="1200" b="1" dirty="0">
                <a:solidFill>
                  <a:srgbClr val="1F2937"/>
                </a:solidFill>
                <a:latin typeface="Calibri" pitchFamily="34" charset="0"/>
                <a:ea typeface="Calibri" pitchFamily="34" charset="-122"/>
                <a:cs typeface="Calibri" pitchFamily="34" charset="-120"/>
              </a:rPr>
              <a:t>Sources : </a:t>
            </a:r>
            <a:pPr indent="0" marL="0">
              <a:spcAft>
                <a:spcPts val="300"/>
              </a:spcAft>
              <a:buNone/>
            </a:pPr>
            <a:r>
              <a:rPr lang="en-US" sz="12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Points Chauds Online</a:t>
            </a:r>
            <a:pPr indent="0" marL="0">
              <a:spcAft>
                <a:spcPts val="300"/>
              </a:spcAft>
              <a:buNone/>
            </a:pPr>
            <a:r>
              <a:rPr lang="en-US" sz="12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 AllAfrica (ML)</a:t>
            </a:r>
            <a:pPr indent="0" marL="0">
              <a:spcAft>
                <a:spcPts val="300"/>
              </a:spcAft>
              <a:buNone/>
            </a:pPr>
            <a:r>
              <a:rPr lang="en-US" sz="12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RFI Afrique</a:t>
            </a:r>
            <a:pPr indent="0" marL="0">
              <a:spcAft>
                <a:spcPts val="300"/>
              </a:spcAft>
              <a:buNone/>
            </a:pPr>
            <a:r>
              <a:rPr lang="en-US" sz="1200" b="1" dirty="0">
                <a:solidFill>
                  <a:srgbClr val="1F2937"/>
                </a:solidFill>
                <a:latin typeface="Calibri" pitchFamily="34" charset="0"/>
                <a:ea typeface="Calibri" pitchFamily="34" charset="-122"/>
                <a:cs typeface="Calibri" pitchFamily="34" charset="-120"/>
              </a:rPr>
              <a:t> — 28 octobre 2026, 18 h UTC   ·   Cotation : Confirmé</a:t>
            </a:r>
            <a:endParaRPr lang="en-US" sz="1200" dirty="0"/>
          </a:p>
        </p:txBody>
      </p:sp>
      <p:pic>
        <p:nvPicPr>
          <p:cNvPr id="12" name="Image 0" descr="preencoded.png">
            <a:hlinkClick r:id="rId5" tooltip=""/>
          </p:cNvPr>
          <p:cNvPicPr>
            <a:picLocks noChangeAspect="1"/>
          </p:cNvPicPr>
          <p:nvPr/>
        </p:nvPicPr>
        <p:blipFill>
          <a:blip r:embed="rId4"/>
          <a:stretch>
            <a:fillRect/>
          </a:stretch>
        </p:blipFill>
        <p:spPr>
          <a:xfrm>
            <a:off x="7635240" y="2075688"/>
            <a:ext cx="4114800" cy="3095744"/>
          </a:xfrm>
          <a:prstGeom prst="rect">
            <a:avLst/>
          </a:prstGeom>
        </p:spPr>
      </p:pic>
      <p:sp>
        <p:nvSpPr>
          <p:cNvPr id="13" name="Text 10"/>
          <p:cNvSpPr/>
          <p:nvPr/>
        </p:nvSpPr>
        <p:spPr>
          <a:xfrm>
            <a:off x="7635240" y="5208008"/>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Photo : © pointschauds.info</a:t>
            </a:r>
            <a:endParaRPr lang="en-US" sz="900" dirty="0"/>
          </a:p>
        </p:txBody>
      </p:sp>
      <p:sp>
        <p:nvSpPr>
          <p:cNvPr id="14" name="Text 11"/>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5" name="Text 12"/>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Mali</a:t>
            </a:r>
            <a:endParaRPr lang="en-US" sz="2800" dirty="0"/>
          </a:p>
        </p:txBody>
      </p:sp>
      <p:sp>
        <p:nvSpPr>
          <p:cNvPr id="4" name="Shape 2"/>
          <p:cNvSpPr/>
          <p:nvPr/>
        </p:nvSpPr>
        <p:spPr>
          <a:xfrm>
            <a:off x="10881360" y="274320"/>
            <a:ext cx="301752" cy="566928"/>
          </a:xfrm>
          <a:prstGeom prst="rect">
            <a:avLst/>
          </a:prstGeom>
          <a:solidFill>
            <a:srgbClr val="14B53A"/>
          </a:solidFill>
          <a:ln w="12700">
            <a:solidFill>
              <a:srgbClr val="14B53A"/>
            </a:solidFill>
            <a:prstDash val="solid"/>
          </a:ln>
        </p:spPr>
      </p:sp>
      <p:sp>
        <p:nvSpPr>
          <p:cNvPr id="5" name="Shape 3"/>
          <p:cNvSpPr/>
          <p:nvPr/>
        </p:nvSpPr>
        <p:spPr>
          <a:xfrm>
            <a:off x="11183112" y="274320"/>
            <a:ext cx="301752" cy="566928"/>
          </a:xfrm>
          <a:prstGeom prst="rect">
            <a:avLst/>
          </a:prstGeom>
          <a:solidFill>
            <a:srgbClr val="FCD116"/>
          </a:solidFill>
          <a:ln w="12700">
            <a:solidFill>
              <a:srgbClr val="FCD116"/>
            </a:solidFill>
            <a:prstDash val="solid"/>
          </a:ln>
        </p:spPr>
      </p:sp>
      <p:sp>
        <p:nvSpPr>
          <p:cNvPr id="6" name="Shape 4"/>
          <p:cNvSpPr/>
          <p:nvPr/>
        </p:nvSpPr>
        <p:spPr>
          <a:xfrm>
            <a:off x="11484864" y="274320"/>
            <a:ext cx="301752" cy="566928"/>
          </a:xfrm>
          <a:prstGeom prst="rect">
            <a:avLst/>
          </a:prstGeom>
          <a:solidFill>
            <a:srgbClr val="CE1126"/>
          </a:solidFill>
          <a:ln w="12700">
            <a:solidFill>
              <a:srgbClr val="CE1126"/>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MALI : CE QUE L’ON SAIT DE LA MORT MYSTÉRIEUSE DU JEUNE COMMERÇANT BOCAR LY</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Mali 24</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14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TOURNÉE DES LAURÉATS DE LA BIENNALE DE TOMBOUCTOU 2025 : LE COUP D’ENVOI DONNÉ À BOUGOUNI</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Mali 24</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12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ENLÈVEMENT DE QUATRE ENSEIGNANTS À SAN : LA SYNERGIE DES SYNDICATS DE L’ÉDUCATION DE LA RÉGION EXIGE LEUR LIBÉRATION</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Mali 24</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16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MALI : DISPARITIONS INQUIÉTANTES, MORTS SUSPECTES… QUE SE PASSE-T-IL AVEC LA JEUNESSE MALIENNE ?</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Maliactu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13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ATTAQUE DE TRAPPES ET LA VERRIÈRE : LA QUALIFICATION DU MOBILE RACISTE AU CŒUR DU DÉBAT SÉCURITAIRE ET SOCIÉTAL</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Maliactu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10 h UTC</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Mali</a:t>
            </a:r>
            <a:endParaRPr lang="en-US" sz="2800" dirty="0"/>
          </a:p>
        </p:txBody>
      </p:sp>
      <p:sp>
        <p:nvSpPr>
          <p:cNvPr id="4" name="Shape 2"/>
          <p:cNvSpPr/>
          <p:nvPr/>
        </p:nvSpPr>
        <p:spPr>
          <a:xfrm>
            <a:off x="10881360" y="274320"/>
            <a:ext cx="301752" cy="566928"/>
          </a:xfrm>
          <a:prstGeom prst="rect">
            <a:avLst/>
          </a:prstGeom>
          <a:solidFill>
            <a:srgbClr val="14B53A"/>
          </a:solidFill>
          <a:ln w="12700">
            <a:solidFill>
              <a:srgbClr val="14B53A"/>
            </a:solidFill>
            <a:prstDash val="solid"/>
          </a:ln>
        </p:spPr>
      </p:sp>
      <p:sp>
        <p:nvSpPr>
          <p:cNvPr id="5" name="Shape 3"/>
          <p:cNvSpPr/>
          <p:nvPr/>
        </p:nvSpPr>
        <p:spPr>
          <a:xfrm>
            <a:off x="11183112" y="274320"/>
            <a:ext cx="301752" cy="566928"/>
          </a:xfrm>
          <a:prstGeom prst="rect">
            <a:avLst/>
          </a:prstGeom>
          <a:solidFill>
            <a:srgbClr val="FCD116"/>
          </a:solidFill>
          <a:ln w="12700">
            <a:solidFill>
              <a:srgbClr val="FCD116"/>
            </a:solidFill>
            <a:prstDash val="solid"/>
          </a:ln>
        </p:spPr>
      </p:sp>
      <p:sp>
        <p:nvSpPr>
          <p:cNvPr id="6" name="Shape 4"/>
          <p:cNvSpPr/>
          <p:nvPr/>
        </p:nvSpPr>
        <p:spPr>
          <a:xfrm>
            <a:off x="11484864" y="274320"/>
            <a:ext cx="301752" cy="566928"/>
          </a:xfrm>
          <a:prstGeom prst="rect">
            <a:avLst/>
          </a:prstGeom>
          <a:solidFill>
            <a:srgbClr val="CE1126"/>
          </a:solidFill>
          <a:ln w="12700">
            <a:solidFill>
              <a:srgbClr val="CE1126"/>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MALI : LE BILAN DE L'ATTAQUE MEURTRIÈRE DU WEEKEND DERNIER MONTE À 54 MORTS (ARMÉE)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Dakar Actu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25 octobre 2026, 4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BENSON DIAKITÉ, ANCIENNE GRANDE VOIX DE RFI, EST MORT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AllAfrica (ML) · RFI Afrique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23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LUTTE CONTRE LE TERRORISME À KAYES : LA POLICE FRAPPE AU CŒUR DES RÉSEAUX DE SOUTIEN LOGISTIQUE DES GAT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Maliactu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14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MALI : L’ARMÉE ET L’AFRICA CORPS, CONTRÔLÉ PAR LA RUSSIE, ONT COMMIS DE NOUVEAUX ABUS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HRW_fr sur X/Twitter</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22 octobre 2026, 4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III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Niger</a:t>
            </a:r>
            <a:endParaRPr lang="en-US" sz="2800" dirty="0"/>
          </a:p>
        </p:txBody>
      </p:sp>
      <p:sp>
        <p:nvSpPr>
          <p:cNvPr id="4" name="Shape 2"/>
          <p:cNvSpPr/>
          <p:nvPr/>
        </p:nvSpPr>
        <p:spPr>
          <a:xfrm>
            <a:off x="10881360" y="274320"/>
            <a:ext cx="905256" cy="188976"/>
          </a:xfrm>
          <a:prstGeom prst="rect">
            <a:avLst/>
          </a:prstGeom>
          <a:solidFill>
            <a:srgbClr val="E05206"/>
          </a:solidFill>
          <a:ln w="12700">
            <a:solidFill>
              <a:srgbClr val="E05206"/>
            </a:solidFill>
            <a:prstDash val="solid"/>
          </a:ln>
        </p:spPr>
      </p:sp>
      <p:sp>
        <p:nvSpPr>
          <p:cNvPr id="5" name="Shape 3"/>
          <p:cNvSpPr/>
          <p:nvPr/>
        </p:nvSpPr>
        <p:spPr>
          <a:xfrm>
            <a:off x="10881360" y="463296"/>
            <a:ext cx="905256" cy="188976"/>
          </a:xfrm>
          <a:prstGeom prst="rect">
            <a:avLst/>
          </a:prstGeom>
          <a:solidFill>
            <a:srgbClr val="FFFFFF"/>
          </a:solidFill>
          <a:ln w="12700">
            <a:solidFill>
              <a:srgbClr val="FFFFFF"/>
            </a:solidFill>
            <a:prstDash val="solid"/>
          </a:ln>
        </p:spPr>
      </p:sp>
      <p:sp>
        <p:nvSpPr>
          <p:cNvPr id="6" name="Shape 4"/>
          <p:cNvSpPr/>
          <p:nvPr/>
        </p:nvSpPr>
        <p:spPr>
          <a:xfrm>
            <a:off x="10881360" y="652272"/>
            <a:ext cx="905256" cy="188976"/>
          </a:xfrm>
          <a:prstGeom prst="rect">
            <a:avLst/>
          </a:prstGeom>
          <a:solidFill>
            <a:srgbClr val="0DB02B"/>
          </a:solidFill>
          <a:ln w="12700">
            <a:solidFill>
              <a:srgbClr val="0DB02B"/>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moyenne (incident vérifié le plus récent : 120 jours ; 1 signal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Frappe de drone près d’Agadez : N’Djamena dément toute implication et met Niamey au défi de fournir des preuves</a:t>
            </a:r>
            <a:endParaRPr lang="en-US" sz="2200" dirty="0"/>
          </a:p>
        </p:txBody>
      </p:sp>
      <p:sp>
        <p:nvSpPr>
          <p:cNvPr id="11" name="Text 9"/>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300" b="1" dirty="0">
                <a:solidFill>
                  <a:srgbClr val="1F6B5E"/>
                </a:solidFill>
                <a:latin typeface="Calibri" pitchFamily="34" charset="0"/>
                <a:ea typeface="Calibri" pitchFamily="34" charset="-122"/>
                <a:cs typeface="Calibri" pitchFamily="34" charset="-120"/>
              </a:rPr>
              <a:t>Contexte</a:t>
            </a:r>
            <a:endParaRPr lang="en-US" sz="1200" dirty="0"/>
          </a:p>
          <a:p>
            <a:pPr indent="0" marL="0">
              <a:spcAft>
                <a:spcPts val="300"/>
              </a:spcAft>
              <a:buNone/>
            </a:pPr>
            <a:r>
              <a:rPr lang="en-US" sz="1200" dirty="0">
                <a:solidFill>
                  <a:srgbClr val="1F2937"/>
                </a:solidFill>
                <a:latin typeface="Calibri" pitchFamily="34" charset="0"/>
                <a:ea typeface="Calibri" pitchFamily="34" charset="-122"/>
                <a:cs typeface="Calibri" pitchFamily="34" charset="-120"/>
              </a:rPr>
              <a:t>Fait rapporté le mercredi 28 octobre 2026. Lieu : Niamey, Niger. Actualité politique. Repris par 5 médias distincts (Points Chauds Online, Malijet, ANP — Agence Nigérienne Presse, Journal du Tchad, Tchadinfos) : le fait est recoupé.</a:t>
            </a:r>
            <a:endParaRPr lang="en-US" sz="1200" dirty="0"/>
          </a:p>
          <a:p>
            <a:pPr indent="0" marL="0">
              <a:spcBef>
                <a:spcPts val="800"/>
              </a:spcBef>
              <a:spcAft>
                <a:spcPts val="300"/>
              </a:spcAft>
              <a:buNone/>
            </a:pPr>
            <a:r>
              <a:rPr lang="en-US" sz="1300" b="1" dirty="0">
                <a:solidFill>
                  <a:srgbClr val="1F6B5E"/>
                </a:solidFill>
                <a:latin typeface="Calibri" pitchFamily="34" charset="0"/>
                <a:ea typeface="Calibri" pitchFamily="34" charset="-122"/>
                <a:cs typeface="Calibri" pitchFamily="34" charset="-120"/>
              </a:rPr>
              <a:t>Ce que rapportent les sources</a:t>
            </a:r>
            <a:endParaRPr lang="en-US" sz="1200" dirty="0"/>
          </a:p>
          <a:p>
            <a:pPr indent="0" marL="0">
              <a:spcAft>
                <a:spcPts val="300"/>
              </a:spcAft>
              <a:buNone/>
            </a:pPr>
            <a:r>
              <a:rPr lang="en-US" sz="1200" b="1" dirty="0">
                <a:solidFill>
                  <a:srgbClr val="1F2937"/>
                </a:solidFill>
                <a:latin typeface="Calibri" pitchFamily="34" charset="0"/>
                <a:ea typeface="Calibri" pitchFamily="34" charset="-122"/>
                <a:cs typeface="Calibri" pitchFamily="34" charset="-120"/>
              </a:rPr>
              <a:t>Points Chauds Online : </a:t>
            </a:r>
            <a:pPr indent="0" marL="0">
              <a:spcAft>
                <a:spcPts val="300"/>
              </a:spcAft>
              <a:buNone/>
            </a:pPr>
            <a:r>
              <a:rPr lang="en-US" sz="1200" i="1" dirty="0">
                <a:solidFill>
                  <a:srgbClr val="1F2937"/>
                </a:solidFill>
                <a:latin typeface="Calibri" pitchFamily="34" charset="0"/>
                <a:ea typeface="Calibri" pitchFamily="34" charset="-122"/>
                <a:cs typeface="Calibri" pitchFamily="34" charset="-120"/>
              </a:rPr>
              <a:t>« Le gouvernement tchadien rejette les accusations nigériennes sur la frappe du 24 octobre et se dit favorable à une enquête internationale indépendante. »</a:t>
            </a:r>
            <a:endParaRPr lang="en-US" sz="1200" dirty="0"/>
          </a:p>
          <a:p>
            <a:pPr indent="0" marL="0">
              <a:spcAft>
                <a:spcPts val="300"/>
              </a:spcAft>
              <a:buNone/>
            </a:pPr>
            <a:r>
              <a:rPr lang="en-US" sz="1200" b="1" dirty="0">
                <a:solidFill>
                  <a:srgbClr val="1F2937"/>
                </a:solidFill>
                <a:latin typeface="Calibri" pitchFamily="34" charset="0"/>
                <a:ea typeface="Calibri" pitchFamily="34" charset="-122"/>
                <a:cs typeface="Calibri" pitchFamily="34" charset="-120"/>
              </a:rPr>
              <a:t>Malijet : </a:t>
            </a:r>
            <a:pPr indent="0" marL="0">
              <a:spcAft>
                <a:spcPts val="300"/>
              </a:spcAft>
              <a:buNone/>
            </a:pPr>
            <a:r>
              <a:rPr lang="en-US" sz="1200" i="1" dirty="0">
                <a:solidFill>
                  <a:srgbClr val="1F2937"/>
                </a:solidFill>
                <a:latin typeface="Calibri" pitchFamily="34" charset="0"/>
                <a:ea typeface="Calibri" pitchFamily="34" charset="-122"/>
                <a:cs typeface="Calibri" pitchFamily="34" charset="-120"/>
              </a:rPr>
              <a:t>« Le gouvernement tchadien rejette fermement les accusations du Niger, qui lui attribue une frappe de drone survenue le 24 octobre 2026, vers 1 heure du matin, dans la zone d’Émiloulou, dans la région d’Agadez. Dans un communiqué, N’Djamena nie avoir ordonné, mené ou soutenu une opération militaire aé... »</a:t>
            </a:r>
            <a:endParaRPr lang="en-US" sz="1200" dirty="0"/>
          </a:p>
          <a:p>
            <a:pPr indent="0" marL="0">
              <a:spcBef>
                <a:spcPts val="800"/>
              </a:spcBef>
              <a:spcAft>
                <a:spcPts val="300"/>
              </a:spcAft>
              <a:buNone/>
            </a:pPr>
            <a:r>
              <a:rPr lang="en-US" sz="1300" b="1" dirty="0">
                <a:solidFill>
                  <a:srgbClr val="1F6B5E"/>
                </a:solidFill>
                <a:latin typeface="Calibri" pitchFamily="34" charset="0"/>
                <a:ea typeface="Calibri" pitchFamily="34" charset="-122"/>
                <a:cs typeface="Calibri" pitchFamily="34" charset="-120"/>
              </a:rPr>
              <a:t>Enjeux sûreté</a:t>
            </a:r>
            <a:endParaRPr lang="en-US" sz="1200" dirty="0"/>
          </a:p>
          <a:p>
            <a:pPr indent="0" marL="0">
              <a:spcAft>
                <a:spcPts val="300"/>
              </a:spcAft>
              <a:buNone/>
            </a:pPr>
            <a:r>
              <a:rPr lang="en-US" sz="1200" dirty="0">
                <a:solidFill>
                  <a:srgbClr val="1F2937"/>
                </a:solidFill>
                <a:latin typeface="Calibri" pitchFamily="34" charset="0"/>
                <a:ea typeface="Calibri" pitchFamily="34" charset="-122"/>
                <a:cs typeface="Calibri" pitchFamily="34" charset="-120"/>
              </a:rPr>
              <a:t>Menace armée sur les axes et localités de la zone : réévaluer les déplacements terrestres (horaires, convois, itinéraires de repli) et les consignes des sites et des personnels présents à proximité.</a:t>
            </a:r>
            <a:endParaRPr lang="en-US" sz="1200" dirty="0"/>
          </a:p>
          <a:p>
            <a:pPr indent="0" marL="0">
              <a:spcBef>
                <a:spcPts val="800"/>
              </a:spcBef>
              <a:spcAft>
                <a:spcPts val="300"/>
              </a:spcAft>
              <a:buNone/>
            </a:pPr>
            <a:r>
              <a:rPr lang="en-US" sz="1200" b="1" dirty="0">
                <a:solidFill>
                  <a:srgbClr val="1F2937"/>
                </a:solidFill>
                <a:latin typeface="Calibri" pitchFamily="34" charset="0"/>
                <a:ea typeface="Calibri" pitchFamily="34" charset="-122"/>
                <a:cs typeface="Calibri" pitchFamily="34" charset="-120"/>
              </a:rPr>
              <a:t>Sources : </a:t>
            </a:r>
            <a:pPr indent="0" marL="0">
              <a:spcAft>
                <a:spcPts val="300"/>
              </a:spcAft>
              <a:buNone/>
            </a:pPr>
            <a:r>
              <a:rPr lang="en-US" sz="12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Points Chauds Online</a:t>
            </a:r>
            <a:pPr indent="0" marL="0">
              <a:spcAft>
                <a:spcPts val="300"/>
              </a:spcAft>
              <a:buNone/>
            </a:pPr>
            <a:r>
              <a:rPr lang="en-US" sz="12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 Malijet</a:t>
            </a:r>
            <a:pPr indent="0" marL="0">
              <a:spcAft>
                <a:spcPts val="300"/>
              </a:spcAft>
              <a:buNone/>
            </a:pPr>
            <a:r>
              <a:rPr lang="en-US" sz="12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ANP — Agence Nigérienne Presse</a:t>
            </a:r>
            <a:pPr indent="0" marL="0">
              <a:spcAft>
                <a:spcPts val="300"/>
              </a:spcAft>
              <a:buNone/>
            </a:pPr>
            <a:r>
              <a:rPr lang="en-US" sz="12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 · Journal du Tchad</a:t>
            </a:r>
            <a:pPr indent="0" marL="0">
              <a:spcAft>
                <a:spcPts val="300"/>
              </a:spcAft>
              <a:buNone/>
            </a:pPr>
            <a:r>
              <a:rPr lang="en-US" sz="1200" dirty="0">
                <a:solidFill>
                  <a:srgbClr val="1F2937"/>
                </a:solidFill>
                <a:latin typeface="Calibri" pitchFamily="34" charset="0"/>
                <a:ea typeface="Calibri" pitchFamily="34" charset="-122"/>
                <a:cs typeface="Calibri" pitchFamily="34" charset="-120"/>
              </a:rPr>
              <a:t> · Tchadinfos</a:t>
            </a:r>
            <a:pPr indent="0" marL="0">
              <a:spcAft>
                <a:spcPts val="300"/>
              </a:spcAft>
              <a:buNone/>
            </a:pPr>
            <a:r>
              <a:rPr lang="en-US" sz="1200" b="1" dirty="0">
                <a:solidFill>
                  <a:srgbClr val="1F2937"/>
                </a:solidFill>
                <a:latin typeface="Calibri" pitchFamily="34" charset="0"/>
                <a:ea typeface="Calibri" pitchFamily="34" charset="-122"/>
                <a:cs typeface="Calibri" pitchFamily="34" charset="-120"/>
              </a:rPr>
              <a:t> — 28 octobre 2026, 10 h UTC   ·   Cotation : Confirmé</a:t>
            </a:r>
            <a:endParaRPr lang="en-US" sz="1200" dirty="0"/>
          </a:p>
        </p:txBody>
      </p:sp>
      <p:pic>
        <p:nvPicPr>
          <p:cNvPr id="12" name="Image 0" descr="preencoded.png">
            <a:hlinkClick r:id="rId6" tooltip=""/>
          </p:cNvPr>
          <p:cNvPicPr>
            <a:picLocks noChangeAspect="1"/>
          </p:cNvPicPr>
          <p:nvPr/>
        </p:nvPicPr>
        <p:blipFill>
          <a:blip r:embed="rId5"/>
          <a:stretch>
            <a:fillRect/>
          </a:stretch>
        </p:blipFill>
        <p:spPr>
          <a:xfrm>
            <a:off x="7635240" y="2075688"/>
            <a:ext cx="4114800" cy="2309532"/>
          </a:xfrm>
          <a:prstGeom prst="rect">
            <a:avLst/>
          </a:prstGeom>
        </p:spPr>
      </p:pic>
      <p:sp>
        <p:nvSpPr>
          <p:cNvPr id="13" name="Text 10"/>
          <p:cNvSpPr/>
          <p:nvPr/>
        </p:nvSpPr>
        <p:spPr>
          <a:xfrm>
            <a:off x="7635240" y="4421796"/>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Photo : © pointschauds.info</a:t>
            </a:r>
            <a:endParaRPr lang="en-US" sz="900" dirty="0"/>
          </a:p>
        </p:txBody>
      </p:sp>
      <p:sp>
        <p:nvSpPr>
          <p:cNvPr id="14" name="Text 11"/>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5" name="Text 12"/>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III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Niger</a:t>
            </a:r>
            <a:endParaRPr lang="en-US" sz="2800" dirty="0"/>
          </a:p>
        </p:txBody>
      </p:sp>
      <p:sp>
        <p:nvSpPr>
          <p:cNvPr id="4" name="Shape 2"/>
          <p:cNvSpPr/>
          <p:nvPr/>
        </p:nvSpPr>
        <p:spPr>
          <a:xfrm>
            <a:off x="10881360" y="274320"/>
            <a:ext cx="905256" cy="188976"/>
          </a:xfrm>
          <a:prstGeom prst="rect">
            <a:avLst/>
          </a:prstGeom>
          <a:solidFill>
            <a:srgbClr val="E05206"/>
          </a:solidFill>
          <a:ln w="12700">
            <a:solidFill>
              <a:srgbClr val="E05206"/>
            </a:solidFill>
            <a:prstDash val="solid"/>
          </a:ln>
        </p:spPr>
      </p:sp>
      <p:sp>
        <p:nvSpPr>
          <p:cNvPr id="5" name="Shape 3"/>
          <p:cNvSpPr/>
          <p:nvPr/>
        </p:nvSpPr>
        <p:spPr>
          <a:xfrm>
            <a:off x="10881360" y="463296"/>
            <a:ext cx="905256" cy="188976"/>
          </a:xfrm>
          <a:prstGeom prst="rect">
            <a:avLst/>
          </a:prstGeom>
          <a:solidFill>
            <a:srgbClr val="FFFFFF"/>
          </a:solidFill>
          <a:ln w="12700">
            <a:solidFill>
              <a:srgbClr val="FFFFFF"/>
            </a:solidFill>
            <a:prstDash val="solid"/>
          </a:ln>
        </p:spPr>
      </p:sp>
      <p:sp>
        <p:nvSpPr>
          <p:cNvPr id="6" name="Shape 4"/>
          <p:cNvSpPr/>
          <p:nvPr/>
        </p:nvSpPr>
        <p:spPr>
          <a:xfrm>
            <a:off x="10881360" y="652272"/>
            <a:ext cx="905256" cy="188976"/>
          </a:xfrm>
          <a:prstGeom prst="rect">
            <a:avLst/>
          </a:prstGeom>
          <a:solidFill>
            <a:srgbClr val="0DB02B"/>
          </a:solidFill>
          <a:ln w="12700">
            <a:solidFill>
              <a:srgbClr val="0DB02B"/>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NIGER : NIAMEY ACCUSE LE TCHAD ET LA FRANCE APRÈS UNE FRAPPE DE DRONE MEURTRIÈRE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24heureinfo.com · AllAfrica (NE) · Maliactu · RFI Afrique · ANP — Agence Nigérienne Presse · Africanews — Chaine panafricaine · Africanews</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10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NIGER GOVERNOR’S CONVOY CRASH KILLS FOUR STUDENTS, DRIVER</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Premium Times</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6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TCHAD-NIGER : UNE NOUVELLE ESCALADE ENTRE MAHAMAT IDRISS DÉBY ET ABDOURAHAMANE TIANI</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Jeune Afrique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16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PAYS DÉNONCE UNE ATTAQUE DE DRONE DU TCHAD AVEC «L'APPUI DE LA FRANCE»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AllAfrica (NE) · RFI Afrique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9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LANCEMENT OFFICIEL DE LA CARAVANE DE SENSIBILISATION ET DE FORMATION SUR LES BONNES PRATIQUES DE GREFFES ET PARQUETS ET L’ÉTABLISSEMENT DES PIÈCES D’EXÉCUTION</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ANP — Agence Nigérienne Presse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20 h UTC</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III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Niger</a:t>
            </a:r>
            <a:endParaRPr lang="en-US" sz="2800" dirty="0"/>
          </a:p>
        </p:txBody>
      </p:sp>
      <p:sp>
        <p:nvSpPr>
          <p:cNvPr id="4" name="Shape 2"/>
          <p:cNvSpPr/>
          <p:nvPr/>
        </p:nvSpPr>
        <p:spPr>
          <a:xfrm>
            <a:off x="10881360" y="274320"/>
            <a:ext cx="905256" cy="188976"/>
          </a:xfrm>
          <a:prstGeom prst="rect">
            <a:avLst/>
          </a:prstGeom>
          <a:solidFill>
            <a:srgbClr val="E05206"/>
          </a:solidFill>
          <a:ln w="12700">
            <a:solidFill>
              <a:srgbClr val="E05206"/>
            </a:solidFill>
            <a:prstDash val="solid"/>
          </a:ln>
        </p:spPr>
      </p:sp>
      <p:sp>
        <p:nvSpPr>
          <p:cNvPr id="5" name="Shape 3"/>
          <p:cNvSpPr/>
          <p:nvPr/>
        </p:nvSpPr>
        <p:spPr>
          <a:xfrm>
            <a:off x="10881360" y="463296"/>
            <a:ext cx="905256" cy="188976"/>
          </a:xfrm>
          <a:prstGeom prst="rect">
            <a:avLst/>
          </a:prstGeom>
          <a:solidFill>
            <a:srgbClr val="FFFFFF"/>
          </a:solidFill>
          <a:ln w="12700">
            <a:solidFill>
              <a:srgbClr val="FFFFFF"/>
            </a:solidFill>
            <a:prstDash val="solid"/>
          </a:ln>
        </p:spPr>
      </p:sp>
      <p:sp>
        <p:nvSpPr>
          <p:cNvPr id="6" name="Shape 4"/>
          <p:cNvSpPr/>
          <p:nvPr/>
        </p:nvSpPr>
        <p:spPr>
          <a:xfrm>
            <a:off x="10881360" y="652272"/>
            <a:ext cx="905256" cy="188976"/>
          </a:xfrm>
          <a:prstGeom prst="rect">
            <a:avLst/>
          </a:prstGeom>
          <a:solidFill>
            <a:srgbClr val="0DB02B"/>
          </a:solidFill>
          <a:ln w="12700">
            <a:solidFill>
              <a:srgbClr val="0DB02B"/>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EN BREF: ATTAQUE, AGRICULTURE, SPORT …LES INFORMATIONS DE LA SEMAINE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Studio Kalangou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14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TILLABÉRI : LE GOUVERNEUR PRÉSIDE LA RÉUNION ORDINAIRE DU CONSEIL RÉGIONAL DE SÉCURITÉ (CRS)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ANP — Agence Nigérienne Presse · Le Sahel</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19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SÉCURITÉ NUCLÉAIRE : L’HANEA ORGANISE UN ATELIER DE RÉVISION DE SON PLAN INSSP</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Le Sahel</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9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4 ÉTUDIANTS ET UNE FEMME TUÉS DANS UN ACCIDENT DE LA ROUTE AVEC UN CONVOI DU GOUVERNEUR DU NIGER</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Vanguard</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19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Ghana</a:t>
            </a:r>
            <a:endParaRPr lang="en-US" sz="2800" dirty="0"/>
          </a:p>
        </p:txBody>
      </p:sp>
      <p:sp>
        <p:nvSpPr>
          <p:cNvPr id="4" name="Shape 2"/>
          <p:cNvSpPr/>
          <p:nvPr/>
        </p:nvSpPr>
        <p:spPr>
          <a:xfrm>
            <a:off x="10881360" y="274320"/>
            <a:ext cx="905256" cy="188976"/>
          </a:xfrm>
          <a:prstGeom prst="rect">
            <a:avLst/>
          </a:prstGeom>
          <a:solidFill>
            <a:srgbClr val="CE1126"/>
          </a:solidFill>
          <a:ln w="12700">
            <a:solidFill>
              <a:srgbClr val="CE1126"/>
            </a:solidFill>
            <a:prstDash val="solid"/>
          </a:ln>
        </p:spPr>
      </p:sp>
      <p:sp>
        <p:nvSpPr>
          <p:cNvPr id="5" name="Shape 3"/>
          <p:cNvSpPr/>
          <p:nvPr/>
        </p:nvSpPr>
        <p:spPr>
          <a:xfrm>
            <a:off x="10881360" y="463296"/>
            <a:ext cx="905256" cy="188976"/>
          </a:xfrm>
          <a:prstGeom prst="rect">
            <a:avLst/>
          </a:prstGeom>
          <a:solidFill>
            <a:srgbClr val="FCD116"/>
          </a:solidFill>
          <a:ln w="12700">
            <a:solidFill>
              <a:srgbClr val="FCD116"/>
            </a:solidFill>
            <a:prstDash val="solid"/>
          </a:ln>
        </p:spPr>
      </p:sp>
      <p:sp>
        <p:nvSpPr>
          <p:cNvPr id="6" name="Shape 4"/>
          <p:cNvSpPr/>
          <p:nvPr/>
        </p:nvSpPr>
        <p:spPr>
          <a:xfrm>
            <a:off x="10881360" y="652272"/>
            <a:ext cx="905256" cy="188976"/>
          </a:xfrm>
          <a:prstGeom prst="rect">
            <a:avLst/>
          </a:prstGeom>
          <a:solidFill>
            <a:srgbClr val="006B3F"/>
          </a:solidFill>
          <a:ln w="12700">
            <a:solidFill>
              <a:srgbClr val="006B3F"/>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moyenne (incident vérifié le plus récent : 122 jours ; 1 signal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Ghana : une jeune femme meurt après l’explosion d’un sex-toy</a:t>
            </a:r>
            <a:endParaRPr lang="en-US" sz="2200" dirty="0"/>
          </a:p>
        </p:txBody>
      </p:sp>
      <p:sp>
        <p:nvSpPr>
          <p:cNvPr id="11" name="Text 9"/>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mercredi 28 octobre 2026. Lieu : Accra, Ghana. Actualité politique. Une seule source à ce stade (Icilome)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Icilome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À Accra, au Ghana, une jeune femme de 23 ans serait décédée deux jours après l’explosion présumée d’un sex-toy électrique qu’elle utilisait. The post Ghana : une jeune femme meurt après l’explosion d’un sex-toy appeared first on Icilome.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Risque accidentel ou technique : rappeler les consignes de sécurité routière et incendie, vérifier l'exposition des sites et des prestataires.</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Icilome</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28 octobre 2026, 10 h UTC   ·   Cotation : Non confirmé</a:t>
            </a:r>
            <a:endParaRPr lang="en-US" sz="1400" dirty="0"/>
          </a:p>
        </p:txBody>
      </p:sp>
      <p:pic>
        <p:nvPicPr>
          <p:cNvPr id="12" name="Image 0" descr="preencoded.png">
            <a:hlinkClick r:id="rId3" tooltip=""/>
          </p:cNvPr>
          <p:cNvPicPr>
            <a:picLocks noChangeAspect="1"/>
          </p:cNvPicPr>
          <p:nvPr/>
        </p:nvPicPr>
        <p:blipFill>
          <a:blip r:embed="rId2"/>
          <a:stretch>
            <a:fillRect/>
          </a:stretch>
        </p:blipFill>
        <p:spPr>
          <a:xfrm>
            <a:off x="7635240" y="2075688"/>
            <a:ext cx="4114800" cy="2366010"/>
          </a:xfrm>
          <a:prstGeom prst="rect">
            <a:avLst/>
          </a:prstGeom>
        </p:spPr>
      </p:pic>
      <p:sp>
        <p:nvSpPr>
          <p:cNvPr id="13" name="Text 10"/>
          <p:cNvSpPr/>
          <p:nvPr/>
        </p:nvSpPr>
        <p:spPr>
          <a:xfrm>
            <a:off x="7635240" y="4478274"/>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Photo : © icilome.com</a:t>
            </a:r>
            <a:endParaRPr lang="en-US" sz="900" dirty="0"/>
          </a:p>
        </p:txBody>
      </p:sp>
      <p:sp>
        <p:nvSpPr>
          <p:cNvPr id="14" name="Text 11"/>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5" name="Text 12"/>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Ghana</a:t>
            </a:r>
            <a:endParaRPr lang="en-US" sz="2800" dirty="0"/>
          </a:p>
        </p:txBody>
      </p:sp>
      <p:sp>
        <p:nvSpPr>
          <p:cNvPr id="4" name="Shape 2"/>
          <p:cNvSpPr/>
          <p:nvPr/>
        </p:nvSpPr>
        <p:spPr>
          <a:xfrm>
            <a:off x="10881360" y="274320"/>
            <a:ext cx="905256" cy="188976"/>
          </a:xfrm>
          <a:prstGeom prst="rect">
            <a:avLst/>
          </a:prstGeom>
          <a:solidFill>
            <a:srgbClr val="CE1126"/>
          </a:solidFill>
          <a:ln w="12700">
            <a:solidFill>
              <a:srgbClr val="CE1126"/>
            </a:solidFill>
            <a:prstDash val="solid"/>
          </a:ln>
        </p:spPr>
      </p:sp>
      <p:sp>
        <p:nvSpPr>
          <p:cNvPr id="5" name="Shape 3"/>
          <p:cNvSpPr/>
          <p:nvPr/>
        </p:nvSpPr>
        <p:spPr>
          <a:xfrm>
            <a:off x="10881360" y="463296"/>
            <a:ext cx="905256" cy="188976"/>
          </a:xfrm>
          <a:prstGeom prst="rect">
            <a:avLst/>
          </a:prstGeom>
          <a:solidFill>
            <a:srgbClr val="FCD116"/>
          </a:solidFill>
          <a:ln w="12700">
            <a:solidFill>
              <a:srgbClr val="FCD116"/>
            </a:solidFill>
            <a:prstDash val="solid"/>
          </a:ln>
        </p:spPr>
      </p:sp>
      <p:sp>
        <p:nvSpPr>
          <p:cNvPr id="6" name="Shape 4"/>
          <p:cNvSpPr/>
          <p:nvPr/>
        </p:nvSpPr>
        <p:spPr>
          <a:xfrm>
            <a:off x="10881360" y="652272"/>
            <a:ext cx="905256" cy="188976"/>
          </a:xfrm>
          <a:prstGeom prst="rect">
            <a:avLst/>
          </a:prstGeom>
          <a:solidFill>
            <a:srgbClr val="006B3F"/>
          </a:solidFill>
          <a:ln w="12700">
            <a:solidFill>
              <a:srgbClr val="006B3F"/>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UNE FEMME TUÉE PAR LE TRAIN TEMA-AFIENYA ALORS QUE LES HABITANTS RÉCLAMENT UNE PASSERELLE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JoyOnline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SEPT MORTS PAR BALLE PAR DES HOMMES ARMÉS LORS DE FUNÉRAILLES DANS UNE ÉGLISE EN JORDANIE, SELON DES RESPONSABLES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JoyOnline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18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LA CIRCONSCRIPTION DU NPP WALEWALE CONDAMNE LES ATTAQUES PERSONNELLES CONTRE UN DÉPUTÉ ET APPELLE À LA DISCIPLINE DE PARTI</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JoyOnline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15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GAF ORGANISERA UNE DÉMONSTRATION DE PUISSANCE DE FEU DE COMBAT TERRESTRE À BUNDASE LE 30 OCTOBRE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JoyOnline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16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LES FORTES PLUIES, PRINCIPALE MENACE POUR LA CULTURE DU CACAO</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AllAfrica (GH)</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16 octobre 2026, 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Ghana</a:t>
            </a:r>
            <a:endParaRPr lang="en-US" sz="2800" dirty="0"/>
          </a:p>
        </p:txBody>
      </p:sp>
      <p:sp>
        <p:nvSpPr>
          <p:cNvPr id="4" name="Shape 2"/>
          <p:cNvSpPr/>
          <p:nvPr/>
        </p:nvSpPr>
        <p:spPr>
          <a:xfrm>
            <a:off x="10881360" y="274320"/>
            <a:ext cx="905256" cy="188976"/>
          </a:xfrm>
          <a:prstGeom prst="rect">
            <a:avLst/>
          </a:prstGeom>
          <a:solidFill>
            <a:srgbClr val="CE1126"/>
          </a:solidFill>
          <a:ln w="12700">
            <a:solidFill>
              <a:srgbClr val="CE1126"/>
            </a:solidFill>
            <a:prstDash val="solid"/>
          </a:ln>
        </p:spPr>
      </p:sp>
      <p:sp>
        <p:nvSpPr>
          <p:cNvPr id="5" name="Shape 3"/>
          <p:cNvSpPr/>
          <p:nvPr/>
        </p:nvSpPr>
        <p:spPr>
          <a:xfrm>
            <a:off x="10881360" y="463296"/>
            <a:ext cx="905256" cy="188976"/>
          </a:xfrm>
          <a:prstGeom prst="rect">
            <a:avLst/>
          </a:prstGeom>
          <a:solidFill>
            <a:srgbClr val="FCD116"/>
          </a:solidFill>
          <a:ln w="12700">
            <a:solidFill>
              <a:srgbClr val="FCD116"/>
            </a:solidFill>
            <a:prstDash val="solid"/>
          </a:ln>
        </p:spPr>
      </p:sp>
      <p:sp>
        <p:nvSpPr>
          <p:cNvPr id="6" name="Shape 4"/>
          <p:cNvSpPr/>
          <p:nvPr/>
        </p:nvSpPr>
        <p:spPr>
          <a:xfrm>
            <a:off x="10881360" y="652272"/>
            <a:ext cx="905256" cy="188976"/>
          </a:xfrm>
          <a:prstGeom prst="rect">
            <a:avLst/>
          </a:prstGeom>
          <a:solidFill>
            <a:srgbClr val="006B3F"/>
          </a:solidFill>
          <a:ln w="12700">
            <a:solidFill>
              <a:srgbClr val="006B3F"/>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DÉTAILS DE MILLIERS D'AGENTS D'IMMIGRATION AMÉRICAINS DIVULGUÉS LORS D'UN PIRATAGE MAJEUR</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JoyOnline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23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NPP DONNERA LA PRIORITÉ À L’ÉDUCATION PLUTÔT QU’AUX INCITATIONS MATÉRIELLES DANS LES COMMUNAUTÉS ZONGO – COORDONNATEUR NASARA</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JoyOnline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16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LES POMPIERS INTERVIENNENT APRÈS UN INCIDENT IMPLIQUANT UN VÉHICULE IMPLIQUANT DU PEROXYDE D'HYDROGÈNE À GORIYIRI</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Ghanaian Times</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16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LA COMMISSION FORESTIÈRE PRÉVOIT DES CAMPS ARMÉS POUR PROTÉGER LA RÉSERVE FORESTIÈRE DE SUBRI DE GALAMSEY</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JoyOnline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10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Togo</a:t>
            </a:r>
            <a:endParaRPr lang="en-US" sz="2800" dirty="0"/>
          </a:p>
        </p:txBody>
      </p:sp>
      <p:sp>
        <p:nvSpPr>
          <p:cNvPr id="4" name="Shape 2"/>
          <p:cNvSpPr/>
          <p:nvPr/>
        </p:nvSpPr>
        <p:spPr>
          <a:xfrm>
            <a:off x="10881360" y="274320"/>
            <a:ext cx="905256" cy="113386"/>
          </a:xfrm>
          <a:prstGeom prst="rect">
            <a:avLst/>
          </a:prstGeom>
          <a:solidFill>
            <a:srgbClr val="006A4E"/>
          </a:solidFill>
          <a:ln w="12700">
            <a:solidFill>
              <a:srgbClr val="006A4E"/>
            </a:solidFill>
            <a:prstDash val="solid"/>
          </a:ln>
        </p:spPr>
      </p:sp>
      <p:sp>
        <p:nvSpPr>
          <p:cNvPr id="5" name="Shape 3"/>
          <p:cNvSpPr/>
          <p:nvPr/>
        </p:nvSpPr>
        <p:spPr>
          <a:xfrm>
            <a:off x="10881360" y="387706"/>
            <a:ext cx="905256" cy="113386"/>
          </a:xfrm>
          <a:prstGeom prst="rect">
            <a:avLst/>
          </a:prstGeom>
          <a:solidFill>
            <a:srgbClr val="FFCE00"/>
          </a:solidFill>
          <a:ln w="12700">
            <a:solidFill>
              <a:srgbClr val="FFCE00"/>
            </a:solidFill>
            <a:prstDash val="solid"/>
          </a:ln>
        </p:spPr>
      </p:sp>
      <p:sp>
        <p:nvSpPr>
          <p:cNvPr id="6" name="Shape 4"/>
          <p:cNvSpPr/>
          <p:nvPr/>
        </p:nvSpPr>
        <p:spPr>
          <a:xfrm>
            <a:off x="10881360" y="501091"/>
            <a:ext cx="905256" cy="113386"/>
          </a:xfrm>
          <a:prstGeom prst="rect">
            <a:avLst/>
          </a:prstGeom>
          <a:solidFill>
            <a:srgbClr val="006A4E"/>
          </a:solidFill>
          <a:ln w="12700">
            <a:solidFill>
              <a:srgbClr val="006A4E"/>
            </a:solidFill>
            <a:prstDash val="solid"/>
          </a:ln>
        </p:spPr>
      </p:sp>
      <p:sp>
        <p:nvSpPr>
          <p:cNvPr id="7" name="Shape 5"/>
          <p:cNvSpPr/>
          <p:nvPr/>
        </p:nvSpPr>
        <p:spPr>
          <a:xfrm>
            <a:off x="10881360" y="614477"/>
            <a:ext cx="905256" cy="113386"/>
          </a:xfrm>
          <a:prstGeom prst="rect">
            <a:avLst/>
          </a:prstGeom>
          <a:solidFill>
            <a:srgbClr val="FFCE00"/>
          </a:solidFill>
          <a:ln w="12700">
            <a:solidFill>
              <a:srgbClr val="FFCE00"/>
            </a:solidFill>
            <a:prstDash val="solid"/>
          </a:ln>
        </p:spPr>
      </p:sp>
      <p:sp>
        <p:nvSpPr>
          <p:cNvPr id="8" name="Shape 6"/>
          <p:cNvSpPr/>
          <p:nvPr/>
        </p:nvSpPr>
        <p:spPr>
          <a:xfrm>
            <a:off x="10881360" y="727862"/>
            <a:ext cx="905256" cy="113386"/>
          </a:xfrm>
          <a:prstGeom prst="rect">
            <a:avLst/>
          </a:prstGeom>
          <a:solidFill>
            <a:srgbClr val="006A4E"/>
          </a:solidFill>
          <a:ln w="12700">
            <a:solidFill>
              <a:srgbClr val="006A4E"/>
            </a:solidFill>
            <a:prstDash val="solid"/>
          </a:ln>
        </p:spPr>
      </p:sp>
      <p:sp>
        <p:nvSpPr>
          <p:cNvPr id="9" name="Shape 7"/>
          <p:cNvSpPr/>
          <p:nvPr/>
        </p:nvSpPr>
        <p:spPr>
          <a:xfrm>
            <a:off x="10881360" y="274320"/>
            <a:ext cx="905256" cy="566928"/>
          </a:xfrm>
          <a:prstGeom prst="rect">
            <a:avLst/>
          </a:prstGeom>
          <a:ln w="6350">
            <a:solidFill>
              <a:srgbClr val="1F2937"/>
            </a:solidFill>
            <a:prstDash val="solid"/>
          </a:ln>
        </p:spPr>
      </p:sp>
      <p:sp>
        <p:nvSpPr>
          <p:cNvPr id="10" name="Shape 8"/>
          <p:cNvSpPr/>
          <p:nvPr/>
        </p:nvSpPr>
        <p:spPr>
          <a:xfrm>
            <a:off x="457200" y="960120"/>
            <a:ext cx="11292840" cy="0"/>
          </a:xfrm>
          <a:prstGeom prst="line">
            <a:avLst/>
          </a:prstGeom>
          <a:noFill/>
          <a:ln w="6350">
            <a:solidFill>
              <a:srgbClr val="A3A3A3"/>
            </a:solidFill>
            <a:prstDash val="solid"/>
          </a:ln>
        </p:spPr>
      </p:sp>
      <p:sp>
        <p:nvSpPr>
          <p:cNvPr id="11" name="Text 9"/>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faible (incident vérifié le plus récent : 123 jours ; aucun signal du jour)</a:t>
            </a:r>
            <a:endParaRPr lang="en-US" sz="1100" dirty="0"/>
          </a:p>
        </p:txBody>
      </p:sp>
      <p:sp>
        <p:nvSpPr>
          <p:cNvPr id="12" name="Text 10"/>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63 ans après sa mort, le premier président du Togo n’a toujours pas de tombe dans son pays</a:t>
            </a:r>
            <a:endParaRPr lang="en-US" sz="2200" dirty="0"/>
          </a:p>
        </p:txBody>
      </p:sp>
      <p:sp>
        <p:nvSpPr>
          <p:cNvPr id="13" name="Text 11"/>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jeudi 1er octobre 2026. Lieu : Togo. Actualité politique. Une seule source à ce stade (Togoweb)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Togoweb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Il n’existe, à ce jour, ni statue, ni mausolée, ni musée officiel dédié à Sylvanus Olympio dans le pays qu’il a mené à l’indépendance. Le premier président togolais repose toujours à Agoué, au Bénin, faute d’avoir été rapatrié malgré une promesse présidentielle vieille de quinze ans.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Climat politique à suivre : tensions possibles autour des échéances et des décisions institutionnelles. Adapter la veille et les déplacements aux dates sensibles.</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Togoweb</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1 octobre 2026, 9 h UTC   ·   Cotation : Non confirmé</a:t>
            </a:r>
            <a:endParaRPr lang="en-US" sz="1400" dirty="0"/>
          </a:p>
        </p:txBody>
      </p:sp>
      <p:pic>
        <p:nvPicPr>
          <p:cNvPr id="14" name="Image 0" descr="preencoded.png">
            <a:hlinkClick r:id="rId3" tooltip=""/>
          </p:cNvPr>
          <p:cNvPicPr>
            <a:picLocks noChangeAspect="1"/>
          </p:cNvPicPr>
          <p:nvPr/>
        </p:nvPicPr>
        <p:blipFill>
          <a:blip r:embed="rId2"/>
          <a:stretch>
            <a:fillRect/>
          </a:stretch>
        </p:blipFill>
        <p:spPr>
          <a:xfrm>
            <a:off x="7635240" y="2075688"/>
            <a:ext cx="4114800" cy="2525358"/>
          </a:xfrm>
          <a:prstGeom prst="rect">
            <a:avLst/>
          </a:prstGeom>
        </p:spPr>
      </p:pic>
      <p:sp>
        <p:nvSpPr>
          <p:cNvPr id="15" name="Text 12"/>
          <p:cNvSpPr/>
          <p:nvPr/>
        </p:nvSpPr>
        <p:spPr>
          <a:xfrm>
            <a:off x="7635240" y="4637622"/>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Photo : © togoweb.net</a:t>
            </a:r>
            <a:endParaRPr lang="en-US" sz="900" dirty="0"/>
          </a:p>
        </p:txBody>
      </p:sp>
      <p:sp>
        <p:nvSpPr>
          <p:cNvPr id="16" name="Text 13"/>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7" name="Text 14"/>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27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Togo</a:t>
            </a:r>
            <a:endParaRPr lang="en-US" sz="2800" dirty="0"/>
          </a:p>
        </p:txBody>
      </p:sp>
      <p:sp>
        <p:nvSpPr>
          <p:cNvPr id="4" name="Shape 2"/>
          <p:cNvSpPr/>
          <p:nvPr/>
        </p:nvSpPr>
        <p:spPr>
          <a:xfrm>
            <a:off x="10881360" y="274320"/>
            <a:ext cx="905256" cy="113386"/>
          </a:xfrm>
          <a:prstGeom prst="rect">
            <a:avLst/>
          </a:prstGeom>
          <a:solidFill>
            <a:srgbClr val="006A4E"/>
          </a:solidFill>
          <a:ln w="12700">
            <a:solidFill>
              <a:srgbClr val="006A4E"/>
            </a:solidFill>
            <a:prstDash val="solid"/>
          </a:ln>
        </p:spPr>
      </p:sp>
      <p:sp>
        <p:nvSpPr>
          <p:cNvPr id="5" name="Shape 3"/>
          <p:cNvSpPr/>
          <p:nvPr/>
        </p:nvSpPr>
        <p:spPr>
          <a:xfrm>
            <a:off x="10881360" y="387706"/>
            <a:ext cx="905256" cy="113386"/>
          </a:xfrm>
          <a:prstGeom prst="rect">
            <a:avLst/>
          </a:prstGeom>
          <a:solidFill>
            <a:srgbClr val="FFCE00"/>
          </a:solidFill>
          <a:ln w="12700">
            <a:solidFill>
              <a:srgbClr val="FFCE00"/>
            </a:solidFill>
            <a:prstDash val="solid"/>
          </a:ln>
        </p:spPr>
      </p:sp>
      <p:sp>
        <p:nvSpPr>
          <p:cNvPr id="6" name="Shape 4"/>
          <p:cNvSpPr/>
          <p:nvPr/>
        </p:nvSpPr>
        <p:spPr>
          <a:xfrm>
            <a:off x="10881360" y="501091"/>
            <a:ext cx="905256" cy="113386"/>
          </a:xfrm>
          <a:prstGeom prst="rect">
            <a:avLst/>
          </a:prstGeom>
          <a:solidFill>
            <a:srgbClr val="006A4E"/>
          </a:solidFill>
          <a:ln w="12700">
            <a:solidFill>
              <a:srgbClr val="006A4E"/>
            </a:solidFill>
            <a:prstDash val="solid"/>
          </a:ln>
        </p:spPr>
      </p:sp>
      <p:sp>
        <p:nvSpPr>
          <p:cNvPr id="7" name="Shape 5"/>
          <p:cNvSpPr/>
          <p:nvPr/>
        </p:nvSpPr>
        <p:spPr>
          <a:xfrm>
            <a:off x="10881360" y="614477"/>
            <a:ext cx="905256" cy="113386"/>
          </a:xfrm>
          <a:prstGeom prst="rect">
            <a:avLst/>
          </a:prstGeom>
          <a:solidFill>
            <a:srgbClr val="FFCE00"/>
          </a:solidFill>
          <a:ln w="12700">
            <a:solidFill>
              <a:srgbClr val="FFCE00"/>
            </a:solidFill>
            <a:prstDash val="solid"/>
          </a:ln>
        </p:spPr>
      </p:sp>
      <p:sp>
        <p:nvSpPr>
          <p:cNvPr id="8" name="Shape 6"/>
          <p:cNvSpPr/>
          <p:nvPr/>
        </p:nvSpPr>
        <p:spPr>
          <a:xfrm>
            <a:off x="10881360" y="727862"/>
            <a:ext cx="905256" cy="113386"/>
          </a:xfrm>
          <a:prstGeom prst="rect">
            <a:avLst/>
          </a:prstGeom>
          <a:solidFill>
            <a:srgbClr val="006A4E"/>
          </a:solidFill>
          <a:ln w="12700">
            <a:solidFill>
              <a:srgbClr val="006A4E"/>
            </a:solidFill>
            <a:prstDash val="solid"/>
          </a:ln>
        </p:spPr>
      </p:sp>
      <p:sp>
        <p:nvSpPr>
          <p:cNvPr id="9" name="Shape 7"/>
          <p:cNvSpPr/>
          <p:nvPr/>
        </p:nvSpPr>
        <p:spPr>
          <a:xfrm>
            <a:off x="10881360" y="274320"/>
            <a:ext cx="905256" cy="566928"/>
          </a:xfrm>
          <a:prstGeom prst="rect">
            <a:avLst/>
          </a:prstGeom>
          <a:ln w="6350">
            <a:solidFill>
              <a:srgbClr val="1F2937"/>
            </a:solidFill>
            <a:prstDash val="solid"/>
          </a:ln>
        </p:spPr>
      </p:sp>
      <p:sp>
        <p:nvSpPr>
          <p:cNvPr id="10" name="Shape 8"/>
          <p:cNvSpPr/>
          <p:nvPr/>
        </p:nvSpPr>
        <p:spPr>
          <a:xfrm>
            <a:off x="457200" y="960120"/>
            <a:ext cx="11292840" cy="0"/>
          </a:xfrm>
          <a:prstGeom prst="line">
            <a:avLst/>
          </a:prstGeom>
          <a:noFill/>
          <a:ln w="6350">
            <a:solidFill>
              <a:srgbClr val="A3A3A3"/>
            </a:solidFill>
            <a:prstDash val="solid"/>
          </a:ln>
        </p:spPr>
      </p:sp>
      <p:sp>
        <p:nvSpPr>
          <p:cNvPr id="11" name="Text 9"/>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WHATSAPP : LA FAUSSE ALERTE AU VOTE POUR PIRATER VOTRE COMPTE FAIT SON RETOUR</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Le Nouveau Reporter</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10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TOGO-RUSSIE : DES ACCORDS DE PARTENARIAT ET MÉMORANDUM D’ENTENTE SIGNÉS EN PRÉSENCE DU PRÉSIDENT DU CONSEIL</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ATOP — Agence Togolaise Presse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15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SES SEMENCES AMÉLIORÉES POUR LES MARAÎCHERS DU NORD</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AllAfrica (TG)</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13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SOMMET RUSSIE-AFRIQUE : LE TOGO ÉLARGIT SON PARTENARIAT AVEC MOSCOU, DE L’ÉDUCATION AUX DROITS DE L’HOMME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Icilome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12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EUFYCAM S4 CONTRE REOLINK DUO 3 POE CONTRE SOLOCAM S340 : LEQUEL DEVRIEZ-VOUS ACHETER ?</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24heureinfo.com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11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p:txBody>
      </p:sp>
      <p:sp>
        <p:nvSpPr>
          <p:cNvPr id="12" name="Text 10"/>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3"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V</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Togo</a:t>
            </a:r>
            <a:endParaRPr lang="en-US" sz="2800" dirty="0"/>
          </a:p>
        </p:txBody>
      </p:sp>
      <p:sp>
        <p:nvSpPr>
          <p:cNvPr id="4" name="Shape 2"/>
          <p:cNvSpPr/>
          <p:nvPr/>
        </p:nvSpPr>
        <p:spPr>
          <a:xfrm>
            <a:off x="10881360" y="274320"/>
            <a:ext cx="905256" cy="113386"/>
          </a:xfrm>
          <a:prstGeom prst="rect">
            <a:avLst/>
          </a:prstGeom>
          <a:solidFill>
            <a:srgbClr val="006A4E"/>
          </a:solidFill>
          <a:ln w="12700">
            <a:solidFill>
              <a:srgbClr val="006A4E"/>
            </a:solidFill>
            <a:prstDash val="solid"/>
          </a:ln>
        </p:spPr>
      </p:sp>
      <p:sp>
        <p:nvSpPr>
          <p:cNvPr id="5" name="Shape 3"/>
          <p:cNvSpPr/>
          <p:nvPr/>
        </p:nvSpPr>
        <p:spPr>
          <a:xfrm>
            <a:off x="10881360" y="387706"/>
            <a:ext cx="905256" cy="113386"/>
          </a:xfrm>
          <a:prstGeom prst="rect">
            <a:avLst/>
          </a:prstGeom>
          <a:solidFill>
            <a:srgbClr val="FFCE00"/>
          </a:solidFill>
          <a:ln w="12700">
            <a:solidFill>
              <a:srgbClr val="FFCE00"/>
            </a:solidFill>
            <a:prstDash val="solid"/>
          </a:ln>
        </p:spPr>
      </p:sp>
      <p:sp>
        <p:nvSpPr>
          <p:cNvPr id="6" name="Shape 4"/>
          <p:cNvSpPr/>
          <p:nvPr/>
        </p:nvSpPr>
        <p:spPr>
          <a:xfrm>
            <a:off x="10881360" y="501091"/>
            <a:ext cx="905256" cy="113386"/>
          </a:xfrm>
          <a:prstGeom prst="rect">
            <a:avLst/>
          </a:prstGeom>
          <a:solidFill>
            <a:srgbClr val="006A4E"/>
          </a:solidFill>
          <a:ln w="12700">
            <a:solidFill>
              <a:srgbClr val="006A4E"/>
            </a:solidFill>
            <a:prstDash val="solid"/>
          </a:ln>
        </p:spPr>
      </p:sp>
      <p:sp>
        <p:nvSpPr>
          <p:cNvPr id="7" name="Shape 5"/>
          <p:cNvSpPr/>
          <p:nvPr/>
        </p:nvSpPr>
        <p:spPr>
          <a:xfrm>
            <a:off x="10881360" y="614477"/>
            <a:ext cx="905256" cy="113386"/>
          </a:xfrm>
          <a:prstGeom prst="rect">
            <a:avLst/>
          </a:prstGeom>
          <a:solidFill>
            <a:srgbClr val="FFCE00"/>
          </a:solidFill>
          <a:ln w="12700">
            <a:solidFill>
              <a:srgbClr val="FFCE00"/>
            </a:solidFill>
            <a:prstDash val="solid"/>
          </a:ln>
        </p:spPr>
      </p:sp>
      <p:sp>
        <p:nvSpPr>
          <p:cNvPr id="8" name="Shape 6"/>
          <p:cNvSpPr/>
          <p:nvPr/>
        </p:nvSpPr>
        <p:spPr>
          <a:xfrm>
            <a:off x="10881360" y="727862"/>
            <a:ext cx="905256" cy="113386"/>
          </a:xfrm>
          <a:prstGeom prst="rect">
            <a:avLst/>
          </a:prstGeom>
          <a:solidFill>
            <a:srgbClr val="006A4E"/>
          </a:solidFill>
          <a:ln w="12700">
            <a:solidFill>
              <a:srgbClr val="006A4E"/>
            </a:solidFill>
            <a:prstDash val="solid"/>
          </a:ln>
        </p:spPr>
      </p:sp>
      <p:sp>
        <p:nvSpPr>
          <p:cNvPr id="9" name="Shape 7"/>
          <p:cNvSpPr/>
          <p:nvPr/>
        </p:nvSpPr>
        <p:spPr>
          <a:xfrm>
            <a:off x="10881360" y="274320"/>
            <a:ext cx="905256" cy="566928"/>
          </a:xfrm>
          <a:prstGeom prst="rect">
            <a:avLst/>
          </a:prstGeom>
          <a:ln w="6350">
            <a:solidFill>
              <a:srgbClr val="1F2937"/>
            </a:solidFill>
            <a:prstDash val="solid"/>
          </a:ln>
        </p:spPr>
      </p:sp>
      <p:sp>
        <p:nvSpPr>
          <p:cNvPr id="10" name="Shape 8"/>
          <p:cNvSpPr/>
          <p:nvPr/>
        </p:nvSpPr>
        <p:spPr>
          <a:xfrm>
            <a:off x="457200" y="960120"/>
            <a:ext cx="11292840" cy="0"/>
          </a:xfrm>
          <a:prstGeom prst="line">
            <a:avLst/>
          </a:prstGeom>
          <a:noFill/>
          <a:ln w="6350">
            <a:solidFill>
              <a:srgbClr val="A3A3A3"/>
            </a:solidFill>
            <a:prstDash val="solid"/>
          </a:ln>
        </p:spPr>
      </p:sp>
      <p:sp>
        <p:nvSpPr>
          <p:cNvPr id="11" name="Text 9"/>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TOGO : UNE TRAQUE SANS TRAQUEUR !</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Icilome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9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GÉNIE IMHOTEP SAISON 3 : LE LYCÉE ZÉBÉVI STOPPE LE LYCÉE TOKOIN2 DANS SON ÉLAN</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Le Nouveau Reporter</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8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TOGO : LA SÉCURITÉ RENFORCÉE SUR LE LITTORAL DE LOMÉ APRÈS LE DÉMANTÈLEMENT DES INSTALLATIONS ILLÉGALES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24heureinfo.com · Togo Actualite · Icilome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SOUTENU PAR L’UNION AFRICAINE, LE TOGOLAIS GILBERT HOUNGBO RÉUSSIRA-T-IL À CONSERVER LA TÊTE DE L’OIT ?</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Jeune Afrique</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27 octobre 2026, 13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p:txBody>
      </p:sp>
      <p:sp>
        <p:nvSpPr>
          <p:cNvPr id="12" name="Text 10"/>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3"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29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VI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Bénin</a:t>
            </a:r>
            <a:endParaRPr lang="en-US" sz="2800" dirty="0"/>
          </a:p>
        </p:txBody>
      </p:sp>
      <p:sp>
        <p:nvSpPr>
          <p:cNvPr id="4" name="Shape 2"/>
          <p:cNvSpPr/>
          <p:nvPr/>
        </p:nvSpPr>
        <p:spPr>
          <a:xfrm>
            <a:off x="10881360" y="274320"/>
            <a:ext cx="362102" cy="566928"/>
          </a:xfrm>
          <a:prstGeom prst="rect">
            <a:avLst/>
          </a:prstGeom>
          <a:solidFill>
            <a:srgbClr val="008751"/>
          </a:solidFill>
          <a:ln w="12700">
            <a:solidFill>
              <a:srgbClr val="008751"/>
            </a:solidFill>
            <a:prstDash val="solid"/>
          </a:ln>
        </p:spPr>
      </p:sp>
      <p:sp>
        <p:nvSpPr>
          <p:cNvPr id="5" name="Shape 3"/>
          <p:cNvSpPr/>
          <p:nvPr/>
        </p:nvSpPr>
        <p:spPr>
          <a:xfrm>
            <a:off x="11243462" y="274320"/>
            <a:ext cx="543154" cy="283464"/>
          </a:xfrm>
          <a:prstGeom prst="rect">
            <a:avLst/>
          </a:prstGeom>
          <a:solidFill>
            <a:srgbClr val="FCD116"/>
          </a:solidFill>
          <a:ln w="12700">
            <a:solidFill>
              <a:srgbClr val="FCD116"/>
            </a:solidFill>
            <a:prstDash val="solid"/>
          </a:ln>
        </p:spPr>
      </p:sp>
      <p:sp>
        <p:nvSpPr>
          <p:cNvPr id="6" name="Shape 4"/>
          <p:cNvSpPr/>
          <p:nvPr/>
        </p:nvSpPr>
        <p:spPr>
          <a:xfrm>
            <a:off x="11243462" y="557784"/>
            <a:ext cx="543154" cy="283464"/>
          </a:xfrm>
          <a:prstGeom prst="rect">
            <a:avLst/>
          </a:prstGeom>
          <a:solidFill>
            <a:srgbClr val="E8112D"/>
          </a:solidFill>
          <a:ln w="12700">
            <a:solidFill>
              <a:srgbClr val="E8112D"/>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moyenne (incident vérifié le plus récent : 122 jours ; 1 signal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Sécurité au Bénin : le MSEC dresse son bilan et trace son cap pour les trois prochaines années</a:t>
            </a:r>
            <a:endParaRPr lang="en-US" sz="2200" dirty="0"/>
          </a:p>
        </p:txBody>
      </p:sp>
      <p:sp>
        <p:nvSpPr>
          <p:cNvPr id="11" name="Text 9"/>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mercredi 28 octobre 2026. Lieu : Bénin. Actualité sécuritaire. Une seule source à ce stade (Alwihda Info (Tchad))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Alwihda Info (Tchad)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Le Bénin et ses partenaires ont lancé l'atelier stratégique du Mécanisme de stabilité des États côtiers pour évaluer trois ans d'actions contre l'extrémisme violent et préparer le prochain triennat.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sécuritaire à suivre : vérifier son incidence sur les sites, les itinéraires et les personnels présents dans la zone.</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Alwihda Info (Tchad)</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28 octobre 2026, 16 h UTC   ·   Cotation : Probable</a:t>
            </a:r>
            <a:endParaRPr lang="en-US" sz="1400" dirty="0"/>
          </a:p>
        </p:txBody>
      </p:sp>
      <p:pic>
        <p:nvPicPr>
          <p:cNvPr id="12" name="Image 0" descr="preencoded.png">
            <a:hlinkClick r:id="rId3" tooltip=""/>
          </p:cNvPr>
          <p:cNvPicPr>
            <a:picLocks noChangeAspect="1"/>
          </p:cNvPicPr>
          <p:nvPr/>
        </p:nvPicPr>
        <p:blipFill>
          <a:blip r:embed="rId2"/>
          <a:stretch>
            <a:fillRect/>
          </a:stretch>
        </p:blipFill>
        <p:spPr>
          <a:xfrm>
            <a:off x="7635240" y="2075688"/>
            <a:ext cx="4114800" cy="2753126"/>
          </a:xfrm>
          <a:prstGeom prst="rect">
            <a:avLst/>
          </a:prstGeom>
        </p:spPr>
      </p:pic>
      <p:sp>
        <p:nvSpPr>
          <p:cNvPr id="13" name="Text 10"/>
          <p:cNvSpPr/>
          <p:nvPr/>
        </p:nvSpPr>
        <p:spPr>
          <a:xfrm>
            <a:off x="7635240" y="4865390"/>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Photo : © alwihdainfo.com</a:t>
            </a:r>
            <a:endParaRPr lang="en-US" sz="900" dirty="0"/>
          </a:p>
        </p:txBody>
      </p:sp>
      <p:sp>
        <p:nvSpPr>
          <p:cNvPr id="14" name="Text 11"/>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5" name="Text 12"/>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30</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VI</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Bénin</a:t>
            </a:r>
            <a:endParaRPr lang="en-US" sz="2800" dirty="0"/>
          </a:p>
        </p:txBody>
      </p:sp>
      <p:sp>
        <p:nvSpPr>
          <p:cNvPr id="4" name="Shape 2"/>
          <p:cNvSpPr/>
          <p:nvPr/>
        </p:nvSpPr>
        <p:spPr>
          <a:xfrm>
            <a:off x="10881360" y="274320"/>
            <a:ext cx="362102" cy="566928"/>
          </a:xfrm>
          <a:prstGeom prst="rect">
            <a:avLst/>
          </a:prstGeom>
          <a:solidFill>
            <a:srgbClr val="008751"/>
          </a:solidFill>
          <a:ln w="12700">
            <a:solidFill>
              <a:srgbClr val="008751"/>
            </a:solidFill>
            <a:prstDash val="solid"/>
          </a:ln>
        </p:spPr>
      </p:sp>
      <p:sp>
        <p:nvSpPr>
          <p:cNvPr id="5" name="Shape 3"/>
          <p:cNvSpPr/>
          <p:nvPr/>
        </p:nvSpPr>
        <p:spPr>
          <a:xfrm>
            <a:off x="11243462" y="274320"/>
            <a:ext cx="543154" cy="283464"/>
          </a:xfrm>
          <a:prstGeom prst="rect">
            <a:avLst/>
          </a:prstGeom>
          <a:solidFill>
            <a:srgbClr val="FCD116"/>
          </a:solidFill>
          <a:ln w="12700">
            <a:solidFill>
              <a:srgbClr val="FCD116"/>
            </a:solidFill>
            <a:prstDash val="solid"/>
          </a:ln>
        </p:spPr>
      </p:sp>
      <p:sp>
        <p:nvSpPr>
          <p:cNvPr id="6" name="Shape 4"/>
          <p:cNvSpPr/>
          <p:nvPr/>
        </p:nvSpPr>
        <p:spPr>
          <a:xfrm>
            <a:off x="11243462" y="557784"/>
            <a:ext cx="543154" cy="283464"/>
          </a:xfrm>
          <a:prstGeom prst="rect">
            <a:avLst/>
          </a:prstGeom>
          <a:solidFill>
            <a:srgbClr val="E8112D"/>
          </a:solidFill>
          <a:ln w="12700">
            <a:solidFill>
              <a:srgbClr val="E8112D"/>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NUEE MENACE DE FERMER TOUT LE PAYS ET EXIGE LE RETRAIT DES SOLDATS DU SIÈGE DE LA BEDC</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Sun Nigeria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7 h UTC</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31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VII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Guinée</a:t>
            </a:r>
            <a:endParaRPr lang="en-US" sz="2800" dirty="0"/>
          </a:p>
        </p:txBody>
      </p:sp>
      <p:sp>
        <p:nvSpPr>
          <p:cNvPr id="4" name="Shape 2"/>
          <p:cNvSpPr/>
          <p:nvPr/>
        </p:nvSpPr>
        <p:spPr>
          <a:xfrm>
            <a:off x="10881360" y="274320"/>
            <a:ext cx="301752" cy="566928"/>
          </a:xfrm>
          <a:prstGeom prst="rect">
            <a:avLst/>
          </a:prstGeom>
          <a:solidFill>
            <a:srgbClr val="CE1126"/>
          </a:solidFill>
          <a:ln w="12700">
            <a:solidFill>
              <a:srgbClr val="CE1126"/>
            </a:solidFill>
            <a:prstDash val="solid"/>
          </a:ln>
        </p:spPr>
      </p:sp>
      <p:sp>
        <p:nvSpPr>
          <p:cNvPr id="5" name="Shape 3"/>
          <p:cNvSpPr/>
          <p:nvPr/>
        </p:nvSpPr>
        <p:spPr>
          <a:xfrm>
            <a:off x="11183112" y="274320"/>
            <a:ext cx="301752" cy="566928"/>
          </a:xfrm>
          <a:prstGeom prst="rect">
            <a:avLst/>
          </a:prstGeom>
          <a:solidFill>
            <a:srgbClr val="FCD116"/>
          </a:solidFill>
          <a:ln w="12700">
            <a:solidFill>
              <a:srgbClr val="FCD116"/>
            </a:solidFill>
            <a:prstDash val="solid"/>
          </a:ln>
        </p:spPr>
      </p:sp>
      <p:sp>
        <p:nvSpPr>
          <p:cNvPr id="6" name="Shape 4"/>
          <p:cNvSpPr/>
          <p:nvPr/>
        </p:nvSpPr>
        <p:spPr>
          <a:xfrm>
            <a:off x="11484864" y="274320"/>
            <a:ext cx="301752" cy="566928"/>
          </a:xfrm>
          <a:prstGeom prst="rect">
            <a:avLst/>
          </a:prstGeom>
          <a:solidFill>
            <a:srgbClr val="009460"/>
          </a:solidFill>
          <a:ln w="12700">
            <a:solidFill>
              <a:srgbClr val="0094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faible (incident vérifié le plus récent : 120 jours ; aucun signal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Semaine du Soldat 2026 : les forces de sécurité à l’assaut des déchets à Madina</a:t>
            </a:r>
            <a:endParaRPr lang="en-US" sz="2200" dirty="0"/>
          </a:p>
        </p:txBody>
      </p:sp>
      <p:sp>
        <p:nvSpPr>
          <p:cNvPr id="11" name="Text 9"/>
          <p:cNvSpPr/>
          <p:nvPr/>
        </p:nvSpPr>
        <p:spPr>
          <a:xfrm>
            <a:off x="640080" y="2029968"/>
            <a:ext cx="681228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mercredi 28 octobre 2026. Lieu : Conakry, Guinée. Actualité sécuritaire. Une seule source à ce stade (Guinee7.com)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Guinee7.com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Conakry – Les Forces de défense et de sécurité ont mené, mardi 27 octobre 2026, une opération de nettoyage et de curage des caniveaux au marché Madina, à Conakry, dans le cadre de la Semaine du Soldat 2026. L’intervention a concerné les abords du marché Avaria jusqu’au grand pont de Madina. Des camions et des […]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Perturbations possibles de l'activité et de la circulation : éviter les rassemblements, prévoir des horaires décalés ou le travail à distance, informer les personnels.</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Guinee7.com</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28 octobre 2026, 19 h UTC   ·   Cotation : Non confirmé</a:t>
            </a:r>
            <a:endParaRPr lang="en-US" sz="1400" dirty="0"/>
          </a:p>
        </p:txBody>
      </p:sp>
      <p:pic>
        <p:nvPicPr>
          <p:cNvPr id="12" name="Image 0" descr="preencoded.png">
            <a:hlinkClick r:id="rId3" tooltip=""/>
          </p:cNvPr>
          <p:cNvPicPr>
            <a:picLocks noChangeAspect="1"/>
          </p:cNvPicPr>
          <p:nvPr/>
        </p:nvPicPr>
        <p:blipFill>
          <a:blip r:embed="rId2"/>
          <a:stretch>
            <a:fillRect/>
          </a:stretch>
        </p:blipFill>
        <p:spPr>
          <a:xfrm>
            <a:off x="7635240" y="2075688"/>
            <a:ext cx="4114800" cy="2724448"/>
          </a:xfrm>
          <a:prstGeom prst="rect">
            <a:avLst/>
          </a:prstGeom>
        </p:spPr>
      </p:pic>
      <p:sp>
        <p:nvSpPr>
          <p:cNvPr id="13" name="Text 10"/>
          <p:cNvSpPr/>
          <p:nvPr/>
        </p:nvSpPr>
        <p:spPr>
          <a:xfrm>
            <a:off x="7635240" y="4836712"/>
            <a:ext cx="4114800" cy="256032"/>
          </a:xfrm>
          <a:prstGeom prst="rect">
            <a:avLst/>
          </a:prstGeom>
          <a:noFill/>
          <a:ln/>
        </p:spPr>
        <p:txBody>
          <a:bodyPr wrap="square" rtlCol="0" anchor="ctr"/>
          <a:lstStyle/>
          <a:p>
            <a:pPr algn="r" indent="0" marL="0">
              <a:buNone/>
            </a:pPr>
            <a:r>
              <a:rPr lang="en-US" sz="9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Photo : © guinee7.com</a:t>
            </a:r>
            <a:endParaRPr lang="en-US" sz="900" dirty="0"/>
          </a:p>
        </p:txBody>
      </p:sp>
      <p:sp>
        <p:nvSpPr>
          <p:cNvPr id="14" name="Text 11"/>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5" name="Text 12"/>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32</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VII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Guinée</a:t>
            </a:r>
            <a:endParaRPr lang="en-US" sz="2800" dirty="0"/>
          </a:p>
        </p:txBody>
      </p:sp>
      <p:sp>
        <p:nvSpPr>
          <p:cNvPr id="4" name="Shape 2"/>
          <p:cNvSpPr/>
          <p:nvPr/>
        </p:nvSpPr>
        <p:spPr>
          <a:xfrm>
            <a:off x="10881360" y="274320"/>
            <a:ext cx="301752" cy="566928"/>
          </a:xfrm>
          <a:prstGeom prst="rect">
            <a:avLst/>
          </a:prstGeom>
          <a:solidFill>
            <a:srgbClr val="CE1126"/>
          </a:solidFill>
          <a:ln w="12700">
            <a:solidFill>
              <a:srgbClr val="CE1126"/>
            </a:solidFill>
            <a:prstDash val="solid"/>
          </a:ln>
        </p:spPr>
      </p:sp>
      <p:sp>
        <p:nvSpPr>
          <p:cNvPr id="5" name="Shape 3"/>
          <p:cNvSpPr/>
          <p:nvPr/>
        </p:nvSpPr>
        <p:spPr>
          <a:xfrm>
            <a:off x="11183112" y="274320"/>
            <a:ext cx="301752" cy="566928"/>
          </a:xfrm>
          <a:prstGeom prst="rect">
            <a:avLst/>
          </a:prstGeom>
          <a:solidFill>
            <a:srgbClr val="FCD116"/>
          </a:solidFill>
          <a:ln w="12700">
            <a:solidFill>
              <a:srgbClr val="FCD116"/>
            </a:solidFill>
            <a:prstDash val="solid"/>
          </a:ln>
        </p:spPr>
      </p:sp>
      <p:sp>
        <p:nvSpPr>
          <p:cNvPr id="6" name="Shape 4"/>
          <p:cNvSpPr/>
          <p:nvPr/>
        </p:nvSpPr>
        <p:spPr>
          <a:xfrm>
            <a:off x="11484864" y="274320"/>
            <a:ext cx="301752" cy="566928"/>
          </a:xfrm>
          <a:prstGeom prst="rect">
            <a:avLst/>
          </a:prstGeom>
          <a:solidFill>
            <a:srgbClr val="009460"/>
          </a:solidFill>
          <a:ln w="12700">
            <a:solidFill>
              <a:srgbClr val="0094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FARANAH : LA COLÈRE ÉCLATE APRÈS LA MORT D’UN ÉTUDIANT DE L’ISAV, LA DIRECTION APPORTE DES PRÉCISIONS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Guinee7.com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MORT MYSTÉRIEUSE DE SOULEYMANE TOURÉ : SA MÈRE ET SA SŒUR VEULENT TOUTE LA VÉRITÉ</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Guinee7.com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25 octobre 2026, 20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KINDIA : UNE FEMME DE 68 ANS MEURT DANS UN INCENDIE À KÈNENDÉ</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Guineematin.com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15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Non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INSÉCURITÉ À LABÉ : LE JOURNALISTE BOUBACAR GARKI DIALLO VICTIME DE CAMBRIOLAGE, SES ÉQUIPEMENTS DE TRAVAIL EMPORTÉ PAR LES MALFAITEURS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Guineematin.com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17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MAIRIE DE DIXINN : POURQUOI LES FEMMES BALAYEUSES ONT RENONCÉ À LEUR MANIFESTATION</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Guinee7.com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14 h UTC</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33</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000" dirty="0">
                <a:solidFill>
                  <a:srgbClr val="FFFFFF"/>
                </a:solidFill>
                <a:latin typeface="Arial Narrow" pitchFamily="34" charset="0"/>
                <a:ea typeface="Arial Narrow" pitchFamily="34" charset="-122"/>
                <a:cs typeface="Arial Narrow" pitchFamily="34" charset="-120"/>
              </a:rPr>
              <a:t>VII</a:t>
            </a:r>
            <a:endParaRPr lang="en-US" sz="20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Guinée</a:t>
            </a:r>
            <a:endParaRPr lang="en-US" sz="2800" dirty="0"/>
          </a:p>
        </p:txBody>
      </p:sp>
      <p:sp>
        <p:nvSpPr>
          <p:cNvPr id="4" name="Shape 2"/>
          <p:cNvSpPr/>
          <p:nvPr/>
        </p:nvSpPr>
        <p:spPr>
          <a:xfrm>
            <a:off x="10881360" y="274320"/>
            <a:ext cx="301752" cy="566928"/>
          </a:xfrm>
          <a:prstGeom prst="rect">
            <a:avLst/>
          </a:prstGeom>
          <a:solidFill>
            <a:srgbClr val="CE1126"/>
          </a:solidFill>
          <a:ln w="12700">
            <a:solidFill>
              <a:srgbClr val="CE1126"/>
            </a:solidFill>
            <a:prstDash val="solid"/>
          </a:ln>
        </p:spPr>
      </p:sp>
      <p:sp>
        <p:nvSpPr>
          <p:cNvPr id="5" name="Shape 3"/>
          <p:cNvSpPr/>
          <p:nvPr/>
        </p:nvSpPr>
        <p:spPr>
          <a:xfrm>
            <a:off x="11183112" y="274320"/>
            <a:ext cx="301752" cy="566928"/>
          </a:xfrm>
          <a:prstGeom prst="rect">
            <a:avLst/>
          </a:prstGeom>
          <a:solidFill>
            <a:srgbClr val="FCD116"/>
          </a:solidFill>
          <a:ln w="12700">
            <a:solidFill>
              <a:srgbClr val="FCD116"/>
            </a:solidFill>
            <a:prstDash val="solid"/>
          </a:ln>
        </p:spPr>
      </p:sp>
      <p:sp>
        <p:nvSpPr>
          <p:cNvPr id="6" name="Shape 4"/>
          <p:cNvSpPr/>
          <p:nvPr/>
        </p:nvSpPr>
        <p:spPr>
          <a:xfrm>
            <a:off x="11484864" y="274320"/>
            <a:ext cx="301752" cy="566928"/>
          </a:xfrm>
          <a:prstGeom prst="rect">
            <a:avLst/>
          </a:prstGeom>
          <a:solidFill>
            <a:srgbClr val="009460"/>
          </a:solidFill>
          <a:ln w="12700">
            <a:solidFill>
              <a:srgbClr val="009460"/>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APPEL À MANIFESTATION D’INTÉRÊT POUR LES SERVICES DE CONSULTANTS LOCAUX EN AUDIT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Guineematin.com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9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KANKAN : UN INCENDIE CAUSE D’IMPORTANTS DÉGÂTS AU QUARTIER BORDO</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Guineematin.com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8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LOI DE FINANCES RECTIFICATIVE 2026 : ENTRE CRISE PÉTROLIÈRE ET RETARDS DES PROJETS, LA MINISTRE DE L’ÉCONOMIE, MARIAMA CIRÉ SYLLA, S’EXPLIQUE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Guineematin.com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22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ÉLECTION FÉGUIFOOT : L’ARGENT DES VOIX MENACE LE FOOTBALL</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Guinee7.com</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8 h UTC</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34</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1600" dirty="0">
                <a:solidFill>
                  <a:srgbClr val="FFFFFF"/>
                </a:solidFill>
                <a:latin typeface="Arial Narrow" pitchFamily="34" charset="0"/>
                <a:ea typeface="Arial Narrow" pitchFamily="34" charset="-122"/>
                <a:cs typeface="Arial Narrow" pitchFamily="34" charset="-120"/>
              </a:rPr>
              <a:t>VIII</a:t>
            </a:r>
            <a:endParaRPr lang="en-US" sz="16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Liberia</a:t>
            </a:r>
            <a:endParaRPr lang="en-US" sz="2800" dirty="0"/>
          </a:p>
        </p:txBody>
      </p:sp>
      <p:sp>
        <p:nvSpPr>
          <p:cNvPr id="4" name="Shape 2"/>
          <p:cNvSpPr/>
          <p:nvPr/>
        </p:nvSpPr>
        <p:spPr>
          <a:xfrm>
            <a:off x="10881360" y="274320"/>
            <a:ext cx="905256" cy="113386"/>
          </a:xfrm>
          <a:prstGeom prst="rect">
            <a:avLst/>
          </a:prstGeom>
          <a:solidFill>
            <a:srgbClr val="BF0A30"/>
          </a:solidFill>
          <a:ln w="12700">
            <a:solidFill>
              <a:srgbClr val="BF0A30"/>
            </a:solidFill>
            <a:prstDash val="solid"/>
          </a:ln>
        </p:spPr>
      </p:sp>
      <p:sp>
        <p:nvSpPr>
          <p:cNvPr id="5" name="Shape 3"/>
          <p:cNvSpPr/>
          <p:nvPr/>
        </p:nvSpPr>
        <p:spPr>
          <a:xfrm>
            <a:off x="10881360" y="387706"/>
            <a:ext cx="905256" cy="113386"/>
          </a:xfrm>
          <a:prstGeom prst="rect">
            <a:avLst/>
          </a:prstGeom>
          <a:solidFill>
            <a:srgbClr val="FFFFFF"/>
          </a:solidFill>
          <a:ln w="12700">
            <a:solidFill>
              <a:srgbClr val="FFFFFF"/>
            </a:solidFill>
            <a:prstDash val="solid"/>
          </a:ln>
        </p:spPr>
      </p:sp>
      <p:sp>
        <p:nvSpPr>
          <p:cNvPr id="6" name="Shape 4"/>
          <p:cNvSpPr/>
          <p:nvPr/>
        </p:nvSpPr>
        <p:spPr>
          <a:xfrm>
            <a:off x="10881360" y="501091"/>
            <a:ext cx="905256" cy="113386"/>
          </a:xfrm>
          <a:prstGeom prst="rect">
            <a:avLst/>
          </a:prstGeom>
          <a:solidFill>
            <a:srgbClr val="BF0A30"/>
          </a:solidFill>
          <a:ln w="12700">
            <a:solidFill>
              <a:srgbClr val="BF0A30"/>
            </a:solidFill>
            <a:prstDash val="solid"/>
          </a:ln>
        </p:spPr>
      </p:sp>
      <p:sp>
        <p:nvSpPr>
          <p:cNvPr id="7" name="Shape 5"/>
          <p:cNvSpPr/>
          <p:nvPr/>
        </p:nvSpPr>
        <p:spPr>
          <a:xfrm>
            <a:off x="10881360" y="614477"/>
            <a:ext cx="905256" cy="113386"/>
          </a:xfrm>
          <a:prstGeom prst="rect">
            <a:avLst/>
          </a:prstGeom>
          <a:solidFill>
            <a:srgbClr val="FFFFFF"/>
          </a:solidFill>
          <a:ln w="12700">
            <a:solidFill>
              <a:srgbClr val="FFFFFF"/>
            </a:solidFill>
            <a:prstDash val="solid"/>
          </a:ln>
        </p:spPr>
      </p:sp>
      <p:sp>
        <p:nvSpPr>
          <p:cNvPr id="8" name="Shape 6"/>
          <p:cNvSpPr/>
          <p:nvPr/>
        </p:nvSpPr>
        <p:spPr>
          <a:xfrm>
            <a:off x="10881360" y="727862"/>
            <a:ext cx="905256" cy="113386"/>
          </a:xfrm>
          <a:prstGeom prst="rect">
            <a:avLst/>
          </a:prstGeom>
          <a:solidFill>
            <a:srgbClr val="BF0A30"/>
          </a:solidFill>
          <a:ln w="12700">
            <a:solidFill>
              <a:srgbClr val="BF0A30"/>
            </a:solidFill>
            <a:prstDash val="solid"/>
          </a:ln>
        </p:spPr>
      </p:sp>
      <p:sp>
        <p:nvSpPr>
          <p:cNvPr id="9" name="Shape 7"/>
          <p:cNvSpPr/>
          <p:nvPr/>
        </p:nvSpPr>
        <p:spPr>
          <a:xfrm>
            <a:off x="10881360" y="274320"/>
            <a:ext cx="905256" cy="566928"/>
          </a:xfrm>
          <a:prstGeom prst="rect">
            <a:avLst/>
          </a:prstGeom>
          <a:ln w="6350">
            <a:solidFill>
              <a:srgbClr val="1F2937"/>
            </a:solidFill>
            <a:prstDash val="solid"/>
          </a:ln>
        </p:spPr>
      </p:sp>
      <p:sp>
        <p:nvSpPr>
          <p:cNvPr id="10" name="Shape 8"/>
          <p:cNvSpPr/>
          <p:nvPr/>
        </p:nvSpPr>
        <p:spPr>
          <a:xfrm>
            <a:off x="457200" y="960120"/>
            <a:ext cx="11292840" cy="0"/>
          </a:xfrm>
          <a:prstGeom prst="line">
            <a:avLst/>
          </a:prstGeom>
          <a:noFill/>
          <a:ln w="6350">
            <a:solidFill>
              <a:srgbClr val="A3A3A3"/>
            </a:solidFill>
            <a:prstDash val="solid"/>
          </a:ln>
        </p:spPr>
      </p:sp>
      <p:sp>
        <p:nvSpPr>
          <p:cNvPr id="11" name="Text 9"/>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faible (incident vérifié le plus récent : 212 jours ; aucun signal du jour)</a:t>
            </a:r>
            <a:endParaRPr lang="en-US" sz="1100" dirty="0"/>
          </a:p>
        </p:txBody>
      </p:sp>
      <p:sp>
        <p:nvSpPr>
          <p:cNvPr id="12" name="Text 10"/>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Libéria : Un dauphin tué et massacré avant l'arrivée de l'équipe de secours de la NaFAA</a:t>
            </a:r>
            <a:endParaRPr lang="en-US" sz="2200" dirty="0"/>
          </a:p>
        </p:txBody>
      </p:sp>
      <p:sp>
        <p:nvSpPr>
          <p:cNvPr id="13" name="Text 11"/>
          <p:cNvSpPr/>
          <p:nvPr/>
        </p:nvSpPr>
        <p:spPr>
          <a:xfrm>
            <a:off x="640080" y="2029968"/>
            <a:ext cx="1097280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mardi 27 octobre 2026. Lieu : Monrovia, Liberia. Actualité sécuritaire. Une seule source à ce stade (FrontPageAfrica — Liberia)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FrontPageAfrica — Liberia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Monrovia — Ce qui a commencé comme un moment d'espoir pour les défenseurs de l'environnement s'est terminé par une frustration après qu'un dauphin qui s'est échoué à Miami Beach à Monrovia a été tué et…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Menace armée sur les axes et localités de la zone : réévaluer les déplacements terrestres (horaires, convois, itinéraires de repli) et les consignes des sites et des personnels présents à proximité.</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FrontPageAfrica — Liberia</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27 octobre 2026, 5 h UTC   ·   Cotation : Probable</a:t>
            </a:r>
            <a:endParaRPr lang="en-US" sz="1400" dirty="0"/>
          </a:p>
        </p:txBody>
      </p:sp>
      <p:sp>
        <p:nvSpPr>
          <p:cNvPr id="14" name="Text 12"/>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5" name="Text 13"/>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35</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1600" dirty="0">
                <a:solidFill>
                  <a:srgbClr val="FFFFFF"/>
                </a:solidFill>
                <a:latin typeface="Arial Narrow" pitchFamily="34" charset="0"/>
                <a:ea typeface="Arial Narrow" pitchFamily="34" charset="-122"/>
                <a:cs typeface="Arial Narrow" pitchFamily="34" charset="-120"/>
              </a:rPr>
              <a:t>VIII</a:t>
            </a:r>
            <a:endParaRPr lang="en-US" sz="16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Liberia</a:t>
            </a:r>
            <a:endParaRPr lang="en-US" sz="2800" dirty="0"/>
          </a:p>
        </p:txBody>
      </p:sp>
      <p:sp>
        <p:nvSpPr>
          <p:cNvPr id="4" name="Shape 2"/>
          <p:cNvSpPr/>
          <p:nvPr/>
        </p:nvSpPr>
        <p:spPr>
          <a:xfrm>
            <a:off x="10881360" y="274320"/>
            <a:ext cx="905256" cy="113386"/>
          </a:xfrm>
          <a:prstGeom prst="rect">
            <a:avLst/>
          </a:prstGeom>
          <a:solidFill>
            <a:srgbClr val="BF0A30"/>
          </a:solidFill>
          <a:ln w="12700">
            <a:solidFill>
              <a:srgbClr val="BF0A30"/>
            </a:solidFill>
            <a:prstDash val="solid"/>
          </a:ln>
        </p:spPr>
      </p:sp>
      <p:sp>
        <p:nvSpPr>
          <p:cNvPr id="5" name="Shape 3"/>
          <p:cNvSpPr/>
          <p:nvPr/>
        </p:nvSpPr>
        <p:spPr>
          <a:xfrm>
            <a:off x="10881360" y="387706"/>
            <a:ext cx="905256" cy="113386"/>
          </a:xfrm>
          <a:prstGeom prst="rect">
            <a:avLst/>
          </a:prstGeom>
          <a:solidFill>
            <a:srgbClr val="FFFFFF"/>
          </a:solidFill>
          <a:ln w="12700">
            <a:solidFill>
              <a:srgbClr val="FFFFFF"/>
            </a:solidFill>
            <a:prstDash val="solid"/>
          </a:ln>
        </p:spPr>
      </p:sp>
      <p:sp>
        <p:nvSpPr>
          <p:cNvPr id="6" name="Shape 4"/>
          <p:cNvSpPr/>
          <p:nvPr/>
        </p:nvSpPr>
        <p:spPr>
          <a:xfrm>
            <a:off x="10881360" y="501091"/>
            <a:ext cx="905256" cy="113386"/>
          </a:xfrm>
          <a:prstGeom prst="rect">
            <a:avLst/>
          </a:prstGeom>
          <a:solidFill>
            <a:srgbClr val="BF0A30"/>
          </a:solidFill>
          <a:ln w="12700">
            <a:solidFill>
              <a:srgbClr val="BF0A30"/>
            </a:solidFill>
            <a:prstDash val="solid"/>
          </a:ln>
        </p:spPr>
      </p:sp>
      <p:sp>
        <p:nvSpPr>
          <p:cNvPr id="7" name="Shape 5"/>
          <p:cNvSpPr/>
          <p:nvPr/>
        </p:nvSpPr>
        <p:spPr>
          <a:xfrm>
            <a:off x="10881360" y="614477"/>
            <a:ext cx="905256" cy="113386"/>
          </a:xfrm>
          <a:prstGeom prst="rect">
            <a:avLst/>
          </a:prstGeom>
          <a:solidFill>
            <a:srgbClr val="FFFFFF"/>
          </a:solidFill>
          <a:ln w="12700">
            <a:solidFill>
              <a:srgbClr val="FFFFFF"/>
            </a:solidFill>
            <a:prstDash val="solid"/>
          </a:ln>
        </p:spPr>
      </p:sp>
      <p:sp>
        <p:nvSpPr>
          <p:cNvPr id="8" name="Shape 6"/>
          <p:cNvSpPr/>
          <p:nvPr/>
        </p:nvSpPr>
        <p:spPr>
          <a:xfrm>
            <a:off x="10881360" y="727862"/>
            <a:ext cx="905256" cy="113386"/>
          </a:xfrm>
          <a:prstGeom prst="rect">
            <a:avLst/>
          </a:prstGeom>
          <a:solidFill>
            <a:srgbClr val="BF0A30"/>
          </a:solidFill>
          <a:ln w="12700">
            <a:solidFill>
              <a:srgbClr val="BF0A30"/>
            </a:solidFill>
            <a:prstDash val="solid"/>
          </a:ln>
        </p:spPr>
      </p:sp>
      <p:sp>
        <p:nvSpPr>
          <p:cNvPr id="9" name="Shape 7"/>
          <p:cNvSpPr/>
          <p:nvPr/>
        </p:nvSpPr>
        <p:spPr>
          <a:xfrm>
            <a:off x="10881360" y="274320"/>
            <a:ext cx="905256" cy="566928"/>
          </a:xfrm>
          <a:prstGeom prst="rect">
            <a:avLst/>
          </a:prstGeom>
          <a:ln w="6350">
            <a:solidFill>
              <a:srgbClr val="1F2937"/>
            </a:solidFill>
            <a:prstDash val="solid"/>
          </a:ln>
        </p:spPr>
      </p:sp>
      <p:sp>
        <p:nvSpPr>
          <p:cNvPr id="10" name="Shape 8"/>
          <p:cNvSpPr/>
          <p:nvPr/>
        </p:nvSpPr>
        <p:spPr>
          <a:xfrm>
            <a:off x="457200" y="960120"/>
            <a:ext cx="11292840" cy="0"/>
          </a:xfrm>
          <a:prstGeom prst="line">
            <a:avLst/>
          </a:prstGeom>
          <a:noFill/>
          <a:ln w="6350">
            <a:solidFill>
              <a:srgbClr val="A3A3A3"/>
            </a:solidFill>
            <a:prstDash val="solid"/>
          </a:ln>
        </p:spPr>
      </p:sp>
      <p:sp>
        <p:nvSpPr>
          <p:cNvPr id="11" name="Text 9"/>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LIBÉRIA : LE JUGE CITE DES PREUVES POUR DÉCLARER PETER BON JALLAH, MEMBRE DU PERSONNEL DE LA NSA, COUPABLE DE VIOL ET D'ENLÈVEMENT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FrontPageAfrica — Liberia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15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LIBÉRIA : VICTIMES DE GUERRE ET SURVIVANTS MANIFESTENT DEVANT LE TRIBUNAL ET AU CAPITOLE ALORS QUE LE PRÉSIDENT DE LA CHAMBRE S'ENGAGE À SOUMETTRE LE PROJET DE LOI SUR LA COUR DEVANT LA PLÉNIÈRE MARDI</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FrontPageAfrica — Liberia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23 octobre 2026, 5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LIBÉRIA : DANS LE CADRE DE LA TENTATIVE DE LA DÉFENSE D’ANNULER LA CONDAMNATION DE PETER BON JALLAH</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FrontPageAfrica — Liberia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LA VISION D'UN ANCIEN CHEF DE LA SÉCURITÉ POUR LE SERVICE D'IMMIGRATION DU LIBÉRIA JOUE ENFIN</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FrontPageAfrica — Liberia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26 octobre 2026, 6 h UTC</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LE LIBÉRIA IMPOSE DES RÈGLES D'ISOLEMENT ET DE SURVEILLANCE DE 21 JOURS AUX VOYAGEURS FACE À LA MENACE RÉGIONALE D'EBOLA</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Global News Network Liberia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24 octobre 2026, 22 h UTC</a:t>
            </a:r>
            <a:endParaRPr lang="en-US" sz="1300" dirty="0"/>
          </a:p>
        </p:txBody>
      </p:sp>
      <p:sp>
        <p:nvSpPr>
          <p:cNvPr id="12" name="Text 10"/>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3"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36</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1600" dirty="0">
                <a:solidFill>
                  <a:srgbClr val="FFFFFF"/>
                </a:solidFill>
                <a:latin typeface="Arial Narrow" pitchFamily="34" charset="0"/>
                <a:ea typeface="Arial Narrow" pitchFamily="34" charset="-122"/>
                <a:cs typeface="Arial Narrow" pitchFamily="34" charset="-120"/>
              </a:rPr>
              <a:t>VIII</a:t>
            </a:r>
            <a:endParaRPr lang="en-US" sz="16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Liberia</a:t>
            </a:r>
            <a:endParaRPr lang="en-US" sz="2800" dirty="0"/>
          </a:p>
        </p:txBody>
      </p:sp>
      <p:sp>
        <p:nvSpPr>
          <p:cNvPr id="4" name="Shape 2"/>
          <p:cNvSpPr/>
          <p:nvPr/>
        </p:nvSpPr>
        <p:spPr>
          <a:xfrm>
            <a:off x="10881360" y="274320"/>
            <a:ext cx="905256" cy="113386"/>
          </a:xfrm>
          <a:prstGeom prst="rect">
            <a:avLst/>
          </a:prstGeom>
          <a:solidFill>
            <a:srgbClr val="BF0A30"/>
          </a:solidFill>
          <a:ln w="12700">
            <a:solidFill>
              <a:srgbClr val="BF0A30"/>
            </a:solidFill>
            <a:prstDash val="solid"/>
          </a:ln>
        </p:spPr>
      </p:sp>
      <p:sp>
        <p:nvSpPr>
          <p:cNvPr id="5" name="Shape 3"/>
          <p:cNvSpPr/>
          <p:nvPr/>
        </p:nvSpPr>
        <p:spPr>
          <a:xfrm>
            <a:off x="10881360" y="387706"/>
            <a:ext cx="905256" cy="113386"/>
          </a:xfrm>
          <a:prstGeom prst="rect">
            <a:avLst/>
          </a:prstGeom>
          <a:solidFill>
            <a:srgbClr val="FFFFFF"/>
          </a:solidFill>
          <a:ln w="12700">
            <a:solidFill>
              <a:srgbClr val="FFFFFF"/>
            </a:solidFill>
            <a:prstDash val="solid"/>
          </a:ln>
        </p:spPr>
      </p:sp>
      <p:sp>
        <p:nvSpPr>
          <p:cNvPr id="6" name="Shape 4"/>
          <p:cNvSpPr/>
          <p:nvPr/>
        </p:nvSpPr>
        <p:spPr>
          <a:xfrm>
            <a:off x="10881360" y="501091"/>
            <a:ext cx="905256" cy="113386"/>
          </a:xfrm>
          <a:prstGeom prst="rect">
            <a:avLst/>
          </a:prstGeom>
          <a:solidFill>
            <a:srgbClr val="BF0A30"/>
          </a:solidFill>
          <a:ln w="12700">
            <a:solidFill>
              <a:srgbClr val="BF0A30"/>
            </a:solidFill>
            <a:prstDash val="solid"/>
          </a:ln>
        </p:spPr>
      </p:sp>
      <p:sp>
        <p:nvSpPr>
          <p:cNvPr id="7" name="Shape 5"/>
          <p:cNvSpPr/>
          <p:nvPr/>
        </p:nvSpPr>
        <p:spPr>
          <a:xfrm>
            <a:off x="10881360" y="614477"/>
            <a:ext cx="905256" cy="113386"/>
          </a:xfrm>
          <a:prstGeom prst="rect">
            <a:avLst/>
          </a:prstGeom>
          <a:solidFill>
            <a:srgbClr val="FFFFFF"/>
          </a:solidFill>
          <a:ln w="12700">
            <a:solidFill>
              <a:srgbClr val="FFFFFF"/>
            </a:solidFill>
            <a:prstDash val="solid"/>
          </a:ln>
        </p:spPr>
      </p:sp>
      <p:sp>
        <p:nvSpPr>
          <p:cNvPr id="8" name="Shape 6"/>
          <p:cNvSpPr/>
          <p:nvPr/>
        </p:nvSpPr>
        <p:spPr>
          <a:xfrm>
            <a:off x="10881360" y="727862"/>
            <a:ext cx="905256" cy="113386"/>
          </a:xfrm>
          <a:prstGeom prst="rect">
            <a:avLst/>
          </a:prstGeom>
          <a:solidFill>
            <a:srgbClr val="BF0A30"/>
          </a:solidFill>
          <a:ln w="12700">
            <a:solidFill>
              <a:srgbClr val="BF0A30"/>
            </a:solidFill>
            <a:prstDash val="solid"/>
          </a:ln>
        </p:spPr>
      </p:sp>
      <p:sp>
        <p:nvSpPr>
          <p:cNvPr id="9" name="Shape 7"/>
          <p:cNvSpPr/>
          <p:nvPr/>
        </p:nvSpPr>
        <p:spPr>
          <a:xfrm>
            <a:off x="10881360" y="274320"/>
            <a:ext cx="905256" cy="566928"/>
          </a:xfrm>
          <a:prstGeom prst="rect">
            <a:avLst/>
          </a:prstGeom>
          <a:ln w="6350">
            <a:solidFill>
              <a:srgbClr val="1F2937"/>
            </a:solidFill>
            <a:prstDash val="solid"/>
          </a:ln>
        </p:spPr>
      </p:sp>
      <p:sp>
        <p:nvSpPr>
          <p:cNvPr id="10" name="Shape 8"/>
          <p:cNvSpPr/>
          <p:nvPr/>
        </p:nvSpPr>
        <p:spPr>
          <a:xfrm>
            <a:off x="457200" y="960120"/>
            <a:ext cx="11292840" cy="0"/>
          </a:xfrm>
          <a:prstGeom prst="line">
            <a:avLst/>
          </a:prstGeom>
          <a:noFill/>
          <a:ln w="6350">
            <a:solidFill>
              <a:srgbClr val="A3A3A3"/>
            </a:solidFill>
            <a:prstDash val="solid"/>
          </a:ln>
        </p:spPr>
      </p:sp>
      <p:sp>
        <p:nvSpPr>
          <p:cNvPr id="11" name="Text 9"/>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L'AFL TIRE SUR DEUX SOLDATS À LA SUITE D'UN ASSAUT</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Global News Network Liberia</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22 octobre 2026, 17 h UTC</a:t>
            </a:r>
            <a:endParaRPr lang="en-US" sz="1300" dirty="0"/>
          </a:p>
        </p:txBody>
      </p:sp>
      <p:sp>
        <p:nvSpPr>
          <p:cNvPr id="12" name="Text 10"/>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3"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37</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IX</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Sénégal</a:t>
            </a:r>
            <a:endParaRPr lang="en-US" sz="2800" dirty="0"/>
          </a:p>
        </p:txBody>
      </p:sp>
      <p:sp>
        <p:nvSpPr>
          <p:cNvPr id="4" name="Shape 2"/>
          <p:cNvSpPr/>
          <p:nvPr/>
        </p:nvSpPr>
        <p:spPr>
          <a:xfrm>
            <a:off x="10881360" y="274320"/>
            <a:ext cx="301752" cy="566928"/>
          </a:xfrm>
          <a:prstGeom prst="rect">
            <a:avLst/>
          </a:prstGeom>
          <a:solidFill>
            <a:srgbClr val="00853F"/>
          </a:solidFill>
          <a:ln w="12700">
            <a:solidFill>
              <a:srgbClr val="00853F"/>
            </a:solidFill>
            <a:prstDash val="solid"/>
          </a:ln>
        </p:spPr>
      </p:sp>
      <p:sp>
        <p:nvSpPr>
          <p:cNvPr id="5" name="Shape 3"/>
          <p:cNvSpPr/>
          <p:nvPr/>
        </p:nvSpPr>
        <p:spPr>
          <a:xfrm>
            <a:off x="11183112" y="274320"/>
            <a:ext cx="301752" cy="566928"/>
          </a:xfrm>
          <a:prstGeom prst="rect">
            <a:avLst/>
          </a:prstGeom>
          <a:solidFill>
            <a:srgbClr val="FDEF42"/>
          </a:solidFill>
          <a:ln w="12700">
            <a:solidFill>
              <a:srgbClr val="FDEF42"/>
            </a:solidFill>
            <a:prstDash val="solid"/>
          </a:ln>
        </p:spPr>
      </p:sp>
      <p:sp>
        <p:nvSpPr>
          <p:cNvPr id="6" name="Shape 4"/>
          <p:cNvSpPr/>
          <p:nvPr/>
        </p:nvSpPr>
        <p:spPr>
          <a:xfrm>
            <a:off x="11484864" y="274320"/>
            <a:ext cx="301752" cy="566928"/>
          </a:xfrm>
          <a:prstGeom prst="rect">
            <a:avLst/>
          </a:prstGeom>
          <a:solidFill>
            <a:srgbClr val="E31B23"/>
          </a:solidFill>
          <a:ln w="12700">
            <a:solidFill>
              <a:srgbClr val="E31B23"/>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024128"/>
            <a:ext cx="10972800" cy="274320"/>
          </a:xfrm>
          <a:prstGeom prst="rect">
            <a:avLst/>
          </a:prstGeom>
          <a:noFill/>
          <a:ln/>
        </p:spPr>
        <p:txBody>
          <a:bodyPr wrap="square"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Indice de confiance : moyenne (incident vérifié le plus récent : 121 jours ; 5 signaux du jour)</a:t>
            </a:r>
            <a:endParaRPr lang="en-US" sz="1100" dirty="0"/>
          </a:p>
        </p:txBody>
      </p:sp>
      <p:sp>
        <p:nvSpPr>
          <p:cNvPr id="10" name="Text 8"/>
          <p:cNvSpPr/>
          <p:nvPr/>
        </p:nvSpPr>
        <p:spPr>
          <a:xfrm>
            <a:off x="640080" y="1298448"/>
            <a:ext cx="10972800" cy="685800"/>
          </a:xfrm>
          <a:prstGeom prst="rect">
            <a:avLst/>
          </a:prstGeom>
          <a:noFill/>
          <a:ln/>
        </p:spPr>
        <p:txBody>
          <a:bodyPr wrap="square" rtlCol="0" anchor="t"/>
          <a:lstStyle/>
          <a:p>
            <a:pPr indent="0" marL="0">
              <a:buNone/>
            </a:pPr>
            <a:r>
              <a:rPr lang="en-US" sz="2200" b="1" dirty="0">
                <a:solidFill>
                  <a:srgbClr val="1F6B5E"/>
                </a:solidFill>
                <a:latin typeface="Arial Narrow" pitchFamily="34" charset="0"/>
                <a:ea typeface="Arial Narrow" pitchFamily="34" charset="-122"/>
                <a:cs typeface="Arial Narrow" pitchFamily="34" charset="-120"/>
              </a:rPr>
              <a:t>Menaces de mort contre Sonko : Ce que PASTEF reproche à des cadres de Kiiraay</a:t>
            </a:r>
            <a:endParaRPr lang="en-US" sz="2200" dirty="0"/>
          </a:p>
        </p:txBody>
      </p:sp>
      <p:sp>
        <p:nvSpPr>
          <p:cNvPr id="11" name="Text 9"/>
          <p:cNvSpPr/>
          <p:nvPr/>
        </p:nvSpPr>
        <p:spPr>
          <a:xfrm>
            <a:off x="640080" y="2029968"/>
            <a:ext cx="10972800" cy="3867912"/>
          </a:xfrm>
          <a:prstGeom prst="rect">
            <a:avLst/>
          </a:prstGeom>
          <a:noFill/>
          <a:ln/>
        </p:spPr>
        <p:txBody>
          <a:bodyPr wrap="square" rtlCol="0" anchor="t"/>
          <a:lstStyle/>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Contexte</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Fait rapporté le mercredi 28 octobre 2026. Lieu : Sénégal. Actualité politique. Une seule source à ce stade (Linfodrome) : à confirmer par un second média.</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Ce que rapportent les sources</a:t>
            </a:r>
            <a:endParaRPr lang="en-US" sz="1400" dirty="0"/>
          </a:p>
          <a:p>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Linfodrome : </a:t>
            </a:r>
            <a:pPr indent="0" marL="0">
              <a:spcAft>
                <a:spcPts val="300"/>
              </a:spcAft>
              <a:buNone/>
            </a:pPr>
            <a:r>
              <a:rPr lang="en-US" sz="1400" i="1" dirty="0">
                <a:solidFill>
                  <a:srgbClr val="1F2937"/>
                </a:solidFill>
                <a:latin typeface="Calibri" pitchFamily="34" charset="0"/>
                <a:ea typeface="Calibri" pitchFamily="34" charset="-122"/>
                <a:cs typeface="Calibri" pitchFamily="34" charset="-120"/>
              </a:rPr>
              <a:t>« Au Sénégal, PASTEF affirme qu'un membre du parti présidentiel Kiiraay, M. Arona Coumba Ndoffène Diouf, a publiquement appelé à éliminer Ousmane Sonko, Président de l'Assemblée nationale. Le parti dénonce une banalisation des discours de haine et des appels à la force émanant de la mouvance présidentielle pour contrer ses actions. »</a:t>
            </a:r>
            <a:endParaRPr lang="en-US" sz="1400" dirty="0"/>
          </a:p>
          <a:p>
            <a:pPr indent="0" marL="0">
              <a:spcBef>
                <a:spcPts val="800"/>
              </a:spcBef>
              <a:spcAft>
                <a:spcPts val="300"/>
              </a:spcAft>
              <a:buNone/>
            </a:pPr>
            <a:r>
              <a:rPr lang="en-US" sz="1500" b="1" dirty="0">
                <a:solidFill>
                  <a:srgbClr val="1F6B5E"/>
                </a:solidFill>
                <a:latin typeface="Calibri" pitchFamily="34" charset="0"/>
                <a:ea typeface="Calibri" pitchFamily="34" charset="-122"/>
                <a:cs typeface="Calibri" pitchFamily="34" charset="-120"/>
              </a:rPr>
              <a:t>Enjeux sûreté</a:t>
            </a:r>
            <a:endParaRPr lang="en-US" sz="1400" dirty="0"/>
          </a:p>
          <a:p>
            <a:pPr indent="0" marL="0">
              <a:spcAft>
                <a:spcPts val="300"/>
              </a:spcAft>
              <a:buNone/>
            </a:pPr>
            <a:r>
              <a:rPr lang="en-US" sz="1400" dirty="0">
                <a:solidFill>
                  <a:srgbClr val="1F2937"/>
                </a:solidFill>
                <a:latin typeface="Calibri" pitchFamily="34" charset="0"/>
                <a:ea typeface="Calibri" pitchFamily="34" charset="-122"/>
                <a:cs typeface="Calibri" pitchFamily="34" charset="-120"/>
              </a:rPr>
              <a:t>Climat politique à suivre : tensions possibles autour des échéances et des décisions institutionnelles. Adapter la veille et les déplacements aux dates sensibles.</a:t>
            </a:r>
            <a:endParaRPr lang="en-US" sz="1400" dirty="0"/>
          </a:p>
          <a:p>
            <a:pPr indent="0" marL="0">
              <a:spcBef>
                <a:spcPts val="800"/>
              </a:spcBef>
              <a:spcAft>
                <a:spcPts val="300"/>
              </a:spcAft>
              <a:buNone/>
            </a:pPr>
            <a:r>
              <a:rPr lang="en-US" sz="1400" b="1" dirty="0">
                <a:solidFill>
                  <a:srgbClr val="1F2937"/>
                </a:solidFill>
                <a:latin typeface="Calibri" pitchFamily="34" charset="0"/>
                <a:ea typeface="Calibri" pitchFamily="34" charset="-122"/>
                <a:cs typeface="Calibri" pitchFamily="34" charset="-120"/>
              </a:rPr>
              <a:t>Source : </a:t>
            </a:r>
            <a:pPr indent="0" marL="0">
              <a:spcAft>
                <a:spcPts val="300"/>
              </a:spcAft>
              <a:buNone/>
            </a:pPr>
            <a:r>
              <a:rPr lang="en-US" sz="14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Linfodrome</a:t>
            </a:r>
            <a:pPr indent="0" marL="0">
              <a:spcAft>
                <a:spcPts val="300"/>
              </a:spcAft>
              <a:buNone/>
            </a:pPr>
            <a:r>
              <a:rPr lang="en-US" sz="1400" b="1" dirty="0">
                <a:solidFill>
                  <a:srgbClr val="1F2937"/>
                </a:solidFill>
                <a:latin typeface="Calibri" pitchFamily="34" charset="0"/>
                <a:ea typeface="Calibri" pitchFamily="34" charset="-122"/>
                <a:cs typeface="Calibri" pitchFamily="34" charset="-120"/>
              </a:rPr>
              <a:t> — 28 octobre 2026, 20 h UTC   ·   Cotation : Probable</a:t>
            </a:r>
            <a:endParaRPr lang="en-US" sz="1400" dirty="0"/>
          </a:p>
        </p:txBody>
      </p:sp>
      <p:sp>
        <p:nvSpPr>
          <p:cNvPr id="12" name="Text 10"/>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3" name="Text 11"/>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38</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IX</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Sénégal</a:t>
            </a:r>
            <a:endParaRPr lang="en-US" sz="2800" dirty="0"/>
          </a:p>
        </p:txBody>
      </p:sp>
      <p:sp>
        <p:nvSpPr>
          <p:cNvPr id="4" name="Shape 2"/>
          <p:cNvSpPr/>
          <p:nvPr/>
        </p:nvSpPr>
        <p:spPr>
          <a:xfrm>
            <a:off x="10881360" y="274320"/>
            <a:ext cx="301752" cy="566928"/>
          </a:xfrm>
          <a:prstGeom prst="rect">
            <a:avLst/>
          </a:prstGeom>
          <a:solidFill>
            <a:srgbClr val="00853F"/>
          </a:solidFill>
          <a:ln w="12700">
            <a:solidFill>
              <a:srgbClr val="00853F"/>
            </a:solidFill>
            <a:prstDash val="solid"/>
          </a:ln>
        </p:spPr>
      </p:sp>
      <p:sp>
        <p:nvSpPr>
          <p:cNvPr id="5" name="Shape 3"/>
          <p:cNvSpPr/>
          <p:nvPr/>
        </p:nvSpPr>
        <p:spPr>
          <a:xfrm>
            <a:off x="11183112" y="274320"/>
            <a:ext cx="301752" cy="566928"/>
          </a:xfrm>
          <a:prstGeom prst="rect">
            <a:avLst/>
          </a:prstGeom>
          <a:solidFill>
            <a:srgbClr val="FDEF42"/>
          </a:solidFill>
          <a:ln w="12700">
            <a:solidFill>
              <a:srgbClr val="FDEF42"/>
            </a:solidFill>
            <a:prstDash val="solid"/>
          </a:ln>
        </p:spPr>
      </p:sp>
      <p:sp>
        <p:nvSpPr>
          <p:cNvPr id="6" name="Shape 4"/>
          <p:cNvSpPr/>
          <p:nvPr/>
        </p:nvSpPr>
        <p:spPr>
          <a:xfrm>
            <a:off x="11484864" y="274320"/>
            <a:ext cx="301752" cy="566928"/>
          </a:xfrm>
          <a:prstGeom prst="rect">
            <a:avLst/>
          </a:prstGeom>
          <a:solidFill>
            <a:srgbClr val="E31B23"/>
          </a:solidFill>
          <a:ln w="12700">
            <a:solidFill>
              <a:srgbClr val="E31B23"/>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KÉDOUGOU : 6,7 MILLIONS DE FCFA EMPORTÉS LORS D’UNE ATTAQUE ARMÉE CONTRE UN SITE MINIER À FARANDING</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Pressafrik · SeneNews</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13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TOUBA : UN JEUNE LIVREUR DE 22 ANS TUÉ À L'ARME BLANCHE AU QUARTIER 30 SERIGNE CHEIKH BOMBALI</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Pressafrik</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10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MALIKA : UNE DISPUTE ENTRE DEUX FERRAILLEURS AUTOUR D’UNE PRISE ÉLECTRIQUE VIRE AU MEURTRE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Pressafrik</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10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MALIKA : UN INDIVIDU, SOUPÇONNÉ DE MEURTRE, INTERPELLÉ PAR LA POLICE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Pressafrik</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10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MEURTRE ATROCE DE LA LYCÉENE AMINATA SY À PODOR : COMMENT LE SUSPECT A-T-IL ARRÊTÉ À MBACKÉ APRÈS UNE CAVALE ?</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Sources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Pressafrik · Dakar Actu · Seneweb</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9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Confirmé</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39</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274320"/>
            <a:ext cx="640080" cy="548640"/>
          </a:xfrm>
          <a:prstGeom prst="rect">
            <a:avLst/>
          </a:prstGeom>
          <a:solidFill>
            <a:srgbClr val="1F6B5E"/>
          </a:solidFill>
          <a:ln/>
        </p:spPr>
        <p:txBody>
          <a:bodyPr wrap="square" rtlCol="0" anchor="ctr">
            <a:normAutofit/>
          </a:bodyPr>
          <a:lstStyle/>
          <a:p>
            <a:pPr algn="ctr" indent="0" marL="0">
              <a:buNone/>
            </a:pPr>
            <a:r>
              <a:rPr lang="en-US" sz="2400" dirty="0">
                <a:solidFill>
                  <a:srgbClr val="FFFFFF"/>
                </a:solidFill>
                <a:latin typeface="Arial Narrow" pitchFamily="34" charset="0"/>
                <a:ea typeface="Arial Narrow" pitchFamily="34" charset="-122"/>
                <a:cs typeface="Arial Narrow" pitchFamily="34" charset="-120"/>
              </a:rPr>
              <a:t>IX</a:t>
            </a:r>
            <a:endParaRPr lang="en-US" sz="2400" dirty="0"/>
          </a:p>
        </p:txBody>
      </p:sp>
      <p:sp>
        <p:nvSpPr>
          <p:cNvPr id="3" name="Text 1"/>
          <p:cNvSpPr/>
          <p:nvPr/>
        </p:nvSpPr>
        <p:spPr>
          <a:xfrm>
            <a:off x="1234440" y="274320"/>
            <a:ext cx="8961120" cy="548640"/>
          </a:xfrm>
          <a:prstGeom prst="rect">
            <a:avLst/>
          </a:prstGeom>
          <a:noFill/>
          <a:ln/>
        </p:spPr>
        <p:txBody>
          <a:bodyPr wrap="square" rtlCol="0" anchor="ctr"/>
          <a:lstStyle/>
          <a:p>
            <a:pPr indent="0" marL="0">
              <a:buNone/>
            </a:pPr>
            <a:r>
              <a:rPr lang="en-US" sz="2800" dirty="0">
                <a:solidFill>
                  <a:srgbClr val="1F6B5E"/>
                </a:solidFill>
                <a:latin typeface="Arial Narrow" pitchFamily="34" charset="0"/>
                <a:ea typeface="Arial Narrow" pitchFamily="34" charset="-122"/>
                <a:cs typeface="Arial Narrow" pitchFamily="34" charset="-120"/>
              </a:rPr>
              <a:t>Sénégal</a:t>
            </a:r>
            <a:endParaRPr lang="en-US" sz="2800" dirty="0"/>
          </a:p>
        </p:txBody>
      </p:sp>
      <p:sp>
        <p:nvSpPr>
          <p:cNvPr id="4" name="Shape 2"/>
          <p:cNvSpPr/>
          <p:nvPr/>
        </p:nvSpPr>
        <p:spPr>
          <a:xfrm>
            <a:off x="10881360" y="274320"/>
            <a:ext cx="301752" cy="566928"/>
          </a:xfrm>
          <a:prstGeom prst="rect">
            <a:avLst/>
          </a:prstGeom>
          <a:solidFill>
            <a:srgbClr val="00853F"/>
          </a:solidFill>
          <a:ln w="12700">
            <a:solidFill>
              <a:srgbClr val="00853F"/>
            </a:solidFill>
            <a:prstDash val="solid"/>
          </a:ln>
        </p:spPr>
      </p:sp>
      <p:sp>
        <p:nvSpPr>
          <p:cNvPr id="5" name="Shape 3"/>
          <p:cNvSpPr/>
          <p:nvPr/>
        </p:nvSpPr>
        <p:spPr>
          <a:xfrm>
            <a:off x="11183112" y="274320"/>
            <a:ext cx="301752" cy="566928"/>
          </a:xfrm>
          <a:prstGeom prst="rect">
            <a:avLst/>
          </a:prstGeom>
          <a:solidFill>
            <a:srgbClr val="FDEF42"/>
          </a:solidFill>
          <a:ln w="12700">
            <a:solidFill>
              <a:srgbClr val="FDEF42"/>
            </a:solidFill>
            <a:prstDash val="solid"/>
          </a:ln>
        </p:spPr>
      </p:sp>
      <p:sp>
        <p:nvSpPr>
          <p:cNvPr id="6" name="Shape 4"/>
          <p:cNvSpPr/>
          <p:nvPr/>
        </p:nvSpPr>
        <p:spPr>
          <a:xfrm>
            <a:off x="11484864" y="274320"/>
            <a:ext cx="301752" cy="566928"/>
          </a:xfrm>
          <a:prstGeom prst="rect">
            <a:avLst/>
          </a:prstGeom>
          <a:solidFill>
            <a:srgbClr val="E31B23"/>
          </a:solidFill>
          <a:ln w="12700">
            <a:solidFill>
              <a:srgbClr val="E31B23"/>
            </a:solidFill>
            <a:prstDash val="solid"/>
          </a:ln>
        </p:spPr>
      </p:sp>
      <p:sp>
        <p:nvSpPr>
          <p:cNvPr id="7" name="Shape 5"/>
          <p:cNvSpPr/>
          <p:nvPr/>
        </p:nvSpPr>
        <p:spPr>
          <a:xfrm>
            <a:off x="10881360" y="274320"/>
            <a:ext cx="905256" cy="566928"/>
          </a:xfrm>
          <a:prstGeom prst="rect">
            <a:avLst/>
          </a:prstGeom>
          <a:ln w="6350">
            <a:solidFill>
              <a:srgbClr val="1F2937"/>
            </a:solidFill>
            <a:prstDash val="solid"/>
          </a:ln>
        </p:spPr>
      </p:sp>
      <p:sp>
        <p:nvSpPr>
          <p:cNvPr id="8" name="Shape 6"/>
          <p:cNvSpPr/>
          <p:nvPr/>
        </p:nvSpPr>
        <p:spPr>
          <a:xfrm>
            <a:off x="457200" y="960120"/>
            <a:ext cx="11292840" cy="0"/>
          </a:xfrm>
          <a:prstGeom prst="line">
            <a:avLst/>
          </a:prstGeom>
          <a:noFill/>
          <a:ln w="6350">
            <a:solidFill>
              <a:srgbClr val="A3A3A3"/>
            </a:solidFill>
            <a:prstDash val="solid"/>
          </a:ln>
        </p:spPr>
      </p:sp>
      <p:sp>
        <p:nvSpPr>
          <p:cNvPr id="9" name="Text 7"/>
          <p:cNvSpPr/>
          <p:nvPr/>
        </p:nvSpPr>
        <p:spPr>
          <a:xfrm>
            <a:off x="640080" y="1188720"/>
            <a:ext cx="10972800" cy="4663440"/>
          </a:xfrm>
          <a:prstGeom prst="rect">
            <a:avLst/>
          </a:prstGeom>
          <a:noFill/>
          <a:ln/>
        </p:spPr>
        <p:txBody>
          <a:bodyPr wrap="square" rtlCol="0" anchor="t"/>
          <a:lstStyle/>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TOUBA : UN DÉBAT SUR LES MOTEURS DE JAKARTA SE TERMINE PAR LA MORT DE BAYE M. DIOP</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Dakar Actu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8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MORT D’AMINATA SY : LE SUSPECT INVOQUE UNE CHUTE, LES CONSTATATIONS DÉCRIVENT DES VIOLENCES</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Dakar Actu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8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TALIBOU DIALLO TUÉ AU COU ET AU THORAX : UNE DISPUTE ENTRE COLOCATAIRES POUR UNE PRISE ÉLECTRIQUE, AU CŒUR DU DRAME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Dakar Actu</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8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a:p>
            <a:pPr marL="342900" indent="-342900">
              <a:spcBef>
                <a:spcPts val="800"/>
              </a:spcBef>
              <a:spcAft>
                <a:spcPts val="200"/>
              </a:spcAft>
              <a:buSzPct val="100000"/>
              <a:buChar char="❑"/>
            </a:pPr>
            <a:r>
              <a:rPr lang="en-US" sz="1400" b="1" u="sng" dirty="0">
                <a:solidFill>
                  <a:srgbClr val="1F6B5E"/>
                </a:solidFill>
                <a:latin typeface="Calibri" pitchFamily="34" charset="0"/>
                <a:ea typeface="Calibri" pitchFamily="34" charset="-122"/>
                <a:cs typeface="Calibri" pitchFamily="34" charset="-120"/>
              </a:rPr>
              <a:t>LYCÉENNE TUÉE À PODOR : DE L'HISTOIRE D'AMOUR AU DRAME</a:t>
            </a:r>
            <a:endParaRPr lang="en-US" sz="1300" dirty="0"/>
          </a:p>
          <a:p>
            <a:pPr lvl="1" marL="685800" indent="-342900">
              <a:spcAft>
                <a:spcPts val="200"/>
              </a:spcAft>
              <a:buSzPct val="100000"/>
              <a:buChar char="▪"/>
            </a:pPr>
            <a:r>
              <a:rPr lang="en-US" sz="1300" dirty="0">
                <a:solidFill>
                  <a:srgbClr val="1F2937"/>
                </a:solidFill>
                <a:latin typeface="Calibri" pitchFamily="34" charset="0"/>
                <a:ea typeface="Calibri" pitchFamily="34" charset="-122"/>
                <a:cs typeface="Calibri" pitchFamily="34" charset="-120"/>
              </a:rPr>
              <a:t>Source : </a:t>
            </a:r>
            <a:pPr indent="0" marL="0">
              <a:spcAft>
                <a:spcPts val="200"/>
              </a:spcAft>
              <a:buNone/>
            </a:pPr>
            <a:r>
              <a:rPr lang="en-US" sz="1300" u="sng" dirty="0">
                <a:solidFill>
                  <a:srgbClr val="1F6B5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Seneweb</a:t>
            </a:r>
            <a:pPr indent="0" marL="0">
              <a:spcAft>
                <a:spcPts val="200"/>
              </a:spcAft>
              <a:buNone/>
            </a:pPr>
            <a:r>
              <a:rPr lang="en-US" sz="1300" dirty="0">
                <a:solidFill>
                  <a:srgbClr val="1F2937"/>
                </a:solidFill>
                <a:latin typeface="Calibri" pitchFamily="34" charset="0"/>
                <a:ea typeface="Calibri" pitchFamily="34" charset="-122"/>
                <a:cs typeface="Calibri" pitchFamily="34" charset="-120"/>
              </a:rPr>
              <a:t> — 28 octobre 2026, 7 h UTC   ·   </a:t>
            </a:r>
            <a:pPr indent="0" marL="0">
              <a:spcAft>
                <a:spcPts val="200"/>
              </a:spcAft>
              <a:buNone/>
            </a:pPr>
            <a:r>
              <a:rPr lang="en-US" sz="1300" b="1" dirty="0">
                <a:solidFill>
                  <a:srgbClr val="1F2937"/>
                </a:solidFill>
                <a:latin typeface="Calibri" pitchFamily="34" charset="0"/>
                <a:ea typeface="Calibri" pitchFamily="34" charset="-122"/>
                <a:cs typeface="Calibri" pitchFamily="34" charset="-120"/>
              </a:rPr>
              <a:t>Cotation : Probable</a:t>
            </a:r>
            <a:endParaRPr lang="en-US" sz="1300" dirty="0"/>
          </a:p>
        </p:txBody>
      </p:sp>
      <p:sp>
        <p:nvSpPr>
          <p:cNvPr id="10" name="Text 8"/>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11" name="Text 9"/>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40</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CDCDCD"/>
        </a:solidFill>
      </p:bgPr>
    </p:bg>
    <p:spTree>
      <p:nvGrpSpPr>
        <p:cNvPr id="1" name=""/>
        <p:cNvGrpSpPr/>
        <p:nvPr/>
      </p:nvGrpSpPr>
      <p:grpSpPr>
        <a:xfrm>
          <a:off x="0" y="0"/>
          <a:ext cx="0" cy="0"/>
          <a:chOff x="0" y="0"/>
          <a:chExt cx="0" cy="0"/>
        </a:xfrm>
      </p:grpSpPr>
      <p:sp>
        <p:nvSpPr>
          <p:cNvPr id="2" name="Text 0"/>
          <p:cNvSpPr/>
          <p:nvPr/>
        </p:nvSpPr>
        <p:spPr>
          <a:xfrm>
            <a:off x="457200" y="2377440"/>
            <a:ext cx="11247120" cy="1097280"/>
          </a:xfrm>
          <a:prstGeom prst="rect">
            <a:avLst/>
          </a:prstGeom>
          <a:noFill/>
          <a:ln/>
        </p:spPr>
        <p:txBody>
          <a:bodyPr wrap="square" rtlCol="0" anchor="ctr"/>
          <a:lstStyle/>
          <a:p>
            <a:pPr algn="ctr" indent="0" marL="0">
              <a:buNone/>
            </a:pPr>
            <a:r>
              <a:rPr lang="en-US" sz="6000" dirty="0">
                <a:solidFill>
                  <a:srgbClr val="111111"/>
                </a:solidFill>
                <a:latin typeface="Arial Narrow" pitchFamily="34" charset="0"/>
                <a:ea typeface="Arial Narrow" pitchFamily="34" charset="-122"/>
                <a:cs typeface="Arial Narrow" pitchFamily="34" charset="-120"/>
              </a:rPr>
              <a:t>MERCI</a:t>
            </a:r>
            <a:endParaRPr lang="en-US" sz="6000" dirty="0"/>
          </a:p>
        </p:txBody>
      </p:sp>
      <p:sp>
        <p:nvSpPr>
          <p:cNvPr id="3" name="Text 1"/>
          <p:cNvSpPr/>
          <p:nvPr/>
        </p:nvSpPr>
        <p:spPr>
          <a:xfrm>
            <a:off x="3108960" y="6217920"/>
            <a:ext cx="5486400" cy="329184"/>
          </a:xfrm>
          <a:prstGeom prst="rect">
            <a:avLst/>
          </a:prstGeom>
          <a:noFill/>
          <a:ln w="9525">
            <a:solidFill>
              <a:srgbClr val="1F6B5E"/>
            </a:solidFill>
          </a:ln>
        </p:spPr>
        <p:txBody>
          <a:bodyPr wrap="square" rtlCol="0" anchor="ctr">
            <a:normAutofit/>
          </a:bodyPr>
          <a:lstStyle/>
          <a:p>
            <a:pPr algn="ctr" indent="0" marL="0">
              <a:buNone/>
            </a:pPr>
            <a:r>
              <a:rPr lang="en-US" sz="1200" dirty="0">
                <a:solidFill>
                  <a:srgbClr val="1F2937"/>
                </a:solidFill>
                <a:latin typeface="Calibri" pitchFamily="34" charset="0"/>
                <a:ea typeface="Calibri" pitchFamily="34" charset="-122"/>
                <a:cs typeface="Calibri" pitchFamily="34" charset="-120"/>
              </a:rPr>
              <a:t>SentiqS — veille de sûreté sur l'Afrique</a:t>
            </a:r>
            <a:endParaRPr lang="en-US" sz="1200" dirty="0"/>
          </a:p>
        </p:txBody>
      </p:sp>
      <p:sp>
        <p:nvSpPr>
          <p:cNvPr id="4" name="Text 2"/>
          <p:cNvSpPr/>
          <p:nvPr/>
        </p:nvSpPr>
        <p:spPr>
          <a:xfrm>
            <a:off x="9418320" y="6309360"/>
            <a:ext cx="2468880" cy="274320"/>
          </a:xfrm>
          <a:prstGeom prst="rect">
            <a:avLst/>
          </a:prstGeom>
          <a:noFill/>
          <a:ln/>
        </p:spPr>
        <p:txBody>
          <a:bodyPr wrap="square" rtlCol="0" anchor="ctr"/>
          <a:lstStyle/>
          <a:p>
            <a:pPr algn="r" indent="0" marL="0">
              <a:buNone/>
            </a:pPr>
            <a:r>
              <a:rPr lang="en-US" sz="1000" dirty="0">
                <a:solidFill>
                  <a:srgbClr val="1F2937"/>
                </a:solidFill>
                <a:latin typeface="Calibri" pitchFamily="34" charset="0"/>
                <a:ea typeface="Calibri" pitchFamily="34" charset="-122"/>
                <a:cs typeface="Calibri" pitchFamily="34" charset="-120"/>
              </a:rPr>
              <a:t>|  29/10/26   |   41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Rapport mensuel de sûreté — 29 octobre 2026</dc:title>
  <dc:subject>PptxGenJS Presentation</dc:subject>
  <dc:creator>SentiqS</dc:creator>
  <cp:lastModifiedBy>SentiqS</cp:lastModifiedBy>
  <cp:revision>1</cp:revision>
  <dcterms:created xsi:type="dcterms:W3CDTF">2026-10-29T01:40:41Z</dcterms:created>
  <dcterms:modified xsi:type="dcterms:W3CDTF">2026-10-29T01:40:41Z</dcterms:modified>
</cp:coreProperties>
</file>