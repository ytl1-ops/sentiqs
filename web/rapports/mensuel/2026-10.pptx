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linfodrome.com/faits-divers/127012-affaire-fabienne-tuee-par-son-copain-a-daloa-plusieurs-vehicules-debarquent-de-son-village-natal"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linfodrome.com/faits-divers/127000-daloa-la-belle-fabienne-lachement-tuee-par-son-copain-boulanger-sur-la-base-de-simples-soupcons-d-infidelite"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linfodrome.com/societe/126925-tensions-permanentes-entre-le-district-autonome-d-abidjan-et-les-mairies-le-cpc-est-il-bel-et-bien-mort" TargetMode="External"/><Relationship Id="rId2" Type="http://schemas.openxmlformats.org/officeDocument/2006/relationships/hyperlink" Target="https://www.linfodrome.com/societe/126820-projets-de-sa-mandature-le-president-sortant-de-la-jci-emeraude-dresse-un-bilan-de-95-de-taux-d-execution" TargetMode="External"/><Relationship Id="rId3" Type="http://schemas.openxmlformats.org/officeDocument/2006/relationships/hyperlink" Target="https://www.linfodrome.com/societe/126904-guiglo-etouffees-par-la-flambee-des-prix-les-vendeuses-de-poissons-en-greve" TargetMode="External"/><Relationship Id="rId4" Type="http://schemas.openxmlformats.org/officeDocument/2006/relationships/hyperlink" Target="https://www.linfodrome.com/societe/126894-lutte-contre-le-cancer-du-sein-linfodrome-combat-les-rumeurs-et-sensibilise-les-populations" TargetMode="External"/><Relationship Id="rId5" Type="http://schemas.openxmlformats.org/officeDocument/2006/relationships/hyperlink" Target="https://fr.allafrica.com/stories/202610230151.html" TargetMode="Externa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linfodrome.com/culture/127005-biennale-internationale-des-arts-d-abidjan-augustin-kassi-promoteur-appelle-a-une-mobilisation-collective" TargetMode="External"/><Relationship Id="rId2" Type="http://schemas.openxmlformats.org/officeDocument/2006/relationships/hyperlink" Target="https://www.linfodrome.com/economie/126995-cote-d-ivoire-en-2025-le-deficit-budgetaire-de-l-etat-a-atteint-2-208-milliards-de-fcfa" TargetMode="External"/><Relationship Id="rId3" Type="http://schemas.openxmlformats.org/officeDocument/2006/relationships/hyperlink" Target="https://www.linfodrome.com/societe/126971-octobre-rose-ariel-sheney-sur-tous-les-fronts-apres-une-epreuve-personnelle-liee-au-deces-de-son-epouse" TargetMode="Externa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wakatsera.com/soupconne-dinfidelite-il-tue-sa-compagne-de-26-ans/" TargetMode="External"/><Relationship Id="rId3" Type="http://schemas.openxmlformats.org/officeDocument/2006/relationships/hyperlink" Target="https://www.wakatsera.com/soupconne-dinfidelite-il-tue-sa-compagne-de-26-ans/" TargetMode="External"/><Relationship Id="rId4" Type="http://schemas.openxmlformats.org/officeDocument/2006/relationships/hyperlink" Target="https://www.wakatsera.com/soupconne-dinfidelite-il-tue-sa-compagne-de-26-ans/" TargetMode="External"/><Relationship Id="rId2" Type="http://schemas.openxmlformats.org/officeDocument/2006/relationships/image" Target="../media/image-8-1.jpe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fr.allafrica.com/stories/202610290464.html" TargetMode="External"/><Relationship Id="rId2" Type="http://schemas.openxmlformats.org/officeDocument/2006/relationships/hyperlink" Target="https://www.linfodrome.com/cuisine/126988-pommes-bananes-kiwis-cette-erreur-de-rangement-fait-murir-vos-fruits-beaucoup-trop-vite" TargetMode="External"/><Relationship Id="rId3" Type="http://schemas.openxmlformats.org/officeDocument/2006/relationships/hyperlink" Target="https://fr.allafrica.com/stories/202610280689.html" TargetMode="External"/><Relationship Id="rId4" Type="http://schemas.openxmlformats.org/officeDocument/2006/relationships/hyperlink" Target="https://www.linfodrome.com/societe/126963-bouna-les-victimes-d-accidents-de-la-route-pourront-desormais-prises-en-charge-gratuitement-aux-urgences" TargetMode="External"/><Relationship Id="rId5" Type="http://schemas.openxmlformats.org/officeDocument/2006/relationships/hyperlink" Target="https://www.alwihdainfo.com/cote-divoire-le-gouvernement-mise-sur-la-ponadepa-ii-pour-atteindre-la-souverainete-alimentaire-dici-2030/" TargetMode="External"/><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linfodrome.com/societe/126955-lutte-contre-le-gaspillage-alimentaire-le-comite-de-concertation-etat-secteur-prive-preconise-un-cadre-national" TargetMode="External"/><Relationship Id="rId2" Type="http://schemas.openxmlformats.org/officeDocument/2006/relationships/hyperlink" Target="https://www.linfodrome.com/politique/126898-hausse-des-prix-du-poisson-assale-tiemoko-revele-une-dependance-de-la-cote-d-ivoire-a-88-8-aux-importations" TargetMode="External"/><Relationship Id="rId3" Type="http://schemas.openxmlformats.org/officeDocument/2006/relationships/hyperlink" Target="https://fr.allafrica.com/stories/202610230529.html" TargetMode="Externa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infodrome.com/societe/127027-bouake-le-dgpn-lance-l-operation-epervier-12-pour-demanteler-les-reseaux-criminels" TargetMode="External"/><Relationship Id="rId2" Type="http://schemas.openxmlformats.org/officeDocument/2006/relationships/hyperlink" Target="https://www.linfodrome.com/revue-de-presse/126999-la-cote-d-ivoire-exposee-a-un-nouveau-corridor-djihadiste-les-vendeuses-de-poisson-roulees-dans-la-farine" TargetMode="External"/><Relationship Id="rId3" Type="http://schemas.openxmlformats.org/officeDocument/2006/relationships/hyperlink" Target="https://www.jeuneafrique.com/1856601/politique/cote-divoire-des-grandes-institutions-a-larmee-alassane-ouattara-sonne-lheure-de-la-retraite/" TargetMode="External"/><Relationship Id="rId4" Type="http://schemas.openxmlformats.org/officeDocument/2006/relationships/hyperlink" Target="https://fr.allafrica.com/stories/202610280621.html" TargetMode="External"/><Relationship Id="rId5" Type="http://schemas.openxmlformats.org/officeDocument/2006/relationships/hyperlink" Target="https://www.ecowas.int/the-3rd-abidjan-border-forum-the-ecowas-permanent-representation-to-the-african-union-commits-to-people-centred-border-governance/" TargetMode="External"/><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linfodrome.com/politique/126944-charnier-de-yopougon-26-ans-apres-amadou-coulibaly-oppose-les-violences-du-passe-a-l-ere-ouattara" TargetMode="External"/><Relationship Id="rId2" Type="http://schemas.openxmlformats.org/officeDocument/2006/relationships/hyperlink" Target="https://fr.allafrica.com/stories/202610270670.html" TargetMode="External"/><Relationship Id="rId3" Type="http://schemas.openxmlformats.org/officeDocument/2006/relationships/hyperlink" Target="https://www.linfodrome.com/economie/126924-interpol-renforce-les-capacites-des-enqueteurs-ivoiriens-pour-traquer-les-avoirs-des-criminels" TargetMode="External"/><Relationship Id="rId4" Type="http://schemas.openxmlformats.org/officeDocument/2006/relationships/hyperlink" Target="https://fr.allafrica.com/stories/202610260533.html" TargetMode="External"/><Relationship Id="rId5" Type="http://schemas.openxmlformats.org/officeDocument/2006/relationships/hyperlink" Target="https://www.alwihdainfo.com/cote-divoire-securite-alimentaire-et-securisation-fonciere-le-gouvernement-soutient-les-femmes-productrices/" TargetMode="External"/><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linfodrome.com/faits-divers/126964-gonzagueville-elle-lui-refuse-le-sexe-il-la-tue-et-jette-son-corps-dans-une-decharge-d-ordures"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infodrome.com/international/126817-avant-la-grande-marche-du-24-coctobre-emmanuel-macron-face-un-attentat" TargetMode="External"/><Relationship Id="rId2" Type="http://schemas.openxmlformats.org/officeDocument/2006/relationships/hyperlink" Target="https://fr.allafrica.com/stories/202610250016.html"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icilome.com/2026/10/retablissement-de-la-peine-de-mort-pour-crimes-economiques-au-burkina-et-si-cetait-au-togo/" TargetMode="External"/><Relationship Id="rId2" Type="http://schemas.openxmlformats.org/officeDocument/2006/relationships/hyperlink" Target="https://togoactualite.com/retablissement-de-la-peine-de-mort-pour-crimes-economiques-au-burkina-et-si-cetait-au-togo/" TargetMode="External"/><Relationship Id="rId4" Type="http://schemas.openxmlformats.org/officeDocument/2006/relationships/hyperlink" Target="https://icilome.com/2026/10/retablissement-de-la-peine-de-mort-pour-crimes-economiques-au-burkina-et-si-cetait-au-togo/" TargetMode="External"/><Relationship Id="rId5" Type="http://schemas.openxmlformats.org/officeDocument/2006/relationships/hyperlink" Target="https://icilome.com/2026/10/retablissement-de-la-peine-de-mort-pour-crimes-economiques-au-burkina-et-si-cetait-au-togo/" TargetMode="External"/><Relationship Id="rId3" Type="http://schemas.openxmlformats.org/officeDocument/2006/relationships/image" Target="../media/image-16-1.jpe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wakatsera.com/une-promesse-dechange-diphone-vire-au-meurtre-presume-dune-jeune-fille/" TargetMode="External"/><Relationship Id="rId2" Type="http://schemas.openxmlformats.org/officeDocument/2006/relationships/hyperlink" Target="https://fr.allafrica.com/stories/202610230254.html" TargetMode="External"/><Relationship Id="rId3" Type="http://schemas.openxmlformats.org/officeDocument/2006/relationships/hyperlink" Target="https://fr.allafrica.com/stories/202610220451.html" TargetMode="External"/><Relationship Id="rId4" Type="http://schemas.openxmlformats.org/officeDocument/2006/relationships/hyperlink" Target="https://www.wakatsera.com/cooperation-militaire-ouverture-de-la-deuxieme-session-de-comite-mixte-de-suivi-burkina-faso-egypte/" TargetMode="External"/><Relationship Id="rId5" Type="http://schemas.openxmlformats.org/officeDocument/2006/relationships/hyperlink" Target="https://faso7.com/2026/10/29/resultats-provisoires-avis-dappel-a-manifestation-dinteret-n02026-025-a2n-cam-10-pour-la-constitution-dune-liste-restreinte-de-cabinets-qualifies-en-services-de-consultance-pour-la-conduite-du/" TargetMode="External"/><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faso7.com/2026/10/28/climat-et-securite-au-sahel-le-burkina-faso-passe-a-laction-pour-sa-strategie-nationale/" TargetMode="External"/><Relationship Id="rId2" Type="http://schemas.openxmlformats.org/officeDocument/2006/relationships/hyperlink" Target="https://burkina24.com/2026/10/28/climat-paix-securite-le-burkina-faso-mise-sur-une-meilleure-coordination-des-acteurs/" TargetMode="External"/><Relationship Id="rId3" Type="http://schemas.openxmlformats.org/officeDocument/2006/relationships/hyperlink" Target="https://burkina24.com/2026/10/28/entrepreneuriat-feminin-a-korsimoro-le-combat-inspirant-des-femmes-pour-lautonomie-financiere/" TargetMode="External"/><Relationship Id="rId4" Type="http://schemas.openxmlformats.org/officeDocument/2006/relationships/hyperlink" Target="https://faso7.com/2026/10/24/securite-numerique-au-burkina-la-bclcc-lance-la-2%e1%b5%89-semaine-nationale-de-lutte-contre-la-cybercriminalite/" TargetMode="Externa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pointschauds.info/mali-pres-de-djenne-sounga-dernier-village-de-mougna-a-resister-au-jnim-attaque-par-les-jihadistes/" TargetMode="External"/><Relationship Id="rId2" Type="http://schemas.openxmlformats.org/officeDocument/2006/relationships/hyperlink" Target="https://fr.allafrica.com/stories/202610290493.html" TargetMode="External"/><Relationship Id="rId3" Type="http://schemas.openxmlformats.org/officeDocument/2006/relationships/hyperlink" Target="https://www.rfi.fr/fr/afrique/20261029-mali-chasseurs-dozos-et-jihadistes-s-affrontent-pour-un-village-pr%C3%A8s-de-djenn%C3%A9" TargetMode="External"/><Relationship Id="rId5" Type="http://schemas.openxmlformats.org/officeDocument/2006/relationships/hyperlink" Target="https://pointschauds.info/mali-pres-de-djenne-sounga-dernier-village-de-mougna-a-resister-au-jnim-attaque-par-les-jihadistes/" TargetMode="External"/><Relationship Id="rId6" Type="http://schemas.openxmlformats.org/officeDocument/2006/relationships/hyperlink" Target="https://pointschauds.info/mali-pres-de-djenne-sounga-dernier-village-de-mougna-a-resister-au-jnim-attaque-par-les-jihadistes/" TargetMode="External"/><Relationship Id="rId4" Type="http://schemas.openxmlformats.org/officeDocument/2006/relationships/image" Target="../media/image-19-1.jpe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pointschauds.info/mali-13-civils-tues-par-une-frappe-de-drone-pres-de-la-frontiere-mauritanienne-larmee-affirme-avoir-vise-des-terroristes/" TargetMode="External"/><Relationship Id="rId2" Type="http://schemas.openxmlformats.org/officeDocument/2006/relationships/hyperlink" Target="https://mali24.info/mali-ce-que-lon-sait-de-la-mort-mysterieuse-du-jeune-commercant-bocar-ly/" TargetMode="External"/><Relationship Id="rId3" Type="http://schemas.openxmlformats.org/officeDocument/2006/relationships/hyperlink" Target="https://mali24.info/tournee-des-laureats-de-la-biennale-de-tombouctou-2025-le-coup-denvoi-donne-a-bougouni/" TargetMode="External"/><Relationship Id="rId4" Type="http://schemas.openxmlformats.org/officeDocument/2006/relationships/hyperlink" Target="https://mali24.info/enlevement-de-quatre-enseignants-a-san-la-synergie-des-syndicats-de-leducation-de-la-region-exige-leur-liberation/" TargetMode="External"/><Relationship Id="rId5" Type="http://schemas.openxmlformats.org/officeDocument/2006/relationships/hyperlink" Target="https://maliactu.net/mali-disparitions-inquietantes-morts-suspectes-que-se-passe-t-il-avec-la-jeunesse-malienne/" TargetMode="Externa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maliactu.net/attaque-de-trappes-et-la-verriere-la-qualification-du-mobile-raciste-au-coeur-du-debat-securitaire-et-societal/" TargetMode="External"/><Relationship Id="rId2" Type="http://schemas.openxmlformats.org/officeDocument/2006/relationships/hyperlink" Target="https://www.dakaractu.com/Mali-le-bilan-de-l-attaque-meurtriere-du-weekend-dernier-monte-a-54-morts-armee_a277413.html" TargetMode="External"/><Relationship Id="rId3" Type="http://schemas.openxmlformats.org/officeDocument/2006/relationships/hyperlink" Target="https://fr.allafrica.com/stories/202610230641.html" TargetMode="External"/><Relationship Id="rId4" Type="http://schemas.openxmlformats.org/officeDocument/2006/relationships/hyperlink" Target="https://maliactu.net/lutte-contre-le-terrorisme-a-kayes-la-police-frappe-au-coeur-des-reseaux-de-soutien-logistique-des-gat/" TargetMode="External"/><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www.france24.com/fr/vid%C3%A9o/20261029-tchad-le-pays-d%C3%A9ment-les-accusations-du-niger-concernant-une-frappe-de-drone" TargetMode="External"/><Relationship Id="rId2" Type="http://schemas.openxmlformats.org/officeDocument/2006/relationships/hyperlink" Target="https://24heureinfo.com/afrique/niger-niamey-accuse-le-tchad-et-la-france-apres-une-frappe-de-drone-meurtriere/" TargetMode="External"/><Relationship Id="rId3" Type="http://schemas.openxmlformats.org/officeDocument/2006/relationships/hyperlink" Target="https://fr.allafrica.com/stories/202610280257.html" TargetMode="External"/><Relationship Id="rId4" Type="http://schemas.openxmlformats.org/officeDocument/2006/relationships/hyperlink" Target="https://maliactu.net/frappe-de-drone-a-agadez-le-niger-convoque-lambassadeur-du-tchad-et-annonce-des-recours-internationaux/" TargetMode="External"/><Relationship Id="rId6" Type="http://schemas.openxmlformats.org/officeDocument/2006/relationships/hyperlink" Target="https://www.france24.com/fr/vid%C3%A9o/20261029-tchad-le-pays-d%C3%A9ment-les-accusations-du-niger-concernant-une-frappe-de-drone" TargetMode="External"/><Relationship Id="rId7" Type="http://schemas.openxmlformats.org/officeDocument/2006/relationships/hyperlink" Target="https://www.france24.com/fr/vid%C3%A9o/20261029-tchad-le-pays-d%C3%A9ment-les-accusations-du-niger-concernant-une-frappe-de-drone" TargetMode="External"/><Relationship Id="rId5" Type="http://schemas.openxmlformats.org/officeDocument/2006/relationships/image" Target="../media/image-22-1.jpe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mali24.info/tensions-au-sahel-ndjamena-dement-categoriquement-toute-implication-dans-une-frappe-au-niger/" TargetMode="External"/><Relationship Id="rId2" Type="http://schemas.openxmlformats.org/officeDocument/2006/relationships/hyperlink" Target="https://anp.ne/attaque-dun-drone-tchadien-au-niger-ladrodev-salue-les-efforts-des-autorites-a-maintenir-la-paix-au-sahel/" TargetMode="External"/><Relationship Id="rId3" Type="http://schemas.openxmlformats.org/officeDocument/2006/relationships/hyperlink" Target="https://www.premiumtimesng.com/news/headlines/920915-niger-governors-convoy-crash-kills-four-students-driver.html" TargetMode="External"/><Relationship Id="rId4" Type="http://schemas.openxmlformats.org/officeDocument/2006/relationships/hyperlink" Target="https://www.jeuneafrique.com/1856094/politique/tchad-niger-une-nouvelle-escalade-entre-mahamat-idriss-deby-et-abdourahamane-tiani/" TargetMode="External"/><Relationship Id="rId5" Type="http://schemas.openxmlformats.org/officeDocument/2006/relationships/hyperlink" Target="https://fr.allafrica.com/stories/202610270200.html" TargetMode="External"/><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anp.ne/lancement-officiel-de-la-caravane-de-sensibilisation-et-de-formation-sur-les-bonnes-pratiques-de-greffes-et-parquets-et-letablissement-des-pieces-dexecution/" TargetMode="External"/><Relationship Id="rId2" Type="http://schemas.openxmlformats.org/officeDocument/2006/relationships/hyperlink" Target="https://www.studiokalangou.org/142868-en-bref-attaque-agriculture-sport-les-informations-de-la-semaine" TargetMode="External"/><Relationship Id="rId3" Type="http://schemas.openxmlformats.org/officeDocument/2006/relationships/hyperlink" Target="https://anp.ne/souverainete-alimentaire-des-hommes-et-des-femmes-rurales-principaux-acteurs-de-la-resilience-au-niger/" TargetMode="External"/><Relationship Id="rId4" Type="http://schemas.openxmlformats.org/officeDocument/2006/relationships/hyperlink" Target="https://www.lesahel.org/lhonorable-mahamane-bachir-harouna-hambali-chef-de-canton-de-dioundiou-la-souverainete-alimentaire-doit-devenir-une-ambition-partagee-par-tous-les-nigeriens/" TargetMode="Externa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icilome.com/2026/10/ghana-une-jeune-femme-meurt-apres-lexplosion-dun-sex-toy/" TargetMode="External"/><Relationship Id="rId3" Type="http://schemas.openxmlformats.org/officeDocument/2006/relationships/hyperlink" Target="https://icilome.com/2026/10/ghana-une-jeune-femme-meurt-apres-lexplosion-dun-sex-toy/" TargetMode="External"/><Relationship Id="rId4" Type="http://schemas.openxmlformats.org/officeDocument/2006/relationships/hyperlink" Target="https://icilome.com/2026/10/ghana-une-jeune-femme-meurt-apres-lexplosion-dun-sex-toy/" TargetMode="External"/><Relationship Id="rId2" Type="http://schemas.openxmlformats.org/officeDocument/2006/relationships/image" Target="../media/image-25-1.jpe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www.myjoyonline.com/woman-killed-by-tema-afienya-train-as-residents-demand-footbridge/" TargetMode="External"/><Relationship Id="rId2" Type="http://schemas.openxmlformats.org/officeDocument/2006/relationships/hyperlink" Target="https://www.myjoyonline.com/seven-shot-dead-by-gunmen-at-church-funeral-in-jordan-officials-say/" TargetMode="External"/><Relationship Id="rId3" Type="http://schemas.openxmlformats.org/officeDocument/2006/relationships/hyperlink" Target="https://www.myjoyonline.com/npp-walewale-constituency-condemns-personal-attacks-against-mp-urges-party-discipline/" TargetMode="External"/><Relationship Id="rId4" Type="http://schemas.openxmlformats.org/officeDocument/2006/relationships/hyperlink" Target="https://www.myjoyonline.com/gaf-to-stage-land-combat-firepower-demonstration-at-bundase-on-october-30/" TargetMode="External"/><Relationship Id="rId5" Type="http://schemas.openxmlformats.org/officeDocument/2006/relationships/hyperlink" Target="https://fr.allafrica.com/stories/202610160127.html" TargetMode="External"/><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www.myjoyonline.com/ghana-and-poland-explore-investment-opportunities-and-security-cooperation/" TargetMode="External"/><Relationship Id="rId2" Type="http://schemas.openxmlformats.org/officeDocument/2006/relationships/hyperlink" Target="https://www.myjoyonline.com/stakeholders-call-for-stronger-community-security-collaboration-to-prevent-extremism/" TargetMode="External"/><Relationship Id="rId3" Type="http://schemas.openxmlformats.org/officeDocument/2006/relationships/hyperlink" Target="https://ghanaiantimes.com.gh/central-regional-health-director-urges-heightened-ebola-surveillance-as-supportive-visits-continue/" TargetMode="External"/><Relationship Id="rId4" Type="http://schemas.openxmlformats.org/officeDocument/2006/relationships/hyperlink" Target="https://www.myjoyonline.com/driver-suffers-severe-chemical-burns-after-hydrogen-peroxide-truck-catches-fire-at-goriyiri/" TargetMode="External"/><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3" Type="http://schemas.openxmlformats.org/officeDocument/2006/relationships/hyperlink" Target="https://togoweb.net/63-ans-apres-sa-mort-le-premier-president-du-togo-na-toujours-pas-de-tombe-dans-son-pays/?utm_source=rss&utm_medium=rss&utm_campaign=63-ans-apres-sa-mort-le-premier-president-du-togo-na-toujours-pas-de-tombe-dans-son-pays" TargetMode="External"/><Relationship Id="rId4"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2" Type="http://schemas.openxmlformats.org/officeDocument/2006/relationships/image" Target="../media/image-28-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fr.allafrica.com/stories/202610290581.html" TargetMode="External"/><Relationship Id="rId2" Type="http://schemas.openxmlformats.org/officeDocument/2006/relationships/hyperlink" Target="https://atop.tg/le-togo-renforce-la-vigilance-face-a-la-menace-de-la-maladie-a-virus-ebola/" TargetMode="External"/><Relationship Id="rId3" Type="http://schemas.openxmlformats.org/officeDocument/2006/relationships/hyperlink" Target="https://lenouveaureporter.com/whatsapp-la-fausse-alerte-au-vote-pour-pirater-votre-compte-fait-son-retour/" TargetMode="External"/><Relationship Id="rId4" Type="http://schemas.openxmlformats.org/officeDocument/2006/relationships/hyperlink" Target="https://togopresse.tg/3e-forum-russie-afrique-le-togo-fixe-ses-priorites/" TargetMode="External"/><Relationship Id="rId5" Type="http://schemas.openxmlformats.org/officeDocument/2006/relationships/hyperlink" Target="https://atop.tg/securite-sanitaire-des-aliments-le-lansa-se-fait-connaitre-des-acteurs-regionaux-a-sokode/" TargetMode="External"/><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togoactualite.com/togo-nathaniel-olympio-denonce-la-dependance-a-laide-etrangere-pour-nourrir-et-habiller-les-eleves/" TargetMode="External"/><Relationship Id="rId2" Type="http://schemas.openxmlformats.org/officeDocument/2006/relationships/hyperlink" Target="https://atop.tg/interview-une-mauvaise-conservation-des-aliments-ou-une-manipulation-inappropriee-peuvent-provoquer-des-intoxications-alimentaires-anselme-bruno-sandah/" TargetMode="External"/><Relationship Id="rId3" Type="http://schemas.openxmlformats.org/officeDocument/2006/relationships/hyperlink" Target="https://fr.allafrica.com/stories/202610290484.html" TargetMode="External"/><Relationship Id="rId4" Type="http://schemas.openxmlformats.org/officeDocument/2006/relationships/hyperlink" Target="https://24heureinfo.com/sante/ebola-le-togo-renforce-les-controles-sanitaires-aux-frontieres/" TargetMode="Externa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www.alwihdainfo.com/securite-au-benin-le-msec-dresse-son-bilan-et-trace-son-cap-pour-les-trois-prochaines-annees/" TargetMode="External"/><Relationship Id="rId3" Type="http://schemas.openxmlformats.org/officeDocument/2006/relationships/hyperlink" Target="https://www.alwihdainfo.com/securite-au-benin-le-msec-dresse-son-bilan-et-trace-son-cap-pour-les-trois-prochaines-annees/" TargetMode="External"/><Relationship Id="rId4" Type="http://schemas.openxmlformats.org/officeDocument/2006/relationships/hyperlink" Target="https://www.alwihdainfo.com/securite-au-benin-le-msec-dresse-son-bilan-et-trace-son-cap-pour-les-trois-prochaines-annees/" TargetMode="External"/><Relationship Id="rId2" Type="http://schemas.openxmlformats.org/officeDocument/2006/relationships/image" Target="../media/image-31-1.jpe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thesun.ng/nuee-threatens-nationwide-shutdown-demands-withdrawal-of-soldiers-from-bedc-hqtrs/"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www.guinee7.com/2026/10/28/semaine-du-soldat-2026-les-forces-de-securite-a-lassaut-des-dechets-a-madina/" TargetMode="External"/><Relationship Id="rId3" Type="http://schemas.openxmlformats.org/officeDocument/2006/relationships/hyperlink" Target="https://www.guinee7.com/2026/10/28/semaine-du-soldat-2026-les-forces-de-securite-a-lassaut-des-dechets-a-madina/" TargetMode="External"/><Relationship Id="rId4" Type="http://schemas.openxmlformats.org/officeDocument/2006/relationships/hyperlink" Target="https://www.guinee7.com/2026/10/28/semaine-du-soldat-2026-les-forces-de-securite-a-lassaut-des-dechets-a-madina/" TargetMode="External"/><Relationship Id="rId2" Type="http://schemas.openxmlformats.org/officeDocument/2006/relationships/image" Target="../media/image-33-1.jpe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www.guinee7.com/2026/10/28/faranah-la-colere-eclate-apres-la-mort-dun-etudiant-de-lisav-la-direction-apporte-des-precisions/" TargetMode="External"/><Relationship Id="rId2" Type="http://schemas.openxmlformats.org/officeDocument/2006/relationships/hyperlink" Target="https://www.guinee7.com/2026/10/25/mort-mysterieuse-de-souleymane-toure-sa-mere-et-sa-soeur-veulent-toute-la-verite/" TargetMode="External"/><Relationship Id="rId3" Type="http://schemas.openxmlformats.org/officeDocument/2006/relationships/hyperlink" Target="https://guineematin.com/2026/10/28/kindia-une-femme-de-68-ans-meurt-dans-un-incendie-a-kenende/?utm_source=rss&amp;utm_medium=rss&amp;utm_campaign=kindia-une-femme-de-68-ans-meurt-dans-un-incendie-a-kenende" TargetMode="External"/><Relationship Id="rId4" Type="http://schemas.openxmlformats.org/officeDocument/2006/relationships/hyperlink" Target="https://guineematin.com/2026/10/26/insecurite-a-labe-le-journaliste-boubacar-garki-diallo-victime-de-cambriolage-ses-equipements-de-travail-emporte-par-les-malfaiteurs/?utm_source=rss&amp;utm_medium=rss&amp;utm_campaign=insecurite-a-labe-le-journaliste-boubacar-garki-diallo-victime-de-cambriolage-ses-equipements-de-travail-emporte-par-les-malfaiteurs" TargetMode="External"/><Relationship Id="rId5" Type="http://schemas.openxmlformats.org/officeDocument/2006/relationships/hyperlink" Target="https://www.guinee7.com/2026/10/26/mairie-de-dixinn-pourquoi-les-femmes-balayeuses-ont-renonce-a-leur-manifestation/" TargetMode="External"/><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guineematin.com/2026/10/26/appel-a-manifestation-dinteret-pour-les-services-de-consultants-locaux-en-audit/?utm_source=rss&amp;utm_medium=rss&amp;utm_campaign=appel-a-manifestation-dinteret-pour-les-services-de-consultants-locaux-en-audit" TargetMode="External"/><Relationship Id="rId2" Type="http://schemas.openxmlformats.org/officeDocument/2006/relationships/hyperlink" Target="https://guineematin.com/2026/10/26/kankan-un-incendie-cause-dimportants-degats-au-quartier-bordo/?utm_source=rss&amp;utm_medium=rss&amp;utm_campaign=kankan-un-incendie-cause-dimportants-degats-au-quartier-bordo" TargetMode="External"/><Relationship Id="rId3" Type="http://schemas.openxmlformats.org/officeDocument/2006/relationships/hyperlink" Target="https://guineematin.com/2026/10/24/loi-de-finances-rectificative-2026-entre-crise-petroliere-et-retards-des-projets-la-ministre-de-leconomie-mariama-cire-sylla-sexplique/?utm_source=rss&amp;utm_medium=rss&amp;utm_campaign=loi-de-finances-rectificative-2026-entre-crise-petroliere-et-retards-des-projets-la-ministre-de-leconomie-mariama-cire-sylla-sexplique" TargetMode="External"/><Relationship Id="rId4" Type="http://schemas.openxmlformats.org/officeDocument/2006/relationships/hyperlink" Target="https://www.guinee7.com/2026/10/24/election-feguifoot-comex-argent-achat-voix-sponsor-editorial/" TargetMode="External"/><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frontpageafricaonline.com/liberia-dolphin-killed-butchered-before-nafaa-rescue-team-arrived/" TargetMode="Externa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frontpageafricaonline.com/liberia-judge-cites-evidence-in-finding-nsa-staff-peter-bon-jallah-guilty-of-statutory-rape-kidnapping/" TargetMode="External"/><Relationship Id="rId2" Type="http://schemas.openxmlformats.org/officeDocument/2006/relationships/hyperlink" Target="https://frontpageafricaonline.com/liberia-war-victims-survivors-protest-at-court-office-capitol-as-house-chairman-pledges-to-put-court-bill-before-plenary-tuesday/" TargetMode="External"/><Relationship Id="rId3" Type="http://schemas.openxmlformats.org/officeDocument/2006/relationships/hyperlink" Target="https://gnnliberia.com/liberia-calls-for-womens-meaningful-participation-from-peace-negotiations-to-implementation/" TargetMode="External"/><Relationship Id="rId4" Type="http://schemas.openxmlformats.org/officeDocument/2006/relationships/hyperlink" Target="https://frontpageafricaonline.com/liberia-launches-road-to-un-security-council-presidency-foreign-minister-nyanti-highlights-nations-historic-journey-from-sanctions-to-global-leadership/" TargetMode="External"/><Relationship Id="rId5" Type="http://schemas.openxmlformats.org/officeDocument/2006/relationships/hyperlink" Target="https://frontpageafricaonline.com/liberia-inside-the-defense-bid-to-overturn-the-peter-bon-jallah-conviction/" TargetMode="External"/><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frontpageafricaonline.com/a-former-security-chiefs-vision-for-liberias-immigration-service-finally-plays/" TargetMode="External"/><Relationship Id="rId2" Type="http://schemas.openxmlformats.org/officeDocument/2006/relationships/hyperlink" Target="https://gnnliberia.com/liberia-imposes-21-day-isolation-and-monitoring-rules-for-travelers-amid-regional-ebola-threat/" TargetMode="External"/><Relationship Id="rId3" Type="http://schemas.openxmlformats.org/officeDocument/2006/relationships/hyperlink" Target="https://gnnliberia.com/afl-fires-two-soldiers-over-assault/" TargetMode="External"/><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www.seneweb.com/fr/news/Societe/kaolack-un-retraite-retrouve-mort-a-son-domicile-le-corps-en-etat-de-decomposition_n_999002154.html" TargetMode="External"/><Relationship Id="rId3" Type="http://schemas.openxmlformats.org/officeDocument/2006/relationships/hyperlink" Target="https://www.seneweb.com/fr/news/Societe/kaolack-un-retraite-retrouve-mort-a-son-domicile-le-corps-en-etat-de-decomposition_n_999002154.html" TargetMode="External"/><Relationship Id="rId4" Type="http://schemas.openxmlformats.org/officeDocument/2006/relationships/hyperlink" Target="https://www.seneweb.com/fr/news/Societe/kaolack-un-retraite-retrouve-mort-a-son-domicile-le-corps-en-etat-de-decomposition_n_999002154.html" TargetMode="External"/><Relationship Id="rId2" Type="http://schemas.openxmlformats.org/officeDocument/2006/relationships/image" Target="../media/image-39-1.jpe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www.seneweb.com/fr/news/Societe/ngor-un-client-du-bar-restaurant-timis-defere-pour-tentative-de-meurtre-avec-un-pieu-en-bois_n_999002108.html" TargetMode="External"/><Relationship Id="rId2" Type="http://schemas.openxmlformats.org/officeDocument/2006/relationships/hyperlink" Target="https://www.dakaractu.com/Le-suspect-de-l-attentat-de-Trappes-reconnait-avoir-cible-des-personnes-musulmanes-ou-d-origine-africaine_a277600.html" TargetMode="External"/><Relationship Id="rId3" Type="http://schemas.openxmlformats.org/officeDocument/2006/relationships/hyperlink" Target="https://www.pressafrik.com/&#8203;Kebemer-un-berger-de-17-ans-tue-dans-une-presumee-attaque-a-la-machette_a313745.html" TargetMode="External"/><Relationship Id="rId4" Type="http://schemas.openxmlformats.org/officeDocument/2006/relationships/hyperlink" Target="https://www.dakaractu.com/Medina-Fass-un-enfant-de-trois-ans-tue-par-un-bus-des-violences-eclatent-apres-le-choc_a277596.html" TargetMode="External"/><Relationship Id="rId5" Type="http://schemas.openxmlformats.org/officeDocument/2006/relationships/hyperlink" Target="https://www.senenews.com/actualites/affaire-aminata-sy-etranglee-pendant-30-minutes-la-lyceenne-a-subi-des-actes-de-barbarie-apres-sa-mort_604504.html" TargetMode="External"/><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hyperlink" Target="https://www.seneweb.com/fr/news/Societe/aminata-sy-le-tueur-sest-acharne-sur-la-depouille_n_999002068.html" TargetMode="External"/><Relationship Id="rId2" Type="http://schemas.openxmlformats.org/officeDocument/2006/relationships/hyperlink" Target="https://www.linfodrome.com/international/126992-menaces-de-mort-contre-sonko-ce-que-pastef-reproche-a-des-cadres-de-kiiraay" TargetMode="External"/><Relationship Id="rId3" Type="http://schemas.openxmlformats.org/officeDocument/2006/relationships/hyperlink" Target="https://www.pressafrik.com/&#8203;Kedougou-67-millions-de-FCFA-emportes-lors-d-une-attaque-armee-contre-un-site-minier-a-Faranding_a313698.html" TargetMode="External"/><Relationship Id="rId4" Type="http://schemas.openxmlformats.org/officeDocument/2006/relationships/hyperlink" Target="https://www.pressafrik.com/Touba-un-jeune-livreur-de-22-ans-tue-a-l-arme-blanche-au-quartier-30-Serigne-Cheikh-Bombali_a313692.html" TargetMode="External"/><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runner/work/SentiqS/SentiqS/scripts/assets/grsci/couverture-abidjan.jpg">    </p:cNvPr>
          <p:cNvPicPr>
            <a:picLocks noChangeAspect="1"/>
          </p:cNvPicPr>
          <p:nvPr/>
        </p:nvPicPr>
        <p:blipFill>
          <a:blip r:embed="rId1"/>
          <a:stretch>
            <a:fillRect/>
          </a:stretch>
        </p:blipFill>
        <p:spPr>
          <a:xfrm>
            <a:off x="182880" y="91440"/>
            <a:ext cx="11795760" cy="5852160"/>
          </a:xfrm>
          <a:prstGeom prst="rect">
            <a:avLst/>
          </a:prstGeom>
        </p:spPr>
      </p:pic>
      <p:sp>
        <p:nvSpPr>
          <p:cNvPr id="3" name="Text 0"/>
          <p:cNvSpPr/>
          <p:nvPr/>
        </p:nvSpPr>
        <p:spPr>
          <a:xfrm>
            <a:off x="2286000" y="228600"/>
            <a:ext cx="7589520" cy="128016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4400" dirty="0">
                <a:solidFill>
                  <a:srgbClr val="FFFFFF"/>
                </a:solidFill>
                <a:latin typeface="Arial Narrow" pitchFamily="34" charset="0"/>
                <a:ea typeface="Arial Narrow" pitchFamily="34" charset="-122"/>
                <a:cs typeface="Arial Narrow" pitchFamily="34" charset="-120"/>
              </a:rPr>
              <a:t>RAPPORT MENSUEL</a:t>
            </a:r>
            <a:endParaRPr lang="en-US" sz="4400" dirty="0"/>
          </a:p>
          <a:p>
            <a:pPr algn="ctr" indent="0" marL="0">
              <a:buNone/>
            </a:pPr>
            <a:r>
              <a:rPr lang="en-US" sz="4400" dirty="0">
                <a:solidFill>
                  <a:srgbClr val="FFFFFF"/>
                </a:solidFill>
                <a:latin typeface="Arial Narrow" pitchFamily="34" charset="0"/>
                <a:ea typeface="Arial Narrow" pitchFamily="34" charset="-122"/>
                <a:cs typeface="Arial Narrow" pitchFamily="34" charset="-120"/>
              </a:rPr>
              <a:t>DE SÛRETÉ</a:t>
            </a:r>
            <a:endParaRPr lang="en-US" sz="4400" dirty="0"/>
          </a:p>
        </p:txBody>
      </p:sp>
      <p:sp>
        <p:nvSpPr>
          <p:cNvPr id="4" name="Shape 1"/>
          <p:cNvSpPr/>
          <p:nvPr/>
        </p:nvSpPr>
        <p:spPr>
          <a:xfrm>
            <a:off x="3200400" y="1600200"/>
            <a:ext cx="5760720" cy="0"/>
          </a:xfrm>
          <a:prstGeom prst="line">
            <a:avLst/>
          </a:prstGeom>
          <a:noFill/>
          <a:ln w="38100">
            <a:solidFill>
              <a:srgbClr val="000000"/>
            </a:solidFill>
            <a:prstDash val="solid"/>
          </a:ln>
        </p:spPr>
      </p:sp>
      <p:sp>
        <p:nvSpPr>
          <p:cNvPr id="5" name="Text 2"/>
          <p:cNvSpPr/>
          <p:nvPr/>
        </p:nvSpPr>
        <p:spPr>
          <a:xfrm>
            <a:off x="2286000" y="1691640"/>
            <a:ext cx="7589520" cy="50292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SentiqS</a:t>
            </a:r>
            <a:endParaRPr lang="en-US" sz="2400" dirty="0"/>
          </a:p>
        </p:txBody>
      </p:sp>
      <p:sp>
        <p:nvSpPr>
          <p:cNvPr id="6" name="Text 3"/>
          <p:cNvSpPr/>
          <p:nvPr/>
        </p:nvSpPr>
        <p:spPr>
          <a:xfrm>
            <a:off x="7589520" y="5074920"/>
            <a:ext cx="4297680" cy="365760"/>
          </a:xfrm>
          <a:prstGeom prst="rect">
            <a:avLst/>
          </a:prstGeom>
          <a:noFill/>
          <a:ln/>
        </p:spPr>
        <p:txBody>
          <a:bodyPr wrap="square" rtlCol="0" anchor="ctr"/>
          <a:lstStyle/>
          <a:p>
            <a:pPr algn="r" indent="0" marL="0">
              <a:buNone/>
            </a:pPr>
            <a:r>
              <a:rPr lang="en-US" sz="2000" b="1" dirty="0">
                <a:solidFill>
                  <a:srgbClr val="FFFFFF"/>
                </a:solidFill>
                <a:latin typeface="Calibri" pitchFamily="34" charset="0"/>
                <a:ea typeface="Calibri" pitchFamily="34" charset="-122"/>
                <a:cs typeface="Calibri" pitchFamily="34" charset="-120"/>
              </a:rPr>
              <a:t>30 OCTOBRE 2026</a:t>
            </a:r>
            <a:endParaRPr lang="en-US" sz="2000" dirty="0"/>
          </a:p>
        </p:txBody>
      </p:sp>
      <p:sp>
        <p:nvSpPr>
          <p:cNvPr id="7" name="Text 4"/>
          <p:cNvSpPr/>
          <p:nvPr/>
        </p:nvSpPr>
        <p:spPr>
          <a:xfrm>
            <a:off x="5760720" y="5486400"/>
            <a:ext cx="6126480" cy="320040"/>
          </a:xfrm>
          <a:prstGeom prst="rect">
            <a:avLst/>
          </a:prstGeom>
          <a:noFill/>
          <a:ln/>
          <a:effectLst>
            <a:outerShdw sx="100000" sy="100000" kx="0" ky="0" algn="bl" rotWithShape="0" blurRad="50800" dist="12700" dir="2700000">
              <a:srgbClr val="000000">
                <a:alpha val="70000"/>
              </a:srgbClr>
            </a:outerShdw>
          </a:effectLst>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Période du 1er au 30 octobre 2026</a:t>
            </a:r>
            <a:endParaRPr lang="en-US" sz="1400" dirty="0"/>
          </a:p>
        </p:txBody>
      </p:sp>
      <p:pic>
        <p:nvPicPr>
          <p:cNvPr id="8" name="Image 1" descr="/home/runner/work/SentiqS/SentiqS/scripts/assets/grsci/afrique.png">    </p:cNvPr>
          <p:cNvPicPr>
            <a:picLocks noChangeAspect="1"/>
          </p:cNvPicPr>
          <p:nvPr/>
        </p:nvPicPr>
        <p:blipFill>
          <a:blip r:embed="rId2"/>
          <a:stretch>
            <a:fillRect/>
          </a:stretch>
        </p:blipFill>
        <p:spPr>
          <a:xfrm>
            <a:off x="9235440" y="6172200"/>
            <a:ext cx="548640" cy="548640"/>
          </a:xfrm>
          <a:prstGeom prst="rect">
            <a:avLst/>
          </a:prstGeom>
        </p:spPr>
      </p:pic>
      <p:sp>
        <p:nvSpPr>
          <p:cNvPr id="9" name="Text 5"/>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6"/>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0</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TABLE DES MATIÈRES</a:t>
            </a:r>
            <a:endParaRPr lang="en-US" sz="2800" dirty="0"/>
          </a:p>
        </p:txBody>
      </p:sp>
      <p:sp>
        <p:nvSpPr>
          <p:cNvPr id="4" name="Shape 2"/>
          <p:cNvSpPr/>
          <p:nvPr/>
        </p:nvSpPr>
        <p:spPr>
          <a:xfrm>
            <a:off x="457200" y="960120"/>
            <a:ext cx="11292840" cy="0"/>
          </a:xfrm>
          <a:prstGeom prst="line">
            <a:avLst/>
          </a:prstGeom>
          <a:noFill/>
          <a:ln w="6350">
            <a:solidFill>
              <a:srgbClr val="A3A3A3"/>
            </a:solidFill>
            <a:prstDash val="solid"/>
          </a:ln>
        </p:spPr>
      </p:sp>
      <p:sp>
        <p:nvSpPr>
          <p:cNvPr id="5" name="Shape 3"/>
          <p:cNvSpPr/>
          <p:nvPr/>
        </p:nvSpPr>
        <p:spPr>
          <a:xfrm>
            <a:off x="457200" y="1143000"/>
            <a:ext cx="5532120" cy="4754880"/>
          </a:xfrm>
          <a:prstGeom prst="rect">
            <a:avLst/>
          </a:prstGeom>
          <a:solidFill>
            <a:srgbClr val="FFFFFF"/>
          </a:solidFill>
          <a:ln w="9525">
            <a:solidFill>
              <a:srgbClr val="1F2937"/>
            </a:solidFill>
            <a:prstDash val="solid"/>
          </a:ln>
        </p:spPr>
      </p:sp>
      <p:sp>
        <p:nvSpPr>
          <p:cNvPr id="6" name="Text 4"/>
          <p:cNvSpPr/>
          <p:nvPr/>
        </p:nvSpPr>
        <p:spPr>
          <a:xfrm>
            <a:off x="45720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FAITS MARQUANTS EN CÔTE D'IVOIRE</a:t>
            </a:r>
            <a:endParaRPr lang="en-US" sz="1500" dirty="0"/>
          </a:p>
        </p:txBody>
      </p:sp>
      <p:sp>
        <p:nvSpPr>
          <p:cNvPr id="7" name="Text 5"/>
          <p:cNvSpPr/>
          <p:nvPr/>
        </p:nvSpPr>
        <p:spPr>
          <a:xfrm>
            <a:off x="64008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POLITIQUE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AFFAIRE ‘’FABIENNE TUÉE PAR SON COPAIN À DALOA’’ : PLUSIEURS VÉHICULES DÉBARQUENT…</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DALOA : LA BELLE FABIENNE LÂCHEMENT TUÉE PAR SON COPAIN BOULANGER SUR LA BASE DE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TENSIONS PERMANENTES ENTRE LE DISTRICT AUTONOME D’ABIDJAN ET LES MAIRIES : LE CPC…</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PROJETS DE SA MANDATURE: LE PRÉSIDENT SORTANT DE LA JCI ÉMERAUDE DRESSE UN BILAN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GUIGLO : ETOUFFÉES PAR LA FLAMBÉE DES PRIX, LES VENDEUSES DE POISSONS EN GRÈVE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LE CANCER DU SEIN : LINFODROME COMBAT LES RUMEURS ET SENSIBILISE LES…</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SOCIAL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SOUPÇONNÉ D’INFIDÉLITÉ, IL TUE SA COMPAGNE DE 26 ANS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L'ORPAILLAGE ILLÉGAL À KORHOGO - ASSAHORÉ KONAN VEUT SANCTIONNER TOU…</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POMMES, BANANES, KIWIS : CETTE ERREUR DE RANGEMENT FAIT MÛRIR VOS FRUITS BEAUCOUP…</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GASPILLAGE ALIMENTAIRE - LE CCESP PLAIDE POUR UN PACTE NATIONAL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BOUNA : LES VICTIMES D’ACCIDENTS DE LA ROUTE POURRONT DÉSORMAIS PRISES EN CHARGE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CÔTE D'IVOIRE : LE GOUVERNEMENT MISE SUR LA PONADEPA II POUR ATTEINDRE LA SOUVERA…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SÉCURITÉ</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BOUAKÉ : LE DGPN LANCE L'OPÉRATION EPERVIER 12 POUR DÉMANTELER LES RÉSEAUX CRIMINELS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LA CÔTE D’IVOIRE EXPOSÉE À UN NOUVEAU CORRIDOR DJIHADISTE / LES VENDEUSES DE POIS…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CÔTE D’IVOIRE : DES GRANDES INSTITUTIONS À L’ARMÉE, ALASSANE OUATTARA SONNE L’HEU…</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ABIDJAN - CAP VERS UNE COOPÉRATION MILITAIRE BILATÉRALE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3ÈME FORUM FRONTIÈRES D'ABIDJAN : LA REPRÉSENTATION PERMANENTE DE LA CEDEAO AUPRÈ…</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CHARNIER DE YOPOUGON : 26 ANS APRÈS, AMADOU COULIBALY OPPOSE LES VIOLENCES DU PAS…</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DIVERS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GONZAGUEVILLE : ELLE LUI REFUSE LE SEXE, IL LA TUE ET JETTE SON CORPS DANS UNE DÉ…</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AVANT LA GRANDE MARCHE DU 24 COCTOBRE ; EMMANUEL MACRON FACE UN ATTENTAT</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PRIX DU POISSON EN CÔTE D'IVOIRE - L'INTERPROFESSION PÊCHE SALUE LES MESURES GOUV…</a:t>
            </a:r>
            <a:endParaRPr lang="en-US" sz="900" dirty="0"/>
          </a:p>
        </p:txBody>
      </p:sp>
      <p:sp>
        <p:nvSpPr>
          <p:cNvPr id="8" name="Shape 6"/>
          <p:cNvSpPr/>
          <p:nvPr/>
        </p:nvSpPr>
        <p:spPr>
          <a:xfrm>
            <a:off x="6217920" y="1143000"/>
            <a:ext cx="5532120" cy="4754880"/>
          </a:xfrm>
          <a:prstGeom prst="rect">
            <a:avLst/>
          </a:prstGeom>
          <a:solidFill>
            <a:srgbClr val="FFFFFF"/>
          </a:solidFill>
          <a:ln w="9525">
            <a:solidFill>
              <a:srgbClr val="1F2937"/>
            </a:solidFill>
            <a:prstDash val="solid"/>
          </a:ln>
        </p:spPr>
      </p:sp>
      <p:sp>
        <p:nvSpPr>
          <p:cNvPr id="9" name="Text 7"/>
          <p:cNvSpPr/>
          <p:nvPr/>
        </p:nvSpPr>
        <p:spPr>
          <a:xfrm>
            <a:off x="621792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DYNAMIQUES SOUS-RÉGIONALES</a:t>
            </a:r>
            <a:endParaRPr lang="en-US" sz="1500" dirty="0"/>
          </a:p>
        </p:txBody>
      </p:sp>
      <p:sp>
        <p:nvSpPr>
          <p:cNvPr id="10" name="Text 8"/>
          <p:cNvSpPr/>
          <p:nvPr/>
        </p:nvSpPr>
        <p:spPr>
          <a:xfrm>
            <a:off x="640080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BURKINA FASO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RÉTABLISSEMENT DE LA PEINE DE MORT POUR CRIMES ÉCONOMIQUES AU BURKINA : ET SI C’É…</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MALI</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MALI : PRÈS DE DJENNÉ, SOUNGA, DERNIER VILLAGE DE MOUGNA À RÉSISTER AU JNIM, ATTA…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NIGER</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TCHAD : LE PAYS DÉMENT LES ACCUSATIONS DU NIGER CONCERNANT UNE FRAPPE DE DRONE</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GHANA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GHANA : UNE JEUNE FEMME MEURT APRÈS L’EXPLOSION D’UN SEX-TOY</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TOGO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63 ANS APRÈS SA MORT, LE PREMIER PRÉSIDENT DU TOGO N’A TOUJOURS PAS DE TOMBE DANS…</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BÉNIN</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SÉCURITÉ AU BÉNIN : LE MSEC DRESSE SON BILAN ET TRACE SON CAP POUR LES TROIS PROC…</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GUINÉE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SEMAINE DU SOLDAT 2026 : LES FORCES DE SÉCURITÉ À L’ASSAUT DES DÉCHETS À MADINA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LIBERIA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LIBÉRIA : UN DAUPHIN TUÉ ET MASSACRÉ AVANT L'ARRIVÉE DE L'ÉQUIPE DE SECOURS DE LA…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SÉNÉGAL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KAOLACK : UN RETRAITÉ RETROUVÉ MORT À SON DOMICILE, LE CORPS EN ÉTAT DE DÉCOMPOSI…</a:t>
            </a:r>
            <a:endParaRPr lang="en-US" sz="9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carte-ci.jp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FAITS MARQUANTS EN CÔTE D'IVOIRE</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1371600" y="5074920"/>
            <a:ext cx="9418320" cy="640080"/>
          </a:xfrm>
          <a:prstGeom prst="rect">
            <a:avLst/>
          </a:prstGeom>
          <a:noFill/>
          <a:ln/>
        </p:spPr>
        <p:txBody>
          <a:bodyPr wrap="square" rtlCol="0" anchor="ctr"/>
          <a:lstStyle/>
          <a:p>
            <a:pPr algn="ctr" indent="0" marL="0">
              <a:buNone/>
            </a:pPr>
            <a:r>
              <a:rPr lang="en-US" sz="1100" i="1" dirty="0">
                <a:solidFill>
                  <a:srgbClr val="333333"/>
                </a:solidFill>
                <a:latin typeface="Calibri" pitchFamily="34" charset="0"/>
                <a:ea typeface="Calibri" pitchFamily="34" charset="-122"/>
                <a:cs typeface="Calibri" pitchFamily="34" charset="-120"/>
              </a:rPr>
              <a:t>Faits marquants : textes établis à partir des médias cités, dont les chapôs sont reproduits entre guillemets. Les « enjeux sûreté » sont des repères par type d'événement, à valider et compléter par l'analyste.</a:t>
            </a:r>
            <a:endParaRPr lang="en-US" sz="1100" dirty="0"/>
          </a:p>
        </p:txBody>
      </p:sp>
      <p:sp>
        <p:nvSpPr>
          <p:cNvPr id="6" name="Text 3"/>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7" name="Text 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Affaire ‘’Fabienne tuée par son copain à Daloa’’ : Plusieurs véhicules débarquent de son village natal</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29 octobre 2026. Lieu : Daloa,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Linfodrome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A l’annonce du décès tragique de D. Lou Fabienne, un convoi de plusieurs véhicules parti de Bahoulifla, village natal de la victime, a débarqué au quartier Kennedy 2 de Daloa, où le drame s’est produit.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29 octobre 2026, 16 h UTC   ·   Cotation : Probable</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Daloa : La belle Fabienne lâchement tuée par son copain boulanger sur la base de simples soupçons d’infidélité</a:t>
            </a:r>
            <a:endParaRPr lang="en-US" sz="2200" dirty="0"/>
          </a:p>
        </p:txBody>
      </p:sp>
      <p:sp>
        <p:nvSpPr>
          <p:cNvPr id="10" name="Text 8"/>
          <p:cNvSpPr/>
          <p:nvPr/>
        </p:nvSpPr>
        <p:spPr>
          <a:xfrm>
            <a:off x="640080" y="1755648"/>
            <a:ext cx="10972800" cy="414223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29 octobre 2026. Lieu : Daloa,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Linfodrome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Un drame conjugal sur fond de jalousie a plongé le quartier Kennedy 2 de Daloa dans la consternation. Dans la nuit du mardi 27 au mercredi 28 octobre 2026, D. Lou Fabienne, dite « Fabi », une gérante de maquis âgée de 26 ans, a perdu la vie à la suite d’une violente dispute avec son compagnon, S. Arthur, boulanger, lui aussi âgé de 26 ans.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en mesurer l'incidence sur la stabilité locale et les déplacements.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29 octobre 2026, 8 h UTC   ·   Cotation : Probable</a:t>
            </a:r>
            <a:endParaRPr lang="en-US" sz="14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TENSIONS PERMANENTES ENTRE LE DISTRICT AUTONOME D’ABIDJAN ET LES MAIRIES : LE CPC EST-IL BEL ET BIEN MORT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PROJETS DE SA MANDATURE: LE PRÉSIDENT SORTANT DE LA JCI ÉMERAUDE DRESSE UN BILAN DE 95% DE TAUX D’EXÉCUTION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GUIGLO : ETOUFFÉES PAR LA FLAMBÉE DES PRIX, LES VENDEUSES DE POISSONS EN GRÈVE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CANCER DU SEIN : LINFODROME COMBAT LES RUMEURS ET SENSIBILISE LES POPULATIONS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CRISE AU SEIN DU PDCI/RDA - « L'ÉLÉPHANT » SE CASSERA-T-IL UNE DEUXIÈME PATTE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9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BIENNALE INTERNATIONALE DES ARTS D’ABIDJAN : AUGUSTIN KASSI (PROMOTEUR) APPELLE À UNE MOBILISATION COLLECTIVE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EN 2025, LE DÉFICIT BUDGÉTAIRE DE L’ÉTAT A ATTEINT 2 208 MILLIARDS DE FCFA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OCTOBRE ROSE : ARIEL SHENEY SUR TOUS LES FRONTS APRÈS UNE ÉPREUVE PERSONNELLE LIÉE AU DÉCÈS DE SON ÉPOUSE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Soupçonné d’infidélité, il tue sa compagne de 26 ans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29 octobre 2026. Lieu : Daloa, Côte d'Ivoire. Actualité sociale. Une seule source à ce stade (Wakat Sera)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Wakat Sera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Une jeune femme de 26 ans a été retrouvée morte à son domicile, le mercredi 28 octobre 2026, au quartier Kennedy 2 de Daloa, en Côte d’Ivoire.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Contexte social à suivre : incidence possible sur l'activité, la circulation et l'environnement des sites.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29 octobre 2026, 11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8473059" y="2075688"/>
            <a:ext cx="2439162" cy="3657600"/>
          </a:xfrm>
          <a:prstGeom prst="rect">
            <a:avLst/>
          </a:prstGeom>
        </p:spPr>
      </p:pic>
      <p:sp>
        <p:nvSpPr>
          <p:cNvPr id="13" name="Text 10"/>
          <p:cNvSpPr/>
          <p:nvPr/>
        </p:nvSpPr>
        <p:spPr>
          <a:xfrm>
            <a:off x="7635240" y="576986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wakatsera.com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L'ORPAILLAGE ILLÉGAL À KORHOGO - ASSAHORÉ KONAN VEUT SANCTIONNER TOUTES LES COMPLICITÉS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POMMES, BANANES, KIWIS : CETTE ERREUR DE RANGEMENT FAIT MÛRIR VOS FRUITS BEAUCOUP TROP VITE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GASPILLAGE ALIMENTAIRE - LE CCESP PLAIDE POUR UN PACTE NATIONAL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BOUNA : LES VICTIMES D’ACCIDENTS DE LA ROUTE POURRONT DÉSORMAIS PRISES EN CHARGE GRATUITEMENT AUX URGENCES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LE GOUVERNEMENT MISE SUR LA PONADEPA II POUR ATTEINDRE LA SOUVERAINETÉ ALIMENTAIRE D'ICI 2030</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GASPILLAGE ALIMENTAIRE : LE COMITÉ DE CONCERTATION ÉTAT-SECTEUR PRIVÉ PRÉCONISE UN CADRE NATIONAL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HAUSSE DES PRIX DU POISSON : ASSALÉ TIÉMOKO RÉVÈLE UNE DÉPENDANCE DE LA CÔTE D’IVOIRE À 88,8 % AUX IMPORTATIONS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DANANÉ/CHIRURGIE HUMANITAIRE - 134 PATIENTS OPÉRÉS GRATUITEMENT, DONT 114 POUR UNE HERNIE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17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05840"/>
            <a:ext cx="10972800" cy="292608"/>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2 signaux du jour)</a:t>
            </a:r>
            <a:endParaRPr lang="en-US" sz="1100" dirty="0"/>
          </a:p>
        </p:txBody>
      </p:sp>
      <p:sp>
        <p:nvSpPr>
          <p:cNvPr id="10" name="Text 8"/>
          <p:cNvSpPr/>
          <p:nvPr/>
        </p:nvSpPr>
        <p:spPr>
          <a:xfrm>
            <a:off x="640080" y="1325880"/>
            <a:ext cx="10972800" cy="452628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BOUAKÉ : LE DGPN LANCE L'OPÉRATION EPERVIER 12 POUR DÉMANTELER LES RÉSEAUX CRIMINELS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21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CÔTE D’IVOIRE EXPOSÉE À UN NOUVEAU CORRIDOR DJIHADISTE / LES VENDEUSES DE POISSON « ROULÉES DANS LA FARINE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DES GRANDES INSTITUTIONS À L’ARMÉE, ALASSANE OUATTARA SONNE L’HEURE DE LA RETRAITE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ABIDJAN - CAP VERS UNE COOPÉRATION MILITAIRE BILATÉRALE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3ÈME FORUM FRONTIÈRES D'ABIDJAN : LA REPRÉSENTATION PERMANENTE DE LA CEDEAO AUPRÈS DE L'UNION AFRICAINE S'ENGAGE POUR UNE GOUVERNANCE DES FRONTIÈRES CENTRÉE SUR LES POPULATIONS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CEDEAO — Communiques officiels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CHARNIER DE YOPOUGON : 26 ANS APRÈS, AMADOU COULIBALY OPPOSE LES VIOLENCES DU PASSÉ À L’ÈRE OUATTARA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NATIONAL D'EXCELLENCE 2026 - RAPHAËL DIAMALA KOUASSI HISSE M'BAHIAKRO SUR LE PODIUM DES MEILLEURS MAIRES DU PAYS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INTERPOL RENFORCE LES CAPACITÉS DES ENQUÊTEURS IVOIRIENS POUR TRAQUER LES AVOIRS DES CRIMINELS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QUERELLES DE SUCCESSION OU PROFANATION D'UN HÉRITAGE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SÉCURITÉ ALIMENTAIRE ET SÉCURISATION FONCIÈRE, LE GOUVERNEMENT SOUTIENT LES FEMMES PRODUCTRICES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Gonzagueville : Elle lui refuse le sexe, il la tue et jette son corps dans une décharge d'ordures</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Côte d'Ivoire. Actualité économique.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Linfodrome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Un jeune homme de 20 ans a été interpellé par la Brigade de recherche et d’intervention (BRI) après la découverte du corps sans vie d’une jeune fille de 18 ans dans une décharge à Gonzagueville, dans la commune de Port-Bouët. Selon les déclarations du suspect rapportées par la police, le drame serait survenu après que la victime lui ait refusé des rapports sexuels.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Incidence possible sur l'environnement des affaires, les approvisionnements et la sûreté des opérations.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12 h UTC   ·   Cotation : Probable</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AVANT LA GRANDE MARCHE DU 24 COCTOBRE ; EMMANUEL MACRON FACE UN ATTENTAT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DU POISSON EN CÔTE D'IVOIRE - L'INTERPROFESSION PÊCHE SALUE LES MESURES GOUVERNEMENTALES ET PROMET DE NOUVELLES BAISSES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afrique.pn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DYNAMIQUES RÉGIONALES</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6" name="Text 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 : situation Fin octobre</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1 signal du jour)</a:t>
            </a:r>
            <a:endParaRPr lang="en-US" sz="1100" dirty="0"/>
          </a:p>
        </p:txBody>
      </p:sp>
      <p:sp>
        <p:nvSpPr>
          <p:cNvPr id="9" name="Text 7"/>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Rétablissement de la peine de mort pour crimes économiques au Burkina : Et si c’était au Togo</a:t>
            </a:r>
            <a:endParaRPr lang="en-US" sz="2200" dirty="0"/>
          </a:p>
        </p:txBody>
      </p:sp>
      <p:sp>
        <p:nvSpPr>
          <p:cNvPr id="10" name="Text 8"/>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29 octobre 2026. Lieu : Burkina Faso. Actualité politique. Repris par 2 médias distincts (Icilome, Togo Actualite) : le fait est recoupé.</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Icilome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Le Burkina Faso a officiellement rétabli la peine de mort le 20 octobre 2026, lors de l’adoption à l’unanimité d’un nouveau Code pénal par l’Assemblée législative de la transition.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Évolution du cadre juridique et sécuritaire : à intégrer à l'analyse pays et à la sensibilisation des personnels expatriés et locaux.</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Sources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Icilome</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Togo Actualite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29 octobre 2026, 12 h UTC   ·   Cotation : Confirmé</a:t>
            </a:r>
            <a:endParaRPr lang="en-US" sz="1400" dirty="0"/>
          </a:p>
        </p:txBody>
      </p:sp>
      <p:pic>
        <p:nvPicPr>
          <p:cNvPr id="11" name="Image 0" descr="preencoded.png">
            <a:hlinkClick r:id="rId4" tooltip=""/>
          </p:cNvPr>
          <p:cNvPicPr>
            <a:picLocks noChangeAspect="1"/>
          </p:cNvPicPr>
          <p:nvPr/>
        </p:nvPicPr>
        <p:blipFill>
          <a:blip r:embed="rId3"/>
          <a:stretch>
            <a:fillRect/>
          </a:stretch>
        </p:blipFill>
        <p:spPr>
          <a:xfrm>
            <a:off x="7635240" y="2075688"/>
            <a:ext cx="4114800" cy="2571750"/>
          </a:xfrm>
          <a:prstGeom prst="rect">
            <a:avLst/>
          </a:prstGeom>
        </p:spPr>
      </p:pic>
      <p:sp>
        <p:nvSpPr>
          <p:cNvPr id="12" name="Text 9"/>
          <p:cNvSpPr/>
          <p:nvPr/>
        </p:nvSpPr>
        <p:spPr>
          <a:xfrm>
            <a:off x="7635240" y="468401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Photo : © icilome.com</a:t>
            </a:r>
            <a:endParaRPr lang="en-US" sz="900" dirty="0"/>
          </a:p>
        </p:txBody>
      </p:sp>
      <p:sp>
        <p:nvSpPr>
          <p:cNvPr id="13"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UNE PROMESSE D’ÉCHANGE D’IPHONE VIRE AU MEURTRE PRÉSUMÉ D’UNE JEUNE FILLE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PEINE DE MORT RÉINTRODUITE POUR CERTAINS CRIMES DANS LE NOUVEAU CODE PÉNAL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(BF)</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RÉTABLIT LA PEINE DE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(BF) · HRW_fr sur X/Twitter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COOPÉRATION MILITAIRE: OUVERTURE DE LA DEUXIÈME SESSION DE COMITÉ MIXTE DE SUIVI BURKINA FASO-EGYPTE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Wakat Sera · Burkina24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RÉSULTATS PROVISOIRES : AVIS D’APPEL À MANIFESTATION D’INTÉRÊT N02026-025/A2N-CAM/10 POUR LA CONSTITUTION D’UNE LISTE RESTREINTE DE CABINETS QUALIFIÉS EN SERVICES DE CONSULTANCE POUR LA CONDUITE DU DIAGNOSTIC, LA MISE EN CONFORMITÉ ET LA MODERNISATION DES PRATIQUES EN RESSOURCES HUMAINES DE L’ ASSOCIATION NODDE NOOTO (A2N)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9" name="Text 7"/>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CLIMAT ET SÉCURITÉ AU SAHEL : LE BURKINA FASO PASSE À L’ACTION POUR SA STRATÉGIE NATIONALE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CLIMAT-PAIX-SÉCURITÉ : LE BURKINA FASO MISE SUR UNE MEILLEURE COORDINATION DES ACTEURS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Burkina24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ENTREPRENEURIAT FÉMININ À KORSIMORO : LE COMBAT INSPIRANT DES FEMMES POUR L’AUTONOMIE FINANCIÈRE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Burkina24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SÉCURITÉ NUMÉRIQUE AU BURKINA : LA BCLCC LANCE LA 2ᵉ SEMAINE NATIONALE DE LUTTE CONTRE LA CYBERCRIMINALITÉ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13 h UTC</a:t>
            </a:r>
            <a:endParaRPr lang="en-US" sz="1300" dirty="0"/>
          </a:p>
        </p:txBody>
      </p:sp>
      <p:sp>
        <p:nvSpPr>
          <p:cNvPr id="9" name="Text 7"/>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123 jours ; 5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Mali : près de Djenné, Sounga, dernier village de Mougna à résister au JNIM, attaqué par les jihadistes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Contexte</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Fait rapporté le jeudi 29 octobre 2026. Lieu : Mopti, Mali. Actualité sécuritaire. Repris par 3 médias distincts (Points Chauds Online, AllAfrica (ML), RFI Afrique) : le fait est recoupé.</a:t>
            </a:r>
            <a:endParaRPr lang="en-US" sz="1300" dirty="0"/>
          </a:p>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Ce que rapportent les sources</a:t>
            </a:r>
            <a:endParaRPr lang="en-US" sz="1300" dirty="0"/>
          </a:p>
          <a:p>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Points Chauds Online : </a:t>
            </a:r>
            <a:pPr indent="0" marL="0">
              <a:spcAft>
                <a:spcPts val="300"/>
              </a:spcAft>
              <a:buNone/>
            </a:pPr>
            <a:r>
              <a:rPr lang="en-US" sz="1300" i="1" dirty="0">
                <a:solidFill>
                  <a:srgbClr val="1F2937"/>
                </a:solidFill>
                <a:latin typeface="Calibri" pitchFamily="34" charset="0"/>
                <a:ea typeface="Calibri" pitchFamily="34" charset="-122"/>
                <a:cs typeface="Calibri" pitchFamily="34" charset="-120"/>
              </a:rPr>
              <a:t>« Sous blocus jihadiste depuis mai, le village de Sounga, défendu par des chasseurs dozos, a repoussé un assaut du JNIM puis subi des tirs et des frappes de drone, selon RFI. »</a:t>
            </a:r>
            <a:endParaRPr lang="en-US" sz="1300" dirty="0"/>
          </a:p>
          <a:p>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AllAfrica (ML) : </a:t>
            </a:r>
            <a:pPr indent="0" marL="0">
              <a:spcAft>
                <a:spcPts val="300"/>
              </a:spcAft>
              <a:buNone/>
            </a:pPr>
            <a:r>
              <a:rPr lang="en-US" sz="1300" i="1" dirty="0">
                <a:solidFill>
                  <a:srgbClr val="1F2937"/>
                </a:solidFill>
                <a:latin typeface="Calibri" pitchFamily="34" charset="0"/>
                <a:ea typeface="Calibri" pitchFamily="34" charset="-122"/>
                <a:cs typeface="Calibri" pitchFamily="34" charset="-120"/>
              </a:rPr>
              <a:t>« [RFI] Au Mali, le village de Sounga, qui appartient à la commune de Mougna, près de Djenné dans la région de Mopti, continue de résister aux jihadistes du Jnim, liés à al-Qaïda. »</a:t>
            </a:r>
            <a:endParaRPr lang="en-US" sz="1300" dirty="0"/>
          </a:p>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Enjeux sûreté</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300" dirty="0"/>
          </a:p>
          <a:p>
            <a:pPr indent="0" marL="0">
              <a:spcBef>
                <a:spcPts val="800"/>
              </a:spcBef>
              <a:spcAft>
                <a:spcPts val="300"/>
              </a:spcAft>
              <a:buNone/>
            </a:pPr>
            <a:r>
              <a:rPr lang="en-US" sz="1300" b="1" dirty="0">
                <a:solidFill>
                  <a:srgbClr val="1F2937"/>
                </a:solidFill>
                <a:latin typeface="Calibri" pitchFamily="34" charset="0"/>
                <a:ea typeface="Calibri" pitchFamily="34" charset="-122"/>
                <a:cs typeface="Calibri" pitchFamily="34" charset="-120"/>
              </a:rPr>
              <a:t>Sources : </a:t>
            </a:r>
            <a:pPr indent="0" marL="0">
              <a:spcAft>
                <a:spcPts val="3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Points Chauds Online</a:t>
            </a:r>
            <a:pPr indent="0" marL="0">
              <a:spcAft>
                <a:spcPts val="3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AllAfrica (ML)</a:t>
            </a:r>
            <a:pPr indent="0" marL="0">
              <a:spcAft>
                <a:spcPts val="3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RFI Afrique</a:t>
            </a:r>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 — 29 octobre 2026, 18 h UTC   ·   Cotation : Confirmé</a:t>
            </a:r>
            <a:endParaRPr lang="en-US" sz="1300" dirty="0"/>
          </a:p>
        </p:txBody>
      </p:sp>
      <p:pic>
        <p:nvPicPr>
          <p:cNvPr id="12" name="Image 0" descr="preencoded.png">
            <a:hlinkClick r:id="rId5" tooltip=""/>
          </p:cNvPr>
          <p:cNvPicPr>
            <a:picLocks noChangeAspect="1"/>
          </p:cNvPicPr>
          <p:nvPr/>
        </p:nvPicPr>
        <p:blipFill>
          <a:blip r:embed="rId4"/>
          <a:stretch>
            <a:fillRect/>
          </a:stretch>
        </p:blipFill>
        <p:spPr>
          <a:xfrm>
            <a:off x="7635240" y="2075688"/>
            <a:ext cx="4114800" cy="2314575"/>
          </a:xfrm>
          <a:prstGeom prst="rect">
            <a:avLst/>
          </a:prstGeom>
        </p:spPr>
      </p:pic>
      <p:sp>
        <p:nvSpPr>
          <p:cNvPr id="13" name="Text 10"/>
          <p:cNvSpPr/>
          <p:nvPr/>
        </p:nvSpPr>
        <p:spPr>
          <a:xfrm>
            <a:off x="7635240" y="4426839"/>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Photo : © pointschauds.info</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13 CIVILS TUÉS PAR UNE FRAPPE DE DRONE PRÈS DE LA FRONTIÈRE MAURITANIENNE, L’ARMÉE AFFIRME AVOIR VISÉ DES « TERRORISTES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Points Chauds Online · 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CE QUE L’ON SAIT DE LA MORT MYSTÉRIEUSE DU JEUNE COMMERÇANT BOCAR LY</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TOURNÉE DES LAURÉATS DE LA BIENNALE DE TOMBOUCTOU 2025 : LE COUP D’ENVOI DONNÉ À BOUGOUNI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ENLÈVEMENT DE QUATRE ENSEIGNANTS À SAN : LA SYNERGIE DES SYNDICATS DE L’ÉDUCATION DE LA RÉGION EXIGE LEUR LIBÉRATION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DISPARITIONS INQUIÉTANTES, MORTS SUSPECTES… QUE SE PASSE-T-IL AVEC LA JEUNESSE MALIENNE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ATTAQUE DE TRAPPES ET LA VERRIÈRE : LA QUALIFICATION DU MOBILE RACISTE AU CŒUR DU DÉBAT SÉCURITAIRE ET SOCIÉTAL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LE BILAN DE L'ATTAQUE MEURTRIÈRE DU WEEKEND DERNIER MONTE À 54 MORTS (ARMÉE)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BENSON DIAKITÉ, ANCIENNE GRANDE VOIX DE RFI, EST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TERRORISME À KAYES : LA POLICE FRAPPE AU CŒUR DES RÉSEAUX DE SOUTIEN LOGISTIQUE DES GAT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Tchad : le pays dément les accusations du Niger concernant une frappe de drone</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150" b="1" dirty="0">
                <a:solidFill>
                  <a:srgbClr val="1F6B5E"/>
                </a:solidFill>
                <a:latin typeface="Calibri" pitchFamily="34" charset="0"/>
                <a:ea typeface="Calibri" pitchFamily="34" charset="-122"/>
                <a:cs typeface="Calibri" pitchFamily="34" charset="-120"/>
              </a:rPr>
              <a:t>Contexte</a:t>
            </a:r>
            <a:endParaRPr lang="en-US" sz="1050" dirty="0"/>
          </a:p>
          <a:p>
            <a:pPr indent="0" marL="0">
              <a:spcAft>
                <a:spcPts val="300"/>
              </a:spcAft>
              <a:buNone/>
            </a:pPr>
            <a:r>
              <a:rPr lang="en-US" sz="1050" dirty="0">
                <a:solidFill>
                  <a:srgbClr val="1F2937"/>
                </a:solidFill>
                <a:latin typeface="Calibri" pitchFamily="34" charset="0"/>
                <a:ea typeface="Calibri" pitchFamily="34" charset="-122"/>
                <a:cs typeface="Calibri" pitchFamily="34" charset="-120"/>
              </a:rPr>
              <a:t>Fait rapporté le jeudi 29 octobre 2026. Lieu : Niamey, Niger. Actualité politique. Repris par 11 médias distincts (France 24, 24heureinfo.com, AllAfrica (NE), Maliactu, RFI Afrique, Malijet, ANP — Agence Nigérienne Presse, Journal du Tchad, Tchadinfos, Africanews — Chaine panafricaine, Africanews) : le fait est recoupé.</a:t>
            </a:r>
            <a:endParaRPr lang="en-US" sz="1050" dirty="0"/>
          </a:p>
          <a:p>
            <a:pPr indent="0" marL="0">
              <a:spcBef>
                <a:spcPts val="800"/>
              </a:spcBef>
              <a:spcAft>
                <a:spcPts val="300"/>
              </a:spcAft>
              <a:buNone/>
            </a:pPr>
            <a:r>
              <a:rPr lang="en-US" sz="1150" b="1" dirty="0">
                <a:solidFill>
                  <a:srgbClr val="1F6B5E"/>
                </a:solidFill>
                <a:latin typeface="Calibri" pitchFamily="34" charset="0"/>
                <a:ea typeface="Calibri" pitchFamily="34" charset="-122"/>
                <a:cs typeface="Calibri" pitchFamily="34" charset="-120"/>
              </a:rPr>
              <a:t>Ce que rapportent les sources</a:t>
            </a:r>
            <a:endParaRPr lang="en-US" sz="1050" dirty="0"/>
          </a:p>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France 24 : </a:t>
            </a:r>
            <a:pPr indent="0" marL="0">
              <a:spcAft>
                <a:spcPts val="300"/>
              </a:spcAft>
              <a:buNone/>
            </a:pPr>
            <a:r>
              <a:rPr lang="en-US" sz="1050" i="1" dirty="0">
                <a:solidFill>
                  <a:srgbClr val="1F2937"/>
                </a:solidFill>
                <a:latin typeface="Calibri" pitchFamily="34" charset="0"/>
                <a:ea typeface="Calibri" pitchFamily="34" charset="-122"/>
                <a:cs typeface="Calibri" pitchFamily="34" charset="-120"/>
              </a:rPr>
              <a:t>« Le Niger estime que son voisin, le Tchad, est responsable de la mort de deux civils sur son territoire, suite à une frappe de drone survenue le 24 octobre dernier. Le Tchad dément lui tout implication. La junte accuse également la France d'être impliquée. Les précisions de Harold Girard, correspondant France 24 à Njdaména. »</a:t>
            </a:r>
            <a:endParaRPr lang="en-US" sz="1050" dirty="0"/>
          </a:p>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24heureinfo.com : </a:t>
            </a:r>
            <a:pPr indent="0" marL="0">
              <a:spcAft>
                <a:spcPts val="300"/>
              </a:spcAft>
              <a:buNone/>
            </a:pPr>
            <a:r>
              <a:rPr lang="en-US" sz="1050" i="1" dirty="0">
                <a:solidFill>
                  <a:srgbClr val="1F2937"/>
                </a:solidFill>
                <a:latin typeface="Calibri" pitchFamily="34" charset="0"/>
                <a:ea typeface="Calibri" pitchFamily="34" charset="-122"/>
                <a:cs typeface="Calibri" pitchFamily="34" charset="-120"/>
              </a:rPr>
              <a:t>« Le Niger accuse le Tchad et la France après une frappe de drone meurtrière ayant tué des civils. Découvrez les détails. L’article Niger : Niamey accuse le Tchad et la France après une frappe de drone meurtrière est apparu en premier sur 24 Heure Info | Actualité au Togo et dans le monde. »</a:t>
            </a:r>
            <a:endParaRPr lang="en-US" sz="1050" dirty="0"/>
          </a:p>
          <a:p>
            <a:pPr indent="0" marL="0">
              <a:spcBef>
                <a:spcPts val="800"/>
              </a:spcBef>
              <a:spcAft>
                <a:spcPts val="300"/>
              </a:spcAft>
              <a:buNone/>
            </a:pPr>
            <a:r>
              <a:rPr lang="en-US" sz="1150" b="1" dirty="0">
                <a:solidFill>
                  <a:srgbClr val="1F6B5E"/>
                </a:solidFill>
                <a:latin typeface="Calibri" pitchFamily="34" charset="0"/>
                <a:ea typeface="Calibri" pitchFamily="34" charset="-122"/>
                <a:cs typeface="Calibri" pitchFamily="34" charset="-120"/>
              </a:rPr>
              <a:t>Enjeux sûreté</a:t>
            </a:r>
            <a:endParaRPr lang="en-US" sz="1050" dirty="0"/>
          </a:p>
          <a:p>
            <a:pPr indent="0" marL="0">
              <a:spcAft>
                <a:spcPts val="300"/>
              </a:spcAft>
              <a:buNone/>
            </a:pPr>
            <a:r>
              <a:rPr lang="en-US" sz="105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050" dirty="0"/>
          </a:p>
          <a:p>
            <a:pPr indent="0" marL="0">
              <a:spcBef>
                <a:spcPts val="800"/>
              </a:spcBef>
              <a:spcAft>
                <a:spcPts val="300"/>
              </a:spcAft>
              <a:buNone/>
            </a:pPr>
            <a:r>
              <a:rPr lang="en-US" sz="1050" b="1" dirty="0">
                <a:solidFill>
                  <a:srgbClr val="1F2937"/>
                </a:solidFill>
                <a:latin typeface="Calibri" pitchFamily="34" charset="0"/>
                <a:ea typeface="Calibri" pitchFamily="34" charset="-122"/>
                <a:cs typeface="Calibri" pitchFamily="34" charset="-120"/>
              </a:rPr>
              <a:t>Sources : </a:t>
            </a:r>
            <a:pPr indent="0" marL="0">
              <a:spcAft>
                <a:spcPts val="300"/>
              </a:spcAft>
              <a:buNone/>
            </a:pPr>
            <a:r>
              <a:rPr lang="en-US" sz="105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France 24</a:t>
            </a:r>
            <a:pPr indent="0" marL="0">
              <a:spcAft>
                <a:spcPts val="300"/>
              </a:spcAft>
              <a:buNone/>
            </a:pPr>
            <a:r>
              <a:rPr lang="en-US" sz="105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24heureinfo.com</a:t>
            </a:r>
            <a:pPr indent="0" marL="0">
              <a:spcAft>
                <a:spcPts val="300"/>
              </a:spcAft>
              <a:buNone/>
            </a:pPr>
            <a:r>
              <a:rPr lang="en-US" sz="105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AllAfrica (NE)</a:t>
            </a:r>
            <a:pPr indent="0" marL="0">
              <a:spcAft>
                <a:spcPts val="300"/>
              </a:spcAft>
              <a:buNone/>
            </a:pPr>
            <a:r>
              <a:rPr lang="en-US" sz="105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 · Maliactu</a:t>
            </a:r>
            <a:pPr indent="0" marL="0">
              <a:spcAft>
                <a:spcPts val="300"/>
              </a:spcAft>
              <a:buNone/>
            </a:pPr>
            <a:r>
              <a:rPr lang="en-US" sz="1050" dirty="0">
                <a:solidFill>
                  <a:srgbClr val="1F2937"/>
                </a:solidFill>
                <a:latin typeface="Calibri" pitchFamily="34" charset="0"/>
                <a:ea typeface="Calibri" pitchFamily="34" charset="-122"/>
                <a:cs typeface="Calibri" pitchFamily="34" charset="-120"/>
              </a:rPr>
              <a:t> · RFI Afrique · Malijet · ANP — Agence Nigérienne Presse · Journal du Tchad · Tchadinfos · Africanews — Chaine panafricaine · Africanews</a:t>
            </a:r>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 — 29 octobre 2026, 16 h UTC   ·   Cotation : Confirmé</a:t>
            </a:r>
            <a:endParaRPr lang="en-US" sz="1050" dirty="0"/>
          </a:p>
        </p:txBody>
      </p:sp>
      <p:pic>
        <p:nvPicPr>
          <p:cNvPr id="12" name="Image 0" descr="preencoded.png">
            <a:hlinkClick r:id="rId6" tooltip=""/>
          </p:cNvPr>
          <p:cNvPicPr>
            <a:picLocks noChangeAspect="1"/>
          </p:cNvPicPr>
          <p:nvPr/>
        </p:nvPicPr>
        <p:blipFill>
          <a:blip r:embed="rId5"/>
          <a:stretch>
            <a:fillRect/>
          </a:stretch>
        </p:blipFill>
        <p:spPr>
          <a:xfrm>
            <a:off x="7635240" y="2075688"/>
            <a:ext cx="4114800" cy="2314575"/>
          </a:xfrm>
          <a:prstGeom prst="rect">
            <a:avLst/>
          </a:prstGeom>
        </p:spPr>
      </p:pic>
      <p:sp>
        <p:nvSpPr>
          <p:cNvPr id="13" name="Text 10"/>
          <p:cNvSpPr/>
          <p:nvPr/>
        </p:nvSpPr>
        <p:spPr>
          <a:xfrm>
            <a:off x="7635240" y="4426839"/>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Photo : © france24.com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TENSIONS AU SAHEL : N’DJAMENA DÉMENT CATÉGORIQUEMENT TOUTE IMPLICATION DANS UNE FRAPPE AU NIGER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 24 · Points Chauds 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ATTAQUE D’UN DRONE TCHADIEN AU NIGER : L’ADRODEV SALUE LES EFFORTS DES AUTORITÉS À MAINTENIR LA PAIX AU SAHEL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NIGER GOVERNOR’S CONVOY CRASH KILLS FOUR STUDENTS, DRIVER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Premium Times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TCHAD-NIGER : UNE NOUVELLE ESCALADE ENTRE MAHAMAT IDRISS DÉBY ET ABDOURAHAMANE TIANI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DÉNONCE UNE ATTAQUE DE DRONE DU TCHAD AVEC «L'APPUI DE LA FRANCE»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(NE)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LANCEMENT OFFICIEL DE LA CARAVANE DE SENSIBILISATION ET DE FORMATION SUR LES BONNES PRATIQUES DE GREFFES ET PARQUETS ET L’ÉTABLISSEMENT DES PIÈCES D’EXÉCUTION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BREF: ATTAQUE, AGRICULTURE, SPORT …LES INFORMATIONS DE LA SEMAINE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Studio Kalangou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SOUVERAINETÉ ALIMENTAIRE : DES HOMMES ET DES FEMMES RURALES, PRINCIPAUX ACTEURS DE LA RÉSILIENCE AU NIGER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L’HONORABLE MAHAMANE BACHIR HAROUNA HAMBALI, CHEF DE CANTON DE DIOUNDIOU : « LA SOUVERAINETÉ ALIMENTAIRE DOIT DEVENIR UNE AMBITION PARTAGÉE PAR TOUS LES NIGÉRIENS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 Sahel</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123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Ghana : une jeune femme meurt après l’explosion d’un sex-toy</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Accra, Ghana. Actualité politique. Une seule source à ce stade (Icilome)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Icilome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À Accra, au Ghana, une jeune femme de 23 ans serait décédée deux jours après l’explosion présumée d’un sex-toy électrique qu’elle utilisait. The post Ghana : une jeune femme meurt après l’explosion d’un sex-toy appeared first on Icilome.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Risque accidentel ou technique : rappeler les consignes de sécurité routière et incendie, vérifier l'exposition des sites et des prestataires.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Icilome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10 h UTC   ·   Cotation : Non confirmé</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366010"/>
          </a:xfrm>
          <a:prstGeom prst="rect">
            <a:avLst/>
          </a:prstGeom>
        </p:spPr>
      </p:pic>
      <p:sp>
        <p:nvSpPr>
          <p:cNvPr id="13" name="Text 10"/>
          <p:cNvSpPr/>
          <p:nvPr/>
        </p:nvSpPr>
        <p:spPr>
          <a:xfrm>
            <a:off x="7635240" y="447827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icilome.com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UNE FEMME TUÉE PAR LE TRAIN TEMA-AFIENYA ALORS QUE LES HABITANTS RÉCLAMENT UNE PASSERELLE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SEPT MORTS PAR BALLE PAR DES HOMMES ARMÉS LORS DE FUNÉRAILLES DANS UNE ÉGLISE EN JORDANIE, SELON DES RESPONSABLES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CIRCONSCRIPTION DU NPP WALEWALE CONDAMNE LES ATTAQUES PERSONNELLES CONTRE UN DÉPUTÉ ET APPELLE À LA DISCIPLINE DE PARTI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GAF ORGANISERA UNE DÉMONSTRATION DE PUISSANCE DE FEU DE COMBAT TERRESTRE À BUNDASE LE 30 OCTOBRE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LES FORTES PLUIES, PRINCIPALE MENACE POUR LA CULTURE DU CACAO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(GH)</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16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GHANA ET LA POLOGNE EXPLORENT LES OPPORTUNITÉS D'INVESTISSEMENT ET LA COOPÉRATION EN MATIÈRE DE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LES PARTIES PRENANTES APPELLENT À UNE COLLABORATION PLUS FORTE ENTRE LA COMMUNAUTÉ ET LA SÉCURITÉ POUR PRÉVENIR L'EXTRÉMISME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DIRECTEUR RÉGIONAL DE LA SANTÉ DU CENTRE APPELLE À UNE SURVEILLANCE ACCRUE D'EBOLA ALORS QUE LES VISITES DE SOUTIEN SE POURSUIVENT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Ghanaian Times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UN CONDUCTEUR SUBIT DE GRAVES BRÛLURES CHIMIQUES APRÈS L'INCENDIE D'UN CAMION DE PEROXYDE D'HYDROGÈNE À GORIYIRI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124 jours ; 3 signaux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63 ans après sa mort, le premier président du Togo n’a toujours pas de tombe dans son pays</a:t>
            </a:r>
            <a:endParaRPr lang="en-US" sz="2200" dirty="0"/>
          </a:p>
        </p:txBody>
      </p:sp>
      <p:sp>
        <p:nvSpPr>
          <p:cNvPr id="13" name="Text 11"/>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1er octobre 2026. Lieu : Togo. Actualité politique. Une seule source à ce stade (Togoweb)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Togoweb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Il n’existe, à ce jour, ni statue, ni mausolée, ni musée officiel dédié à Sylvanus Olympio dans le pays qu’il a mené à l’indépendance. Le premier président togolais repose toujours à Agoué, au Bénin, faute d’avoir été rapatrié malgré une promesse présidentielle vieille de quinze ans.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Togoweb</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1 octobre 2026, 9 h UTC   ·   Cotation : Non confirmé</a:t>
            </a:r>
            <a:endParaRPr lang="en-US" sz="1400" dirty="0"/>
          </a:p>
        </p:txBody>
      </p:sp>
      <p:pic>
        <p:nvPicPr>
          <p:cNvPr id="14" name="Image 0" descr="preencoded.png">
            <a:hlinkClick r:id="rId3" tooltip=""/>
          </p:cNvPr>
          <p:cNvPicPr>
            <a:picLocks noChangeAspect="1"/>
          </p:cNvPicPr>
          <p:nvPr/>
        </p:nvPicPr>
        <p:blipFill>
          <a:blip r:embed="rId2"/>
          <a:stretch>
            <a:fillRect/>
          </a:stretch>
        </p:blipFill>
        <p:spPr>
          <a:xfrm>
            <a:off x="7635240" y="2075688"/>
            <a:ext cx="4114800" cy="2525358"/>
          </a:xfrm>
          <a:prstGeom prst="rect">
            <a:avLst/>
          </a:prstGeom>
        </p:spPr>
      </p:pic>
      <p:sp>
        <p:nvSpPr>
          <p:cNvPr id="15" name="Text 12"/>
          <p:cNvSpPr/>
          <p:nvPr/>
        </p:nvSpPr>
        <p:spPr>
          <a:xfrm>
            <a:off x="7635240" y="4637622"/>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togoweb.net</a:t>
            </a:r>
            <a:endParaRPr lang="en-US" sz="900" dirty="0"/>
          </a:p>
        </p:txBody>
      </p:sp>
      <p:sp>
        <p:nvSpPr>
          <p:cNvPr id="16" name="Text 13"/>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7" name="Text 1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(PT) CRISE DE VOCATION ET CRISE FINANCIÈRE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TOGO RENFORCE LA VIGILANCE FACE À LA MENACE DE LA MALADIE À VIRUS EBOLA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ATOP — Agence Togolaise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WHATSAPP : LA FAUSSE ALERTE AU VOTE POUR PIRATER VOTRE COMPTE FAIT SON RETOUR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 Nouveau Reporter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3E FORUM RUSSIE-AFRIQUE : LE TOGO FIXE SES PRIORITÉS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Togo-Presse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SÉCURITÉ SANITAIRE DES ALIMENTS : LE LANSA SE FAIT CONNAÎTRE DES ACTEURS RÉGIONAUX À SOKODÉ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ATOP — Agence Togolaise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 : NATHANIEL OLYMPIO DÉNONCE LA DÉPENDANCE À L’AIDE ÉTRANGÈRE POUR NOURRIR ET HABILLER LES ÉLÈVES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Togo Actualite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INTERVIEW : « UNE MAUVAISE CONSERVATION DES ALIMENTS OU UNE MANIPULATION INAPPROPRIÉE PEUVENT PROVOQUER DES INTOXICATIONS ALIMENTAIRES » (ANSELME BRUNO SANDAH)</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ATOP — Agence Togolaise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UN BUDGET EN BAISSE MAIS DES PRIORITÉS AFFIRMÉES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EBOLA : LE TOGO RENFORCE LES CONTRÔLES SANITAIRES AUX FRONTIÈRES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24heureinfo.com · Le Nouveau Reporter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Bénin</a:t>
            </a:r>
            <a:endParaRPr lang="en-US" sz="2800" dirty="0"/>
          </a:p>
        </p:txBody>
      </p:sp>
      <p:sp>
        <p:nvSpPr>
          <p:cNvPr id="4" name="Shape 2"/>
          <p:cNvSpPr/>
          <p:nvPr/>
        </p:nvSpPr>
        <p:spPr>
          <a:xfrm>
            <a:off x="10881360" y="274320"/>
            <a:ext cx="362102" cy="566928"/>
          </a:xfrm>
          <a:prstGeom prst="rect">
            <a:avLst/>
          </a:prstGeom>
          <a:solidFill>
            <a:srgbClr val="008751"/>
          </a:solidFill>
          <a:ln w="12700">
            <a:solidFill>
              <a:srgbClr val="008751"/>
            </a:solidFill>
            <a:prstDash val="solid"/>
          </a:ln>
        </p:spPr>
      </p:sp>
      <p:sp>
        <p:nvSpPr>
          <p:cNvPr id="5" name="Shape 3"/>
          <p:cNvSpPr/>
          <p:nvPr/>
        </p:nvSpPr>
        <p:spPr>
          <a:xfrm>
            <a:off x="11243462" y="274320"/>
            <a:ext cx="543154" cy="283464"/>
          </a:xfrm>
          <a:prstGeom prst="rect">
            <a:avLst/>
          </a:prstGeom>
          <a:solidFill>
            <a:srgbClr val="FCD116"/>
          </a:solidFill>
          <a:ln w="12700">
            <a:solidFill>
              <a:srgbClr val="FCD116"/>
            </a:solidFill>
            <a:prstDash val="solid"/>
          </a:ln>
        </p:spPr>
      </p:sp>
      <p:sp>
        <p:nvSpPr>
          <p:cNvPr id="6" name="Shape 4"/>
          <p:cNvSpPr/>
          <p:nvPr/>
        </p:nvSpPr>
        <p:spPr>
          <a:xfrm>
            <a:off x="11243462" y="557784"/>
            <a:ext cx="543154" cy="283464"/>
          </a:xfrm>
          <a:prstGeom prst="rect">
            <a:avLst/>
          </a:prstGeom>
          <a:solidFill>
            <a:srgbClr val="E8112D"/>
          </a:solidFill>
          <a:ln w="12700">
            <a:solidFill>
              <a:srgbClr val="E8112D"/>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123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Sécurité au Bénin : le MSEC dresse son bilan et trace son cap pour les trois prochaines années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Bénin. Actualité sécuritaire. Une seule source à ce stade (Alwihda Info (Tchad))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Alwihda Info (Tchad)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Le Bénin et ses partenaires ont lancé l'atelier stratégique du Mécanisme de stabilité des États côtiers pour évaluer trois ans d'actions contre l'extrémisme violent et préparer le prochain triennat.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16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753126"/>
          </a:xfrm>
          <a:prstGeom prst="rect">
            <a:avLst/>
          </a:prstGeom>
        </p:spPr>
      </p:pic>
      <p:sp>
        <p:nvSpPr>
          <p:cNvPr id="13" name="Text 10"/>
          <p:cNvSpPr/>
          <p:nvPr/>
        </p:nvSpPr>
        <p:spPr>
          <a:xfrm>
            <a:off x="7635240" y="4865390"/>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alwihdainfo.com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Bénin</a:t>
            </a:r>
            <a:endParaRPr lang="en-US" sz="2800" dirty="0"/>
          </a:p>
        </p:txBody>
      </p:sp>
      <p:sp>
        <p:nvSpPr>
          <p:cNvPr id="4" name="Shape 2"/>
          <p:cNvSpPr/>
          <p:nvPr/>
        </p:nvSpPr>
        <p:spPr>
          <a:xfrm>
            <a:off x="10881360" y="274320"/>
            <a:ext cx="362102" cy="566928"/>
          </a:xfrm>
          <a:prstGeom prst="rect">
            <a:avLst/>
          </a:prstGeom>
          <a:solidFill>
            <a:srgbClr val="008751"/>
          </a:solidFill>
          <a:ln w="12700">
            <a:solidFill>
              <a:srgbClr val="008751"/>
            </a:solidFill>
            <a:prstDash val="solid"/>
          </a:ln>
        </p:spPr>
      </p:sp>
      <p:sp>
        <p:nvSpPr>
          <p:cNvPr id="5" name="Shape 3"/>
          <p:cNvSpPr/>
          <p:nvPr/>
        </p:nvSpPr>
        <p:spPr>
          <a:xfrm>
            <a:off x="11243462" y="274320"/>
            <a:ext cx="543154" cy="283464"/>
          </a:xfrm>
          <a:prstGeom prst="rect">
            <a:avLst/>
          </a:prstGeom>
          <a:solidFill>
            <a:srgbClr val="FCD116"/>
          </a:solidFill>
          <a:ln w="12700">
            <a:solidFill>
              <a:srgbClr val="FCD116"/>
            </a:solidFill>
            <a:prstDash val="solid"/>
          </a:ln>
        </p:spPr>
      </p:sp>
      <p:sp>
        <p:nvSpPr>
          <p:cNvPr id="6" name="Shape 4"/>
          <p:cNvSpPr/>
          <p:nvPr/>
        </p:nvSpPr>
        <p:spPr>
          <a:xfrm>
            <a:off x="11243462" y="557784"/>
            <a:ext cx="543154" cy="283464"/>
          </a:xfrm>
          <a:prstGeom prst="rect">
            <a:avLst/>
          </a:prstGeom>
          <a:solidFill>
            <a:srgbClr val="E8112D"/>
          </a:solidFill>
          <a:ln w="12700">
            <a:solidFill>
              <a:srgbClr val="E8112D"/>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NUEE MENACE DE FERMER TOUT LE PAYS ET EXIGE LE RETRAIT DES SOLDATS DU SIÈGE DE LA BEDC</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Sun Nigeria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7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Semaine du Soldat 2026 : les forces de sécurité à l’assaut des déchets à Madina</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Conakry, Guinée. Actualité sécuritaire. Une seule source à ce stade (Guinee7.com)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Guinee7.com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Conakry – Les Forces de défense et de sécurité ont mené, mardi 27 octobre 2026, une opération de nettoyage et de curage des caniveaux au marché Madina, à Conakry, dans le cadre de la Semaine du Soldat 2026. L’intervention a concerné les abords du marché Avaria jusqu’au grand pont de Madina. Des camions et des […]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Perturbations possibles de l'activité et de la circulation : éviter les rassemblements, prévoir des horaires décalés ou le travail à distance, informer les personnels.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19 h UTC   ·   Cotation : Non confirmé</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724448"/>
          </a:xfrm>
          <a:prstGeom prst="rect">
            <a:avLst/>
          </a:prstGeom>
        </p:spPr>
      </p:pic>
      <p:sp>
        <p:nvSpPr>
          <p:cNvPr id="13" name="Text 10"/>
          <p:cNvSpPr/>
          <p:nvPr/>
        </p:nvSpPr>
        <p:spPr>
          <a:xfrm>
            <a:off x="7635240" y="4836712"/>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guinee7.com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FARANAH : LA COLÈRE ÉCLATE APRÈS LA MORT D’UN ÉTUDIANT DE L’ISAV, LA DIRECTION APPORTE DES PRÉCISIONS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MORT MYSTÉRIEUSE DE SOULEYMANE TOURÉ : SA MÈRE ET SA SŒUR VEULENT TOUTE LA VÉRITÉ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20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KINDIA : UNE FEMME DE 68 ANS MEURT DANS UN INCENDIE À KÈNENDÉ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INSÉCURITÉ À LABÉ : LE JOURNALISTE BOUBACAR GARKI DIALLO VICTIME DE CAMBRIOLAGE, SES ÉQUIPEMENTS DE TRAVAIL EMPORTÉ PAR LES MALFAITEURS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17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MAIRIE DE DIXINN : POURQUOI LES FEMMES BALAYEUSES ONT RENONCÉ À LEUR MANIFESTATION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14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APPEL À MANIFESTATION D’INTÉRÊT POUR LES SERVICES DE CONSULTANTS LOCAUX EN AUDIT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KANKAN : UN INCENDIE CAUSE D’IMPORTANTS DÉGÂTS AU QUARTIER BORDO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LOI DE FINANCES RECTIFICATIVE 2026 : ENTRE CRISE PÉTROLIÈRE ET RETARDS DES PROJETS, LA MINISTRE DE L’ÉCONOMIE, MARIAMA CIRÉ SYLLA, S’EXPLIQUE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ÉLECTION FÉGUIFOOT : L’ARGENT DES VOIX MENACE LE FOOTBALL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8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213 jours ; aucun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Libéria : Un dauphin tué et massacré avant l'arrivée de l'équipe de secours de la NaFAA</a:t>
            </a:r>
            <a:endParaRPr lang="en-US" sz="2200" dirty="0"/>
          </a:p>
        </p:txBody>
      </p:sp>
      <p:sp>
        <p:nvSpPr>
          <p:cNvPr id="13" name="Text 11"/>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Monrovia, Liberia. Actualité sécuritaire. Une seule source à ce stade (FrontPageAfrica — Liberia)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FrontPageAfrica — Liberia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Monrovia — Ce qui a commencé comme un moment d'espoir pour les défenseurs de l'environnement s'est terminé par une frustration après qu'un dauphin qui s'est échoué à Miami Beach à Monrovia a été tué et…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27 octobre 2026, 5 h UTC   ·   Cotation : Probable</a:t>
            </a:r>
            <a:endParaRPr lang="en-US" sz="1400" dirty="0"/>
          </a:p>
        </p:txBody>
      </p:sp>
      <p:sp>
        <p:nvSpPr>
          <p:cNvPr id="14" name="Text 12"/>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LE JUGE CITE DES PREUVES POUR DÉCLARER PETER BON JALLAH, MEMBRE DU PERSONNEL DE LA NSA, COUPABLE DE VIOL ET D'ENLÈVEMENT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VICTIMES DE GUERRE ET SURVIVANTS MANIFESTENT DEVANT LE TRIBUNAL ET AU CAPITOLE ALORS QUE LE PRÉSIDENT DE LA CHAMBRE S'ENGAGE À SOUMETTRE LE PROJET DE LOI SUR LA COUR DEVANT LA PLÉNIÈRE MARDI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LIBÉRIA APPELLE À LA PARTICIPATION SIGNIFICATIVE DES FEMMES DEPUIS LES NÉGOCIATIONS DE PAIX JUSQU’À LA MISE EN ŒUVRE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LIBÉRIA OUVRE LA VOIE À LA PRÉSIDENCE DU CONSEIL DE SÉCURITÉ DE L’ONU : LE MINISTRE DES AFFAIRES ÉTRANGÈRES NYANTI SOULIGNE LE PARCOURS HISTORIQUE DU PAYS, DES SANCTIONS AU LEADERSHIP MONDIAL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DANS LE CADRE DE LA TENTATIVE DE LA DÉFENSE D’ANNULER LA CONDAMNATION DE PETER BON JALLAH</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VISION D'UN ANCIEN CHEF DE LA SÉCURITÉ POUR LE SERVICE D'IMMIGRATION DU LIBÉRIA JOUE ENFIN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LIBÉRIA IMPOSE DES RÈGLES D'ISOLEMENT ET DE SURVEILLANCE DE 21 JOURS AUX VOYAGEURS FACE À LA MENACE RÉGIONALE D'EBOLA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L'AFL TIRE SUR DEUX SOLDATS À LA SUITE D'UN ASSAUT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17 h UTC</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5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Kaolack : un retraité retrouvé mort à son domicile, le corps en état de décomposition</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29 octobre 2026. Lieu : Sénégal. Actualité politique. Une seule source à ce stade (Seneweb)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Seneweb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Le corps sans vie d'un homme a été découvert le mercredi 28 octobre 2026 dans une maison du quartier Cité Kébé, à Kaolack.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en mesurer l'incidence sur la stabilité locale et les déplacements.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29 octobre 2026, 22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612571"/>
          </a:xfrm>
          <a:prstGeom prst="rect">
            <a:avLst/>
          </a:prstGeom>
        </p:spPr>
      </p:pic>
      <p:sp>
        <p:nvSpPr>
          <p:cNvPr id="13" name="Text 10"/>
          <p:cNvSpPr/>
          <p:nvPr/>
        </p:nvSpPr>
        <p:spPr>
          <a:xfrm>
            <a:off x="7635240" y="4724835"/>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seneweb.com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NGOR : UN CLIENT DU BAR-RESTAURANT TIMIS DÉFÉRÉ POUR TENTATIVE DE MEURTRE AVEC UN PIEU EN BOIS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SUSPECT DE L’ATTENTAT DE TRAPPES RECONNAÎT AVOIR CIBLÉ DES PERSONNES MUSULMANES OU D’ORIGINE AFRICAINE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KÉBÉMER : UN BERGER DE 17 ANS TUÉ DANS UNE PRÉSUMÉE ATTAQUE À LA MACHETTE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Pressafrik · APS — Agence Sénégalaise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MÉDINA FASS : UN ENFANT DE TROIS ANS TUÉ PAR UN BUS, DES VIOLENCES ÉCLATENT APRÈS LE CHOC</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AFFAIRE AMINATA SY : ETRANGLÉE PENDANT 30 MINUTES, LA LYCÉENNE A SUBI DES ACTES DE BARBARIE APRÈS SA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AMINATA SY : LE TUEUR S’EST ACHARNÉ SUR... LA DÉPOUILLE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MENACES DE MORT CONTRE SONKO : CE QUE PASTEF REPROCHE À DES CADRES DE KIIRAAY</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20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KÉDOUGOU : 6,7 MILLIONS DE FCFA EMPORTÉS LORS D’UNE ATTAQUE ARMÉE CONTRE UN SITE MINIER À FARANDING</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Pressafrik · 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TOUBA : UN JEUNE LIVREUR DE 22 ANS TUÉ À L'ARME BLANCHE AU QUARTIER 30 SERIGNE CHEIKH BOMBALI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Pressafrik</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CDCDCD"/>
        </a:solidFill>
      </p:bgPr>
    </p:bg>
    <p:spTree>
      <p:nvGrpSpPr>
        <p:cNvPr id="1" name=""/>
        <p:cNvGrpSpPr/>
        <p:nvPr/>
      </p:nvGrpSpPr>
      <p:grpSpPr>
        <a:xfrm>
          <a:off x="0" y="0"/>
          <a:ext cx="0" cy="0"/>
          <a:chOff x="0" y="0"/>
          <a:chExt cx="0" cy="0"/>
        </a:xfrm>
      </p:grpSpPr>
      <p:sp>
        <p:nvSpPr>
          <p:cNvPr id="2" name="Text 0"/>
          <p:cNvSpPr/>
          <p:nvPr/>
        </p:nvSpPr>
        <p:spPr>
          <a:xfrm>
            <a:off x="457200" y="2377440"/>
            <a:ext cx="11247120" cy="1097280"/>
          </a:xfrm>
          <a:prstGeom prst="rect">
            <a:avLst/>
          </a:prstGeom>
          <a:noFill/>
          <a:ln/>
        </p:spPr>
        <p:txBody>
          <a:bodyPr wrap="square" rtlCol="0" anchor="ctr"/>
          <a:lstStyle/>
          <a:p>
            <a:pPr algn="ctr" indent="0" marL="0">
              <a:buNone/>
            </a:pPr>
            <a:r>
              <a:rPr lang="en-US" sz="6000" dirty="0">
                <a:solidFill>
                  <a:srgbClr val="111111"/>
                </a:solidFill>
                <a:latin typeface="Arial Narrow" pitchFamily="34" charset="0"/>
                <a:ea typeface="Arial Narrow" pitchFamily="34" charset="-122"/>
                <a:cs typeface="Arial Narrow" pitchFamily="34" charset="-120"/>
              </a:rPr>
              <a:t>MERCI</a:t>
            </a:r>
            <a:endParaRPr lang="en-US" sz="6000" dirty="0"/>
          </a:p>
        </p:txBody>
      </p:sp>
      <p:sp>
        <p:nvSpPr>
          <p:cNvPr id="3" name="Text 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4" name="Text 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30/10/26   |   42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mensuel de sûreté — 30 octobre 2026</dc:title>
  <dc:subject>PptxGenJS Presentation</dc:subject>
  <dc:creator>SentiqS</dc:creator>
  <cp:lastModifiedBy>SentiqS</cp:lastModifiedBy>
  <cp:revision>1</cp:revision>
  <dcterms:created xsi:type="dcterms:W3CDTF">2026-10-30T00:13:57Z</dcterms:created>
  <dcterms:modified xsi:type="dcterms:W3CDTF">2026-10-30T00:13:57Z</dcterms:modified>
</cp:coreProperties>
</file>