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linfodrome.com/societe/126925-tensions-permanentes-entre-le-district-autonome-d-abidjan-et-les-mairies-le-cpc-est-il-bel-et-bien-mort"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linfodrome.com/societe/126820-projets-de-sa-mandature-le-president-sortant-de-la-jci-emeraude-dresse-un-bilan-de-95-de-taux-d-executio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linfodrome.com/societe/126904-guiglo-etouffees-par-la-flambee-des-prix-les-vendeuses-de-poissons-en-greve"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linfodrome.com/societe/126894-lutte-contre-le-cancer-du-sein-linfodrome-combat-les-rumeurs-et-sensibilise-les-populations" TargetMode="External"/><Relationship Id="rId2" Type="http://schemas.openxmlformats.org/officeDocument/2006/relationships/hyperlink" Target="https://fr.allafrica.com/stories/202610230151.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linfodrome.com/politique/126898-hausse-des-prix-du-poisson-assale-tiemoko-revele-une-dependance-de-la-cote-d-ivoire-a-88-8-aux-importations" TargetMode="External"/><Relationship Id="rId2" Type="http://schemas.openxmlformats.org/officeDocument/2006/relationships/hyperlink" Target="https://fr.allafrica.com/stories/202610230529.html"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linfodrome.com/politique/126944-charnier-de-yopougon-26-ans-apres-amadou-coulibaly-oppose-les-violences-du-passe-a-l-ere-ouattara" TargetMode="External"/><Relationship Id="rId2" Type="http://schemas.openxmlformats.org/officeDocument/2006/relationships/hyperlink" Target="https://fr.allafrica.com/stories/202610270670.html" TargetMode="External"/><Relationship Id="rId3" Type="http://schemas.openxmlformats.org/officeDocument/2006/relationships/hyperlink" Target="https://www.linfodrome.com/economie/126924-interpol-renforce-les-capacites-des-enqueteurs-ivoiriens-pour-traquer-les-avoirs-des-criminels" TargetMode="External"/><Relationship Id="rId4" Type="http://schemas.openxmlformats.org/officeDocument/2006/relationships/hyperlink" Target="https://fr.allafrica.com/stories/202610260533.html" TargetMode="External"/><Relationship Id="rId5" Type="http://schemas.openxmlformats.org/officeDocument/2006/relationships/hyperlink" Target="https://www.alwihdainfo.com/cote-divoire-securite-alimentaire-et-securisation-fonciere-le-gouvernement-soutient-les-femmes-productrices/"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linfodrome.com/economie/126857-prikro-la-relance-de-la-cafeiculture-et-la-promotion-du-mais-engagees-dans-l-iffou" TargetMode="External"/><Relationship Id="rId2" Type="http://schemas.openxmlformats.org/officeDocument/2006/relationships/hyperlink" Target="https://www.linfodrome.com/politique/126830-le-frere-de-tidjane-thiam-inculpe-pour-17-chefs-d-accusation-dont-l-assassinat-et-des-actes-terroristes" TargetMode="External"/><Relationship Id="rId3" Type="http://schemas.openxmlformats.org/officeDocument/2006/relationships/hyperlink" Target="https://fr.allafrica.com/stories/202610240165.html" TargetMode="External"/><Relationship Id="rId4" Type="http://schemas.openxmlformats.org/officeDocument/2006/relationships/hyperlink" Target="https://www.linfodrome.com/societe/126823-cote-d-ivoire-la-fondation-konrad-adenauer-renforce-ses-actions-en-faveur-de-la-democratie-et-de-la-securite" TargetMode="External"/><Relationship Id="rId5" Type="http://schemas.openxmlformats.org/officeDocument/2006/relationships/hyperlink" Target="https://fr.allafrica.com/stories/202610230399.html"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linfodrome.com/international/126817-avant-la-grande-marche-du-24-coctobre-emmanuel-macron-face-un-attentat"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fr.allafrica.com/stories/202610250016.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fr.allafrica.com/stories/202610230254.html"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fr.allafrica.com/stories/202610220451.html" TargetMode="External"/><Relationship Id="rId2" Type="http://schemas.openxmlformats.org/officeDocument/2006/relationships/hyperlink" Target="https://faso7.com/2026/10/24/securite-numerique-au-burkina-la-bclcc-lance-la-2%e1%b5%89-semaine-nationale-de-lutte-contre-la-cybercriminalite/" TargetMode="External"/><Relationship Id="rId3" Type="http://schemas.openxmlformats.org/officeDocument/2006/relationships/hyperlink" Target="https://www.wakatsera.com/cooperation-le-ministre-de-la-securite-recoit-une-delegation-de-luicn/" TargetMode="External"/><Relationship Id="rId4" Type="http://schemas.openxmlformats.org/officeDocument/2006/relationships/hyperlink" Target="https://faso7.com/2026/10/23/construction-au-burkina-faso-lordre-des-ingenieurs-alerte-sur-les-risques-lies-aux-faux-professionnels/" TargetMode="External"/><Relationship Id="rId5" Type="http://schemas.openxmlformats.org/officeDocument/2006/relationships/hyperlink" Target="https://www.alwihdainfo.com/burkina-faso-turquie-une-offensive-diplomatique-denvergure-pour-consolider-la-cooperation-bilaterale/" TargetMode="External"/><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fr.allafrica.com/stories/202610170103.html" TargetMode="External"/><Relationship Id="rId2" Type="http://schemas.openxmlformats.org/officeDocument/2006/relationships/hyperlink" Target="https://www.lesahel.org/vis-dappel-a-candidatures-pour-le-recrutement-de-personnel-a-la-radio-confederale-daande-liptako/" TargetMode="External"/><Relationship Id="rId3" Type="http://schemas.openxmlformats.org/officeDocument/2006/relationships/hyperlink" Target="https://www.linfodrome.com/economie/126922-roaming-uemoa-4-pays-unissent-leurs-reseaux-pour-alleger-la-facture-des-usagers" TargetMode="External"/><Relationship Id="rId4" Type="http://schemas.openxmlformats.org/officeDocument/2006/relationships/hyperlink" Target="https://malijet.com/a_la_une_du_mali/312518-burkina-faso-rimtalba-jean-emmanuel-ouedraogo-attendu-au-s.html" TargetMode="External"/><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mali24.info/mali-ce-que-lon-sait-de-la-mort-mysterieuse-du-jeune-commercant-bocar-ly/" TargetMode="External"/><Relationship Id="rId3" Type="http://schemas.openxmlformats.org/officeDocument/2006/relationships/hyperlink" Target="https://mali24.info/mali-ce-que-lon-sait-de-la-mort-mysterieuse-du-jeune-commercant-bocar-ly/" TargetMode="External"/><Relationship Id="rId4" Type="http://schemas.openxmlformats.org/officeDocument/2006/relationships/hyperlink" Target="https://mali24.info/mali-ce-que-lon-sait-de-la-mort-mysterieuse-du-jeune-commercant-bocar-ly/" TargetMode="External"/><Relationship Id="rId2" Type="http://schemas.openxmlformats.org/officeDocument/2006/relationships/image" Target="../media/image-17-1.jpe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mali24.info/tournee-des-laureats-de-la-biennale-de-tombouctou-2025-le-coup-denvoi-donne-a-bougouni/" TargetMode="External"/><Relationship Id="rId2" Type="http://schemas.openxmlformats.org/officeDocument/2006/relationships/hyperlink" Target="https://fr.allafrica.com/stories/202610270196.html" TargetMode="External"/><Relationship Id="rId3" Type="http://schemas.openxmlformats.org/officeDocument/2006/relationships/hyperlink" Target="https://mali24.info/enlevement-de-quatre-enseignants-a-san-la-synergie-des-syndicats-de-leducation-de-la-region-exige-leur-liberation/" TargetMode="External"/><Relationship Id="rId4" Type="http://schemas.openxmlformats.org/officeDocument/2006/relationships/hyperlink" Target="https://maliactu.net/mali-disparitions-inquietantes-morts-suspectes-que-se-passe-t-il-avec-la-jeunesse-malienne/" TargetMode="External"/><Relationship Id="rId5" Type="http://schemas.openxmlformats.org/officeDocument/2006/relationships/hyperlink" Target="https://maliactu.net/attaque-de-trappes-et-la-verriere-la-qualification-du-mobile-raciste-au-coeur-du-debat-securitaire-et-societal/" TargetMode="External"/><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dakaractu.com/Mali-le-bilan-de-l-attaque-meurtriere-du-weekend-dernier-monte-a-54-morts-armee_a277413.html" TargetMode="External"/><Relationship Id="rId2" Type="http://schemas.openxmlformats.org/officeDocument/2006/relationships/hyperlink" Target="https://fr.allafrica.com/stories/202610230641.html" TargetMode="External"/><Relationship Id="rId3" Type="http://schemas.openxmlformats.org/officeDocument/2006/relationships/hyperlink" Target="https://maliactu.net/lutte-contre-le-terrorisme-a-kayes-la-police-frappe-au-coeur-des-reseaux-de-soutien-logistique-des-gat/" TargetMode="External"/><Relationship Id="rId4" Type="http://schemas.openxmlformats.org/officeDocument/2006/relationships/hyperlink" Target="https://www.hrw.org/fr/news/2026/10/22/mali-larmee-et-lafrica-corps-controle-par-la-russie-ont-commis-de-nouveaux-abus" TargetMode="External"/><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jeuneafrique.com/1856094/politique/tchad-niger-une-nouvelle-escalade-entre-mahamat-idriss-deby-et-abdourahamane-tiani/" TargetMode="External"/><Relationship Id="rId3" Type="http://schemas.openxmlformats.org/officeDocument/2006/relationships/hyperlink" Target="https://www.jeuneafrique.com/1856094/politique/tchad-niger-une-nouvelle-escalade-entre-mahamat-idriss-deby-et-abdourahamane-tiani/" TargetMode="External"/><Relationship Id="rId4" Type="http://schemas.openxmlformats.org/officeDocument/2006/relationships/hyperlink" Target="https://www.jeuneafrique.com/1856094/politique/tchad-niger-une-nouvelle-escalade-entre-mahamat-idriss-deby-et-abdourahamane-tiani/" TargetMode="External"/><Relationship Id="rId2" Type="http://schemas.openxmlformats.org/officeDocument/2006/relationships/image" Target="../media/image-20-1.jpe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journaldutchad.com/frappe-de-drone-au-niger-niamey-accuse-le-tchad-ndjamena-rejette-les-accusations/" TargetMode="External"/><Relationship Id="rId2" Type="http://schemas.openxmlformats.org/officeDocument/2006/relationships/hyperlink" Target="http://fr.africanews.com/2026/10/27/le-niger-affirme-quune-frappe-de-drone-du-tchad-a-tue-deux-civils/" TargetMode="External"/><Relationship Id="rId3" Type="http://schemas.openxmlformats.org/officeDocument/2006/relationships/hyperlink" Target="https://www.rfi.fr/fr/afrique/20261027-le-niger-d%C3%A9nonce-une-attaque-de-drone-du-tchad-avec-l-appui-de-la-france" TargetMode="External"/><Relationship Id="rId4" Type="http://schemas.openxmlformats.org/officeDocument/2006/relationships/hyperlink" Target="https://anp.ne/lancement-officiel-de-la-caravane-de-sensibilisation-et-de-formation-sur-les-bonnes-pratiques-de-greffes-et-parquets-et-letablissement-des-pieces-dexecution/" TargetMode="External"/><Relationship Id="rId5" Type="http://schemas.openxmlformats.org/officeDocument/2006/relationships/hyperlink" Target="https://www.studiokalangou.org/142868-en-bref-attaque-agriculture-sport-les-informations-de-la-semaine" TargetMode="External"/><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vanguardngr.com/2026/10/4-students-one-lady-killed-in-niger-governors-convoy-road-crash/" TargetMode="External"/><Relationship Id="rId2" Type="http://schemas.openxmlformats.org/officeDocument/2006/relationships/hyperlink" Target="https://tchadinfos.com/2026/10/27/pourquoi-ndjamena-sort-enfin-de-son-silence-face-a-niamey/" TargetMode="External"/><Relationship Id="rId3" Type="http://schemas.openxmlformats.org/officeDocument/2006/relationships/hyperlink" Target="https://www.lesahel.org/avis-a-manifestation-dinteret-n003-ca-tafouk-tv-2026/" TargetMode="External"/><Relationship Id="rId4" Type="http://schemas.openxmlformats.org/officeDocument/2006/relationships/hyperlink" Target="https://anp.ne/agadez-le-gouverneur-preside-une-reunion-elargie-du-conseil-regional-de-securite-3/" TargetMode="External"/><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myjoyonline.com/seven-shot-dead-by-gunmen-at-church-funeral-in-jordan-officials-say/" TargetMode="External"/><Relationship Id="rId3" Type="http://schemas.openxmlformats.org/officeDocument/2006/relationships/hyperlink" Target="https://www.myjoyonline.com/seven-shot-dead-by-gunmen-at-church-funeral-in-jordan-officials-say/" TargetMode="External"/><Relationship Id="rId4" Type="http://schemas.openxmlformats.org/officeDocument/2006/relationships/hyperlink" Target="https://www.myjoyonline.com/seven-shot-dead-by-gunmen-at-church-funeral-in-jordan-officials-say/" TargetMode="External"/><Relationship Id="rId2" Type="http://schemas.openxmlformats.org/officeDocument/2006/relationships/image" Target="../media/image-23-1.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www.myjoyonline.com/npp-walewale-constituency-condemns-personal-attacks-against-mp-urges-party-discipline/" TargetMode="External"/><Relationship Id="rId2" Type="http://schemas.openxmlformats.org/officeDocument/2006/relationships/hyperlink" Target="https://www.myjoyonline.com/gaf-to-stage-land-combat-firepower-demonstration-at-bundase-on-october-30/" TargetMode="External"/><Relationship Id="rId3" Type="http://schemas.openxmlformats.org/officeDocument/2006/relationships/hyperlink" Target="https://fr.allafrica.com/stories/202610160127.html" TargetMode="External"/><Relationship Id="rId4" Type="http://schemas.openxmlformats.org/officeDocument/2006/relationships/hyperlink" Target="https://www.myjoyonline.com/grasag-president-calls-for-sustainable-funding-for-agricultural-research-in-africa/" TargetMode="External"/><Relationship Id="rId5" Type="http://schemas.openxmlformats.org/officeDocument/2006/relationships/hyperlink" Target="https://www.myjoyonline.com/ghana-developing-first-national-action-plan-on-youth-peace-and-security-osman-ayariga/" TargetMode="External"/><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myjoyonline.com/three-arrested-in-atewa-forest-as-naimos-launches-operation-green-shield/" TargetMode="External"/><Relationship Id="rId2" Type="http://schemas.openxmlformats.org/officeDocument/2006/relationships/hyperlink" Target="https://www.gbcghanaonline.com/general/ghana-challenges-un-to-turn-historical-justice-promises-into-action/2026/" TargetMode="External"/><Relationship Id="rId3" Type="http://schemas.openxmlformats.org/officeDocument/2006/relationships/hyperlink" Target="https://www.gbcghanaonline.com/news/galamsey-will-persist-if-financiers-go-untouched/2026/" TargetMode="External"/><Relationship Id="rId4" Type="http://schemas.openxmlformats.org/officeDocument/2006/relationships/hyperlink" Target="https://ghanaiantimes.com.gh/ghana-must-own-digital-infrastructure-to-ensure-data-security-apaak/" TargetMode="External"/><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togoweb.net/63-ans-apres-sa-mort-le-premier-president-du-togo-na-toujours-pas-de-tombe-dans-son-pays/?utm_source=rss&amp;utm_medium=rss&amp;utm_campaign=63-ans-apres-sa-mort-le-premier-president-du-togo-na-toujours-pas-de-tombe-dans-son-pays" TargetMode="External"/><Relationship Id="rId3" Type="http://schemas.openxmlformats.org/officeDocument/2006/relationships/hyperlink" Target="https://togoweb.net/63-ans-apres-sa-mort-le-premier-president-du-togo-na-toujours-pas-de-tombe-dans-son-pays/?utm_source=rss&utm_medium=rss&utm_campaign=63-ans-apres-sa-mort-le-premier-president-du-togo-na-toujours-pas-de-tombe-dans-son-pays" TargetMode="External"/><Relationship Id="rId4" Type="http://schemas.openxmlformats.org/officeDocument/2006/relationships/hyperlink" Target="https://togoweb.net/63-ans-apres-sa-mort-le-premier-president-du-togo-na-toujours-pas-de-tombe-dans-son-pays/?utm_source=rss&amp;utm_medium=rss&amp;utm_campaign=63-ans-apres-sa-mort-le-premier-president-du-togo-na-toujours-pas-de-tombe-dans-son-pays" TargetMode="External"/><Relationship Id="rId2" Type="http://schemas.openxmlformats.org/officeDocument/2006/relationships/image" Target="../media/image-26-1.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lenouveaureporter.com/whatsapp-la-fausse-alerte-au-vote-pour-pirater-votre-compte-fait-son-retour/" TargetMode="External"/><Relationship Id="rId2" Type="http://schemas.openxmlformats.org/officeDocument/2006/relationships/hyperlink" Target="https://www.jeuneafrique.com/1855636/economie-entreprises/soutenu-par-lunion-africaine-le-togolais-gilbert-houngbo-reussira-t-il-a-conserver-la-tete-de-loit/" TargetMode="External"/><Relationship Id="rId3" Type="http://schemas.openxmlformats.org/officeDocument/2006/relationships/hyperlink" Target="https://fr.allafrica.com/stories/202610260692.html" TargetMode="External"/><Relationship Id="rId4" Type="http://schemas.openxmlformats.org/officeDocument/2006/relationships/hyperlink" Target="https://togoactualite.com/littoral-de-lome-un-dispositif-securitaire-renforce-apres-le-demantelement-des-installations-illegales/" TargetMode="External"/><Relationship Id="rId5" Type="http://schemas.openxmlformats.org/officeDocument/2006/relationships/hyperlink" Target="https://fr.allafrica.com/stories/202610260369.html" TargetMode="External"/><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fr.allafrica.com/stories/202610260367.html" TargetMode="External"/><Relationship Id="rId2" Type="http://schemas.openxmlformats.org/officeDocument/2006/relationships/hyperlink" Target="https://24heureinfo.com/politique/tsevie-les-forces-de-securite-deployees-sur-le-site-du-meeting-reporte-du-cncc/" TargetMode="External"/><Relationship Id="rId3" Type="http://schemas.openxmlformats.org/officeDocument/2006/relationships/hyperlink" Target="https://24heureinfo.com/sante/ebola-africa-cdc-convoque-les-ministres-africains-de-la-sante-en-urgence/" TargetMode="External"/><Relationship Id="rId4" Type="http://schemas.openxmlformats.org/officeDocument/2006/relationships/hyperlink" Target="https://24heureinfo.com/politique/togo-agriculture-nucleaire-les-deputes-adoptent-quatre-textes-strategiques/" TargetMode="External"/><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thesun.ng/nuee-threatens-nationwide-shutdown-demands-withdrawal-of-soldiers-from-bedc-hqtrs/" TargetMode="External"/><Relationship Id="rId3" Type="http://schemas.openxmlformats.org/officeDocument/2006/relationships/hyperlink" Target="https://thesun.ng/nuee-threatens-nationwide-shutdown-demands-withdrawal-of-soldiers-from-bedc-hqtrs/" TargetMode="External"/><Relationship Id="rId4" Type="http://schemas.openxmlformats.org/officeDocument/2006/relationships/hyperlink" Target="https://thesun.ng/nuee-threatens-nationwide-shutdown-demands-withdrawal-of-soldiers-from-bedc-hqtrs/" TargetMode="External"/><Relationship Id="rId2" Type="http://schemas.openxmlformats.org/officeDocument/2006/relationships/image" Target="../media/image-29-1.jpe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guinee7.com/2026/10/25/mort-mysterieuse-de-souleymane-toure-sa-mere-et-sa-soeur-veulent-toute-la-verite/"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guineematin.com/2026/10/26/insecurite-a-labe-le-journaliste-boubacar-garki-diallo-victime-de-cambriolage-ses-equipements-de-travail-emporte-par-les-malfaiteurs/?utm_source=rss&amp;utm_medium=rss&amp;utm_campaign=insecurite-a-labe-le-journaliste-boubacar-garki-diallo-victime-de-cambriolage-ses-equipements-de-travail-emporte-par-les-malfaiteurs" TargetMode="External"/><Relationship Id="rId2" Type="http://schemas.openxmlformats.org/officeDocument/2006/relationships/hyperlink" Target="https://www.guinee7.com/2026/10/26/mairie-de-dixinn-pourquoi-les-femmes-balayeuses-ont-renonce-a-leur-manifestation/" TargetMode="External"/><Relationship Id="rId3" Type="http://schemas.openxmlformats.org/officeDocument/2006/relationships/hyperlink" Target="https://guineematin.com/2026/10/26/appel-a-manifestation-dinteret-pour-les-services-de-consultants-locaux-en-audit/?utm_source=rss&amp;utm_medium=rss&amp;utm_campaign=appel-a-manifestation-dinteret-pour-les-services-de-consultants-locaux-en-audit" TargetMode="External"/><Relationship Id="rId4" Type="http://schemas.openxmlformats.org/officeDocument/2006/relationships/hyperlink" Target="https://guineematin.com/2026/10/26/kankan-un-incendie-cause-dimportants-degats-au-quartier-bordo/?utm_source=rss&amp;utm_medium=rss&amp;utm_campaign=kankan-un-incendie-cause-dimportants-degats-au-quartier-bordo" TargetMode="External"/><Relationship Id="rId5" Type="http://schemas.openxmlformats.org/officeDocument/2006/relationships/hyperlink" Target="https://guineematin.com/2026/10/24/loi-de-finances-rectificative-2026-entre-crise-petroliere-et-retards-des-projets-la-ministre-de-leconomie-mariama-cire-sylla-sexplique/?utm_source=rss&amp;utm_medium=rss&amp;utm_campaign=loi-de-finances-rectificative-2026-entre-crise-petroliere-et-retards-des-projets-la-ministre-de-leconomie-mariama-cire-sylla-sexplique" TargetMode="External"/><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guinee7.com/2026/10/24/election-feguifoot-comex-argent-achat-voix-sponsor-editorial/" TargetMode="External"/><Relationship Id="rId2" Type="http://schemas.openxmlformats.org/officeDocument/2006/relationships/hyperlink" Target="https://guineematin.com/2026/10/23/cellcom-guinee-la-fesatel-alerte-sur-les-salaires-impayes-et-reclame-louverture-urgente-de-negociations/?utm_source=rss&amp;utm_medium=rss&amp;utm_campaign=cellcom-guinee-la-fesatel-alerte-sur-les-salaires-impayes-et-reclame-louverture-urgente-de-negociations" TargetMode="External"/><Relationship Id="rId3" Type="http://schemas.openxmlformats.org/officeDocument/2006/relationships/hyperlink" Target="https://guineematin.com/2026/10/27/tpi-de-coyah-le-procureur-aliou-diallo-prend-officiellement-la-tete-du-parquet/?utm_source=rss&amp;utm_medium=rss&amp;utm_campaign=tpi-de-coyah-le-procureur-aliou-diallo-prend-officiellement-la-tete-du-parquet" TargetMode="External"/><Relationship Id="rId4" Type="http://schemas.openxmlformats.org/officeDocument/2006/relationships/hyperlink" Target="https://guineelive.com/2026/10/27/forecariah-friki-keita-reprend-ses-fonctions-a-la-tete-de-la-dpe-ce-mardi/" TargetMode="External"/><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frontpageafricaonline.com/liberia-dolphin-killed-butchered-before-nafaa-rescue-team-arrived/" TargetMode="Externa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frontpageafricaonline.com/liberia-judge-cites-evidence-in-finding-nsa-staff-peter-bon-jallah-guilty-of-statutory-rape-kidnapping/" TargetMode="External"/><Relationship Id="rId2" Type="http://schemas.openxmlformats.org/officeDocument/2006/relationships/hyperlink" Target="https://frontpageafricaonline.com/liberia-war-victims-survivors-protest-at-court-office-capitol-as-house-chairman-pledges-to-put-court-bill-before-plenary-tuesday/" TargetMode="External"/><Relationship Id="rId3" Type="http://schemas.openxmlformats.org/officeDocument/2006/relationships/hyperlink" Target="https://frontpageafricaonline.com/a-former-security-chiefs-vision-for-liberias-immigration-service-finally-plays/" TargetMode="External"/><Relationship Id="rId4" Type="http://schemas.openxmlformats.org/officeDocument/2006/relationships/hyperlink" Target="https://gnnliberia.com/liberia-imposes-21-day-isolation-and-monitoring-rules-for-travelers-amid-regional-ebola-threat/" TargetMode="External"/><Relationship Id="rId5" Type="http://schemas.openxmlformats.org/officeDocument/2006/relationships/hyperlink" Target="https://gnnliberia.com/afl-fires-two-soldiers-over-assault/" TargetMode="External"/><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aps.sn/immeuble-effondre-a-thies-un-mort-et-deux-blesses-selon-le-bilan-provisoire/" TargetMode="External"/><Relationship Id="rId2" Type="http://schemas.openxmlformats.org/officeDocument/2006/relationships/hyperlink" Target="https://www.pressafrik.com/Thies-un-mort-et-deux-survivants-extraits-des-decombres-apres-l-effondrement-d-un-immeuble-en-construction_a313661.html" TargetMode="External"/><Relationship Id="rId4" Type="http://schemas.openxmlformats.org/officeDocument/2006/relationships/hyperlink" Target="https://www.pressafrik.com/Thies-un-mort-et-deux-survivants-extraits-des-decombres-apres-l-effondrement-d-un-immeuble-en-construction_a313661.html" TargetMode="External"/><Relationship Id="rId5" Type="http://schemas.openxmlformats.org/officeDocument/2006/relationships/hyperlink" Target="https://www.pressafrik.com/Thies-un-mort-et-deux-survivants-extraits-des-decombres-apres-l-effondrement-d-un-immeuble-en-construction_a313661.html" TargetMode="External"/><Relationship Id="rId3" Type="http://schemas.openxmlformats.org/officeDocument/2006/relationships/image" Target="../media/image-35-1.jpe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www.pressafrik.com/&#8203;Pacte-de-stabilite-sociale-le-gouvernement-vise-71-d-execution-des-engagements-en-decembre_a313655.html" TargetMode="External"/><Relationship Id="rId2" Type="http://schemas.openxmlformats.org/officeDocument/2006/relationships/hyperlink" Target="https://www.seneweb.com/fr/news/Societe/malika-un-locataire-interpelle-pour-avoir-poignarde-a-mort-son-voisin-lors-dune-altercation_n_999001887.html" TargetMode="External"/><Relationship Id="rId3" Type="http://schemas.openxmlformats.org/officeDocument/2006/relationships/hyperlink" Target="https://www.dakaractu.com/Meurtre-presume-d-Aminata-Sy-a-Podor-le-suspect-retrouve-dans-une-cachette-et-arrete-a-Mbacke_a277514.html" TargetMode="External"/><Relationship Id="rId4" Type="http://schemas.openxmlformats.org/officeDocument/2006/relationships/hyperlink" Target="https://www.senenews.com/actualites/karamo-cisse-ndiaye-avoue-pourquoi-jai-tue-aminata-sy-sa-mere-ne-voulait-pas_604186.html" TargetMode="External"/><Relationship Id="rId5" Type="http://schemas.openxmlformats.org/officeDocument/2006/relationships/hyperlink" Target="https://www.seneweb.com/fr/news/Societe/drame-a-ziguinchor-un-commercant-retrouve-mort-pendu-apres-la-perte-de-800-000-f-cfa_n_999001835.html" TargetMode="External"/><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www.senenews.com/actualites/ils-lont-decouvert-pendu-le-grand-commercant-abdoulaye-diallo-sest-donne-la-mort-dans-sa-boutique_604123.html" TargetMode="External"/><Relationship Id="rId2" Type="http://schemas.openxmlformats.org/officeDocument/2006/relationships/hyperlink" Target="https://www.dakaractu.com/Ziguinchor-un-jeune-homme-retrouve-mort-dans-une-boutique-a-Tilene_a277479.html" TargetMode="External"/><Relationship Id="rId3" Type="http://schemas.openxmlformats.org/officeDocument/2006/relationships/hyperlink" Target="https://www.senenews.com/actualites/feminicides-au-senegal-aminata-sy-et-mame-diarra-sow-tuees-le-meme-jour-seydi-gassama-lance-un-cri-dalarme_604071.html" TargetMode="External"/><Relationship Id="rId4" Type="http://schemas.openxmlformats.org/officeDocument/2006/relationships/hyperlink" Target="https://wiwsport.com/2026/10/26/trophee-anps-le-trophee-du-meilleur-lutteur-en-lutte-avec-frappe-porte-desormais-le-nom-de-manga-ii/" TargetMode="External"/><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runner/work/SentiqS/SentiqS/scripts/assets/grsci/couverture-abidjan.jpg">    </p:cNvPr>
          <p:cNvPicPr>
            <a:picLocks noChangeAspect="1"/>
          </p:cNvPicPr>
          <p:nvPr/>
        </p:nvPicPr>
        <p:blipFill>
          <a:blip r:embed="rId1"/>
          <a:stretch>
            <a:fillRect/>
          </a:stretch>
        </p:blipFill>
        <p:spPr>
          <a:xfrm>
            <a:off x="182880" y="91440"/>
            <a:ext cx="11795760" cy="5852160"/>
          </a:xfrm>
          <a:prstGeom prst="rect">
            <a:avLst/>
          </a:prstGeom>
        </p:spPr>
      </p:pic>
      <p:sp>
        <p:nvSpPr>
          <p:cNvPr id="3" name="Text 0"/>
          <p:cNvSpPr/>
          <p:nvPr/>
        </p:nvSpPr>
        <p:spPr>
          <a:xfrm>
            <a:off x="2286000" y="228600"/>
            <a:ext cx="7589520" cy="1280160"/>
          </a:xfrm>
          <a:prstGeom prst="rect">
            <a:avLst/>
          </a:prstGeom>
          <a:noFill/>
          <a:ln/>
          <a:effectLst>
            <a:outerShdw sx="100000" sy="100000" kx="0" ky="0" algn="bl" rotWithShape="0" blurRad="76200" dist="25400" dir="2700000">
              <a:srgbClr val="000000">
                <a:alpha val="60000"/>
              </a:srgbClr>
            </a:outerShdw>
          </a:effectLst>
        </p:spPr>
        <p:txBody>
          <a:bodyPr wrap="square" rtlCol="0" anchor="ctr"/>
          <a:lstStyle/>
          <a:p>
            <a:pPr algn="ctr" indent="0" marL="0">
              <a:buNone/>
            </a:pPr>
            <a:r>
              <a:rPr lang="en-US" sz="4400" dirty="0">
                <a:solidFill>
                  <a:srgbClr val="FFFFFF"/>
                </a:solidFill>
                <a:latin typeface="Arial Narrow" pitchFamily="34" charset="0"/>
                <a:ea typeface="Arial Narrow" pitchFamily="34" charset="-122"/>
                <a:cs typeface="Arial Narrow" pitchFamily="34" charset="-120"/>
              </a:rPr>
              <a:t>RAPPORT MENSUEL</a:t>
            </a:r>
            <a:endParaRPr lang="en-US" sz="4400" dirty="0"/>
          </a:p>
          <a:p>
            <a:pPr algn="ctr" indent="0" marL="0">
              <a:buNone/>
            </a:pPr>
            <a:r>
              <a:rPr lang="en-US" sz="4400" dirty="0">
                <a:solidFill>
                  <a:srgbClr val="FFFFFF"/>
                </a:solidFill>
                <a:latin typeface="Arial Narrow" pitchFamily="34" charset="0"/>
                <a:ea typeface="Arial Narrow" pitchFamily="34" charset="-122"/>
                <a:cs typeface="Arial Narrow" pitchFamily="34" charset="-120"/>
              </a:rPr>
              <a:t>DE SÛRETÉ</a:t>
            </a:r>
            <a:endParaRPr lang="en-US" sz="4400" dirty="0"/>
          </a:p>
        </p:txBody>
      </p:sp>
      <p:sp>
        <p:nvSpPr>
          <p:cNvPr id="4" name="Shape 1"/>
          <p:cNvSpPr/>
          <p:nvPr/>
        </p:nvSpPr>
        <p:spPr>
          <a:xfrm>
            <a:off x="3200400" y="1600200"/>
            <a:ext cx="5760720" cy="0"/>
          </a:xfrm>
          <a:prstGeom prst="line">
            <a:avLst/>
          </a:prstGeom>
          <a:noFill/>
          <a:ln w="38100">
            <a:solidFill>
              <a:srgbClr val="000000"/>
            </a:solidFill>
            <a:prstDash val="solid"/>
          </a:ln>
        </p:spPr>
      </p:sp>
      <p:sp>
        <p:nvSpPr>
          <p:cNvPr id="5" name="Text 2"/>
          <p:cNvSpPr/>
          <p:nvPr/>
        </p:nvSpPr>
        <p:spPr>
          <a:xfrm>
            <a:off x="2286000" y="1691640"/>
            <a:ext cx="7589520" cy="502920"/>
          </a:xfrm>
          <a:prstGeom prst="rect">
            <a:avLst/>
          </a:prstGeom>
          <a:noFill/>
          <a:ln/>
          <a:effectLst>
            <a:outerShdw sx="100000" sy="100000" kx="0" ky="0" algn="bl" rotWithShape="0" blurRad="76200" dist="25400" dir="2700000">
              <a:srgbClr val="000000">
                <a:alpha val="60000"/>
              </a:srgbClr>
            </a:outerShdw>
          </a:effectLst>
        </p:spPr>
        <p:txBody>
          <a:bodyPr wrap="square" rtlCol="0" anchor="ct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SentiqS</a:t>
            </a:r>
            <a:endParaRPr lang="en-US" sz="2400" dirty="0"/>
          </a:p>
        </p:txBody>
      </p:sp>
      <p:sp>
        <p:nvSpPr>
          <p:cNvPr id="6" name="Text 3"/>
          <p:cNvSpPr/>
          <p:nvPr/>
        </p:nvSpPr>
        <p:spPr>
          <a:xfrm>
            <a:off x="7589520" y="5074920"/>
            <a:ext cx="4297680" cy="365760"/>
          </a:xfrm>
          <a:prstGeom prst="rect">
            <a:avLst/>
          </a:prstGeom>
          <a:noFill/>
          <a:ln/>
        </p:spPr>
        <p:txBody>
          <a:bodyPr wrap="square" rtlCol="0" anchor="ctr"/>
          <a:lstStyle/>
          <a:p>
            <a:pPr algn="r" indent="0" marL="0">
              <a:buNone/>
            </a:pPr>
            <a:r>
              <a:rPr lang="en-US" sz="2000" b="1" dirty="0">
                <a:solidFill>
                  <a:srgbClr val="FFFFFF"/>
                </a:solidFill>
                <a:latin typeface="Calibri" pitchFamily="34" charset="0"/>
                <a:ea typeface="Calibri" pitchFamily="34" charset="-122"/>
                <a:cs typeface="Calibri" pitchFamily="34" charset="-120"/>
              </a:rPr>
              <a:t>27 OCTOBRE 2026</a:t>
            </a:r>
            <a:endParaRPr lang="en-US" sz="2000" dirty="0"/>
          </a:p>
        </p:txBody>
      </p:sp>
      <p:sp>
        <p:nvSpPr>
          <p:cNvPr id="7" name="Text 4"/>
          <p:cNvSpPr/>
          <p:nvPr/>
        </p:nvSpPr>
        <p:spPr>
          <a:xfrm>
            <a:off x="5760720" y="5486400"/>
            <a:ext cx="6126480" cy="320040"/>
          </a:xfrm>
          <a:prstGeom prst="rect">
            <a:avLst/>
          </a:prstGeom>
          <a:noFill/>
          <a:ln/>
          <a:effectLst>
            <a:outerShdw sx="100000" sy="100000" kx="0" ky="0" algn="bl" rotWithShape="0" blurRad="50800" dist="12700" dir="2700000">
              <a:srgbClr val="000000">
                <a:alpha val="70000"/>
              </a:srgbClr>
            </a:outerShdw>
          </a:effectLst>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Période du 1er au 27 octobre 2026</a:t>
            </a:r>
            <a:endParaRPr lang="en-US" sz="1400" dirty="0"/>
          </a:p>
        </p:txBody>
      </p:sp>
      <p:pic>
        <p:nvPicPr>
          <p:cNvPr id="8" name="Image 1" descr="/home/runner/work/SentiqS/SentiqS/scripts/assets/grsci/afrique.png">    </p:cNvPr>
          <p:cNvPicPr>
            <a:picLocks noChangeAspect="1"/>
          </p:cNvPicPr>
          <p:nvPr/>
        </p:nvPicPr>
        <p:blipFill>
          <a:blip r:embed="rId2"/>
          <a:stretch>
            <a:fillRect/>
          </a:stretch>
        </p:blipFill>
        <p:spPr>
          <a:xfrm>
            <a:off x="9235440" y="6172200"/>
            <a:ext cx="548640" cy="548640"/>
          </a:xfrm>
          <a:prstGeom prst="rect">
            <a:avLst/>
          </a:prstGeom>
        </p:spPr>
      </p:pic>
      <p:sp>
        <p:nvSpPr>
          <p:cNvPr id="9" name="Text 5"/>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0" name="Text 6"/>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0</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TABLE DES MATIÈRES</a:t>
            </a:r>
            <a:endParaRPr lang="en-US" sz="2800" dirty="0"/>
          </a:p>
        </p:txBody>
      </p:sp>
      <p:sp>
        <p:nvSpPr>
          <p:cNvPr id="4" name="Shape 2"/>
          <p:cNvSpPr/>
          <p:nvPr/>
        </p:nvSpPr>
        <p:spPr>
          <a:xfrm>
            <a:off x="457200" y="960120"/>
            <a:ext cx="11292840" cy="0"/>
          </a:xfrm>
          <a:prstGeom prst="line">
            <a:avLst/>
          </a:prstGeom>
          <a:noFill/>
          <a:ln w="6350">
            <a:solidFill>
              <a:srgbClr val="A3A3A3"/>
            </a:solidFill>
            <a:prstDash val="solid"/>
          </a:ln>
        </p:spPr>
      </p:sp>
      <p:sp>
        <p:nvSpPr>
          <p:cNvPr id="5" name="Shape 3"/>
          <p:cNvSpPr/>
          <p:nvPr/>
        </p:nvSpPr>
        <p:spPr>
          <a:xfrm>
            <a:off x="457200" y="1143000"/>
            <a:ext cx="5532120" cy="4754880"/>
          </a:xfrm>
          <a:prstGeom prst="rect">
            <a:avLst/>
          </a:prstGeom>
          <a:solidFill>
            <a:srgbClr val="FFFFFF"/>
          </a:solidFill>
          <a:ln w="9525">
            <a:solidFill>
              <a:srgbClr val="1F2937"/>
            </a:solidFill>
            <a:prstDash val="solid"/>
          </a:ln>
        </p:spPr>
      </p:sp>
      <p:sp>
        <p:nvSpPr>
          <p:cNvPr id="6" name="Text 4"/>
          <p:cNvSpPr/>
          <p:nvPr/>
        </p:nvSpPr>
        <p:spPr>
          <a:xfrm>
            <a:off x="457200" y="1188720"/>
            <a:ext cx="5532120" cy="365760"/>
          </a:xfrm>
          <a:prstGeom prst="rect">
            <a:avLst/>
          </a:prstGeom>
          <a:noFill/>
          <a:ln/>
        </p:spPr>
        <p:txBody>
          <a:bodyPr wrap="square" rtlCol="0" anchor="ctr"/>
          <a:lstStyle/>
          <a:p>
            <a:pPr algn="ctr" indent="0" marL="0">
              <a:buNone/>
            </a:pPr>
            <a:r>
              <a:rPr lang="en-US" sz="1500" dirty="0">
                <a:solidFill>
                  <a:srgbClr val="1F6B5E"/>
                </a:solidFill>
                <a:latin typeface="Arial Narrow" pitchFamily="34" charset="0"/>
                <a:ea typeface="Arial Narrow" pitchFamily="34" charset="-122"/>
                <a:cs typeface="Arial Narrow" pitchFamily="34" charset="-120"/>
              </a:rPr>
              <a:t>FAITS MARQUANTS EN CÔTE D'IVOIRE</a:t>
            </a:r>
            <a:endParaRPr lang="en-US" sz="1500" dirty="0"/>
          </a:p>
        </p:txBody>
      </p:sp>
      <p:sp>
        <p:nvSpPr>
          <p:cNvPr id="7" name="Text 5"/>
          <p:cNvSpPr/>
          <p:nvPr/>
        </p:nvSpPr>
        <p:spPr>
          <a:xfrm>
            <a:off x="640080" y="1645920"/>
            <a:ext cx="5166360" cy="4206240"/>
          </a:xfrm>
          <a:prstGeom prst="rect">
            <a:avLst/>
          </a:prstGeom>
          <a:noFill/>
          <a:ln/>
        </p:spPr>
        <p:txBody>
          <a:bodyPr wrap="square" rtlCol="0" anchor="t"/>
          <a:lstStyle/>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POLITIQUE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TENSIONS PERMANENTES ENTRE LE DISTRICT AUTONOME D’ABIDJAN ET LES MAIRIES : LE CPC…</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PROJETS DE SA MANDATURE: LE PRÉSIDENT SORTANT DE LA JCI ÉMERAUDE DRESSE UN BILAN …</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GUIGLO : ETOUFFÉES PAR LA FLAMBÉE DES PRIX, LES VENDEUSES DE POISSONS EN GRÈVE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LUTTE CONTRE LE CANCER DU SEIN : LINFODROME COMBAT LES RUMEURS ET SENSIBILISE LES…</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CRISE AU SEIN DU PDCI/RDA - « L'ÉLÉPHANT » SE CASSERA-T-IL UNE DEUXIÈME PATTE ?</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SOCIAL</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HAUSSE DES PRIX DU POISSON : ASSALÉ TIÉMOKO RÉVÈLE UNE DÉPENDANCE DE LA CÔTE D’IV…</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DANANÉ/CHIRURGIE HUMANITAIRE - 134 PATIENTS OPÉRÉS GRATUITEMENT, DONT 114 POUR UN…</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SÉCURITÉ</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CHARNIER DE YOPOUGON : 26 ANS APRÈS, AMADOU COULIBALY OPPOSE LES VIOLENCES DU PAS…</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PRIX NATIONAL D'EXCELLENCE 2026 - RAPHAËL DIAMALA KOUASSI HISSE M'BAHIAKRO SUR LE…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INTERPOL RENFORCE LES CAPACITÉS DES ENQUÊTEURS IVOIRIENS POUR TRAQUER LES AVOIRS …</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QUERELLES DE SUCCESSION OU PROFANATION D'UN HÉRITAGE ?</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CÔTE D'IVOIRE : SÉCURITÉ ALIMENTAIRE ET SÉCURISATION FONCIÈRE, LE GOUVERNEMENT SO…</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PRIKRO : LA RELANCE DE LA CAFÉICULTURE ET LA PROMOTION DU MAÏS ENGAGÉES DANS L’IFFOU</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DIVERS</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AVANT LA GRANDE MARCHE DU 24 COCTOBRE ; EMMANUEL MACRON FACE UN ATTENTAT</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PRIX DU POISSON EN CÔTE D'IVOIRE - L'INTERPROFESSION PÊCHE SALUE LES MESURES GOUV…</a:t>
            </a:r>
            <a:endParaRPr lang="en-US" sz="900" dirty="0"/>
          </a:p>
        </p:txBody>
      </p:sp>
      <p:sp>
        <p:nvSpPr>
          <p:cNvPr id="8" name="Shape 6"/>
          <p:cNvSpPr/>
          <p:nvPr/>
        </p:nvSpPr>
        <p:spPr>
          <a:xfrm>
            <a:off x="6217920" y="1143000"/>
            <a:ext cx="5532120" cy="4754880"/>
          </a:xfrm>
          <a:prstGeom prst="rect">
            <a:avLst/>
          </a:prstGeom>
          <a:solidFill>
            <a:srgbClr val="FFFFFF"/>
          </a:solidFill>
          <a:ln w="9525">
            <a:solidFill>
              <a:srgbClr val="1F2937"/>
            </a:solidFill>
            <a:prstDash val="solid"/>
          </a:ln>
        </p:spPr>
      </p:sp>
      <p:sp>
        <p:nvSpPr>
          <p:cNvPr id="9" name="Text 7"/>
          <p:cNvSpPr/>
          <p:nvPr/>
        </p:nvSpPr>
        <p:spPr>
          <a:xfrm>
            <a:off x="6217920" y="1188720"/>
            <a:ext cx="5532120" cy="365760"/>
          </a:xfrm>
          <a:prstGeom prst="rect">
            <a:avLst/>
          </a:prstGeom>
          <a:noFill/>
          <a:ln/>
        </p:spPr>
        <p:txBody>
          <a:bodyPr wrap="square" rtlCol="0" anchor="ctr"/>
          <a:lstStyle/>
          <a:p>
            <a:pPr algn="ctr" indent="0" marL="0">
              <a:buNone/>
            </a:pPr>
            <a:r>
              <a:rPr lang="en-US" sz="1500" dirty="0">
                <a:solidFill>
                  <a:srgbClr val="1F6B5E"/>
                </a:solidFill>
                <a:latin typeface="Arial Narrow" pitchFamily="34" charset="0"/>
                <a:ea typeface="Arial Narrow" pitchFamily="34" charset="-122"/>
                <a:cs typeface="Arial Narrow" pitchFamily="34" charset="-120"/>
              </a:rPr>
              <a:t>DYNAMIQUES SOUS-RÉGIONALES</a:t>
            </a:r>
            <a:endParaRPr lang="en-US" sz="1500" dirty="0"/>
          </a:p>
        </p:txBody>
      </p:sp>
      <p:sp>
        <p:nvSpPr>
          <p:cNvPr id="10" name="Text 8"/>
          <p:cNvSpPr/>
          <p:nvPr/>
        </p:nvSpPr>
        <p:spPr>
          <a:xfrm>
            <a:off x="6400800" y="1645920"/>
            <a:ext cx="5166360" cy="4206240"/>
          </a:xfrm>
          <a:prstGeom prst="rect">
            <a:avLst/>
          </a:prstGeom>
          <a:noFill/>
          <a:ln/>
        </p:spPr>
        <p:txBody>
          <a:bodyPr wrap="square" rtlCol="0" anchor="t"/>
          <a:lstStyle/>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BURKINA FASO</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LA PEINE DE MORT RÉINTRODUITE POUR CERTAINS CRIMES DANS LE NOUVEAU CODE PÉNAL</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MALI</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MALI : CE QUE L’ON SAIT DE LA MORT MYSTÉRIEUSE DU JEUNE COMMERÇANT BOCAR LY</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NIGER</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TCHAD-NIGER : UNE NOUVELLE ESCALADE ENTRE MAHAMAT IDRISS DÉBY ET ABDOURAHAMANE TIANI</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GHANA</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SEVEN SHOT DEAD BY GUNMEN AT CHURCH FUNERAL IN JORDAN, OFFICIALS SAY</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TOGO</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63 ANS APRÈS SA MORT, LE PREMIER PRÉSIDENT DU TOGO N’A TOUJOURS PAS DE TOMBE DANS…</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BÉNIN</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NUEE THREATENS NATIONWIDE SHUTDOWN, DEMANDS WITHDRAWAL OF SOLDIERS FROM BEDC HQTRS</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GUINÉE</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MORT MYSTÉRIEUSE DE SOULEYMANE TOURÉ : SA MÈRE ET SA SŒUR VEULENT TOUTE LA VÉRITÉ</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LIBERIA</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(EN) LIBERIA: DOLPHIN KILLED, BUTCHERED BEFORE NAFAA RESCUE TEAM ARRIVED</a:t>
            </a:r>
            <a:endParaRPr lang="en-US" sz="900" dirty="0"/>
          </a:p>
          <a:p>
            <a:pPr indent="0" marL="0">
              <a:spcBef>
                <a:spcPts val="600"/>
              </a:spcBef>
              <a:spcAft>
                <a:spcPts val="200"/>
              </a:spcAft>
              <a:buNone/>
            </a:pPr>
            <a:r>
              <a:rPr lang="en-US" sz="900" b="1" dirty="0">
                <a:solidFill>
                  <a:srgbClr val="1F6B5E"/>
                </a:solidFill>
                <a:latin typeface="Calibri" pitchFamily="34" charset="0"/>
                <a:ea typeface="Calibri" pitchFamily="34" charset="-122"/>
                <a:cs typeface="Calibri" pitchFamily="34" charset="-120"/>
              </a:rPr>
              <a:t>SÉNÉGAL</a:t>
            </a:r>
            <a:endParaRPr lang="en-US" sz="900" dirty="0"/>
          </a:p>
          <a:p>
            <a:pPr marL="342900" indent="-342900">
              <a:spcAft>
                <a:spcPts val="200"/>
              </a:spcAft>
              <a:buSzPct val="100000"/>
              <a:buChar char="❑"/>
            </a:pPr>
            <a:r>
              <a:rPr lang="en-US" sz="900" dirty="0">
                <a:solidFill>
                  <a:srgbClr val="1F2937"/>
                </a:solidFill>
                <a:latin typeface="Calibri" pitchFamily="34" charset="0"/>
                <a:ea typeface="Calibri" pitchFamily="34" charset="-122"/>
                <a:cs typeface="Calibri" pitchFamily="34" charset="-120"/>
              </a:rPr>
              <a:t>IMMEUBLE EFFONDRÉ À THIÈS : UN MORT ET DEUX BLESSÉS, SELON LE BILAN PROVISOIRE</a:t>
            </a:r>
            <a:endParaRPr lang="en-US" sz="9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DCDCD"/>
        </a:solidFill>
      </p:bgPr>
    </p:bg>
    <p:spTree>
      <p:nvGrpSpPr>
        <p:cNvPr id="1" name=""/>
        <p:cNvGrpSpPr/>
        <p:nvPr/>
      </p:nvGrpSpPr>
      <p:grpSpPr>
        <a:xfrm>
          <a:off x="0" y="0"/>
          <a:ext cx="0" cy="0"/>
          <a:chOff x="0" y="0"/>
          <a:chExt cx="0" cy="0"/>
        </a:xfrm>
      </p:grpSpPr>
      <p:pic>
        <p:nvPicPr>
          <p:cNvPr id="2" name="Image 0" descr="/home/runner/work/SentiqS/SentiqS/scripts/assets/grsci/carte-ci.jpg">    </p:cNvPr>
          <p:cNvPicPr>
            <a:picLocks noChangeAspect="1"/>
          </p:cNvPicPr>
          <p:nvPr/>
        </p:nvPicPr>
        <p:blipFill>
          <a:blip r:embed="rId1"/>
          <a:stretch>
            <a:fillRect/>
          </a:stretch>
        </p:blipFill>
        <p:spPr>
          <a:xfrm>
            <a:off x="4754880" y="640080"/>
            <a:ext cx="2926080" cy="2926080"/>
          </a:xfrm>
          <a:prstGeom prst="rect">
            <a:avLst/>
          </a:prstGeom>
        </p:spPr>
      </p:pic>
      <p:sp>
        <p:nvSpPr>
          <p:cNvPr id="3" name="Text 0"/>
          <p:cNvSpPr/>
          <p:nvPr/>
        </p:nvSpPr>
        <p:spPr>
          <a:xfrm>
            <a:off x="457200" y="4023360"/>
            <a:ext cx="11247120" cy="822960"/>
          </a:xfrm>
          <a:prstGeom prst="rect">
            <a:avLst/>
          </a:prstGeom>
          <a:noFill/>
          <a:ln/>
        </p:spPr>
        <p:txBody>
          <a:bodyPr wrap="square" rtlCol="0" anchor="ctr"/>
          <a:lstStyle/>
          <a:p>
            <a:pPr algn="ctr" indent="0" marL="0">
              <a:buNone/>
            </a:pPr>
            <a:r>
              <a:rPr lang="en-US" sz="4400" dirty="0">
                <a:solidFill>
                  <a:srgbClr val="111111"/>
                </a:solidFill>
                <a:latin typeface="Arial Narrow" pitchFamily="34" charset="0"/>
                <a:ea typeface="Arial Narrow" pitchFamily="34" charset="-122"/>
                <a:cs typeface="Arial Narrow" pitchFamily="34" charset="-120"/>
              </a:rPr>
              <a:t>FAITS MARQUANTS EN CÔTE D'IVOIRE</a:t>
            </a:r>
            <a:endParaRPr lang="en-US" sz="4400" dirty="0"/>
          </a:p>
        </p:txBody>
      </p:sp>
      <p:sp>
        <p:nvSpPr>
          <p:cNvPr id="4" name="Shape 1"/>
          <p:cNvSpPr/>
          <p:nvPr/>
        </p:nvSpPr>
        <p:spPr>
          <a:xfrm>
            <a:off x="4206240" y="4846320"/>
            <a:ext cx="3749040" cy="0"/>
          </a:xfrm>
          <a:prstGeom prst="line">
            <a:avLst/>
          </a:prstGeom>
          <a:noFill/>
          <a:ln w="50800">
            <a:solidFill>
              <a:srgbClr val="000000"/>
            </a:solidFill>
            <a:prstDash val="solid"/>
          </a:ln>
        </p:spPr>
      </p:sp>
      <p:sp>
        <p:nvSpPr>
          <p:cNvPr id="5" name="Text 2"/>
          <p:cNvSpPr/>
          <p:nvPr/>
        </p:nvSpPr>
        <p:spPr>
          <a:xfrm>
            <a:off x="1371600" y="5074920"/>
            <a:ext cx="9418320" cy="640080"/>
          </a:xfrm>
          <a:prstGeom prst="rect">
            <a:avLst/>
          </a:prstGeom>
          <a:noFill/>
          <a:ln/>
        </p:spPr>
        <p:txBody>
          <a:bodyPr wrap="square" rtlCol="0" anchor="ctr"/>
          <a:lstStyle/>
          <a:p>
            <a:pPr algn="ctr" indent="0" marL="0">
              <a:buNone/>
            </a:pPr>
            <a:r>
              <a:rPr lang="en-US" sz="1100" i="1" dirty="0">
                <a:solidFill>
                  <a:srgbClr val="333333"/>
                </a:solidFill>
                <a:latin typeface="Calibri" pitchFamily="34" charset="0"/>
                <a:ea typeface="Calibri" pitchFamily="34" charset="-122"/>
                <a:cs typeface="Calibri" pitchFamily="34" charset="-120"/>
              </a:rPr>
              <a:t>Faits marquants : textes établis à partir des médias cités, dont les chapôs sont reproduits entre guillemets. Les « enjeux sûreté » sont des repères par type d'événement, à valider et compléter par l'analyste.</a:t>
            </a:r>
            <a:endParaRPr lang="en-US" sz="1100" dirty="0"/>
          </a:p>
        </p:txBody>
      </p:sp>
      <p:sp>
        <p:nvSpPr>
          <p:cNvPr id="6" name="Text 3"/>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7" name="Text 4"/>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120 jours ; 2 signaux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Tensions permanentes entre le District Autonome d’Abidjan et les Mairies : le CPC est-il bel et bien mort</a:t>
            </a:r>
            <a:endParaRPr lang="en-US" sz="2200" dirty="0"/>
          </a:p>
        </p:txBody>
      </p:sp>
      <p:sp>
        <p:nvSpPr>
          <p:cNvPr id="11" name="Text 9"/>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mardi 27 octobre 2026. Lieu : Côte d'Ivoire. Actualité politique.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Climat politique à suivre : en mesurer l'incidence sur la stabilité locale et les déplacements.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27 octobre 2026, 13 h UTC</a:t>
            </a:r>
            <a:endParaRPr lang="en-US" sz="14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Projets de sa mandature: le président sortant de la JCI Émeraude dresse un bilan de 95% de taux d’exécution</a:t>
            </a:r>
            <a:endParaRPr lang="en-US" sz="2200" dirty="0"/>
          </a:p>
        </p:txBody>
      </p:sp>
      <p:sp>
        <p:nvSpPr>
          <p:cNvPr id="10" name="Text 8"/>
          <p:cNvSpPr/>
          <p:nvPr/>
        </p:nvSpPr>
        <p:spPr>
          <a:xfrm>
            <a:off x="640080" y="1755648"/>
            <a:ext cx="10972800" cy="414223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samedi 24 octobre 2026. Lieu : Côte d'Ivoire. Actualité politique.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Climat politique à suivre : tensions possibles autour des échéances et des décisions institutionnelles. Adapter la veille et les déplacements aux dates sensibles.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24 octobre 2026, 6 h UTC</a:t>
            </a:r>
            <a:endParaRPr lang="en-US" sz="14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Guiglo : Etouffées par la flambée des prix, les vendeuses de poissons en grève</a:t>
            </a:r>
            <a:endParaRPr lang="en-US" sz="2200" dirty="0"/>
          </a:p>
        </p:txBody>
      </p:sp>
      <p:sp>
        <p:nvSpPr>
          <p:cNvPr id="10" name="Text 8"/>
          <p:cNvSpPr/>
          <p:nvPr/>
        </p:nvSpPr>
        <p:spPr>
          <a:xfrm>
            <a:off x="640080" y="1755648"/>
            <a:ext cx="10972800" cy="414223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lundi 26 octobre 2026. Lieu : Côte d'Ivoire. Actualité politique.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Perturbations possibles de l'activité et de la circulation : éviter les rassemblements, prévoir des horaires décalés ou le travail à distance, informer les personnels.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26 octobre 2026, 18 h UTC</a:t>
            </a:r>
            <a:endParaRPr lang="en-US" sz="14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POLITIQUE</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LUTTE CONTRE LE CANCER DU SEIN : LINFODROME COMBAT LES RUMEURS ET SENSIBILISE LES POPULATIONS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CRISE AU SEIN DU PDCI/RDA - « L'ÉLÉPHANT » SE CASSERA-T-IL UNE DEUXIÈME PATTE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9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SOCIAL</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05840"/>
            <a:ext cx="10972800" cy="292608"/>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120 jours ; 2 signaux du jour)</a:t>
            </a:r>
            <a:endParaRPr lang="en-US" sz="1100" dirty="0"/>
          </a:p>
        </p:txBody>
      </p:sp>
      <p:sp>
        <p:nvSpPr>
          <p:cNvPr id="10" name="Text 8"/>
          <p:cNvSpPr/>
          <p:nvPr/>
        </p:nvSpPr>
        <p:spPr>
          <a:xfrm>
            <a:off x="640080" y="1325880"/>
            <a:ext cx="10972800" cy="452628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HAUSSE DES PRIX DU POISSON : ASSALÉ TIÉMOKO RÉVÈLE UNE DÉPENDANCE DE LA CÔTE D’IVOIRE À 88,8 % AUX IMPORTATIONS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DANANÉ/CHIRURGIE HUMANITAIRE - 134 PATIENTS OPÉRÉS GRATUITEMENT, DONT 114 POUR UNE HERNIE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17 h UTC</a:t>
            </a:r>
            <a:endParaRPr lang="en-US" sz="13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SÉCURITÉ</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05840"/>
            <a:ext cx="10972800" cy="292608"/>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120 jours ; 2 signaux du jour)</a:t>
            </a:r>
            <a:endParaRPr lang="en-US" sz="1100" dirty="0"/>
          </a:p>
        </p:txBody>
      </p:sp>
      <p:sp>
        <p:nvSpPr>
          <p:cNvPr id="10" name="Text 8"/>
          <p:cNvSpPr/>
          <p:nvPr/>
        </p:nvSpPr>
        <p:spPr>
          <a:xfrm>
            <a:off x="640080" y="1325880"/>
            <a:ext cx="10972800" cy="452628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CHARNIER DE YOPOUGON : 26 ANS APRÈS, AMADOU COULIBALY OPPOSE LES VIOLENCES DU PASSÉ À L’ÈRE OUATTARA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PRIX NATIONAL D'EXCELLENCE 2026 - RAPHAËL DIAMALA KOUASSI HISSE M'BAHIAKRO SUR LE PODIUM DES MEILLEURS MAIRES DU PAYS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16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INTERPOL RENFORCE LES CAPACITÉS DES ENQUÊTEURS IVOIRIENS POUR TRAQUER LES AVOIRS DES CRIMINELS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QUERELLES DE SUCCESSION OU PROFANATION D'UN HÉRITAGE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CÔTE D'IVOIRE : SÉCURITÉ ALIMENTAIRE ET SÉCURISATION FONCIÈRE, LE GOUVERNEMENT SOUTIENT LES FEMMES PRODUCTRICES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Alwihda Info (Tchad)</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9 h UTC</a:t>
            </a:r>
            <a:endParaRPr lang="en-US" sz="13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SÉCURITÉ</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PRIKRO : LA RELANCE DE LA CAFÉICULTURE ET LA PROMOTION DU MAÏS ENGAGÉES DANS L’IFFOU</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21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FRÈRE DE TIDJANE THIAM INCULPÉ POUR 17 CHEFS D’ACCUSATION, DONT L’ASSASSINAT ET DES ACTES TERRORISTES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LUTTE CONTRE LES AVC - « VITE », UNE APPLICATION POUR SAUVER DES VIES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CÔTE D’IVOIRE : LA FONDATION KONRAD-ADENAUER RENFORCE SES ACTIONS EN FAVEUR DE LA DÉMOCRATIE ET DE LA SÉCURITÉ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L'AUDIENCE SUR L'ÉLECTION DE TIDJANE THIAM À LA TÊTE DU PDCI RENVOYÉE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12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DIVERS</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120 jours ; 2 signaux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Avant la grande marche du 24 coctobre ; Emmanuel Macron face un attentat</a:t>
            </a:r>
            <a:endParaRPr lang="en-US" sz="2200" dirty="0"/>
          </a:p>
        </p:txBody>
      </p:sp>
      <p:sp>
        <p:nvSpPr>
          <p:cNvPr id="11" name="Text 9"/>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vendredi 23 octobre 2026. Lieu : Côte d'Ivoire. Actualité économique. Une seule source à ce stade (Linfodrome)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Perturbations possibles de l'activité et de la circulation : éviter les rassemblements, prévoir des horaires décalés ou le travail à distance, informer les personnels.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23 octobre 2026, 22 h UTC</a:t>
            </a:r>
            <a:endParaRPr lang="en-US" sz="14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u="sng" dirty="0">
                <a:solidFill>
                  <a:srgbClr val="1F6B5E"/>
                </a:solidFill>
                <a:latin typeface="Arial Narrow" pitchFamily="34" charset="0"/>
                <a:ea typeface="Arial Narrow" pitchFamily="34" charset="-122"/>
                <a:cs typeface="Arial Narrow" pitchFamily="34" charset="-120"/>
              </a:rPr>
              <a:t>- DIVERS</a:t>
            </a:r>
            <a:endParaRPr lang="en-US" sz="2800" dirty="0"/>
          </a:p>
        </p:txBody>
      </p:sp>
      <p:sp>
        <p:nvSpPr>
          <p:cNvPr id="4" name="Shape 2"/>
          <p:cNvSpPr/>
          <p:nvPr/>
        </p:nvSpPr>
        <p:spPr>
          <a:xfrm>
            <a:off x="10881360" y="274320"/>
            <a:ext cx="301752" cy="566928"/>
          </a:xfrm>
          <a:prstGeom prst="rect">
            <a:avLst/>
          </a:prstGeom>
          <a:solidFill>
            <a:srgbClr val="F77F00"/>
          </a:solidFill>
          <a:ln w="12700">
            <a:solidFill>
              <a:srgbClr val="F77F00"/>
            </a:solidFill>
            <a:prstDash val="solid"/>
          </a:ln>
        </p:spPr>
      </p:sp>
      <p:sp>
        <p:nvSpPr>
          <p:cNvPr id="5" name="Shape 3"/>
          <p:cNvSpPr/>
          <p:nvPr/>
        </p:nvSpPr>
        <p:spPr>
          <a:xfrm>
            <a:off x="11183112" y="274320"/>
            <a:ext cx="301752" cy="566928"/>
          </a:xfrm>
          <a:prstGeom prst="rect">
            <a:avLst/>
          </a:prstGeom>
          <a:solidFill>
            <a:srgbClr val="FFFFFF"/>
          </a:solidFill>
          <a:ln w="12700">
            <a:solidFill>
              <a:srgbClr val="FFFFFF"/>
            </a:solidFill>
            <a:prstDash val="solid"/>
          </a:ln>
        </p:spPr>
      </p:sp>
      <p:sp>
        <p:nvSpPr>
          <p:cNvPr id="6" name="Shape 4"/>
          <p:cNvSpPr/>
          <p:nvPr/>
        </p:nvSpPr>
        <p:spPr>
          <a:xfrm>
            <a:off x="11484864" y="274320"/>
            <a:ext cx="301752" cy="566928"/>
          </a:xfrm>
          <a:prstGeom prst="rect">
            <a:avLst/>
          </a:prstGeom>
          <a:solidFill>
            <a:srgbClr val="009E60"/>
          </a:solidFill>
          <a:ln w="12700">
            <a:solidFill>
              <a:srgbClr val="009E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PRIX DU POISSON EN CÔTE D'IVOIRE - L'INTERPROFESSION PÊCHE SALUE LES MESURES GOUVERNEMENTALES ET PROMET DE NOUVELLES BAISSES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(CI)</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4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DCDCD"/>
        </a:solidFill>
      </p:bgPr>
    </p:bg>
    <p:spTree>
      <p:nvGrpSpPr>
        <p:cNvPr id="1" name=""/>
        <p:cNvGrpSpPr/>
        <p:nvPr/>
      </p:nvGrpSpPr>
      <p:grpSpPr>
        <a:xfrm>
          <a:off x="0" y="0"/>
          <a:ext cx="0" cy="0"/>
          <a:chOff x="0" y="0"/>
          <a:chExt cx="0" cy="0"/>
        </a:xfrm>
      </p:grpSpPr>
      <p:pic>
        <p:nvPicPr>
          <p:cNvPr id="2" name="Image 0" descr="/home/runner/work/SentiqS/SentiqS/scripts/assets/grsci/afrique.png">    </p:cNvPr>
          <p:cNvPicPr>
            <a:picLocks noChangeAspect="1"/>
          </p:cNvPicPr>
          <p:nvPr/>
        </p:nvPicPr>
        <p:blipFill>
          <a:blip r:embed="rId1"/>
          <a:stretch>
            <a:fillRect/>
          </a:stretch>
        </p:blipFill>
        <p:spPr>
          <a:xfrm>
            <a:off x="4754880" y="640080"/>
            <a:ext cx="2926080" cy="2926080"/>
          </a:xfrm>
          <a:prstGeom prst="rect">
            <a:avLst/>
          </a:prstGeom>
        </p:spPr>
      </p:pic>
      <p:sp>
        <p:nvSpPr>
          <p:cNvPr id="3" name="Text 0"/>
          <p:cNvSpPr/>
          <p:nvPr/>
        </p:nvSpPr>
        <p:spPr>
          <a:xfrm>
            <a:off x="457200" y="4023360"/>
            <a:ext cx="11247120" cy="822960"/>
          </a:xfrm>
          <a:prstGeom prst="rect">
            <a:avLst/>
          </a:prstGeom>
          <a:noFill/>
          <a:ln/>
        </p:spPr>
        <p:txBody>
          <a:bodyPr wrap="square" rtlCol="0" anchor="ctr"/>
          <a:lstStyle/>
          <a:p>
            <a:pPr algn="ctr" indent="0" marL="0">
              <a:buNone/>
            </a:pPr>
            <a:r>
              <a:rPr lang="en-US" sz="4400" dirty="0">
                <a:solidFill>
                  <a:srgbClr val="111111"/>
                </a:solidFill>
                <a:latin typeface="Arial Narrow" pitchFamily="34" charset="0"/>
                <a:ea typeface="Arial Narrow" pitchFamily="34" charset="-122"/>
                <a:cs typeface="Arial Narrow" pitchFamily="34" charset="-120"/>
              </a:rPr>
              <a:t>DYNAMIQUES RÉGIONALES</a:t>
            </a:r>
            <a:endParaRPr lang="en-US" sz="4400" dirty="0"/>
          </a:p>
        </p:txBody>
      </p:sp>
      <p:sp>
        <p:nvSpPr>
          <p:cNvPr id="4" name="Shape 1"/>
          <p:cNvSpPr/>
          <p:nvPr/>
        </p:nvSpPr>
        <p:spPr>
          <a:xfrm>
            <a:off x="4206240" y="4846320"/>
            <a:ext cx="3749040" cy="0"/>
          </a:xfrm>
          <a:prstGeom prst="line">
            <a:avLst/>
          </a:prstGeom>
          <a:noFill/>
          <a:ln w="50800">
            <a:solidFill>
              <a:srgbClr val="000000"/>
            </a:solidFill>
            <a:prstDash val="solid"/>
          </a:ln>
        </p:spPr>
      </p:sp>
      <p:sp>
        <p:nvSpPr>
          <p:cNvPr id="5" name="Text 2"/>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6" name="Text 3"/>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Burkina Faso : situation Fin octobre</a:t>
            </a:r>
            <a:endParaRPr lang="en-US" sz="2800" dirty="0"/>
          </a:p>
        </p:txBody>
      </p:sp>
      <p:sp>
        <p:nvSpPr>
          <p:cNvPr id="4" name="Shape 2"/>
          <p:cNvSpPr/>
          <p:nvPr/>
        </p:nvSpPr>
        <p:spPr>
          <a:xfrm>
            <a:off x="10881360" y="274320"/>
            <a:ext cx="905256" cy="283464"/>
          </a:xfrm>
          <a:prstGeom prst="rect">
            <a:avLst/>
          </a:prstGeom>
          <a:solidFill>
            <a:srgbClr val="EF2B2D"/>
          </a:solidFill>
          <a:ln w="12700">
            <a:solidFill>
              <a:srgbClr val="EF2B2D"/>
            </a:solidFill>
            <a:prstDash val="solid"/>
          </a:ln>
        </p:spPr>
      </p:sp>
      <p:sp>
        <p:nvSpPr>
          <p:cNvPr id="5" name="Shape 3"/>
          <p:cNvSpPr/>
          <p:nvPr/>
        </p:nvSpPr>
        <p:spPr>
          <a:xfrm>
            <a:off x="10881360" y="557784"/>
            <a:ext cx="905256" cy="283464"/>
          </a:xfrm>
          <a:prstGeom prst="rect">
            <a:avLst/>
          </a:prstGeom>
          <a:solidFill>
            <a:srgbClr val="009E49"/>
          </a:solidFill>
          <a:ln w="12700">
            <a:solidFill>
              <a:srgbClr val="009E49"/>
            </a:solidFill>
            <a:prstDash val="solid"/>
          </a:ln>
        </p:spPr>
      </p:sp>
      <p:sp>
        <p:nvSpPr>
          <p:cNvPr id="6" name="Shape 4"/>
          <p:cNvSpPr/>
          <p:nvPr/>
        </p:nvSpPr>
        <p:spPr>
          <a:xfrm>
            <a:off x="10881360" y="274320"/>
            <a:ext cx="905256" cy="566928"/>
          </a:xfrm>
          <a:prstGeom prst="rect">
            <a:avLst/>
          </a:prstGeom>
          <a:ln w="6350">
            <a:solidFill>
              <a:srgbClr val="1F2937"/>
            </a:solidFill>
            <a:prstDash val="solid"/>
          </a:ln>
        </p:spPr>
      </p:sp>
      <p:sp>
        <p:nvSpPr>
          <p:cNvPr id="7" name="Shape 5"/>
          <p:cNvSpPr/>
          <p:nvPr/>
        </p:nvSpPr>
        <p:spPr>
          <a:xfrm>
            <a:off x="457200" y="960120"/>
            <a:ext cx="11292840" cy="0"/>
          </a:xfrm>
          <a:prstGeom prst="line">
            <a:avLst/>
          </a:prstGeom>
          <a:noFill/>
          <a:ln w="6350">
            <a:solidFill>
              <a:srgbClr val="A3A3A3"/>
            </a:solidFill>
            <a:prstDash val="solid"/>
          </a:ln>
        </p:spPr>
      </p:sp>
      <p:sp>
        <p:nvSpPr>
          <p:cNvPr id="8" name="Text 6"/>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120 jours ; aucun signal du jour)</a:t>
            </a:r>
            <a:endParaRPr lang="en-US" sz="1100" dirty="0"/>
          </a:p>
        </p:txBody>
      </p:sp>
      <p:sp>
        <p:nvSpPr>
          <p:cNvPr id="9" name="Text 7"/>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La peine de mort réintroduite pour certains crimes dans le nouveau Code pénal</a:t>
            </a:r>
            <a:endParaRPr lang="en-US" sz="2200" dirty="0"/>
          </a:p>
        </p:txBody>
      </p:sp>
      <p:sp>
        <p:nvSpPr>
          <p:cNvPr id="10" name="Text 8"/>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vendredi 23 octobre 2026. Lieu : Burkina Faso. Actualité sécuritaire. Une seule source à ce stade (AllAfrica (BF))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AllAfrica (BF)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[allAfrica] Le Burkina Faso franchit une nouvelle étape dans le durcissement de sa législation pénale. Réunis mardi 20 octobre 2026, les 71 députés de l'Assemblée législative du peuple (ALP) ont adopté à l'unanimité un nouveau Code pénal réintroduisant la peine de mort pour plusieurs crimes, notamment le terrorisme, l'espionnage et la trahison.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Évolution du cadre juridique et sécuritaire : à intégrer à l'analyse pays et à la sensibilisation des personnels expatriés et locaux.</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(BF)</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23 octobre 2026, 10 h UTC   ·   Cotation : Probable</a:t>
            </a:r>
            <a:endParaRPr lang="en-US" sz="1400" dirty="0"/>
          </a:p>
        </p:txBody>
      </p:sp>
      <p:sp>
        <p:nvSpPr>
          <p:cNvPr id="11" name="Text 9"/>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2" name="Text 10"/>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Burkina Faso</a:t>
            </a:r>
            <a:endParaRPr lang="en-US" sz="2800" dirty="0"/>
          </a:p>
        </p:txBody>
      </p:sp>
      <p:sp>
        <p:nvSpPr>
          <p:cNvPr id="4" name="Shape 2"/>
          <p:cNvSpPr/>
          <p:nvPr/>
        </p:nvSpPr>
        <p:spPr>
          <a:xfrm>
            <a:off x="10881360" y="274320"/>
            <a:ext cx="905256" cy="283464"/>
          </a:xfrm>
          <a:prstGeom prst="rect">
            <a:avLst/>
          </a:prstGeom>
          <a:solidFill>
            <a:srgbClr val="EF2B2D"/>
          </a:solidFill>
          <a:ln w="12700">
            <a:solidFill>
              <a:srgbClr val="EF2B2D"/>
            </a:solidFill>
            <a:prstDash val="solid"/>
          </a:ln>
        </p:spPr>
      </p:sp>
      <p:sp>
        <p:nvSpPr>
          <p:cNvPr id="5" name="Shape 3"/>
          <p:cNvSpPr/>
          <p:nvPr/>
        </p:nvSpPr>
        <p:spPr>
          <a:xfrm>
            <a:off x="10881360" y="557784"/>
            <a:ext cx="905256" cy="283464"/>
          </a:xfrm>
          <a:prstGeom prst="rect">
            <a:avLst/>
          </a:prstGeom>
          <a:solidFill>
            <a:srgbClr val="009E49"/>
          </a:solidFill>
          <a:ln w="12700">
            <a:solidFill>
              <a:srgbClr val="009E49"/>
            </a:solidFill>
            <a:prstDash val="solid"/>
          </a:ln>
        </p:spPr>
      </p:sp>
      <p:sp>
        <p:nvSpPr>
          <p:cNvPr id="6" name="Shape 4"/>
          <p:cNvSpPr/>
          <p:nvPr/>
        </p:nvSpPr>
        <p:spPr>
          <a:xfrm>
            <a:off x="10881360" y="274320"/>
            <a:ext cx="905256" cy="566928"/>
          </a:xfrm>
          <a:prstGeom prst="rect">
            <a:avLst/>
          </a:prstGeom>
          <a:ln w="6350">
            <a:solidFill>
              <a:srgbClr val="1F2937"/>
            </a:solidFill>
            <a:prstDash val="solid"/>
          </a:ln>
        </p:spPr>
      </p:sp>
      <p:sp>
        <p:nvSpPr>
          <p:cNvPr id="7" name="Shape 5"/>
          <p:cNvSpPr/>
          <p:nvPr/>
        </p:nvSpPr>
        <p:spPr>
          <a:xfrm>
            <a:off x="457200" y="960120"/>
            <a:ext cx="11292840" cy="0"/>
          </a:xfrm>
          <a:prstGeom prst="line">
            <a:avLst/>
          </a:prstGeom>
          <a:noFill/>
          <a:ln w="6350">
            <a:solidFill>
              <a:srgbClr val="A3A3A3"/>
            </a:solidFill>
            <a:prstDash val="solid"/>
          </a:ln>
        </p:spPr>
      </p:sp>
      <p:sp>
        <p:nvSpPr>
          <p:cNvPr id="8" name="Text 6"/>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PAYS RÉTABLIT LA PEINE DE MORT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(BF) · HRW_fr sur X/Twitter</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22 octobre 2026, 15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SÉCURITÉ NUMÉRIQUE AU BURKINA : LA BCLCC LANCE LA 2ᵉ SEMAINE NATIONALE DE LUTTE CONTRE LA CYBERCRIMINALITÉ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Faso7</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COOPÉRATION: LE MINISTRE DE LA SÉCURITÉ REÇOIT UNE DÉLÉGATION DE L’UICN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Wakat Sera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12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CONSTRUCTION AU BURKINA FASO : L’ORDRE DES INGÉNIEURS ALERTE SUR LES RISQUES LIÉS AUX FAUX PROFESSIONNELS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Faso7</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14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BURKINA FASO-TURQUIE : UNE OFFENSIVE DIPLOMATIQUE D’ENVERGURE POUR CONSOLIDER LA COOPÉRATION BILATÉRALE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Alwihda Info (Tchad)</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9 h UTC</a:t>
            </a:r>
            <a:endParaRPr lang="en-US" sz="1300" dirty="0"/>
          </a:p>
        </p:txBody>
      </p:sp>
      <p:sp>
        <p:nvSpPr>
          <p:cNvPr id="9" name="Text 7"/>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0" name="Text 8"/>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Burkina Faso</a:t>
            </a:r>
            <a:endParaRPr lang="en-US" sz="2800" dirty="0"/>
          </a:p>
        </p:txBody>
      </p:sp>
      <p:sp>
        <p:nvSpPr>
          <p:cNvPr id="4" name="Shape 2"/>
          <p:cNvSpPr/>
          <p:nvPr/>
        </p:nvSpPr>
        <p:spPr>
          <a:xfrm>
            <a:off x="10881360" y="274320"/>
            <a:ext cx="905256" cy="283464"/>
          </a:xfrm>
          <a:prstGeom prst="rect">
            <a:avLst/>
          </a:prstGeom>
          <a:solidFill>
            <a:srgbClr val="EF2B2D"/>
          </a:solidFill>
          <a:ln w="12700">
            <a:solidFill>
              <a:srgbClr val="EF2B2D"/>
            </a:solidFill>
            <a:prstDash val="solid"/>
          </a:ln>
        </p:spPr>
      </p:sp>
      <p:sp>
        <p:nvSpPr>
          <p:cNvPr id="5" name="Shape 3"/>
          <p:cNvSpPr/>
          <p:nvPr/>
        </p:nvSpPr>
        <p:spPr>
          <a:xfrm>
            <a:off x="10881360" y="557784"/>
            <a:ext cx="905256" cy="283464"/>
          </a:xfrm>
          <a:prstGeom prst="rect">
            <a:avLst/>
          </a:prstGeom>
          <a:solidFill>
            <a:srgbClr val="009E49"/>
          </a:solidFill>
          <a:ln w="12700">
            <a:solidFill>
              <a:srgbClr val="009E49"/>
            </a:solidFill>
            <a:prstDash val="solid"/>
          </a:ln>
        </p:spPr>
      </p:sp>
      <p:sp>
        <p:nvSpPr>
          <p:cNvPr id="6" name="Shape 4"/>
          <p:cNvSpPr/>
          <p:nvPr/>
        </p:nvSpPr>
        <p:spPr>
          <a:xfrm>
            <a:off x="10881360" y="274320"/>
            <a:ext cx="905256" cy="566928"/>
          </a:xfrm>
          <a:prstGeom prst="rect">
            <a:avLst/>
          </a:prstGeom>
          <a:ln w="6350">
            <a:solidFill>
              <a:srgbClr val="1F2937"/>
            </a:solidFill>
            <a:prstDash val="solid"/>
          </a:ln>
        </p:spPr>
      </p:sp>
      <p:sp>
        <p:nvSpPr>
          <p:cNvPr id="7" name="Shape 5"/>
          <p:cNvSpPr/>
          <p:nvPr/>
        </p:nvSpPr>
        <p:spPr>
          <a:xfrm>
            <a:off x="457200" y="960120"/>
            <a:ext cx="11292840" cy="0"/>
          </a:xfrm>
          <a:prstGeom prst="line">
            <a:avLst/>
          </a:prstGeom>
          <a:noFill/>
          <a:ln w="6350">
            <a:solidFill>
              <a:srgbClr val="A3A3A3"/>
            </a:solidFill>
            <a:prstDash val="solid"/>
          </a:ln>
        </p:spPr>
      </p:sp>
      <p:sp>
        <p:nvSpPr>
          <p:cNvPr id="8" name="Text 6"/>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EXPANSION GÉOGRAPHIQUE DU TERRORISME SAHÉLIEN - IMPLICATIONS POUR LE GHANA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(GH)</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17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VIS D’APPEL À CANDIDATURES POUR LE RECRUTEMENT DE PERSONNEL À LA RADIO CONFÉDÉRALE DAANDÈ LIPTAKO</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Le Sahel</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16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ROAMING UEMOA : 4 PAYS UNISSENT LEURS RÉSEAUX POUR ALLÉGER LA FACTURE DES USAGERS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Linfodrome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11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BURKINA FASO : RIMTALBA JEAN EMMANUEL OUÉDRAOGO ATTENDU AU SOMMET RUSSIE-AFRIQUE À MOSCOU</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Malijet</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23 h UTC</a:t>
            </a:r>
            <a:endParaRPr lang="en-US" sz="1300" dirty="0"/>
          </a:p>
        </p:txBody>
      </p:sp>
      <p:sp>
        <p:nvSpPr>
          <p:cNvPr id="9" name="Text 7"/>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0" name="Text 8"/>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Mali</a:t>
            </a:r>
            <a:endParaRPr lang="en-US" sz="2800" dirty="0"/>
          </a:p>
        </p:txBody>
      </p:sp>
      <p:sp>
        <p:nvSpPr>
          <p:cNvPr id="4" name="Shape 2"/>
          <p:cNvSpPr/>
          <p:nvPr/>
        </p:nvSpPr>
        <p:spPr>
          <a:xfrm>
            <a:off x="10881360" y="274320"/>
            <a:ext cx="301752" cy="566928"/>
          </a:xfrm>
          <a:prstGeom prst="rect">
            <a:avLst/>
          </a:prstGeom>
          <a:solidFill>
            <a:srgbClr val="14B53A"/>
          </a:solidFill>
          <a:ln w="12700">
            <a:solidFill>
              <a:srgbClr val="14B53A"/>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CE1126"/>
          </a:solidFill>
          <a:ln w="12700">
            <a:solidFill>
              <a:srgbClr val="CE1126"/>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121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Mali : Ce que l’on sait de la mort mystérieuse du jeune commerçant Bocar Ly</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mardi 27 octobre 2026. Lieu : Mali. Actualité sécuritaire. Une seule source à ce stade (Mali 24)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Mali 24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Porté disparu depuis le vendredi 23 octobre 2026 à 19 heures, le corps sans vie du jeune Bocar Ly, commerçant L’article Mali : Ce que l’on sait de la mort mystérieuse du jeune commerçant Bocar Ly est apparu en premier sur Mali 24.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Mali 24</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27 octobre 2026, 14 h UTC   ·   Cotation : Non confirmé</a:t>
            </a:r>
            <a:endParaRPr lang="en-US" sz="1400" dirty="0"/>
          </a:p>
        </p:txBody>
      </p:sp>
      <p:pic>
        <p:nvPicPr>
          <p:cNvPr id="12" name="Image 0" descr="preencoded.png">
            <a:hlinkClick r:id="rId3" tooltip=""/>
          </p:cNvPr>
          <p:cNvPicPr>
            <a:picLocks noChangeAspect="1"/>
          </p:cNvPicPr>
          <p:nvPr/>
        </p:nvPicPr>
        <p:blipFill>
          <a:blip r:embed="rId2"/>
          <a:stretch>
            <a:fillRect/>
          </a:stretch>
        </p:blipFill>
        <p:spPr>
          <a:xfrm>
            <a:off x="7635240" y="2075688"/>
            <a:ext cx="4114800" cy="3465433"/>
          </a:xfrm>
          <a:prstGeom prst="rect">
            <a:avLst/>
          </a:prstGeom>
        </p:spPr>
      </p:pic>
      <p:sp>
        <p:nvSpPr>
          <p:cNvPr id="13" name="Text 10"/>
          <p:cNvSpPr/>
          <p:nvPr/>
        </p:nvSpPr>
        <p:spPr>
          <a:xfrm>
            <a:off x="7635240" y="5577697"/>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mali24.info</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Mali</a:t>
            </a:r>
            <a:endParaRPr lang="en-US" sz="2800" dirty="0"/>
          </a:p>
        </p:txBody>
      </p:sp>
      <p:sp>
        <p:nvSpPr>
          <p:cNvPr id="4" name="Shape 2"/>
          <p:cNvSpPr/>
          <p:nvPr/>
        </p:nvSpPr>
        <p:spPr>
          <a:xfrm>
            <a:off x="10881360" y="274320"/>
            <a:ext cx="301752" cy="566928"/>
          </a:xfrm>
          <a:prstGeom prst="rect">
            <a:avLst/>
          </a:prstGeom>
          <a:solidFill>
            <a:srgbClr val="14B53A"/>
          </a:solidFill>
          <a:ln w="12700">
            <a:solidFill>
              <a:srgbClr val="14B53A"/>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CE1126"/>
          </a:solidFill>
          <a:ln w="12700">
            <a:solidFill>
              <a:srgbClr val="CE1126"/>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TOURNÉE DES LAURÉATS DE LA BIENNALE DE TOMBOUCTOU 2025 : LE COUP D’ENVOI DONNÉ À BOUGOUNI</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Mali 24</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12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TREIZE CIVILS TUÉS PAR UNE FRAPPE DE DRONE DE L'ARMÉE, DANS LA RÉGION DE TOMBOUCTOU</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(ML) · RFI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ENLÈVEMENT DE QUATRE ENSEIGNANTS À SAN : LA SYNERGIE DES SYNDICATS DE L’ÉDUCATION DE LA RÉGION EXIGE LEUR LIBÉRATION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Mali 24</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 : DISPARITIONS INQUIÉTANTES, MORTS SUSPECTES… QUE SE PASSE-T-IL AVEC LA JEUNESSE MALIENNE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Maliactu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ATTAQUE DE TRAPPES ET LA VERRIÈRE : LA QUALIFICATION DU MOBILE RACISTE AU CŒUR DU DÉBAT SÉCURITAIRE ET SOCIÉTAL</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Maliactu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10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Mali</a:t>
            </a:r>
            <a:endParaRPr lang="en-US" sz="2800" dirty="0"/>
          </a:p>
        </p:txBody>
      </p:sp>
      <p:sp>
        <p:nvSpPr>
          <p:cNvPr id="4" name="Shape 2"/>
          <p:cNvSpPr/>
          <p:nvPr/>
        </p:nvSpPr>
        <p:spPr>
          <a:xfrm>
            <a:off x="10881360" y="274320"/>
            <a:ext cx="301752" cy="566928"/>
          </a:xfrm>
          <a:prstGeom prst="rect">
            <a:avLst/>
          </a:prstGeom>
          <a:solidFill>
            <a:srgbClr val="14B53A"/>
          </a:solidFill>
          <a:ln w="12700">
            <a:solidFill>
              <a:srgbClr val="14B53A"/>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CE1126"/>
          </a:solidFill>
          <a:ln w="12700">
            <a:solidFill>
              <a:srgbClr val="CE1126"/>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 : LE BILAN DE L'ATTAQUE MEURTRIÈRE DU WEEKEND DERNIER MONTE À 54 MORTS (ARMÉE)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Dakar 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4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BENSON DIAKITÉ, ANCIENNE GRANDE VOIX DE RFI, EST MORT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AllAfrica (ML) · RFI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23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LUTTE CONTRE LE TERRORISME À KAYES : LA POLICE FRAPPE AU CŒUR DES RÉSEAUX DE SOUTIEN LOGISTIQUE DES GAT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Maliactu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14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 : L’ARMÉE ET L’AFRICA CORPS, CONTRÔLÉ PAR LA RUSSIE, ONT COMMIS DE NOUVEAUX ABUS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HRW_fr sur X/Twitter</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22 octobre 2026, 4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Niger</a:t>
            </a:r>
            <a:endParaRPr lang="en-US" sz="2800" dirty="0"/>
          </a:p>
        </p:txBody>
      </p:sp>
      <p:sp>
        <p:nvSpPr>
          <p:cNvPr id="4" name="Shape 2"/>
          <p:cNvSpPr/>
          <p:nvPr/>
        </p:nvSpPr>
        <p:spPr>
          <a:xfrm>
            <a:off x="10881360" y="274320"/>
            <a:ext cx="905256" cy="188976"/>
          </a:xfrm>
          <a:prstGeom prst="rect">
            <a:avLst/>
          </a:prstGeom>
          <a:solidFill>
            <a:srgbClr val="E05206"/>
          </a:solidFill>
          <a:ln w="12700">
            <a:solidFill>
              <a:srgbClr val="E05206"/>
            </a:solidFill>
            <a:prstDash val="solid"/>
          </a:ln>
        </p:spPr>
      </p:sp>
      <p:sp>
        <p:nvSpPr>
          <p:cNvPr id="5" name="Shape 3"/>
          <p:cNvSpPr/>
          <p:nvPr/>
        </p:nvSpPr>
        <p:spPr>
          <a:xfrm>
            <a:off x="10881360" y="463296"/>
            <a:ext cx="905256" cy="188976"/>
          </a:xfrm>
          <a:prstGeom prst="rect">
            <a:avLst/>
          </a:prstGeom>
          <a:solidFill>
            <a:srgbClr val="FFFFFF"/>
          </a:solidFill>
          <a:ln w="12700">
            <a:solidFill>
              <a:srgbClr val="FFFFFF"/>
            </a:solidFill>
            <a:prstDash val="solid"/>
          </a:ln>
        </p:spPr>
      </p:sp>
      <p:sp>
        <p:nvSpPr>
          <p:cNvPr id="6" name="Shape 4"/>
          <p:cNvSpPr/>
          <p:nvPr/>
        </p:nvSpPr>
        <p:spPr>
          <a:xfrm>
            <a:off x="10881360" y="652272"/>
            <a:ext cx="905256" cy="188976"/>
          </a:xfrm>
          <a:prstGeom prst="rect">
            <a:avLst/>
          </a:prstGeom>
          <a:solidFill>
            <a:srgbClr val="0DB02B"/>
          </a:solidFill>
          <a:ln w="12700">
            <a:solidFill>
              <a:srgbClr val="0DB02B"/>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118 jours ; 3 signaux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Tchad-Niger : une nouvelle escalade entre Mahamat Idriss Déby et Abdourahamane Tiani</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mardi 27 octobre 2026. Lieu : Niamey, Niger. Actualité politique. Une seule source à ce stade (Jeune Afrique)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Jeune Afrique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Niamey accuse N’Djamena d’avoir lancé une frappe de drone sur son territoire, avec le soutien de la France. Une charge qui ravive la méfiance entre les deux voisins.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Menace armée sur les axes et localités de la zone : réévaluer les déplacements terrestres (horaires, convois, itinéraires de repli) et les consignes des sites et des personnels présents à proximité.</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Jeune Afrique</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27 octobre 2026, 16 h UTC   ·   Cotation : Probable</a:t>
            </a:r>
            <a:endParaRPr lang="en-US" sz="1400" dirty="0"/>
          </a:p>
        </p:txBody>
      </p:sp>
      <p:pic>
        <p:nvPicPr>
          <p:cNvPr id="12" name="Image 0" descr="preencoded.png">
            <a:hlinkClick r:id="rId3" tooltip=""/>
          </p:cNvPr>
          <p:cNvPicPr>
            <a:picLocks noChangeAspect="1"/>
          </p:cNvPicPr>
          <p:nvPr/>
        </p:nvPicPr>
        <p:blipFill>
          <a:blip r:embed="rId2"/>
          <a:stretch>
            <a:fillRect/>
          </a:stretch>
        </p:blipFill>
        <p:spPr>
          <a:xfrm>
            <a:off x="7635240" y="2075688"/>
            <a:ext cx="4114800" cy="2314575"/>
          </a:xfrm>
          <a:prstGeom prst="rect">
            <a:avLst/>
          </a:prstGeom>
        </p:spPr>
      </p:pic>
      <p:sp>
        <p:nvSpPr>
          <p:cNvPr id="13" name="Text 10"/>
          <p:cNvSpPr/>
          <p:nvPr/>
        </p:nvSpPr>
        <p:spPr>
          <a:xfrm>
            <a:off x="7635240" y="4426839"/>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jeuneafrique.com</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Niger</a:t>
            </a:r>
            <a:endParaRPr lang="en-US" sz="2800" dirty="0"/>
          </a:p>
        </p:txBody>
      </p:sp>
      <p:sp>
        <p:nvSpPr>
          <p:cNvPr id="4" name="Shape 2"/>
          <p:cNvSpPr/>
          <p:nvPr/>
        </p:nvSpPr>
        <p:spPr>
          <a:xfrm>
            <a:off x="10881360" y="274320"/>
            <a:ext cx="905256" cy="188976"/>
          </a:xfrm>
          <a:prstGeom prst="rect">
            <a:avLst/>
          </a:prstGeom>
          <a:solidFill>
            <a:srgbClr val="E05206"/>
          </a:solidFill>
          <a:ln w="12700">
            <a:solidFill>
              <a:srgbClr val="E05206"/>
            </a:solidFill>
            <a:prstDash val="solid"/>
          </a:ln>
        </p:spPr>
      </p:sp>
      <p:sp>
        <p:nvSpPr>
          <p:cNvPr id="5" name="Shape 3"/>
          <p:cNvSpPr/>
          <p:nvPr/>
        </p:nvSpPr>
        <p:spPr>
          <a:xfrm>
            <a:off x="10881360" y="463296"/>
            <a:ext cx="905256" cy="188976"/>
          </a:xfrm>
          <a:prstGeom prst="rect">
            <a:avLst/>
          </a:prstGeom>
          <a:solidFill>
            <a:srgbClr val="FFFFFF"/>
          </a:solidFill>
          <a:ln w="12700">
            <a:solidFill>
              <a:srgbClr val="FFFFFF"/>
            </a:solidFill>
            <a:prstDash val="solid"/>
          </a:ln>
        </p:spPr>
      </p:sp>
      <p:sp>
        <p:nvSpPr>
          <p:cNvPr id="6" name="Shape 4"/>
          <p:cNvSpPr/>
          <p:nvPr/>
        </p:nvSpPr>
        <p:spPr>
          <a:xfrm>
            <a:off x="10881360" y="652272"/>
            <a:ext cx="905256" cy="188976"/>
          </a:xfrm>
          <a:prstGeom prst="rect">
            <a:avLst/>
          </a:prstGeom>
          <a:solidFill>
            <a:srgbClr val="0DB02B"/>
          </a:solidFill>
          <a:ln w="12700">
            <a:solidFill>
              <a:srgbClr val="0DB02B"/>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FRAPPE DE DRONE AU NIGER : NIAMEY ACCUSE LE TCHAD, N’DJAMENA REJETTE LES ACCUSATIONS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Journal du Tchad · Tchadinfos · ANP — Agence Nigérienne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NIGER AFFIRME QU'UNE FRAPPE DE DRONE DU TCHAD A TUÉ DEUX CIVILS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Africanews — Chaine panafricaine · Africanews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 NIGER DÉNONCE UNE ATTAQUE DE DRONE DU TCHAD AVEC «L’APPUI DE LA FRANCE»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RFI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LANCEMENT OFFICIEL DE LA CARAVANE DE SENSIBILISATION ET DE FORMATION SUR LES BONNES PRATIQUES DE GREFFES ET PARQUETS ET L’ÉTABLISSEMENT DES PIÈCES D’EXÉCUTION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ANP — Agence Nigérienne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20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BREF: ATTAQUE, AGRICULTURE, SPORT …LES INFORMATIONS DE LA SEMAINE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Studio Kalangou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14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III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Niger</a:t>
            </a:r>
            <a:endParaRPr lang="en-US" sz="2800" dirty="0"/>
          </a:p>
        </p:txBody>
      </p:sp>
      <p:sp>
        <p:nvSpPr>
          <p:cNvPr id="4" name="Shape 2"/>
          <p:cNvSpPr/>
          <p:nvPr/>
        </p:nvSpPr>
        <p:spPr>
          <a:xfrm>
            <a:off x="10881360" y="274320"/>
            <a:ext cx="905256" cy="188976"/>
          </a:xfrm>
          <a:prstGeom prst="rect">
            <a:avLst/>
          </a:prstGeom>
          <a:solidFill>
            <a:srgbClr val="E05206"/>
          </a:solidFill>
          <a:ln w="12700">
            <a:solidFill>
              <a:srgbClr val="E05206"/>
            </a:solidFill>
            <a:prstDash val="solid"/>
          </a:ln>
        </p:spPr>
      </p:sp>
      <p:sp>
        <p:nvSpPr>
          <p:cNvPr id="5" name="Shape 3"/>
          <p:cNvSpPr/>
          <p:nvPr/>
        </p:nvSpPr>
        <p:spPr>
          <a:xfrm>
            <a:off x="10881360" y="463296"/>
            <a:ext cx="905256" cy="188976"/>
          </a:xfrm>
          <a:prstGeom prst="rect">
            <a:avLst/>
          </a:prstGeom>
          <a:solidFill>
            <a:srgbClr val="FFFFFF"/>
          </a:solidFill>
          <a:ln w="12700">
            <a:solidFill>
              <a:srgbClr val="FFFFFF"/>
            </a:solidFill>
            <a:prstDash val="solid"/>
          </a:ln>
        </p:spPr>
      </p:sp>
      <p:sp>
        <p:nvSpPr>
          <p:cNvPr id="6" name="Shape 4"/>
          <p:cNvSpPr/>
          <p:nvPr/>
        </p:nvSpPr>
        <p:spPr>
          <a:xfrm>
            <a:off x="10881360" y="652272"/>
            <a:ext cx="905256" cy="188976"/>
          </a:xfrm>
          <a:prstGeom prst="rect">
            <a:avLst/>
          </a:prstGeom>
          <a:solidFill>
            <a:srgbClr val="0DB02B"/>
          </a:solidFill>
          <a:ln w="12700">
            <a:solidFill>
              <a:srgbClr val="0DB02B"/>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4 STUDENTS, ONE LADY KILLED IN NIGER GOVERNOR’S CONVOY ROAD CRASH</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Vanguard</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POURQUOI N’DJAMÉNA SORT ENFIN DE SON SILENCE FACE À NIAMEY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Tchadinfos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AVIS À MANIFESTATION D’INTÉRÊT N°003/CA/TAFOUK TV/2026</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Le Sahel</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14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AGADEZ : LE GOUVERNEUR PRÉSIDE UNE RÉUNION ÉLARGIE DU CONSEIL RÉGIONAL DE SÉCURITÉ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ANP — Agence Nigérienne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Ghana</a:t>
            </a:r>
            <a:endParaRPr lang="en-US" sz="2800" dirty="0"/>
          </a:p>
        </p:txBody>
      </p:sp>
      <p:sp>
        <p:nvSpPr>
          <p:cNvPr id="4" name="Shape 2"/>
          <p:cNvSpPr/>
          <p:nvPr/>
        </p:nvSpPr>
        <p:spPr>
          <a:xfrm>
            <a:off x="10881360" y="274320"/>
            <a:ext cx="905256" cy="188976"/>
          </a:xfrm>
          <a:prstGeom prst="rect">
            <a:avLst/>
          </a:prstGeom>
          <a:solidFill>
            <a:srgbClr val="CE1126"/>
          </a:solidFill>
          <a:ln w="12700">
            <a:solidFill>
              <a:srgbClr val="CE1126"/>
            </a:solidFill>
            <a:prstDash val="solid"/>
          </a:ln>
        </p:spPr>
      </p:sp>
      <p:sp>
        <p:nvSpPr>
          <p:cNvPr id="5" name="Shape 3"/>
          <p:cNvSpPr/>
          <p:nvPr/>
        </p:nvSpPr>
        <p:spPr>
          <a:xfrm>
            <a:off x="10881360" y="463296"/>
            <a:ext cx="905256" cy="188976"/>
          </a:xfrm>
          <a:prstGeom prst="rect">
            <a:avLst/>
          </a:prstGeom>
          <a:solidFill>
            <a:srgbClr val="FCD116"/>
          </a:solidFill>
          <a:ln w="12700">
            <a:solidFill>
              <a:srgbClr val="FCD116"/>
            </a:solidFill>
            <a:prstDash val="solid"/>
          </a:ln>
        </p:spPr>
      </p:sp>
      <p:sp>
        <p:nvSpPr>
          <p:cNvPr id="6" name="Shape 4"/>
          <p:cNvSpPr/>
          <p:nvPr/>
        </p:nvSpPr>
        <p:spPr>
          <a:xfrm>
            <a:off x="10881360" y="652272"/>
            <a:ext cx="905256" cy="188976"/>
          </a:xfrm>
          <a:prstGeom prst="rect">
            <a:avLst/>
          </a:prstGeom>
          <a:solidFill>
            <a:srgbClr val="006B3F"/>
          </a:solidFill>
          <a:ln w="12700">
            <a:solidFill>
              <a:srgbClr val="006B3F"/>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120 jours ; 2 signaux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Seven shot dead by gunmen at church funeral in Jordan, officials say</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vendredi 23 octobre 2026. Lieu : Ghana. Actualité sécuritaire. Une seule source à ce stade (JoyOnline)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Menace armée sur les axes et localités de la zone : réévaluer les déplacements terrestres (horaires, convois, itinéraires de repli) et les consignes des sites et des personnels présents à proximité.</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23 octobre 2026, 18 h UTC</a:t>
            </a:r>
            <a:endParaRPr lang="en-US" sz="1400" dirty="0"/>
          </a:p>
        </p:txBody>
      </p:sp>
      <p:pic>
        <p:nvPicPr>
          <p:cNvPr id="12" name="Image 0" descr="preencoded.png">
            <a:hlinkClick r:id="rId3" tooltip=""/>
          </p:cNvPr>
          <p:cNvPicPr>
            <a:picLocks noChangeAspect="1"/>
          </p:cNvPicPr>
          <p:nvPr/>
        </p:nvPicPr>
        <p:blipFill>
          <a:blip r:embed="rId2"/>
          <a:stretch>
            <a:fillRect/>
          </a:stretch>
        </p:blipFill>
        <p:spPr>
          <a:xfrm>
            <a:off x="7635240" y="2075688"/>
            <a:ext cx="4114800" cy="2160270"/>
          </a:xfrm>
          <a:prstGeom prst="rect">
            <a:avLst/>
          </a:prstGeom>
        </p:spPr>
      </p:pic>
      <p:sp>
        <p:nvSpPr>
          <p:cNvPr id="13" name="Text 10"/>
          <p:cNvSpPr/>
          <p:nvPr/>
        </p:nvSpPr>
        <p:spPr>
          <a:xfrm>
            <a:off x="7635240" y="4272534"/>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myjoyonline.com</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Ghana</a:t>
            </a:r>
            <a:endParaRPr lang="en-US" sz="2800" dirty="0"/>
          </a:p>
        </p:txBody>
      </p:sp>
      <p:sp>
        <p:nvSpPr>
          <p:cNvPr id="4" name="Shape 2"/>
          <p:cNvSpPr/>
          <p:nvPr/>
        </p:nvSpPr>
        <p:spPr>
          <a:xfrm>
            <a:off x="10881360" y="274320"/>
            <a:ext cx="905256" cy="188976"/>
          </a:xfrm>
          <a:prstGeom prst="rect">
            <a:avLst/>
          </a:prstGeom>
          <a:solidFill>
            <a:srgbClr val="CE1126"/>
          </a:solidFill>
          <a:ln w="12700">
            <a:solidFill>
              <a:srgbClr val="CE1126"/>
            </a:solidFill>
            <a:prstDash val="solid"/>
          </a:ln>
        </p:spPr>
      </p:sp>
      <p:sp>
        <p:nvSpPr>
          <p:cNvPr id="5" name="Shape 3"/>
          <p:cNvSpPr/>
          <p:nvPr/>
        </p:nvSpPr>
        <p:spPr>
          <a:xfrm>
            <a:off x="10881360" y="463296"/>
            <a:ext cx="905256" cy="188976"/>
          </a:xfrm>
          <a:prstGeom prst="rect">
            <a:avLst/>
          </a:prstGeom>
          <a:solidFill>
            <a:srgbClr val="FCD116"/>
          </a:solidFill>
          <a:ln w="12700">
            <a:solidFill>
              <a:srgbClr val="FCD116"/>
            </a:solidFill>
            <a:prstDash val="solid"/>
          </a:ln>
        </p:spPr>
      </p:sp>
      <p:sp>
        <p:nvSpPr>
          <p:cNvPr id="6" name="Shape 4"/>
          <p:cNvSpPr/>
          <p:nvPr/>
        </p:nvSpPr>
        <p:spPr>
          <a:xfrm>
            <a:off x="10881360" y="652272"/>
            <a:ext cx="905256" cy="188976"/>
          </a:xfrm>
          <a:prstGeom prst="rect">
            <a:avLst/>
          </a:prstGeom>
          <a:solidFill>
            <a:srgbClr val="006B3F"/>
          </a:solidFill>
          <a:ln w="12700">
            <a:solidFill>
              <a:srgbClr val="006B3F"/>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NPP WALEWALE CONSTITUENCY CONDEMNS PERSONAL ATTACKS AGAINST MP, URGES PARTY DISCIPLINE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15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GAF TO STAGE LAND COMBAT FIREPOWER DEMONSTRATION AT BUNDASE ON OCTOBER 30</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LES FORTES PLUIES, PRINCIPALE MENACE POUR LA CULTURE DU CACAO</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AllAfrica (GH)</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16 octobre 2026, 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GRASAG PRESIDENT CALLS FOR SUSTAINABLE FUNDING FOR AGRICULTURAL RESEARCH IN AFRICA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GHANA DEVELOPING FIRST NATIONAL ACTION PLAN ON YOUTH, PEACE AND SECURITY – OSMAN AYARIGA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Ghana</a:t>
            </a:r>
            <a:endParaRPr lang="en-US" sz="2800" dirty="0"/>
          </a:p>
        </p:txBody>
      </p:sp>
      <p:sp>
        <p:nvSpPr>
          <p:cNvPr id="4" name="Shape 2"/>
          <p:cNvSpPr/>
          <p:nvPr/>
        </p:nvSpPr>
        <p:spPr>
          <a:xfrm>
            <a:off x="10881360" y="274320"/>
            <a:ext cx="905256" cy="188976"/>
          </a:xfrm>
          <a:prstGeom prst="rect">
            <a:avLst/>
          </a:prstGeom>
          <a:solidFill>
            <a:srgbClr val="CE1126"/>
          </a:solidFill>
          <a:ln w="12700">
            <a:solidFill>
              <a:srgbClr val="CE1126"/>
            </a:solidFill>
            <a:prstDash val="solid"/>
          </a:ln>
        </p:spPr>
      </p:sp>
      <p:sp>
        <p:nvSpPr>
          <p:cNvPr id="5" name="Shape 3"/>
          <p:cNvSpPr/>
          <p:nvPr/>
        </p:nvSpPr>
        <p:spPr>
          <a:xfrm>
            <a:off x="10881360" y="463296"/>
            <a:ext cx="905256" cy="188976"/>
          </a:xfrm>
          <a:prstGeom prst="rect">
            <a:avLst/>
          </a:prstGeom>
          <a:solidFill>
            <a:srgbClr val="FCD116"/>
          </a:solidFill>
          <a:ln w="12700">
            <a:solidFill>
              <a:srgbClr val="FCD116"/>
            </a:solidFill>
            <a:prstDash val="solid"/>
          </a:ln>
        </p:spPr>
      </p:sp>
      <p:sp>
        <p:nvSpPr>
          <p:cNvPr id="6" name="Shape 4"/>
          <p:cNvSpPr/>
          <p:nvPr/>
        </p:nvSpPr>
        <p:spPr>
          <a:xfrm>
            <a:off x="10881360" y="652272"/>
            <a:ext cx="905256" cy="188976"/>
          </a:xfrm>
          <a:prstGeom prst="rect">
            <a:avLst/>
          </a:prstGeom>
          <a:solidFill>
            <a:srgbClr val="006B3F"/>
          </a:solidFill>
          <a:ln w="12700">
            <a:solidFill>
              <a:srgbClr val="006B3F"/>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THREE ARRESTED IN ATEWA FOREST AS NAIMOS LAUNCHES OPERATION GREEN SHIELD</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JoyOnline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GHANA CHALLENGES UN TO TURN HISTORICAL JUSTICE PROMISES INTO ACTION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GBC Ghana 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GALAMSEY WILL PERSIST IF FINANCIERS GO UNTOUCHED — SECURITY ANALYST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GBC Ghana Online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12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GHANA MUST OWN DIGITAL INFRASTRUCTURE TO ENSURE DATA SECURITY — APAAK</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Ghanaian Times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8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Togo</a:t>
            </a:r>
            <a:endParaRPr lang="en-US" sz="2800" dirty="0"/>
          </a:p>
        </p:txBody>
      </p:sp>
      <p:sp>
        <p:nvSpPr>
          <p:cNvPr id="4" name="Shape 2"/>
          <p:cNvSpPr/>
          <p:nvPr/>
        </p:nvSpPr>
        <p:spPr>
          <a:xfrm>
            <a:off x="10881360" y="274320"/>
            <a:ext cx="905256" cy="113386"/>
          </a:xfrm>
          <a:prstGeom prst="rect">
            <a:avLst/>
          </a:prstGeom>
          <a:solidFill>
            <a:srgbClr val="006A4E"/>
          </a:solidFill>
          <a:ln w="12700">
            <a:solidFill>
              <a:srgbClr val="006A4E"/>
            </a:solidFill>
            <a:prstDash val="solid"/>
          </a:ln>
        </p:spPr>
      </p:sp>
      <p:sp>
        <p:nvSpPr>
          <p:cNvPr id="5" name="Shape 3"/>
          <p:cNvSpPr/>
          <p:nvPr/>
        </p:nvSpPr>
        <p:spPr>
          <a:xfrm>
            <a:off x="10881360" y="387706"/>
            <a:ext cx="905256" cy="113386"/>
          </a:xfrm>
          <a:prstGeom prst="rect">
            <a:avLst/>
          </a:prstGeom>
          <a:solidFill>
            <a:srgbClr val="FFCE00"/>
          </a:solidFill>
          <a:ln w="12700">
            <a:solidFill>
              <a:srgbClr val="FFCE00"/>
            </a:solidFill>
            <a:prstDash val="solid"/>
          </a:ln>
        </p:spPr>
      </p:sp>
      <p:sp>
        <p:nvSpPr>
          <p:cNvPr id="6" name="Shape 4"/>
          <p:cNvSpPr/>
          <p:nvPr/>
        </p:nvSpPr>
        <p:spPr>
          <a:xfrm>
            <a:off x="10881360" y="501091"/>
            <a:ext cx="905256" cy="113386"/>
          </a:xfrm>
          <a:prstGeom prst="rect">
            <a:avLst/>
          </a:prstGeom>
          <a:solidFill>
            <a:srgbClr val="006A4E"/>
          </a:solidFill>
          <a:ln w="12700">
            <a:solidFill>
              <a:srgbClr val="006A4E"/>
            </a:solidFill>
            <a:prstDash val="solid"/>
          </a:ln>
        </p:spPr>
      </p:sp>
      <p:sp>
        <p:nvSpPr>
          <p:cNvPr id="7" name="Shape 5"/>
          <p:cNvSpPr/>
          <p:nvPr/>
        </p:nvSpPr>
        <p:spPr>
          <a:xfrm>
            <a:off x="10881360" y="614477"/>
            <a:ext cx="905256" cy="113386"/>
          </a:xfrm>
          <a:prstGeom prst="rect">
            <a:avLst/>
          </a:prstGeom>
          <a:solidFill>
            <a:srgbClr val="FFCE00"/>
          </a:solidFill>
          <a:ln w="12700">
            <a:solidFill>
              <a:srgbClr val="FFCE00"/>
            </a:solidFill>
            <a:prstDash val="solid"/>
          </a:ln>
        </p:spPr>
      </p:sp>
      <p:sp>
        <p:nvSpPr>
          <p:cNvPr id="8" name="Shape 6"/>
          <p:cNvSpPr/>
          <p:nvPr/>
        </p:nvSpPr>
        <p:spPr>
          <a:xfrm>
            <a:off x="10881360" y="727862"/>
            <a:ext cx="905256" cy="113386"/>
          </a:xfrm>
          <a:prstGeom prst="rect">
            <a:avLst/>
          </a:prstGeom>
          <a:solidFill>
            <a:srgbClr val="006A4E"/>
          </a:solidFill>
          <a:ln w="12700">
            <a:solidFill>
              <a:srgbClr val="006A4E"/>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121 jours ; 1 signal du jour)</a:t>
            </a:r>
            <a:endParaRPr lang="en-US" sz="1100" dirty="0"/>
          </a:p>
        </p:txBody>
      </p:sp>
      <p:sp>
        <p:nvSpPr>
          <p:cNvPr id="12" name="Text 10"/>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63 ans après sa mort, le premier président du Togo n’a toujours pas de tombe dans son pays</a:t>
            </a:r>
            <a:endParaRPr lang="en-US" sz="2200" dirty="0"/>
          </a:p>
        </p:txBody>
      </p:sp>
      <p:sp>
        <p:nvSpPr>
          <p:cNvPr id="13" name="Text 11"/>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jeudi 1er octobre 2026. Lieu : Togo. Actualité politique. Une seule source à ce stade (Togoweb)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Togoweb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Il n’existe, à ce jour, ni statue, ni mausolée, ni musée officiel dédié à Sylvanus Olympio dans le pays qu’il a mené à l’indépendance. Le premier président togolais repose toujours à Agoué, au Bénin, faute d’avoir été rapatrié malgré une promesse présidentielle vieille de quinze ans.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Climat politique à suivre : tensions possibles autour des échéances et des décisions institutionnelles. Adapter la veille et les déplacements aux dates sensibles.</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Togoweb</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1 octobre 2026, 9 h UTC   ·   Cotation : Non confirmé</a:t>
            </a:r>
            <a:endParaRPr lang="en-US" sz="1400" dirty="0"/>
          </a:p>
        </p:txBody>
      </p:sp>
      <p:pic>
        <p:nvPicPr>
          <p:cNvPr id="14" name="Image 0" descr="preencoded.png">
            <a:hlinkClick r:id="rId3" tooltip=""/>
          </p:cNvPr>
          <p:cNvPicPr>
            <a:picLocks noChangeAspect="1"/>
          </p:cNvPicPr>
          <p:nvPr/>
        </p:nvPicPr>
        <p:blipFill>
          <a:blip r:embed="rId2"/>
          <a:stretch>
            <a:fillRect/>
          </a:stretch>
        </p:blipFill>
        <p:spPr>
          <a:xfrm>
            <a:off x="7635240" y="2075688"/>
            <a:ext cx="4114800" cy="2525358"/>
          </a:xfrm>
          <a:prstGeom prst="rect">
            <a:avLst/>
          </a:prstGeom>
        </p:spPr>
      </p:pic>
      <p:sp>
        <p:nvSpPr>
          <p:cNvPr id="15" name="Text 12"/>
          <p:cNvSpPr/>
          <p:nvPr/>
        </p:nvSpPr>
        <p:spPr>
          <a:xfrm>
            <a:off x="7635240" y="4637622"/>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togoweb.net</a:t>
            </a:r>
            <a:endParaRPr lang="en-US" sz="900" dirty="0"/>
          </a:p>
        </p:txBody>
      </p:sp>
      <p:sp>
        <p:nvSpPr>
          <p:cNvPr id="16" name="Text 13"/>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7" name="Text 14"/>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Togo</a:t>
            </a:r>
            <a:endParaRPr lang="en-US" sz="2800" dirty="0"/>
          </a:p>
        </p:txBody>
      </p:sp>
      <p:sp>
        <p:nvSpPr>
          <p:cNvPr id="4" name="Shape 2"/>
          <p:cNvSpPr/>
          <p:nvPr/>
        </p:nvSpPr>
        <p:spPr>
          <a:xfrm>
            <a:off x="10881360" y="274320"/>
            <a:ext cx="905256" cy="113386"/>
          </a:xfrm>
          <a:prstGeom prst="rect">
            <a:avLst/>
          </a:prstGeom>
          <a:solidFill>
            <a:srgbClr val="006A4E"/>
          </a:solidFill>
          <a:ln w="12700">
            <a:solidFill>
              <a:srgbClr val="006A4E"/>
            </a:solidFill>
            <a:prstDash val="solid"/>
          </a:ln>
        </p:spPr>
      </p:sp>
      <p:sp>
        <p:nvSpPr>
          <p:cNvPr id="5" name="Shape 3"/>
          <p:cNvSpPr/>
          <p:nvPr/>
        </p:nvSpPr>
        <p:spPr>
          <a:xfrm>
            <a:off x="10881360" y="387706"/>
            <a:ext cx="905256" cy="113386"/>
          </a:xfrm>
          <a:prstGeom prst="rect">
            <a:avLst/>
          </a:prstGeom>
          <a:solidFill>
            <a:srgbClr val="FFCE00"/>
          </a:solidFill>
          <a:ln w="12700">
            <a:solidFill>
              <a:srgbClr val="FFCE00"/>
            </a:solidFill>
            <a:prstDash val="solid"/>
          </a:ln>
        </p:spPr>
      </p:sp>
      <p:sp>
        <p:nvSpPr>
          <p:cNvPr id="6" name="Shape 4"/>
          <p:cNvSpPr/>
          <p:nvPr/>
        </p:nvSpPr>
        <p:spPr>
          <a:xfrm>
            <a:off x="10881360" y="501091"/>
            <a:ext cx="905256" cy="113386"/>
          </a:xfrm>
          <a:prstGeom prst="rect">
            <a:avLst/>
          </a:prstGeom>
          <a:solidFill>
            <a:srgbClr val="006A4E"/>
          </a:solidFill>
          <a:ln w="12700">
            <a:solidFill>
              <a:srgbClr val="006A4E"/>
            </a:solidFill>
            <a:prstDash val="solid"/>
          </a:ln>
        </p:spPr>
      </p:sp>
      <p:sp>
        <p:nvSpPr>
          <p:cNvPr id="7" name="Shape 5"/>
          <p:cNvSpPr/>
          <p:nvPr/>
        </p:nvSpPr>
        <p:spPr>
          <a:xfrm>
            <a:off x="10881360" y="614477"/>
            <a:ext cx="905256" cy="113386"/>
          </a:xfrm>
          <a:prstGeom prst="rect">
            <a:avLst/>
          </a:prstGeom>
          <a:solidFill>
            <a:srgbClr val="FFCE00"/>
          </a:solidFill>
          <a:ln w="12700">
            <a:solidFill>
              <a:srgbClr val="FFCE00"/>
            </a:solidFill>
            <a:prstDash val="solid"/>
          </a:ln>
        </p:spPr>
      </p:sp>
      <p:sp>
        <p:nvSpPr>
          <p:cNvPr id="8" name="Shape 6"/>
          <p:cNvSpPr/>
          <p:nvPr/>
        </p:nvSpPr>
        <p:spPr>
          <a:xfrm>
            <a:off x="10881360" y="727862"/>
            <a:ext cx="905256" cy="113386"/>
          </a:xfrm>
          <a:prstGeom prst="rect">
            <a:avLst/>
          </a:prstGeom>
          <a:solidFill>
            <a:srgbClr val="006A4E"/>
          </a:solidFill>
          <a:ln w="12700">
            <a:solidFill>
              <a:srgbClr val="006A4E"/>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WHATSAPP : LA FAUSSE ALERTE AU VOTE POUR PIRATER VOTRE COMPTE FAIT SON RETOUR</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Le Nouveau Reporter</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10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SOUTENU PAR L’UNION AFRICAINE, LE TOGOLAIS GILBERT HOUNGBO RÉUSSIRA-T-IL À CONSERVER LA TÊTE DE L’OIT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Jeune Afrique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Probable</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VERS UNE PAIX DES CHAMPS ?</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AllAfrica (TG)</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15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LITTORAL DE LOMÉ : UN DISPOSITIF SÉCURITAIRE RENFORCÉ APRÈS LE DÉMANTÈLEMENT DES INSTALLATIONS ILLÉGALES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Togo Actualite · Icilome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STOCKS DE SÉCURITÉ - RECORD DE 31 000 TONNES COLLECTÉES EN 2025</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AllAfrica (TG)</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11 h UTC</a:t>
            </a:r>
            <a:endParaRPr lang="en-US" sz="13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Togo</a:t>
            </a:r>
            <a:endParaRPr lang="en-US" sz="2800" dirty="0"/>
          </a:p>
        </p:txBody>
      </p:sp>
      <p:sp>
        <p:nvSpPr>
          <p:cNvPr id="4" name="Shape 2"/>
          <p:cNvSpPr/>
          <p:nvPr/>
        </p:nvSpPr>
        <p:spPr>
          <a:xfrm>
            <a:off x="10881360" y="274320"/>
            <a:ext cx="905256" cy="113386"/>
          </a:xfrm>
          <a:prstGeom prst="rect">
            <a:avLst/>
          </a:prstGeom>
          <a:solidFill>
            <a:srgbClr val="006A4E"/>
          </a:solidFill>
          <a:ln w="12700">
            <a:solidFill>
              <a:srgbClr val="006A4E"/>
            </a:solidFill>
            <a:prstDash val="solid"/>
          </a:ln>
        </p:spPr>
      </p:sp>
      <p:sp>
        <p:nvSpPr>
          <p:cNvPr id="5" name="Shape 3"/>
          <p:cNvSpPr/>
          <p:nvPr/>
        </p:nvSpPr>
        <p:spPr>
          <a:xfrm>
            <a:off x="10881360" y="387706"/>
            <a:ext cx="905256" cy="113386"/>
          </a:xfrm>
          <a:prstGeom prst="rect">
            <a:avLst/>
          </a:prstGeom>
          <a:solidFill>
            <a:srgbClr val="FFCE00"/>
          </a:solidFill>
          <a:ln w="12700">
            <a:solidFill>
              <a:srgbClr val="FFCE00"/>
            </a:solidFill>
            <a:prstDash val="solid"/>
          </a:ln>
        </p:spPr>
      </p:sp>
      <p:sp>
        <p:nvSpPr>
          <p:cNvPr id="6" name="Shape 4"/>
          <p:cNvSpPr/>
          <p:nvPr/>
        </p:nvSpPr>
        <p:spPr>
          <a:xfrm>
            <a:off x="10881360" y="501091"/>
            <a:ext cx="905256" cy="113386"/>
          </a:xfrm>
          <a:prstGeom prst="rect">
            <a:avLst/>
          </a:prstGeom>
          <a:solidFill>
            <a:srgbClr val="006A4E"/>
          </a:solidFill>
          <a:ln w="12700">
            <a:solidFill>
              <a:srgbClr val="006A4E"/>
            </a:solidFill>
            <a:prstDash val="solid"/>
          </a:ln>
        </p:spPr>
      </p:sp>
      <p:sp>
        <p:nvSpPr>
          <p:cNvPr id="7" name="Shape 5"/>
          <p:cNvSpPr/>
          <p:nvPr/>
        </p:nvSpPr>
        <p:spPr>
          <a:xfrm>
            <a:off x="10881360" y="614477"/>
            <a:ext cx="905256" cy="113386"/>
          </a:xfrm>
          <a:prstGeom prst="rect">
            <a:avLst/>
          </a:prstGeom>
          <a:solidFill>
            <a:srgbClr val="FFCE00"/>
          </a:solidFill>
          <a:ln w="12700">
            <a:solidFill>
              <a:srgbClr val="FFCE00"/>
            </a:solidFill>
            <a:prstDash val="solid"/>
          </a:ln>
        </p:spPr>
      </p:sp>
      <p:sp>
        <p:nvSpPr>
          <p:cNvPr id="8" name="Shape 6"/>
          <p:cNvSpPr/>
          <p:nvPr/>
        </p:nvSpPr>
        <p:spPr>
          <a:xfrm>
            <a:off x="10881360" y="727862"/>
            <a:ext cx="905256" cy="113386"/>
          </a:xfrm>
          <a:prstGeom prst="rect">
            <a:avLst/>
          </a:prstGeom>
          <a:solidFill>
            <a:srgbClr val="006A4E"/>
          </a:solidFill>
          <a:ln w="12700">
            <a:solidFill>
              <a:srgbClr val="006A4E"/>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LA PLAGE DE LOMÉ SOUS SURVEILLANCE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AllAfrica (TG)</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11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TSÉVIÉ : LES FORCES DE SÉCURITÉ DÉPLOYÉES SUR LE SITE DU MEETING REPORTÉ DU CNCC</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24heureinfo.com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20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EBOLA : AFRICA CDC CONVOQUE LES MINISTRES AFRICAINS DE LA SANTÉ EN URGENCE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24heureinfo.com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25 octobre 2026, 10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TOGO : AGRICULTURE, NUCLÉAIRE… LES DÉPUTÉS ADOPTENT QUATRE TEXTES STRATÉGIQUES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24heureinfo.com · ATOP — Agence Togolaise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17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VI</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Bénin</a:t>
            </a:r>
            <a:endParaRPr lang="en-US" sz="2800" dirty="0"/>
          </a:p>
        </p:txBody>
      </p:sp>
      <p:sp>
        <p:nvSpPr>
          <p:cNvPr id="4" name="Shape 2"/>
          <p:cNvSpPr/>
          <p:nvPr/>
        </p:nvSpPr>
        <p:spPr>
          <a:xfrm>
            <a:off x="10881360" y="274320"/>
            <a:ext cx="362102" cy="566928"/>
          </a:xfrm>
          <a:prstGeom prst="rect">
            <a:avLst/>
          </a:prstGeom>
          <a:solidFill>
            <a:srgbClr val="008751"/>
          </a:solidFill>
          <a:ln w="12700">
            <a:solidFill>
              <a:srgbClr val="008751"/>
            </a:solidFill>
            <a:prstDash val="solid"/>
          </a:ln>
        </p:spPr>
      </p:sp>
      <p:sp>
        <p:nvSpPr>
          <p:cNvPr id="5" name="Shape 3"/>
          <p:cNvSpPr/>
          <p:nvPr/>
        </p:nvSpPr>
        <p:spPr>
          <a:xfrm>
            <a:off x="11243462" y="274320"/>
            <a:ext cx="543154" cy="283464"/>
          </a:xfrm>
          <a:prstGeom prst="rect">
            <a:avLst/>
          </a:prstGeom>
          <a:solidFill>
            <a:srgbClr val="FCD116"/>
          </a:solidFill>
          <a:ln w="12700">
            <a:solidFill>
              <a:srgbClr val="FCD116"/>
            </a:solidFill>
            <a:prstDash val="solid"/>
          </a:ln>
        </p:spPr>
      </p:sp>
      <p:sp>
        <p:nvSpPr>
          <p:cNvPr id="6" name="Shape 4"/>
          <p:cNvSpPr/>
          <p:nvPr/>
        </p:nvSpPr>
        <p:spPr>
          <a:xfrm>
            <a:off x="11243462" y="557784"/>
            <a:ext cx="543154" cy="283464"/>
          </a:xfrm>
          <a:prstGeom prst="rect">
            <a:avLst/>
          </a:prstGeom>
          <a:solidFill>
            <a:srgbClr val="E8112D"/>
          </a:solidFill>
          <a:ln w="12700">
            <a:solidFill>
              <a:srgbClr val="E8112D"/>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120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NUEE threatens nationwide shutdown, demands withdrawal of soldiers from BEDC hqtrs</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samedi 24 octobre 2026. Lieu : Bénin. Actualité sécuritaire. Une seule source à ce stade (The Sun Nigeria)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Sun Nigeria</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24 octobre 2026, 7 h UTC</a:t>
            </a:r>
            <a:endParaRPr lang="en-US" sz="1400" dirty="0"/>
          </a:p>
        </p:txBody>
      </p:sp>
      <p:pic>
        <p:nvPicPr>
          <p:cNvPr id="12" name="Image 0" descr="preencoded.png">
            <a:hlinkClick r:id="rId3" tooltip=""/>
          </p:cNvPr>
          <p:cNvPicPr>
            <a:picLocks noChangeAspect="1"/>
          </p:cNvPicPr>
          <p:nvPr/>
        </p:nvPicPr>
        <p:blipFill>
          <a:blip r:embed="rId2"/>
          <a:stretch>
            <a:fillRect/>
          </a:stretch>
        </p:blipFill>
        <p:spPr>
          <a:xfrm>
            <a:off x="7635240" y="2075688"/>
            <a:ext cx="4114800" cy="3652935"/>
          </a:xfrm>
          <a:prstGeom prst="rect">
            <a:avLst/>
          </a:prstGeom>
        </p:spPr>
      </p:pic>
      <p:sp>
        <p:nvSpPr>
          <p:cNvPr id="13" name="Text 10"/>
          <p:cNvSpPr/>
          <p:nvPr/>
        </p:nvSpPr>
        <p:spPr>
          <a:xfrm>
            <a:off x="7635240" y="5765199"/>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Photo : © thesun.ng</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VII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Guinée</a:t>
            </a:r>
            <a:endParaRPr lang="en-US" sz="2800" dirty="0"/>
          </a:p>
        </p:txBody>
      </p:sp>
      <p:sp>
        <p:nvSpPr>
          <p:cNvPr id="4" name="Shape 2"/>
          <p:cNvSpPr/>
          <p:nvPr/>
        </p:nvSpPr>
        <p:spPr>
          <a:xfrm>
            <a:off x="10881360" y="274320"/>
            <a:ext cx="301752" cy="566928"/>
          </a:xfrm>
          <a:prstGeom prst="rect">
            <a:avLst/>
          </a:prstGeom>
          <a:solidFill>
            <a:srgbClr val="CE1126"/>
          </a:solidFill>
          <a:ln w="12700">
            <a:solidFill>
              <a:srgbClr val="CE1126"/>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009460"/>
          </a:solidFill>
          <a:ln w="12700">
            <a:solidFill>
              <a:srgbClr val="0094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118 jours ; aucun signal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Mort mystérieuse de Souleymane Touré : sa mère et sa sœur veulent toute la vérité</a:t>
            </a:r>
            <a:endParaRPr lang="en-US" sz="2200" dirty="0"/>
          </a:p>
        </p:txBody>
      </p:sp>
      <p:sp>
        <p:nvSpPr>
          <p:cNvPr id="11" name="Text 9"/>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dimanche 25 octobre 2026. Lieu : Guinée. Actualité sécuritaire. Une seule source à ce stade (Guinee7.com)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i="1" dirty="0">
                <a:solidFill>
                  <a:srgbClr val="6B7280"/>
                </a:solidFill>
                <a:latin typeface="Calibri" pitchFamily="34" charset="0"/>
                <a:ea typeface="Calibri" pitchFamily="34" charset="-122"/>
                <a:cs typeface="Calibri" pitchFamily="34" charset="-120"/>
              </a:rPr>
              <a:t>Les médias n'en publient que le titre dans leur flux : le détail est à lire dans l'article (lien ci-dessous).</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Guinee7.com</a:t>
            </a:r>
            <a:pPr indent="0" marL="0">
              <a:spcAft>
                <a:spcPts val="300"/>
              </a:spcAft>
              <a:buNone/>
            </a:pPr>
            <a:r>
              <a:rPr lang="en-US" sz="1400" dirty="0">
                <a:solidFill>
                  <a:srgbClr val="1F2937"/>
                </a:solidFill>
                <a:latin typeface="Calibri" pitchFamily="34" charset="0"/>
                <a:ea typeface="Calibri" pitchFamily="34" charset="-122"/>
                <a:cs typeface="Calibri" pitchFamily="34" charset="-120"/>
              </a:rPr>
              <a:t> — 25 octobre 2026, 20 h UTC</a:t>
            </a:r>
            <a:endParaRPr lang="en-US" sz="14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VII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Guinée</a:t>
            </a:r>
            <a:endParaRPr lang="en-US" sz="2800" dirty="0"/>
          </a:p>
        </p:txBody>
      </p:sp>
      <p:sp>
        <p:nvSpPr>
          <p:cNvPr id="4" name="Shape 2"/>
          <p:cNvSpPr/>
          <p:nvPr/>
        </p:nvSpPr>
        <p:spPr>
          <a:xfrm>
            <a:off x="10881360" y="274320"/>
            <a:ext cx="301752" cy="566928"/>
          </a:xfrm>
          <a:prstGeom prst="rect">
            <a:avLst/>
          </a:prstGeom>
          <a:solidFill>
            <a:srgbClr val="CE1126"/>
          </a:solidFill>
          <a:ln w="12700">
            <a:solidFill>
              <a:srgbClr val="CE1126"/>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009460"/>
          </a:solidFill>
          <a:ln w="12700">
            <a:solidFill>
              <a:srgbClr val="0094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INSÉCURITÉ À LABÉ : LE JOURNALISTE BOUBACAR GARKI DIALLO VICTIME DE CAMBRIOLAGE, SES ÉQUIPEMENTS DE TRAVAIL EMPORTÉ PAR LES MALFAITEURS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17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MAIRIE DE DIXINN : POURQUOI LES FEMMES BALAYEUSES ONT RENONCÉ À LEUR MANIFESTATION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Guinee7.com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14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APPEL À MANIFESTATION D’INTÉRÊT POUR LES SERVICES DE CONSULTANTS LOCAUX EN AUDIT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KANKAN : UN INCENDIE CAUSE D’IMPORTANTS DÉGÂTS AU QUARTIER BORDO</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LOI DE FINANCES RECTIFICATIVE 2026 : ENTRE CRISE PÉTROLIÈRE ET RETARDS DES PROJETS, LA MINISTRE DE L’ÉCONOMIE, MARIAMA CIRÉ SYLLA, S’EXPLIQUE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22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000" dirty="0">
                <a:solidFill>
                  <a:srgbClr val="FFFFFF"/>
                </a:solidFill>
                <a:latin typeface="Arial Narrow" pitchFamily="34" charset="0"/>
                <a:ea typeface="Arial Narrow" pitchFamily="34" charset="-122"/>
                <a:cs typeface="Arial Narrow" pitchFamily="34" charset="-120"/>
              </a:rPr>
              <a:t>VII</a:t>
            </a:r>
            <a:endParaRPr lang="en-US" sz="20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Guinée</a:t>
            </a:r>
            <a:endParaRPr lang="en-US" sz="2800" dirty="0"/>
          </a:p>
        </p:txBody>
      </p:sp>
      <p:sp>
        <p:nvSpPr>
          <p:cNvPr id="4" name="Shape 2"/>
          <p:cNvSpPr/>
          <p:nvPr/>
        </p:nvSpPr>
        <p:spPr>
          <a:xfrm>
            <a:off x="10881360" y="274320"/>
            <a:ext cx="301752" cy="566928"/>
          </a:xfrm>
          <a:prstGeom prst="rect">
            <a:avLst/>
          </a:prstGeom>
          <a:solidFill>
            <a:srgbClr val="CE1126"/>
          </a:solidFill>
          <a:ln w="12700">
            <a:solidFill>
              <a:srgbClr val="CE1126"/>
            </a:solidFill>
            <a:prstDash val="solid"/>
          </a:ln>
        </p:spPr>
      </p:sp>
      <p:sp>
        <p:nvSpPr>
          <p:cNvPr id="5" name="Shape 3"/>
          <p:cNvSpPr/>
          <p:nvPr/>
        </p:nvSpPr>
        <p:spPr>
          <a:xfrm>
            <a:off x="11183112" y="274320"/>
            <a:ext cx="301752" cy="566928"/>
          </a:xfrm>
          <a:prstGeom prst="rect">
            <a:avLst/>
          </a:prstGeom>
          <a:solidFill>
            <a:srgbClr val="FCD116"/>
          </a:solidFill>
          <a:ln w="12700">
            <a:solidFill>
              <a:srgbClr val="FCD116"/>
            </a:solidFill>
            <a:prstDash val="solid"/>
          </a:ln>
        </p:spPr>
      </p:sp>
      <p:sp>
        <p:nvSpPr>
          <p:cNvPr id="6" name="Shape 4"/>
          <p:cNvSpPr/>
          <p:nvPr/>
        </p:nvSpPr>
        <p:spPr>
          <a:xfrm>
            <a:off x="11484864" y="274320"/>
            <a:ext cx="301752" cy="566928"/>
          </a:xfrm>
          <a:prstGeom prst="rect">
            <a:avLst/>
          </a:prstGeom>
          <a:solidFill>
            <a:srgbClr val="009460"/>
          </a:solidFill>
          <a:ln w="12700">
            <a:solidFill>
              <a:srgbClr val="009460"/>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ÉLECTION FÉGUIFOOT : L’ARGENT DES VOIX MENACE LE FOOTBALL</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Guinee7.com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CELLCOM GUINÉE : LA FESATEL ALERTE SUR LES SALAIRES IMPAYÉS ET RÉCLAME L’OUVERTURE URGENTE DE NÉGOCIATIONS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19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TPI DE COYAH : LE PROCUREUR ALIOU DIALLO PREND OFFICIELLEMENT LA TÊTE DU PARQUET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Guineematin.com</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19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FORÉCARIAH : FRIKI KEITA REPREND SES FONCTIONS À LA TÊTE DE LA DPE CE MARDI</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Guineelive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1600" dirty="0">
                <a:solidFill>
                  <a:srgbClr val="FFFFFF"/>
                </a:solidFill>
                <a:latin typeface="Arial Narrow" pitchFamily="34" charset="0"/>
                <a:ea typeface="Arial Narrow" pitchFamily="34" charset="-122"/>
                <a:cs typeface="Arial Narrow" pitchFamily="34" charset="-120"/>
              </a:rPr>
              <a:t>VIII</a:t>
            </a:r>
            <a:endParaRPr lang="en-US" sz="16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Liberia</a:t>
            </a:r>
            <a:endParaRPr lang="en-US" sz="2800" dirty="0"/>
          </a:p>
        </p:txBody>
      </p:sp>
      <p:sp>
        <p:nvSpPr>
          <p:cNvPr id="4" name="Shape 2"/>
          <p:cNvSpPr/>
          <p:nvPr/>
        </p:nvSpPr>
        <p:spPr>
          <a:xfrm>
            <a:off x="10881360" y="274320"/>
            <a:ext cx="905256" cy="113386"/>
          </a:xfrm>
          <a:prstGeom prst="rect">
            <a:avLst/>
          </a:prstGeom>
          <a:solidFill>
            <a:srgbClr val="BF0A30"/>
          </a:solidFill>
          <a:ln w="12700">
            <a:solidFill>
              <a:srgbClr val="BF0A30"/>
            </a:solidFill>
            <a:prstDash val="solid"/>
          </a:ln>
        </p:spPr>
      </p:sp>
      <p:sp>
        <p:nvSpPr>
          <p:cNvPr id="5" name="Shape 3"/>
          <p:cNvSpPr/>
          <p:nvPr/>
        </p:nvSpPr>
        <p:spPr>
          <a:xfrm>
            <a:off x="10881360" y="387706"/>
            <a:ext cx="905256" cy="113386"/>
          </a:xfrm>
          <a:prstGeom prst="rect">
            <a:avLst/>
          </a:prstGeom>
          <a:solidFill>
            <a:srgbClr val="FFFFFF"/>
          </a:solidFill>
          <a:ln w="12700">
            <a:solidFill>
              <a:srgbClr val="FFFFFF"/>
            </a:solidFill>
            <a:prstDash val="solid"/>
          </a:ln>
        </p:spPr>
      </p:sp>
      <p:sp>
        <p:nvSpPr>
          <p:cNvPr id="6" name="Shape 4"/>
          <p:cNvSpPr/>
          <p:nvPr/>
        </p:nvSpPr>
        <p:spPr>
          <a:xfrm>
            <a:off x="10881360" y="501091"/>
            <a:ext cx="905256" cy="113386"/>
          </a:xfrm>
          <a:prstGeom prst="rect">
            <a:avLst/>
          </a:prstGeom>
          <a:solidFill>
            <a:srgbClr val="BF0A30"/>
          </a:solidFill>
          <a:ln w="12700">
            <a:solidFill>
              <a:srgbClr val="BF0A30"/>
            </a:solidFill>
            <a:prstDash val="solid"/>
          </a:ln>
        </p:spPr>
      </p:sp>
      <p:sp>
        <p:nvSpPr>
          <p:cNvPr id="7" name="Shape 5"/>
          <p:cNvSpPr/>
          <p:nvPr/>
        </p:nvSpPr>
        <p:spPr>
          <a:xfrm>
            <a:off x="10881360" y="614477"/>
            <a:ext cx="905256" cy="113386"/>
          </a:xfrm>
          <a:prstGeom prst="rect">
            <a:avLst/>
          </a:prstGeom>
          <a:solidFill>
            <a:srgbClr val="FFFFFF"/>
          </a:solidFill>
          <a:ln w="12700">
            <a:solidFill>
              <a:srgbClr val="FFFFFF"/>
            </a:solidFill>
            <a:prstDash val="solid"/>
          </a:ln>
        </p:spPr>
      </p:sp>
      <p:sp>
        <p:nvSpPr>
          <p:cNvPr id="8" name="Shape 6"/>
          <p:cNvSpPr/>
          <p:nvPr/>
        </p:nvSpPr>
        <p:spPr>
          <a:xfrm>
            <a:off x="10881360" y="727862"/>
            <a:ext cx="905256" cy="113386"/>
          </a:xfrm>
          <a:prstGeom prst="rect">
            <a:avLst/>
          </a:prstGeom>
          <a:solidFill>
            <a:srgbClr val="BF0A30"/>
          </a:solidFill>
          <a:ln w="12700">
            <a:solidFill>
              <a:srgbClr val="BF0A30"/>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faible (incident vérifié le plus récent : 210 jours ; aucun signal du jour)</a:t>
            </a:r>
            <a:endParaRPr lang="en-US" sz="1100" dirty="0"/>
          </a:p>
        </p:txBody>
      </p:sp>
      <p:sp>
        <p:nvSpPr>
          <p:cNvPr id="12" name="Text 10"/>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Liberia: Dolphin Killed, Butchered Before NaFAA Rescue Team Arrived</a:t>
            </a:r>
            <a:endParaRPr lang="en-US" sz="2200" dirty="0"/>
          </a:p>
        </p:txBody>
      </p:sp>
      <p:sp>
        <p:nvSpPr>
          <p:cNvPr id="13" name="Text 11"/>
          <p:cNvSpPr/>
          <p:nvPr/>
        </p:nvSpPr>
        <p:spPr>
          <a:xfrm>
            <a:off x="640080" y="2029968"/>
            <a:ext cx="10972800" cy="3867912"/>
          </a:xfrm>
          <a:prstGeom prst="rect">
            <a:avLst/>
          </a:prstGeom>
          <a:noFill/>
          <a:ln/>
        </p:spPr>
        <p:txBody>
          <a:bodyPr wrap="square" rtlCol="0" anchor="t"/>
          <a:lstStyle/>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Contexte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rapporté le mardi 27 octobre 2026. Lieu : Monrovia, Liberia. Actualité sécuritaire. Une seule source à ce stade (FrontPageAfrica — Liberia) : à confirmer par un second média.</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Ce que rapportent les sources</a:t>
            </a:r>
            <a:endParaRPr lang="en-US" sz="1400" dirty="0"/>
          </a:p>
          <a:p>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FrontPageAfrica — Liberia : </a:t>
            </a:r>
            <a:pPr indent="0" marL="0">
              <a:spcAft>
                <a:spcPts val="300"/>
              </a:spcAft>
              <a:buNone/>
            </a:pPr>
            <a:r>
              <a:rPr lang="en-US" sz="1400" i="1" dirty="0">
                <a:solidFill>
                  <a:srgbClr val="1F2937"/>
                </a:solidFill>
                <a:latin typeface="Calibri" pitchFamily="34" charset="0"/>
                <a:ea typeface="Calibri" pitchFamily="34" charset="-122"/>
                <a:cs typeface="Calibri" pitchFamily="34" charset="-120"/>
              </a:rPr>
              <a:t>« Monrovia — What began as a moment of hope for conservationists ended in frustration after a dolphin that washed ashore at Miami Beach in Monrovia was killed and… »</a:t>
            </a:r>
            <a:endParaRPr lang="en-US" sz="1400" dirty="0"/>
          </a:p>
          <a:p>
            <a:pPr indent="0" marL="0">
              <a:spcBef>
                <a:spcPts val="800"/>
              </a:spcBef>
              <a:spcAft>
                <a:spcPts val="300"/>
              </a:spcAft>
              <a:buNone/>
            </a:pPr>
            <a:r>
              <a:rPr lang="en-US" sz="1500" b="1" dirty="0">
                <a:solidFill>
                  <a:srgbClr val="1F6B5E"/>
                </a:solidFill>
                <a:latin typeface="Calibri" pitchFamily="34" charset="0"/>
                <a:ea typeface="Calibri" pitchFamily="34" charset="-122"/>
                <a:cs typeface="Calibri" pitchFamily="34" charset="-120"/>
              </a:rPr>
              <a:t>Enjeux sûreté</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Fait sécuritaire à suivre : vérifier son incidence sur les sites, les itinéraires et les personnels présents dans la zone.</a:t>
            </a:r>
            <a:endParaRPr lang="en-US" sz="1400" dirty="0"/>
          </a:p>
          <a:p>
            <a:pPr indent="0" marL="0">
              <a:spcBef>
                <a:spcPts val="800"/>
              </a:spcBef>
              <a:spcAft>
                <a:spcPts val="300"/>
              </a:spcAft>
              <a:buNone/>
            </a:pPr>
            <a:r>
              <a:rPr lang="en-US" sz="1400" b="1" dirty="0">
                <a:solidFill>
                  <a:srgbClr val="1F2937"/>
                </a:solidFill>
                <a:latin typeface="Calibri" pitchFamily="34" charset="0"/>
                <a:ea typeface="Calibri" pitchFamily="34" charset="-122"/>
                <a:cs typeface="Calibri" pitchFamily="34" charset="-120"/>
              </a:rPr>
              <a:t>Source : </a:t>
            </a:r>
            <a:pPr indent="0" marL="0">
              <a:spcAft>
                <a:spcPts val="300"/>
              </a:spcAft>
              <a:buNone/>
            </a:pPr>
            <a:r>
              <a:rPr lang="en-US" sz="14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300"/>
              </a:spcAft>
              <a:buNone/>
            </a:pPr>
            <a:r>
              <a:rPr lang="en-US" sz="1400" b="1" dirty="0">
                <a:solidFill>
                  <a:srgbClr val="1F2937"/>
                </a:solidFill>
                <a:latin typeface="Calibri" pitchFamily="34" charset="0"/>
                <a:ea typeface="Calibri" pitchFamily="34" charset="-122"/>
                <a:cs typeface="Calibri" pitchFamily="34" charset="-120"/>
              </a:rPr>
              <a:t> — 27 octobre 2026, 5 h UTC   ·   Cotation : Probable</a:t>
            </a:r>
            <a:endParaRPr lang="en-US" sz="1400" dirty="0"/>
          </a:p>
        </p:txBody>
      </p:sp>
      <p:sp>
        <p:nvSpPr>
          <p:cNvPr id="14" name="Text 12"/>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3"/>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1600" dirty="0">
                <a:solidFill>
                  <a:srgbClr val="FFFFFF"/>
                </a:solidFill>
                <a:latin typeface="Arial Narrow" pitchFamily="34" charset="0"/>
                <a:ea typeface="Arial Narrow" pitchFamily="34" charset="-122"/>
                <a:cs typeface="Arial Narrow" pitchFamily="34" charset="-120"/>
              </a:rPr>
              <a:t>VIII</a:t>
            </a:r>
            <a:endParaRPr lang="en-US" sz="16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Liberia</a:t>
            </a:r>
            <a:endParaRPr lang="en-US" sz="2800" dirty="0"/>
          </a:p>
        </p:txBody>
      </p:sp>
      <p:sp>
        <p:nvSpPr>
          <p:cNvPr id="4" name="Shape 2"/>
          <p:cNvSpPr/>
          <p:nvPr/>
        </p:nvSpPr>
        <p:spPr>
          <a:xfrm>
            <a:off x="10881360" y="274320"/>
            <a:ext cx="905256" cy="113386"/>
          </a:xfrm>
          <a:prstGeom prst="rect">
            <a:avLst/>
          </a:prstGeom>
          <a:solidFill>
            <a:srgbClr val="BF0A30"/>
          </a:solidFill>
          <a:ln w="12700">
            <a:solidFill>
              <a:srgbClr val="BF0A30"/>
            </a:solidFill>
            <a:prstDash val="solid"/>
          </a:ln>
        </p:spPr>
      </p:sp>
      <p:sp>
        <p:nvSpPr>
          <p:cNvPr id="5" name="Shape 3"/>
          <p:cNvSpPr/>
          <p:nvPr/>
        </p:nvSpPr>
        <p:spPr>
          <a:xfrm>
            <a:off x="10881360" y="387706"/>
            <a:ext cx="905256" cy="113386"/>
          </a:xfrm>
          <a:prstGeom prst="rect">
            <a:avLst/>
          </a:prstGeom>
          <a:solidFill>
            <a:srgbClr val="FFFFFF"/>
          </a:solidFill>
          <a:ln w="12700">
            <a:solidFill>
              <a:srgbClr val="FFFFFF"/>
            </a:solidFill>
            <a:prstDash val="solid"/>
          </a:ln>
        </p:spPr>
      </p:sp>
      <p:sp>
        <p:nvSpPr>
          <p:cNvPr id="6" name="Shape 4"/>
          <p:cNvSpPr/>
          <p:nvPr/>
        </p:nvSpPr>
        <p:spPr>
          <a:xfrm>
            <a:off x="10881360" y="501091"/>
            <a:ext cx="905256" cy="113386"/>
          </a:xfrm>
          <a:prstGeom prst="rect">
            <a:avLst/>
          </a:prstGeom>
          <a:solidFill>
            <a:srgbClr val="BF0A30"/>
          </a:solidFill>
          <a:ln w="12700">
            <a:solidFill>
              <a:srgbClr val="BF0A30"/>
            </a:solidFill>
            <a:prstDash val="solid"/>
          </a:ln>
        </p:spPr>
      </p:sp>
      <p:sp>
        <p:nvSpPr>
          <p:cNvPr id="7" name="Shape 5"/>
          <p:cNvSpPr/>
          <p:nvPr/>
        </p:nvSpPr>
        <p:spPr>
          <a:xfrm>
            <a:off x="10881360" y="614477"/>
            <a:ext cx="905256" cy="113386"/>
          </a:xfrm>
          <a:prstGeom prst="rect">
            <a:avLst/>
          </a:prstGeom>
          <a:solidFill>
            <a:srgbClr val="FFFFFF"/>
          </a:solidFill>
          <a:ln w="12700">
            <a:solidFill>
              <a:srgbClr val="FFFFFF"/>
            </a:solidFill>
            <a:prstDash val="solid"/>
          </a:ln>
        </p:spPr>
      </p:sp>
      <p:sp>
        <p:nvSpPr>
          <p:cNvPr id="8" name="Shape 6"/>
          <p:cNvSpPr/>
          <p:nvPr/>
        </p:nvSpPr>
        <p:spPr>
          <a:xfrm>
            <a:off x="10881360" y="727862"/>
            <a:ext cx="905256" cy="113386"/>
          </a:xfrm>
          <a:prstGeom prst="rect">
            <a:avLst/>
          </a:prstGeom>
          <a:solidFill>
            <a:srgbClr val="BF0A30"/>
          </a:solidFill>
          <a:ln w="12700">
            <a:solidFill>
              <a:srgbClr val="BF0A30"/>
            </a:solidFill>
            <a:prstDash val="solid"/>
          </a:ln>
        </p:spPr>
      </p:sp>
      <p:sp>
        <p:nvSpPr>
          <p:cNvPr id="9" name="Shape 7"/>
          <p:cNvSpPr/>
          <p:nvPr/>
        </p:nvSpPr>
        <p:spPr>
          <a:xfrm>
            <a:off x="10881360" y="274320"/>
            <a:ext cx="905256" cy="566928"/>
          </a:xfrm>
          <a:prstGeom prst="rect">
            <a:avLst/>
          </a:prstGeom>
          <a:ln w="6350">
            <a:solidFill>
              <a:srgbClr val="1F2937"/>
            </a:solidFill>
            <a:prstDash val="solid"/>
          </a:ln>
        </p:spPr>
      </p:sp>
      <p:sp>
        <p:nvSpPr>
          <p:cNvPr id="10" name="Shape 8"/>
          <p:cNvSpPr/>
          <p:nvPr/>
        </p:nvSpPr>
        <p:spPr>
          <a:xfrm>
            <a:off x="457200" y="960120"/>
            <a:ext cx="11292840" cy="0"/>
          </a:xfrm>
          <a:prstGeom prst="line">
            <a:avLst/>
          </a:prstGeom>
          <a:noFill/>
          <a:ln w="6350">
            <a:solidFill>
              <a:srgbClr val="A3A3A3"/>
            </a:solidFill>
            <a:prstDash val="solid"/>
          </a:ln>
        </p:spPr>
      </p:sp>
      <p:sp>
        <p:nvSpPr>
          <p:cNvPr id="11" name="Text 9"/>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LIBERIA: JUDGE CITES EVIDENCE IN FINDING NSA STAFF PETER BON JALLAH GUILTY OF STATUTORY RAPE, KIDNAPPING</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15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LIBERIA: WAR VICTIMS, SURVIVORS PROTEST AT COURT OFFICE, CAPITOL AS HOUSE CHAIRMAN PLEDGES TO PUT COURT BILL BEFORE PLENARY TUESDAY</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23 octobre 2026, 5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A FORMER SECURITY CHIEF’S VISION FOR LIBERIA’S IMMIGRATION SERVICE FINALLY PLAYS</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FrontPageAfrica —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6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LIBERIA IMPOSES 21-DAY ISOLATION AND MONITORING RULES FOR TRAVELERS AMID REGIONAL EBOLA THREAT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Global News Network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24 octobre 2026, 22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(EN) AFL FIRES TWO SOLDIERS OVER ASSAULT</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Global News Network Liberia</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22 octobre 2026, 17 h UTC</a:t>
            </a:r>
            <a:endParaRPr lang="en-US" sz="1300" dirty="0"/>
          </a:p>
        </p:txBody>
      </p:sp>
      <p:sp>
        <p:nvSpPr>
          <p:cNvPr id="12" name="Text 10"/>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3" name="Text 11"/>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IX</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Sénégal</a:t>
            </a:r>
            <a:endParaRPr lang="en-US" sz="2800" dirty="0"/>
          </a:p>
        </p:txBody>
      </p:sp>
      <p:sp>
        <p:nvSpPr>
          <p:cNvPr id="4" name="Shape 2"/>
          <p:cNvSpPr/>
          <p:nvPr/>
        </p:nvSpPr>
        <p:spPr>
          <a:xfrm>
            <a:off x="10881360" y="274320"/>
            <a:ext cx="301752" cy="566928"/>
          </a:xfrm>
          <a:prstGeom prst="rect">
            <a:avLst/>
          </a:prstGeom>
          <a:solidFill>
            <a:srgbClr val="00853F"/>
          </a:solidFill>
          <a:ln w="12700">
            <a:solidFill>
              <a:srgbClr val="00853F"/>
            </a:solidFill>
            <a:prstDash val="solid"/>
          </a:ln>
        </p:spPr>
      </p:sp>
      <p:sp>
        <p:nvSpPr>
          <p:cNvPr id="5" name="Shape 3"/>
          <p:cNvSpPr/>
          <p:nvPr/>
        </p:nvSpPr>
        <p:spPr>
          <a:xfrm>
            <a:off x="11183112" y="274320"/>
            <a:ext cx="301752" cy="566928"/>
          </a:xfrm>
          <a:prstGeom prst="rect">
            <a:avLst/>
          </a:prstGeom>
          <a:solidFill>
            <a:srgbClr val="FDEF42"/>
          </a:solidFill>
          <a:ln w="12700">
            <a:solidFill>
              <a:srgbClr val="FDEF42"/>
            </a:solidFill>
            <a:prstDash val="solid"/>
          </a:ln>
        </p:spPr>
      </p:sp>
      <p:sp>
        <p:nvSpPr>
          <p:cNvPr id="6" name="Shape 4"/>
          <p:cNvSpPr/>
          <p:nvPr/>
        </p:nvSpPr>
        <p:spPr>
          <a:xfrm>
            <a:off x="11484864" y="274320"/>
            <a:ext cx="301752" cy="566928"/>
          </a:xfrm>
          <a:prstGeom prst="rect">
            <a:avLst/>
          </a:prstGeom>
          <a:solidFill>
            <a:srgbClr val="E31B23"/>
          </a:solidFill>
          <a:ln w="12700">
            <a:solidFill>
              <a:srgbClr val="E31B23"/>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024128"/>
            <a:ext cx="1097280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Indice de confiance : moyenne (incident vérifié le plus récent : 120 jours ; 5 signaux du jour)</a:t>
            </a:r>
            <a:endParaRPr lang="en-US" sz="1100" dirty="0"/>
          </a:p>
        </p:txBody>
      </p:sp>
      <p:sp>
        <p:nvSpPr>
          <p:cNvPr id="10" name="Text 8"/>
          <p:cNvSpPr/>
          <p:nvPr/>
        </p:nvSpPr>
        <p:spPr>
          <a:xfrm>
            <a:off x="640080" y="1298448"/>
            <a:ext cx="10972800" cy="685800"/>
          </a:xfrm>
          <a:prstGeom prst="rect">
            <a:avLst/>
          </a:prstGeom>
          <a:noFill/>
          <a:ln/>
        </p:spPr>
        <p:txBody>
          <a:bodyPr wrap="square" rtlCol="0" anchor="t"/>
          <a:lstStyle/>
          <a:p>
            <a:pPr indent="0" marL="0">
              <a:buNone/>
            </a:pPr>
            <a:r>
              <a:rPr lang="en-US" sz="2200" b="1" dirty="0">
                <a:solidFill>
                  <a:srgbClr val="1F6B5E"/>
                </a:solidFill>
                <a:latin typeface="Arial Narrow" pitchFamily="34" charset="0"/>
                <a:ea typeface="Arial Narrow" pitchFamily="34" charset="-122"/>
                <a:cs typeface="Arial Narrow" pitchFamily="34" charset="-120"/>
              </a:rPr>
              <a:t>Immeuble effondré à Thiès : un mort et deux blessés, selon le bilan provisoire</a:t>
            </a:r>
            <a:endParaRPr lang="en-US" sz="2200" dirty="0"/>
          </a:p>
        </p:txBody>
      </p:sp>
      <p:sp>
        <p:nvSpPr>
          <p:cNvPr id="11" name="Text 9"/>
          <p:cNvSpPr/>
          <p:nvPr/>
        </p:nvSpPr>
        <p:spPr>
          <a:xfrm>
            <a:off x="640080" y="2029968"/>
            <a:ext cx="6812280" cy="3867912"/>
          </a:xfrm>
          <a:prstGeom prst="rect">
            <a:avLst/>
          </a:prstGeom>
          <a:noFill/>
          <a:ln/>
        </p:spPr>
        <p:txBody>
          <a:bodyPr wrap="square" rtlCol="0" anchor="t"/>
          <a:lstStyle/>
          <a:p>
            <a:pPr indent="0" marL="0">
              <a:spcBef>
                <a:spcPts val="800"/>
              </a:spcBef>
              <a:spcAft>
                <a:spcPts val="300"/>
              </a:spcAft>
              <a:buNone/>
            </a:pPr>
            <a:r>
              <a:rPr lang="en-US" sz="1400" b="1" dirty="0">
                <a:solidFill>
                  <a:srgbClr val="1F6B5E"/>
                </a:solidFill>
                <a:latin typeface="Calibri" pitchFamily="34" charset="0"/>
                <a:ea typeface="Calibri" pitchFamily="34" charset="-122"/>
                <a:cs typeface="Calibri" pitchFamily="34" charset="-120"/>
              </a:rPr>
              <a:t>Contexte</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Fait rapporté le mardi 27 octobre 2026. Lieu : Thiès, Sénégal. Actualité sociale. Repris par 2 médias distincts (APS — Agence Sénégalaise Presse, Pressafrik) : le fait est recoupé.</a:t>
            </a:r>
            <a:endParaRPr lang="en-US" sz="1300" dirty="0"/>
          </a:p>
          <a:p>
            <a:pPr indent="0" marL="0">
              <a:spcBef>
                <a:spcPts val="800"/>
              </a:spcBef>
              <a:spcAft>
                <a:spcPts val="300"/>
              </a:spcAft>
              <a:buNone/>
            </a:pPr>
            <a:r>
              <a:rPr lang="en-US" sz="1400" b="1" dirty="0">
                <a:solidFill>
                  <a:srgbClr val="1F6B5E"/>
                </a:solidFill>
                <a:latin typeface="Calibri" pitchFamily="34" charset="0"/>
                <a:ea typeface="Calibri" pitchFamily="34" charset="-122"/>
                <a:cs typeface="Calibri" pitchFamily="34" charset="-120"/>
              </a:rPr>
              <a:t>Ce que rapportent les sources</a:t>
            </a:r>
            <a:endParaRPr lang="en-US" sz="1300" dirty="0"/>
          </a:p>
          <a:p>
            <a:pPr indent="0" marL="0">
              <a:spcAft>
                <a:spcPts val="300"/>
              </a:spcAft>
              <a:buNone/>
            </a:pPr>
            <a:r>
              <a:rPr lang="en-US" sz="1300" b="1" dirty="0">
                <a:solidFill>
                  <a:srgbClr val="1F2937"/>
                </a:solidFill>
                <a:latin typeface="Calibri" pitchFamily="34" charset="0"/>
                <a:ea typeface="Calibri" pitchFamily="34" charset="-122"/>
                <a:cs typeface="Calibri" pitchFamily="34" charset="-120"/>
              </a:rPr>
              <a:t>APS — Agence Sénégalaise Presse : </a:t>
            </a:r>
            <a:pPr indent="0" marL="0">
              <a:spcAft>
                <a:spcPts val="300"/>
              </a:spcAft>
              <a:buNone/>
            </a:pPr>
            <a:r>
              <a:rPr lang="en-US" sz="1300" i="1" dirty="0">
                <a:solidFill>
                  <a:srgbClr val="1F2937"/>
                </a:solidFill>
                <a:latin typeface="Calibri" pitchFamily="34" charset="0"/>
                <a:ea typeface="Calibri" pitchFamily="34" charset="-122"/>
                <a:cs typeface="Calibri" pitchFamily="34" charset="-120"/>
              </a:rPr>
              <a:t>« Thiès, 27 oct (APS) –L’effondrement d’un immeuble R+5 en construction mardi dans la commune de Thiès-Ouest a fait trois victimes, dont un mort et deux blessés extraits des décombres, selon le bilan provisoire tiré par le Groupement d’incendie et de secours numéro 2, couvrant les régions de Thiès et Diourbel. »</a:t>
            </a:r>
            <a:endParaRPr lang="en-US" sz="1300" dirty="0"/>
          </a:p>
          <a:p>
            <a:pPr indent="0" marL="0">
              <a:spcAft>
                <a:spcPts val="300"/>
              </a:spcAft>
              <a:buNone/>
            </a:pPr>
            <a:r>
              <a:rPr lang="en-US" sz="1300" b="1" dirty="0">
                <a:solidFill>
                  <a:srgbClr val="1F2937"/>
                </a:solidFill>
                <a:latin typeface="Calibri" pitchFamily="34" charset="0"/>
                <a:ea typeface="Calibri" pitchFamily="34" charset="-122"/>
                <a:cs typeface="Calibri" pitchFamily="34" charset="-120"/>
              </a:rPr>
              <a:t>Pressafrik : </a:t>
            </a:r>
            <a:pPr indent="0" marL="0">
              <a:spcAft>
                <a:spcPts val="300"/>
              </a:spcAft>
              <a:buNone/>
            </a:pPr>
            <a:r>
              <a:rPr lang="en-US" sz="1300" i="1" dirty="0">
                <a:solidFill>
                  <a:srgbClr val="1F2937"/>
                </a:solidFill>
                <a:latin typeface="Calibri" pitchFamily="34" charset="0"/>
                <a:ea typeface="Calibri" pitchFamily="34" charset="-122"/>
                <a:cs typeface="Calibri" pitchFamily="34" charset="-120"/>
              </a:rPr>
              <a:t>« Les secours ont dégagé trois personnes des ruines de l’immeuble de deux étages en construction qu... www.pressafrik.com »</a:t>
            </a:r>
            <a:endParaRPr lang="en-US" sz="1300" dirty="0"/>
          </a:p>
          <a:p>
            <a:pPr indent="0" marL="0">
              <a:spcBef>
                <a:spcPts val="800"/>
              </a:spcBef>
              <a:spcAft>
                <a:spcPts val="300"/>
              </a:spcAft>
              <a:buNone/>
            </a:pPr>
            <a:r>
              <a:rPr lang="en-US" sz="1400" b="1" dirty="0">
                <a:solidFill>
                  <a:srgbClr val="1F6B5E"/>
                </a:solidFill>
                <a:latin typeface="Calibri" pitchFamily="34" charset="0"/>
                <a:ea typeface="Calibri" pitchFamily="34" charset="-122"/>
                <a:cs typeface="Calibri" pitchFamily="34" charset="-120"/>
              </a:rPr>
              <a:t>Enjeux sûreté</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Risque accidentel ou technique : rappeler les consignes de sécurité routière et incendie, vérifier l'exposition des sites et des prestataires.</a:t>
            </a:r>
            <a:endParaRPr lang="en-US" sz="1300" dirty="0"/>
          </a:p>
          <a:p>
            <a:pPr indent="0" marL="0">
              <a:spcBef>
                <a:spcPts val="800"/>
              </a:spcBef>
              <a:spcAft>
                <a:spcPts val="300"/>
              </a:spcAft>
              <a:buNone/>
            </a:pPr>
            <a:r>
              <a:rPr lang="en-US" sz="1300" b="1" dirty="0">
                <a:solidFill>
                  <a:srgbClr val="1F2937"/>
                </a:solidFill>
                <a:latin typeface="Calibri" pitchFamily="34" charset="0"/>
                <a:ea typeface="Calibri" pitchFamily="34" charset="-122"/>
                <a:cs typeface="Calibri" pitchFamily="34" charset="-120"/>
              </a:rPr>
              <a:t>Sources : </a:t>
            </a:r>
            <a:pPr indent="0" marL="0">
              <a:spcAft>
                <a:spcPts val="3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APS — Agence Sénégalaise Presse</a:t>
            </a:r>
            <a:pPr indent="0" marL="0">
              <a:spcAft>
                <a:spcPts val="3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 Pressafrik</a:t>
            </a:r>
            <a:pPr indent="0" marL="0">
              <a:spcAft>
                <a:spcPts val="300"/>
              </a:spcAft>
              <a:buNone/>
            </a:pPr>
            <a:r>
              <a:rPr lang="en-US" sz="1300" b="1" dirty="0">
                <a:solidFill>
                  <a:srgbClr val="1F2937"/>
                </a:solidFill>
                <a:latin typeface="Calibri" pitchFamily="34" charset="0"/>
                <a:ea typeface="Calibri" pitchFamily="34" charset="-122"/>
                <a:cs typeface="Calibri" pitchFamily="34" charset="-120"/>
              </a:rPr>
              <a:t> — 27 octobre 2026, 19 h UTC   ·   Cotation : Confirmé</a:t>
            </a:r>
            <a:endParaRPr lang="en-US" sz="1300" dirty="0"/>
          </a:p>
        </p:txBody>
      </p:sp>
      <p:pic>
        <p:nvPicPr>
          <p:cNvPr id="12" name="Image 0" descr="preencoded.png">
            <a:hlinkClick r:id="rId4" tooltip=""/>
          </p:cNvPr>
          <p:cNvPicPr>
            <a:picLocks noChangeAspect="1"/>
          </p:cNvPicPr>
          <p:nvPr/>
        </p:nvPicPr>
        <p:blipFill>
          <a:blip r:embed="rId3"/>
          <a:stretch>
            <a:fillRect/>
          </a:stretch>
        </p:blipFill>
        <p:spPr>
          <a:xfrm>
            <a:off x="7635240" y="2075688"/>
            <a:ext cx="4114800" cy="2447080"/>
          </a:xfrm>
          <a:prstGeom prst="rect">
            <a:avLst/>
          </a:prstGeom>
        </p:spPr>
      </p:pic>
      <p:sp>
        <p:nvSpPr>
          <p:cNvPr id="13" name="Text 10"/>
          <p:cNvSpPr/>
          <p:nvPr/>
        </p:nvSpPr>
        <p:spPr>
          <a:xfrm>
            <a:off x="7635240" y="4559344"/>
            <a:ext cx="4114800" cy="256032"/>
          </a:xfrm>
          <a:prstGeom prst="rect">
            <a:avLst/>
          </a:prstGeom>
          <a:noFill/>
          <a:ln/>
        </p:spPr>
        <p:txBody>
          <a:bodyPr wrap="square" rtlCol="0" anchor="ctr"/>
          <a:lstStyle/>
          <a:p>
            <a:pPr algn="r" indent="0" marL="0">
              <a:buNone/>
            </a:pPr>
            <a:r>
              <a:rPr lang="en-US" sz="9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Photo : © pressafrik.com</a:t>
            </a:r>
            <a:endParaRPr lang="en-US" sz="900" dirty="0"/>
          </a:p>
        </p:txBody>
      </p:sp>
      <p:sp>
        <p:nvSpPr>
          <p:cNvPr id="14" name="Text 1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5" name="Text 1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IX</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Sénégal</a:t>
            </a:r>
            <a:endParaRPr lang="en-US" sz="2800" dirty="0"/>
          </a:p>
        </p:txBody>
      </p:sp>
      <p:sp>
        <p:nvSpPr>
          <p:cNvPr id="4" name="Shape 2"/>
          <p:cNvSpPr/>
          <p:nvPr/>
        </p:nvSpPr>
        <p:spPr>
          <a:xfrm>
            <a:off x="10881360" y="274320"/>
            <a:ext cx="301752" cy="566928"/>
          </a:xfrm>
          <a:prstGeom prst="rect">
            <a:avLst/>
          </a:prstGeom>
          <a:solidFill>
            <a:srgbClr val="00853F"/>
          </a:solidFill>
          <a:ln w="12700">
            <a:solidFill>
              <a:srgbClr val="00853F"/>
            </a:solidFill>
            <a:prstDash val="solid"/>
          </a:ln>
        </p:spPr>
      </p:sp>
      <p:sp>
        <p:nvSpPr>
          <p:cNvPr id="5" name="Shape 3"/>
          <p:cNvSpPr/>
          <p:nvPr/>
        </p:nvSpPr>
        <p:spPr>
          <a:xfrm>
            <a:off x="11183112" y="274320"/>
            <a:ext cx="301752" cy="566928"/>
          </a:xfrm>
          <a:prstGeom prst="rect">
            <a:avLst/>
          </a:prstGeom>
          <a:solidFill>
            <a:srgbClr val="FDEF42"/>
          </a:solidFill>
          <a:ln w="12700">
            <a:solidFill>
              <a:srgbClr val="FDEF42"/>
            </a:solidFill>
            <a:prstDash val="solid"/>
          </a:ln>
        </p:spPr>
      </p:sp>
      <p:sp>
        <p:nvSpPr>
          <p:cNvPr id="6" name="Shape 4"/>
          <p:cNvSpPr/>
          <p:nvPr/>
        </p:nvSpPr>
        <p:spPr>
          <a:xfrm>
            <a:off x="11484864" y="274320"/>
            <a:ext cx="301752" cy="566928"/>
          </a:xfrm>
          <a:prstGeom prst="rect">
            <a:avLst/>
          </a:prstGeom>
          <a:solidFill>
            <a:srgbClr val="E31B23"/>
          </a:solidFill>
          <a:ln w="12700">
            <a:solidFill>
              <a:srgbClr val="E31B23"/>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PACTE DE STABILITÉ SOCIALE : LE GOUVERNEMENT VISE 71 % D’EXÉCUTION DES ENGAGEMENTS EN DÉCEMBRE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Pressafrik · APS — Agence Sénégalaise Presse</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15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MALIKA : UN LOCATAIRE INTERPELLÉ POUR AVOIR POIGNARDÉ À MORT SON VOISIN LORS D'UNE ALTERCATION</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Seneweb</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13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MEURTRE PRÉSUMÉ D’AMINATA SY À PODOR : LE SUSPECT RETROUVÉ DANS UNE CACHETTE ET ARRÊTÉ À MBACKÉ</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Sources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Dakar Actu · Seneweb</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11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KARAMO CISSÉ NDIAYE ARRÊTÉ POUR LE MEURTRE D’AMINATA SY APRÈS UNE DISPUTE VIOLENTE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SeneNews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27 octobre 2026, 8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DRAME À ZIGUINCHOR : UN COMMERÇANT RETROUVÉ MORT PENDU APRÈS LA PERTE DE 800 000 F CFA</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Seneweb</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23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640080" cy="548640"/>
          </a:xfrm>
          <a:prstGeom prst="rect">
            <a:avLst/>
          </a:prstGeom>
          <a:solidFill>
            <a:srgbClr val="1F6B5E"/>
          </a:solidFill>
          <a:ln/>
        </p:spPr>
        <p:txBody>
          <a:bodyPr wrap="square" rtlCol="0" anchor="ctr">
            <a:normAutofit/>
          </a:bodyPr>
          <a:lstStyle/>
          <a:p>
            <a:pPr algn="ctr" indent="0" marL="0">
              <a:buNone/>
            </a:pPr>
            <a:r>
              <a:rPr lang="en-US" sz="2400" dirty="0">
                <a:solidFill>
                  <a:srgbClr val="FFFFFF"/>
                </a:solidFill>
                <a:latin typeface="Arial Narrow" pitchFamily="34" charset="0"/>
                <a:ea typeface="Arial Narrow" pitchFamily="34" charset="-122"/>
                <a:cs typeface="Arial Narrow" pitchFamily="34" charset="-120"/>
              </a:rPr>
              <a:t>IX</a:t>
            </a:r>
            <a:endParaRPr lang="en-US" sz="2400" dirty="0"/>
          </a:p>
        </p:txBody>
      </p:sp>
      <p:sp>
        <p:nvSpPr>
          <p:cNvPr id="3" name="Text 1"/>
          <p:cNvSpPr/>
          <p:nvPr/>
        </p:nvSpPr>
        <p:spPr>
          <a:xfrm>
            <a:off x="1234440" y="274320"/>
            <a:ext cx="8961120" cy="548640"/>
          </a:xfrm>
          <a:prstGeom prst="rect">
            <a:avLst/>
          </a:prstGeom>
          <a:noFill/>
          <a:ln/>
        </p:spPr>
        <p:txBody>
          <a:bodyPr wrap="square" rtlCol="0" anchor="ctr"/>
          <a:lstStyle/>
          <a:p>
            <a:pPr indent="0" marL="0">
              <a:buNone/>
            </a:pPr>
            <a:r>
              <a:rPr lang="en-US" sz="2800" dirty="0">
                <a:solidFill>
                  <a:srgbClr val="1F6B5E"/>
                </a:solidFill>
                <a:latin typeface="Arial Narrow" pitchFamily="34" charset="0"/>
                <a:ea typeface="Arial Narrow" pitchFamily="34" charset="-122"/>
                <a:cs typeface="Arial Narrow" pitchFamily="34" charset="-120"/>
              </a:rPr>
              <a:t>Sénégal</a:t>
            </a:r>
            <a:endParaRPr lang="en-US" sz="2800" dirty="0"/>
          </a:p>
        </p:txBody>
      </p:sp>
      <p:sp>
        <p:nvSpPr>
          <p:cNvPr id="4" name="Shape 2"/>
          <p:cNvSpPr/>
          <p:nvPr/>
        </p:nvSpPr>
        <p:spPr>
          <a:xfrm>
            <a:off x="10881360" y="274320"/>
            <a:ext cx="301752" cy="566928"/>
          </a:xfrm>
          <a:prstGeom prst="rect">
            <a:avLst/>
          </a:prstGeom>
          <a:solidFill>
            <a:srgbClr val="00853F"/>
          </a:solidFill>
          <a:ln w="12700">
            <a:solidFill>
              <a:srgbClr val="00853F"/>
            </a:solidFill>
            <a:prstDash val="solid"/>
          </a:ln>
        </p:spPr>
      </p:sp>
      <p:sp>
        <p:nvSpPr>
          <p:cNvPr id="5" name="Shape 3"/>
          <p:cNvSpPr/>
          <p:nvPr/>
        </p:nvSpPr>
        <p:spPr>
          <a:xfrm>
            <a:off x="11183112" y="274320"/>
            <a:ext cx="301752" cy="566928"/>
          </a:xfrm>
          <a:prstGeom prst="rect">
            <a:avLst/>
          </a:prstGeom>
          <a:solidFill>
            <a:srgbClr val="FDEF42"/>
          </a:solidFill>
          <a:ln w="12700">
            <a:solidFill>
              <a:srgbClr val="FDEF42"/>
            </a:solidFill>
            <a:prstDash val="solid"/>
          </a:ln>
        </p:spPr>
      </p:sp>
      <p:sp>
        <p:nvSpPr>
          <p:cNvPr id="6" name="Shape 4"/>
          <p:cNvSpPr/>
          <p:nvPr/>
        </p:nvSpPr>
        <p:spPr>
          <a:xfrm>
            <a:off x="11484864" y="274320"/>
            <a:ext cx="301752" cy="566928"/>
          </a:xfrm>
          <a:prstGeom prst="rect">
            <a:avLst/>
          </a:prstGeom>
          <a:solidFill>
            <a:srgbClr val="E31B23"/>
          </a:solidFill>
          <a:ln w="12700">
            <a:solidFill>
              <a:srgbClr val="E31B23"/>
            </a:solidFill>
            <a:prstDash val="solid"/>
          </a:ln>
        </p:spPr>
      </p:sp>
      <p:sp>
        <p:nvSpPr>
          <p:cNvPr id="7" name="Shape 5"/>
          <p:cNvSpPr/>
          <p:nvPr/>
        </p:nvSpPr>
        <p:spPr>
          <a:xfrm>
            <a:off x="10881360" y="274320"/>
            <a:ext cx="905256" cy="566928"/>
          </a:xfrm>
          <a:prstGeom prst="rect">
            <a:avLst/>
          </a:prstGeom>
          <a:ln w="6350">
            <a:solidFill>
              <a:srgbClr val="1F2937"/>
            </a:solidFill>
            <a:prstDash val="solid"/>
          </a:ln>
        </p:spPr>
      </p:sp>
      <p:sp>
        <p:nvSpPr>
          <p:cNvPr id="8" name="Shape 6"/>
          <p:cNvSpPr/>
          <p:nvPr/>
        </p:nvSpPr>
        <p:spPr>
          <a:xfrm>
            <a:off x="457200" y="960120"/>
            <a:ext cx="11292840" cy="0"/>
          </a:xfrm>
          <a:prstGeom prst="line">
            <a:avLst/>
          </a:prstGeom>
          <a:noFill/>
          <a:ln w="6350">
            <a:solidFill>
              <a:srgbClr val="A3A3A3"/>
            </a:solidFill>
            <a:prstDash val="solid"/>
          </a:ln>
        </p:spPr>
      </p:sp>
      <p:sp>
        <p:nvSpPr>
          <p:cNvPr id="9" name="Text 7"/>
          <p:cNvSpPr/>
          <p:nvPr/>
        </p:nvSpPr>
        <p:spPr>
          <a:xfrm>
            <a:off x="640080" y="1188720"/>
            <a:ext cx="10972800" cy="4663440"/>
          </a:xfrm>
          <a:prstGeom prst="rect">
            <a:avLst/>
          </a:prstGeom>
          <a:noFill/>
          <a:ln/>
        </p:spPr>
        <p:txBody>
          <a:bodyPr wrap="square" rtlCol="0" anchor="t"/>
          <a:lstStyle/>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 ILS L’ONT DÉCOUVERT PENDU » : LE GRAND COMMERÇANT ABDOULAYE DIALLO S’EST DONNÉ LA MORT DANS SA BOUTIQUE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SeneNews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21 h UTC   ·   </a:t>
            </a:r>
            <a:pPr indent="0" marL="0">
              <a:spcAft>
                <a:spcPts val="200"/>
              </a:spcAft>
              <a:buNone/>
            </a:pPr>
            <a:r>
              <a:rPr lang="en-US" sz="1300" b="1" dirty="0">
                <a:solidFill>
                  <a:srgbClr val="1F2937"/>
                </a:solidFill>
                <a:latin typeface="Calibri" pitchFamily="34" charset="0"/>
                <a:ea typeface="Calibri" pitchFamily="34" charset="-122"/>
                <a:cs typeface="Calibri" pitchFamily="34" charset="-120"/>
              </a:rPr>
              <a:t>Cotation : Non confirmé</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ZIGUINCHOR : UN JEUNE HOMME RETROUVÉ MORT DANS UNE BOUTIQUE À TILÈNE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Dakar Actu</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17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FÉMINICIDES AU SÉNÉGAL – AMINATA SY ET MAME DIARRA SOW TUÉES LE MÊME JOUR : SEYDI GASSAMA LANCE UN CRI D’ALARME</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SeneNews</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17 h UTC</a:t>
            </a:r>
            <a:endParaRPr lang="en-US" sz="1300" dirty="0"/>
          </a:p>
          <a:p>
            <a:pPr marL="342900" indent="-342900">
              <a:spcBef>
                <a:spcPts val="800"/>
              </a:spcBef>
              <a:spcAft>
                <a:spcPts val="200"/>
              </a:spcAft>
              <a:buSzPct val="100000"/>
              <a:buChar char="❑"/>
            </a:pPr>
            <a:r>
              <a:rPr lang="en-US" sz="1400" b="1" u="sng" dirty="0">
                <a:solidFill>
                  <a:srgbClr val="1F6B5E"/>
                </a:solidFill>
                <a:latin typeface="Calibri" pitchFamily="34" charset="0"/>
                <a:ea typeface="Calibri" pitchFamily="34" charset="-122"/>
                <a:cs typeface="Calibri" pitchFamily="34" charset="-120"/>
              </a:rPr>
              <a:t>TROPHÉE ANPS : LE TROPHÉE DU MEILLEUR LUTTEUR EN LUTTE AVEC FRAPPE PORTE DÉSORMAIS LE NOM DE MANGA II</a:t>
            </a:r>
            <a:endParaRPr lang="en-US" sz="1300" dirty="0"/>
          </a:p>
          <a:p>
            <a:pPr lvl="1" marL="685800" indent="-3429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Source : </a:t>
            </a:r>
            <a:pPr indent="0" marL="0">
              <a:spcAft>
                <a:spcPts val="200"/>
              </a:spcAft>
              <a:buNone/>
            </a:pPr>
            <a:r>
              <a:rPr lang="en-US" sz="1300" u="sng" dirty="0">
                <a:solidFill>
                  <a:srgbClr val="1F6B5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wiwsport</a:t>
            </a:r>
            <a:pPr indent="0" marL="0">
              <a:spcAft>
                <a:spcPts val="200"/>
              </a:spcAft>
              <a:buNone/>
            </a:pPr>
            <a:r>
              <a:rPr lang="en-US" sz="1300" dirty="0">
                <a:solidFill>
                  <a:srgbClr val="1F2937"/>
                </a:solidFill>
                <a:latin typeface="Calibri" pitchFamily="34" charset="0"/>
                <a:ea typeface="Calibri" pitchFamily="34" charset="-122"/>
                <a:cs typeface="Calibri" pitchFamily="34" charset="-120"/>
              </a:rPr>
              <a:t> — 26 octobre 2026, 13 h UTC</a:t>
            </a:r>
            <a:endParaRPr lang="en-US" sz="1300" dirty="0"/>
          </a:p>
        </p:txBody>
      </p:sp>
      <p:sp>
        <p:nvSpPr>
          <p:cNvPr id="10" name="Text 8"/>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11" name="Text 9"/>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CDCDCD"/>
        </a:solidFill>
      </p:bgPr>
    </p:bg>
    <p:spTree>
      <p:nvGrpSpPr>
        <p:cNvPr id="1" name=""/>
        <p:cNvGrpSpPr/>
        <p:nvPr/>
      </p:nvGrpSpPr>
      <p:grpSpPr>
        <a:xfrm>
          <a:off x="0" y="0"/>
          <a:ext cx="0" cy="0"/>
          <a:chOff x="0" y="0"/>
          <a:chExt cx="0" cy="0"/>
        </a:xfrm>
      </p:grpSpPr>
      <p:sp>
        <p:nvSpPr>
          <p:cNvPr id="2" name="Text 0"/>
          <p:cNvSpPr/>
          <p:nvPr/>
        </p:nvSpPr>
        <p:spPr>
          <a:xfrm>
            <a:off x="457200" y="2377440"/>
            <a:ext cx="11247120" cy="1097280"/>
          </a:xfrm>
          <a:prstGeom prst="rect">
            <a:avLst/>
          </a:prstGeom>
          <a:noFill/>
          <a:ln/>
        </p:spPr>
        <p:txBody>
          <a:bodyPr wrap="square" rtlCol="0" anchor="ctr"/>
          <a:lstStyle/>
          <a:p>
            <a:pPr algn="ctr" indent="0" marL="0">
              <a:buNone/>
            </a:pPr>
            <a:r>
              <a:rPr lang="en-US" sz="6000" dirty="0">
                <a:solidFill>
                  <a:srgbClr val="111111"/>
                </a:solidFill>
                <a:latin typeface="Arial Narrow" pitchFamily="34" charset="0"/>
                <a:ea typeface="Arial Narrow" pitchFamily="34" charset="-122"/>
                <a:cs typeface="Arial Narrow" pitchFamily="34" charset="-120"/>
              </a:rPr>
              <a:t>MERCI</a:t>
            </a:r>
            <a:endParaRPr lang="en-US" sz="6000" dirty="0"/>
          </a:p>
        </p:txBody>
      </p:sp>
      <p:sp>
        <p:nvSpPr>
          <p:cNvPr id="3" name="Text 1"/>
          <p:cNvSpPr/>
          <p:nvPr/>
        </p:nvSpPr>
        <p:spPr>
          <a:xfrm>
            <a:off x="3108960" y="6217920"/>
            <a:ext cx="5486400" cy="329184"/>
          </a:xfrm>
          <a:prstGeom prst="rect">
            <a:avLst/>
          </a:prstGeom>
          <a:noFill/>
          <a:ln w="9525">
            <a:solidFill>
              <a:srgbClr val="1F6B5E"/>
            </a:solidFill>
          </a:ln>
        </p:spPr>
        <p:txBody>
          <a:bodyPr wrap="square" rtlCol="0" anchor="ctr">
            <a:normAutofit/>
          </a:bodyPr>
          <a:lstStyle/>
          <a:p>
            <a:pPr algn="ctr" indent="0" marL="0">
              <a:buNone/>
            </a:pPr>
            <a:r>
              <a:rPr lang="en-US" sz="1200" dirty="0">
                <a:solidFill>
                  <a:srgbClr val="1F2937"/>
                </a:solidFill>
                <a:latin typeface="Calibri" pitchFamily="34" charset="0"/>
                <a:ea typeface="Calibri" pitchFamily="34" charset="-122"/>
                <a:cs typeface="Calibri" pitchFamily="34" charset="-120"/>
              </a:rPr>
              <a:t>SentiqS — veille de sûreté sur l'Afrique</a:t>
            </a:r>
            <a:endParaRPr lang="en-US" sz="1200" dirty="0"/>
          </a:p>
        </p:txBody>
      </p:sp>
      <p:sp>
        <p:nvSpPr>
          <p:cNvPr id="4" name="Text 2"/>
          <p:cNvSpPr/>
          <p:nvPr/>
        </p:nvSpPr>
        <p:spPr>
          <a:xfrm>
            <a:off x="9418320" y="6309360"/>
            <a:ext cx="2468880" cy="274320"/>
          </a:xfrm>
          <a:prstGeom prst="rect">
            <a:avLst/>
          </a:prstGeom>
          <a:noFill/>
          <a:ln/>
        </p:spPr>
        <p:txBody>
          <a:bodyPr wrap="square" rtlCol="0" anchor="ctr"/>
          <a:lstStyle/>
          <a:p>
            <a:pPr algn="r" indent="0" marL="0">
              <a:buNone/>
            </a:pPr>
            <a:r>
              <a:rPr lang="en-US" sz="1000" dirty="0">
                <a:solidFill>
                  <a:srgbClr val="1F2937"/>
                </a:solidFill>
                <a:latin typeface="Calibri" pitchFamily="34" charset="0"/>
                <a:ea typeface="Calibri" pitchFamily="34" charset="-122"/>
                <a:cs typeface="Calibri" pitchFamily="34" charset="-120"/>
              </a:rPr>
              <a:t>|  27/10/26   |   38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mensuel de sûreté — 27 octobre 2026</dc:title>
  <dc:subject>PptxGenJS Presentation</dc:subject>
  <dc:creator>SentiqS</dc:creator>
  <cp:lastModifiedBy>SentiqS</cp:lastModifiedBy>
  <cp:revision>1</cp:revision>
  <dcterms:created xsi:type="dcterms:W3CDTF">2026-10-27T20:12:51Z</dcterms:created>
  <dcterms:modified xsi:type="dcterms:W3CDTF">2026-10-27T20:12:51Z</dcterms:modified>
</cp:coreProperties>
</file>